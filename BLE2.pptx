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heme/themeOverride1.xml" ContentType="application/vnd.openxmlformats-officedocument.themeOverride+xml"/>
  <Override PartName="/ppt/notesSlides/notesSlide26.xml" ContentType="application/vnd.openxmlformats-officedocument.presentationml.notesSlide+xml"/>
  <Override PartName="/ppt/theme/themeOverride2.xml" ContentType="application/vnd.openxmlformats-officedocument.themeOverr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heme/themeOverride3.xml" ContentType="application/vnd.openxmlformats-officedocument.themeOverride+xml"/>
  <Override PartName="/ppt/notesSlides/notesSlide32.xml" ContentType="application/vnd.openxmlformats-officedocument.presentationml.notesSlide+xml"/>
  <Override PartName="/ppt/theme/themeOverride4.xml" ContentType="application/vnd.openxmlformats-officedocument.themeOverride+xml"/>
  <Override PartName="/ppt/notesSlides/notesSlide33.xml" ContentType="application/vnd.openxmlformats-officedocument.presentationml.notesSlide+xml"/>
  <Override PartName="/ppt/theme/themeOverride5.xml" ContentType="application/vnd.openxmlformats-officedocument.themeOverr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3.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4.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5.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tags/tag6.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7.xml" ContentType="application/vnd.openxmlformats-officedocument.presentationml.tags+xml"/>
  <Override PartName="/ppt/notesSlides/notesSlide56.xml" ContentType="application/vnd.openxmlformats-officedocument.presentationml.notesSlide+xml"/>
  <Override PartName="/ppt/tags/tag8.xml" ContentType="application/vnd.openxmlformats-officedocument.presentationml.tags+xml"/>
  <Override PartName="/ppt/notesSlides/notesSlide57.xml" ContentType="application/vnd.openxmlformats-officedocument.presentationml.notesSlide+xml"/>
  <Override PartName="/ppt/tags/tag9.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85"/>
  </p:notesMasterIdLst>
  <p:handoutMasterIdLst>
    <p:handoutMasterId r:id="rId86"/>
  </p:handoutMasterIdLst>
  <p:sldIdLst>
    <p:sldId id="256" r:id="rId2"/>
    <p:sldId id="257" r:id="rId3"/>
    <p:sldId id="258" r:id="rId4"/>
    <p:sldId id="277" r:id="rId5"/>
    <p:sldId id="276" r:id="rId6"/>
    <p:sldId id="278" r:id="rId7"/>
    <p:sldId id="281" r:id="rId8"/>
    <p:sldId id="280" r:id="rId9"/>
    <p:sldId id="283" r:id="rId10"/>
    <p:sldId id="284" r:id="rId11"/>
    <p:sldId id="287" r:id="rId12"/>
    <p:sldId id="313" r:id="rId13"/>
    <p:sldId id="347" r:id="rId14"/>
    <p:sldId id="353" r:id="rId15"/>
    <p:sldId id="354" r:id="rId16"/>
    <p:sldId id="355" r:id="rId17"/>
    <p:sldId id="356" r:id="rId18"/>
    <p:sldId id="314" r:id="rId19"/>
    <p:sldId id="359" r:id="rId20"/>
    <p:sldId id="316" r:id="rId21"/>
    <p:sldId id="317" r:id="rId22"/>
    <p:sldId id="289" r:id="rId23"/>
    <p:sldId id="285" r:id="rId24"/>
    <p:sldId id="296" r:id="rId25"/>
    <p:sldId id="295" r:id="rId26"/>
    <p:sldId id="294" r:id="rId27"/>
    <p:sldId id="282" r:id="rId28"/>
    <p:sldId id="346" r:id="rId29"/>
    <p:sldId id="329" r:id="rId30"/>
    <p:sldId id="279" r:id="rId31"/>
    <p:sldId id="318" r:id="rId32"/>
    <p:sldId id="310" r:id="rId33"/>
    <p:sldId id="311" r:id="rId34"/>
    <p:sldId id="312" r:id="rId35"/>
    <p:sldId id="298" r:id="rId36"/>
    <p:sldId id="303" r:id="rId37"/>
    <p:sldId id="297" r:id="rId38"/>
    <p:sldId id="348" r:id="rId39"/>
    <p:sldId id="293" r:id="rId40"/>
    <p:sldId id="349" r:id="rId41"/>
    <p:sldId id="350" r:id="rId42"/>
    <p:sldId id="299" r:id="rId43"/>
    <p:sldId id="351" r:id="rId44"/>
    <p:sldId id="304" r:id="rId45"/>
    <p:sldId id="352" r:id="rId46"/>
    <p:sldId id="323" r:id="rId47"/>
    <p:sldId id="324" r:id="rId48"/>
    <p:sldId id="302" r:id="rId49"/>
    <p:sldId id="328" r:id="rId50"/>
    <p:sldId id="325" r:id="rId51"/>
    <p:sldId id="331" r:id="rId52"/>
    <p:sldId id="330" r:id="rId53"/>
    <p:sldId id="327" r:id="rId54"/>
    <p:sldId id="300" r:id="rId55"/>
    <p:sldId id="326" r:id="rId56"/>
    <p:sldId id="290" r:id="rId57"/>
    <p:sldId id="291" r:id="rId58"/>
    <p:sldId id="292" r:id="rId59"/>
    <p:sldId id="321" r:id="rId60"/>
    <p:sldId id="319" r:id="rId61"/>
    <p:sldId id="322" r:id="rId62"/>
    <p:sldId id="345" r:id="rId63"/>
    <p:sldId id="342" r:id="rId64"/>
    <p:sldId id="332" r:id="rId65"/>
    <p:sldId id="335" r:id="rId66"/>
    <p:sldId id="334" r:id="rId67"/>
    <p:sldId id="343" r:id="rId68"/>
    <p:sldId id="333" r:id="rId69"/>
    <p:sldId id="336" r:id="rId70"/>
    <p:sldId id="337" r:id="rId71"/>
    <p:sldId id="338" r:id="rId72"/>
    <p:sldId id="339" r:id="rId73"/>
    <p:sldId id="320" r:id="rId74"/>
    <p:sldId id="308" r:id="rId75"/>
    <p:sldId id="344" r:id="rId76"/>
    <p:sldId id="307" r:id="rId77"/>
    <p:sldId id="340" r:id="rId78"/>
    <p:sldId id="341" r:id="rId79"/>
    <p:sldId id="357" r:id="rId80"/>
    <p:sldId id="309" r:id="rId81"/>
    <p:sldId id="358" r:id="rId82"/>
    <p:sldId id="305" r:id="rId83"/>
    <p:sldId id="306" r:id="rId84"/>
  </p:sldIdLst>
  <p:sldSz cx="18288000" cy="10287000"/>
  <p:notesSz cx="6858000" cy="9144000"/>
  <p:embeddedFontLst>
    <p:embeddedFont>
      <p:font typeface="Bricolage Grotesque Bold" panose="020B0604020202020204" charset="0"/>
      <p:regular r:id="rId87"/>
    </p:embeddedFont>
    <p:embeddedFont>
      <p:font typeface="League Spartan" panose="020B0604020202020204" charset="0"/>
      <p:regular r:id="rId88"/>
    </p:embeddedFont>
    <p:embeddedFont>
      <p:font typeface="Poppins" panose="00000500000000000000" pitchFamily="2" charset="0"/>
      <p:regular r:id="rId89"/>
      <p:bold r:id="rId90"/>
      <p:italic r:id="rId91"/>
      <p:boldItalic r:id="rId92"/>
    </p:embeddedFont>
    <p:embeddedFont>
      <p:font typeface="Poppins Bold" panose="00000800000000000000" charset="0"/>
      <p:regular r:id="rId93"/>
    </p:embeddedFont>
    <p:embeddedFont>
      <p:font typeface="Roboto Bold" panose="020B0604020202020204" charset="0"/>
      <p:regular r:id="rId9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AD"/>
    <a:srgbClr val="EDF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E3FEE8-AF79-4520-B988-A2D41F15624C}" v="15" dt="2026-08-28T13:11:56.9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69" autoAdjust="0"/>
    <p:restoredTop sz="95033" autoAdjust="0"/>
  </p:normalViewPr>
  <p:slideViewPr>
    <p:cSldViewPr>
      <p:cViewPr varScale="1">
        <p:scale>
          <a:sx n="52" d="100"/>
          <a:sy n="52" d="100"/>
        </p:scale>
        <p:origin x="1013" y="7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3.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4.fntdata"/><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2.fntdata"/><Relationship Id="rId91" Type="http://schemas.openxmlformats.org/officeDocument/2006/relationships/font" Target="fonts/font5.fntdata"/><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94" Type="http://schemas.openxmlformats.org/officeDocument/2006/relationships/font" Target="fonts/font8.fntdata"/><Relationship Id="rId9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7.fntdata"/><Relationship Id="rId9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yes hsairi" userId="e9a51367b91d9da4" providerId="LiveId" clId="{A6B867E9-16FD-44FE-85DD-753E674B4A30}"/>
    <pc:docChg chg="custSel addSld modSld sldOrd">
      <pc:chgData name="donyes hsairi" userId="e9a51367b91d9da4" providerId="LiveId" clId="{A6B867E9-16FD-44FE-85DD-753E674B4A30}" dt="2026-08-28T13:13:05.164" v="388" actId="20577"/>
      <pc:docMkLst>
        <pc:docMk/>
      </pc:docMkLst>
      <pc:sldChg chg="addSp delSp modSp mod modAnim">
        <pc:chgData name="donyes hsairi" userId="e9a51367b91d9da4" providerId="LiveId" clId="{A6B867E9-16FD-44FE-85DD-753E674B4A30}" dt="2026-08-10T14:57:08.913" v="355"/>
        <pc:sldMkLst>
          <pc:docMk/>
          <pc:sldMk cId="1028867751" sldId="305"/>
        </pc:sldMkLst>
        <pc:spChg chg="add mod">
          <ac:chgData name="donyes hsairi" userId="e9a51367b91d9da4" providerId="LiveId" clId="{A6B867E9-16FD-44FE-85DD-753E674B4A30}" dt="2026-08-10T14:06:13.457" v="4"/>
          <ac:spMkLst>
            <pc:docMk/>
            <pc:sldMk cId="1028867751" sldId="305"/>
            <ac:spMk id="10" creationId="{16B0DBF3-86E1-6423-30D0-6FF531731067}"/>
          </ac:spMkLst>
        </pc:spChg>
        <pc:spChg chg="mod topLvl">
          <ac:chgData name="donyes hsairi" userId="e9a51367b91d9da4" providerId="LiveId" clId="{A6B867E9-16FD-44FE-85DD-753E674B4A30}" dt="2026-08-10T14:56:23.746" v="343" actId="164"/>
          <ac:spMkLst>
            <pc:docMk/>
            <pc:sldMk cId="1028867751" sldId="305"/>
            <ac:spMk id="19" creationId="{CE09B94D-0F83-2DB7-B088-EA08E266C0F9}"/>
          </ac:spMkLst>
        </pc:spChg>
        <pc:spChg chg="mod">
          <ac:chgData name="donyes hsairi" userId="e9a51367b91d9da4" providerId="LiveId" clId="{A6B867E9-16FD-44FE-85DD-753E674B4A30}" dt="2026-08-10T14:07:31.807" v="32" actId="20577"/>
          <ac:spMkLst>
            <pc:docMk/>
            <pc:sldMk cId="1028867751" sldId="305"/>
            <ac:spMk id="21" creationId="{891DB899-0BD4-BEAE-4C20-D40E1DCD6154}"/>
          </ac:spMkLst>
        </pc:spChg>
        <pc:spChg chg="mod topLvl">
          <ac:chgData name="donyes hsairi" userId="e9a51367b91d9da4" providerId="LiveId" clId="{A6B867E9-16FD-44FE-85DD-753E674B4A30}" dt="2026-08-10T14:56:23.746" v="343" actId="164"/>
          <ac:spMkLst>
            <pc:docMk/>
            <pc:sldMk cId="1028867751" sldId="305"/>
            <ac:spMk id="23" creationId="{5424D15C-5365-1C0A-ED00-D8EC4AD75DD2}"/>
          </ac:spMkLst>
        </pc:spChg>
        <pc:spChg chg="mod">
          <ac:chgData name="donyes hsairi" userId="e9a51367b91d9da4" providerId="LiveId" clId="{A6B867E9-16FD-44FE-85DD-753E674B4A30}" dt="2026-08-10T14:09:04.706" v="63" actId="20577"/>
          <ac:spMkLst>
            <pc:docMk/>
            <pc:sldMk cId="1028867751" sldId="305"/>
            <ac:spMk id="29" creationId="{C6B84502-869D-0A6E-C9A1-46E80FFFE471}"/>
          </ac:spMkLst>
        </pc:spChg>
        <pc:grpChg chg="add mod">
          <ac:chgData name="donyes hsairi" userId="e9a51367b91d9da4" providerId="LiveId" clId="{A6B867E9-16FD-44FE-85DD-753E674B4A30}" dt="2026-08-10T14:56:23.746" v="343" actId="164"/>
          <ac:grpSpMkLst>
            <pc:docMk/>
            <pc:sldMk cId="1028867751" sldId="305"/>
            <ac:grpSpMk id="8" creationId="{7CF506B5-9ECB-4CB2-6115-38480F22F39A}"/>
          </ac:grpSpMkLst>
        </pc:grpChg>
        <pc:picChg chg="add mod">
          <ac:chgData name="donyes hsairi" userId="e9a51367b91d9da4" providerId="LiveId" clId="{A6B867E9-16FD-44FE-85DD-753E674B4A30}" dt="2026-08-10T14:56:23.746" v="343" actId="164"/>
          <ac:picMkLst>
            <pc:docMk/>
            <pc:sldMk cId="1028867751" sldId="305"/>
            <ac:picMk id="13" creationId="{148D7202-C709-A66A-B2D7-538E0E41BD53}"/>
          </ac:picMkLst>
        </pc:picChg>
      </pc:sldChg>
      <pc:sldChg chg="addSp delSp modSp mod delAnim modAnim">
        <pc:chgData name="donyes hsairi" userId="e9a51367b91d9da4" providerId="LiveId" clId="{A6B867E9-16FD-44FE-85DD-753E674B4A30}" dt="2026-08-10T14:56:46.191" v="349"/>
        <pc:sldMkLst>
          <pc:docMk/>
          <pc:sldMk cId="308131710" sldId="309"/>
        </pc:sldMkLst>
        <pc:spChg chg="mod">
          <ac:chgData name="donyes hsairi" userId="e9a51367b91d9da4" providerId="LiveId" clId="{A6B867E9-16FD-44FE-85DD-753E674B4A30}" dt="2026-08-10T14:05:53.797" v="2"/>
          <ac:spMkLst>
            <pc:docMk/>
            <pc:sldMk cId="308131710" sldId="309"/>
            <ac:spMk id="24" creationId="{0B445092-2A79-F161-1FD7-DCDB82D3D359}"/>
          </ac:spMkLst>
        </pc:spChg>
        <pc:spChg chg="mod">
          <ac:chgData name="donyes hsairi" userId="e9a51367b91d9da4" providerId="LiveId" clId="{A6B867E9-16FD-44FE-85DD-753E674B4A30}" dt="2026-08-10T14:05:53.797" v="2"/>
          <ac:spMkLst>
            <pc:docMk/>
            <pc:sldMk cId="308131710" sldId="309"/>
            <ac:spMk id="26" creationId="{23838B44-0147-B9EE-8665-60C92233746C}"/>
          </ac:spMkLst>
        </pc:spChg>
        <pc:spChg chg="mod">
          <ac:chgData name="donyes hsairi" userId="e9a51367b91d9da4" providerId="LiveId" clId="{A6B867E9-16FD-44FE-85DD-753E674B4A30}" dt="2026-08-10T14:05:53.797" v="2"/>
          <ac:spMkLst>
            <pc:docMk/>
            <pc:sldMk cId="308131710" sldId="309"/>
            <ac:spMk id="31" creationId="{30AE4760-4D0E-A0A8-C553-9B4763795242}"/>
          </ac:spMkLst>
        </pc:spChg>
        <pc:spChg chg="add mod">
          <ac:chgData name="donyes hsairi" userId="e9a51367b91d9da4" providerId="LiveId" clId="{A6B867E9-16FD-44FE-85DD-753E674B4A30}" dt="2026-08-10T14:06:05.286" v="3"/>
          <ac:spMkLst>
            <pc:docMk/>
            <pc:sldMk cId="308131710" sldId="309"/>
            <ac:spMk id="32" creationId="{ABC62676-7D42-1E86-C3D6-5278B6FD0FA2}"/>
          </ac:spMkLst>
        </pc:spChg>
        <pc:grpChg chg="add mod">
          <ac:chgData name="donyes hsairi" userId="e9a51367b91d9da4" providerId="LiveId" clId="{A6B867E9-16FD-44FE-85DD-753E674B4A30}" dt="2026-08-10T14:05:53.797" v="2"/>
          <ac:grpSpMkLst>
            <pc:docMk/>
            <pc:sldMk cId="308131710" sldId="309"/>
            <ac:grpSpMk id="23" creationId="{473F90D5-5947-5C6E-6B8F-D03883F246B3}"/>
          </ac:grpSpMkLst>
        </pc:grpChg>
        <pc:picChg chg="mod">
          <ac:chgData name="donyes hsairi" userId="e9a51367b91d9da4" providerId="LiveId" clId="{A6B867E9-16FD-44FE-85DD-753E674B4A30}" dt="2026-08-10T14:05:53.797" v="2"/>
          <ac:picMkLst>
            <pc:docMk/>
            <pc:sldMk cId="308131710" sldId="309"/>
            <ac:picMk id="28" creationId="{7A25CF19-4763-DDCD-6388-4F03AD2CFCAD}"/>
          </ac:picMkLst>
        </pc:picChg>
        <pc:picChg chg="mod">
          <ac:chgData name="donyes hsairi" userId="e9a51367b91d9da4" providerId="LiveId" clId="{A6B867E9-16FD-44FE-85DD-753E674B4A30}" dt="2026-08-10T14:05:53.797" v="2"/>
          <ac:picMkLst>
            <pc:docMk/>
            <pc:sldMk cId="308131710" sldId="309"/>
            <ac:picMk id="30" creationId="{D808B208-EABB-B05B-B2DA-4A11E8DADAC8}"/>
          </ac:picMkLst>
        </pc:picChg>
      </pc:sldChg>
      <pc:sldChg chg="addSp delSp modSp mod delAnim">
        <pc:chgData name="donyes hsairi" userId="e9a51367b91d9da4" providerId="LiveId" clId="{A6B867E9-16FD-44FE-85DD-753E674B4A30}" dt="2026-08-28T13:11:56.915" v="386" actId="20577"/>
        <pc:sldMkLst>
          <pc:docMk/>
          <pc:sldMk cId="520030887" sldId="314"/>
        </pc:sldMkLst>
        <pc:spChg chg="add mod">
          <ac:chgData name="donyes hsairi" userId="e9a51367b91d9da4" providerId="LiveId" clId="{A6B867E9-16FD-44FE-85DD-753E674B4A30}" dt="2026-08-28T13:08:48.125" v="377" actId="20577"/>
          <ac:spMkLst>
            <pc:docMk/>
            <pc:sldMk cId="520030887" sldId="314"/>
            <ac:spMk id="3" creationId="{4DE50D7A-59DF-0170-22E9-24A54A047577}"/>
          </ac:spMkLst>
        </pc:spChg>
        <pc:spChg chg="mod">
          <ac:chgData name="donyes hsairi" userId="e9a51367b91d9da4" providerId="LiveId" clId="{A6B867E9-16FD-44FE-85DD-753E674B4A30}" dt="2026-08-28T13:11:56.915" v="386" actId="20577"/>
          <ac:spMkLst>
            <pc:docMk/>
            <pc:sldMk cId="520030887" sldId="314"/>
            <ac:spMk id="16" creationId="{6B9561B1-28AB-E5E8-15A1-F0C7BAD6D5B1}"/>
          </ac:spMkLst>
        </pc:spChg>
        <pc:grpChg chg="del">
          <ac:chgData name="donyes hsairi" userId="e9a51367b91d9da4" providerId="LiveId" clId="{A6B867E9-16FD-44FE-85DD-753E674B4A30}" dt="2026-08-28T13:08:50.889" v="378" actId="478"/>
          <ac:grpSpMkLst>
            <pc:docMk/>
            <pc:sldMk cId="520030887" sldId="314"/>
            <ac:grpSpMk id="12" creationId="{7E60101B-CDCC-A720-9E23-070BCA6E27E8}"/>
          </ac:grpSpMkLst>
        </pc:grpChg>
        <pc:picChg chg="add mod modCrop">
          <ac:chgData name="donyes hsairi" userId="e9a51367b91d9da4" providerId="LiveId" clId="{A6B867E9-16FD-44FE-85DD-753E674B4A30}" dt="2026-08-28T13:09:26.535" v="385" actId="1076"/>
          <ac:picMkLst>
            <pc:docMk/>
            <pc:sldMk cId="520030887" sldId="314"/>
            <ac:picMk id="5" creationId="{A832E9F3-007D-1DC3-2DE3-A84EF52015D6}"/>
          </ac:picMkLst>
        </pc:picChg>
      </pc:sldChg>
      <pc:sldChg chg="modAnim">
        <pc:chgData name="donyes hsairi" userId="e9a51367b91d9da4" providerId="LiveId" clId="{A6B867E9-16FD-44FE-85DD-753E674B4A30}" dt="2026-08-10T14:55:19.961" v="332"/>
        <pc:sldMkLst>
          <pc:docMk/>
          <pc:sldMk cId="3083702069" sldId="348"/>
        </pc:sldMkLst>
      </pc:sldChg>
      <pc:sldChg chg="modAnim">
        <pc:chgData name="donyes hsairi" userId="e9a51367b91d9da4" providerId="LiveId" clId="{A6B867E9-16FD-44FE-85DD-753E674B4A30}" dt="2026-08-10T14:55:29.044" v="335"/>
        <pc:sldMkLst>
          <pc:docMk/>
          <pc:sldMk cId="1585368383" sldId="349"/>
        </pc:sldMkLst>
      </pc:sldChg>
      <pc:sldChg chg="modAnim">
        <pc:chgData name="donyes hsairi" userId="e9a51367b91d9da4" providerId="LiveId" clId="{A6B867E9-16FD-44FE-85DD-753E674B4A30}" dt="2026-08-10T14:55:37.613" v="338"/>
        <pc:sldMkLst>
          <pc:docMk/>
          <pc:sldMk cId="1257891976" sldId="350"/>
        </pc:sldMkLst>
      </pc:sldChg>
      <pc:sldChg chg="modAnim">
        <pc:chgData name="donyes hsairi" userId="e9a51367b91d9da4" providerId="LiveId" clId="{A6B867E9-16FD-44FE-85DD-753E674B4A30}" dt="2026-08-10T14:55:52.865" v="340"/>
        <pc:sldMkLst>
          <pc:docMk/>
          <pc:sldMk cId="3445763687" sldId="351"/>
        </pc:sldMkLst>
      </pc:sldChg>
      <pc:sldChg chg="modAnim">
        <pc:chgData name="donyes hsairi" userId="e9a51367b91d9da4" providerId="LiveId" clId="{A6B867E9-16FD-44FE-85DD-753E674B4A30}" dt="2026-08-10T14:56:00.188" v="342"/>
        <pc:sldMkLst>
          <pc:docMk/>
          <pc:sldMk cId="1479345358" sldId="352"/>
        </pc:sldMkLst>
      </pc:sldChg>
      <pc:sldChg chg="addSp modSp mod modAnim">
        <pc:chgData name="donyes hsairi" userId="e9a51367b91d9da4" providerId="LiveId" clId="{A6B867E9-16FD-44FE-85DD-753E674B4A30}" dt="2026-08-28T13:07:33.554" v="364" actId="20577"/>
        <pc:sldMkLst>
          <pc:docMk/>
          <pc:sldMk cId="3759658023" sldId="353"/>
        </pc:sldMkLst>
        <pc:spChg chg="mod">
          <ac:chgData name="donyes hsairi" userId="e9a51367b91d9da4" providerId="LiveId" clId="{A6B867E9-16FD-44FE-85DD-753E674B4A30}" dt="2026-08-28T13:07:33.554" v="364" actId="20577"/>
          <ac:spMkLst>
            <pc:docMk/>
            <pc:sldMk cId="3759658023" sldId="353"/>
            <ac:spMk id="6" creationId="{3E430DB4-4DA2-7392-622E-55911EE9DBEF}"/>
          </ac:spMkLst>
        </pc:spChg>
        <pc:spChg chg="mod">
          <ac:chgData name="donyes hsairi" userId="e9a51367b91d9da4" providerId="LiveId" clId="{A6B867E9-16FD-44FE-85DD-753E674B4A30}" dt="2026-08-10T14:49:14.734" v="280" actId="164"/>
          <ac:spMkLst>
            <pc:docMk/>
            <pc:sldMk cId="3759658023" sldId="353"/>
            <ac:spMk id="7" creationId="{1C69D47F-CB37-25FF-A5DE-844D39E3DB0D}"/>
          </ac:spMkLst>
        </pc:spChg>
        <pc:spChg chg="mod">
          <ac:chgData name="donyes hsairi" userId="e9a51367b91d9da4" providerId="LiveId" clId="{A6B867E9-16FD-44FE-85DD-753E674B4A30}" dt="2026-08-10T14:49:20.496" v="281" actId="164"/>
          <ac:spMkLst>
            <pc:docMk/>
            <pc:sldMk cId="3759658023" sldId="353"/>
            <ac:spMk id="10" creationId="{780A87FA-0EE8-F30D-FCDE-A5724E159D11}"/>
          </ac:spMkLst>
        </pc:spChg>
        <pc:spChg chg="mod">
          <ac:chgData name="donyes hsairi" userId="e9a51367b91d9da4" providerId="LiveId" clId="{A6B867E9-16FD-44FE-85DD-753E674B4A30}" dt="2026-08-10T14:49:23.869" v="282" actId="164"/>
          <ac:spMkLst>
            <pc:docMk/>
            <pc:sldMk cId="3759658023" sldId="353"/>
            <ac:spMk id="11" creationId="{35782ADB-3857-5E7D-8337-41DBC2885A13}"/>
          </ac:spMkLst>
        </pc:spChg>
        <pc:spChg chg="mod">
          <ac:chgData name="donyes hsairi" userId="e9a51367b91d9da4" providerId="LiveId" clId="{A6B867E9-16FD-44FE-85DD-753E674B4A30}" dt="2026-08-10T14:49:27.337" v="283" actId="164"/>
          <ac:spMkLst>
            <pc:docMk/>
            <pc:sldMk cId="3759658023" sldId="353"/>
            <ac:spMk id="12" creationId="{B848F987-02B7-5DC3-0421-F3B68B5C45E6}"/>
          </ac:spMkLst>
        </pc:spChg>
        <pc:spChg chg="add mod">
          <ac:chgData name="donyes hsairi" userId="e9a51367b91d9da4" providerId="LiveId" clId="{A6B867E9-16FD-44FE-85DD-753E674B4A30}" dt="2026-08-10T14:49:20.496" v="281" actId="164"/>
          <ac:spMkLst>
            <pc:docMk/>
            <pc:sldMk cId="3759658023" sldId="353"/>
            <ac:spMk id="13" creationId="{8CBBBEA5-A2B5-3B3B-1D0F-2F25805B2E6C}"/>
          </ac:spMkLst>
        </pc:spChg>
        <pc:spChg chg="add mod">
          <ac:chgData name="donyes hsairi" userId="e9a51367b91d9da4" providerId="LiveId" clId="{A6B867E9-16FD-44FE-85DD-753E674B4A30}" dt="2026-08-10T14:49:23.869" v="282" actId="164"/>
          <ac:spMkLst>
            <pc:docMk/>
            <pc:sldMk cId="3759658023" sldId="353"/>
            <ac:spMk id="19" creationId="{E3B06046-AA5B-1C4F-0D37-570F1AF3B949}"/>
          </ac:spMkLst>
        </pc:spChg>
        <pc:spChg chg="add mod">
          <ac:chgData name="donyes hsairi" userId="e9a51367b91d9da4" providerId="LiveId" clId="{A6B867E9-16FD-44FE-85DD-753E674B4A30}" dt="2026-08-10T14:49:27.337" v="283" actId="164"/>
          <ac:spMkLst>
            <pc:docMk/>
            <pc:sldMk cId="3759658023" sldId="353"/>
            <ac:spMk id="21" creationId="{3B5CC05B-97A0-2B9A-74EB-B287C2B1383C}"/>
          </ac:spMkLst>
        </pc:spChg>
        <pc:spChg chg="add mod">
          <ac:chgData name="donyes hsairi" userId="e9a51367b91d9da4" providerId="LiveId" clId="{A6B867E9-16FD-44FE-85DD-753E674B4A30}" dt="2026-08-10T14:49:14.734" v="280" actId="164"/>
          <ac:spMkLst>
            <pc:docMk/>
            <pc:sldMk cId="3759658023" sldId="353"/>
            <ac:spMk id="23" creationId="{0CE2B95E-8FB8-8529-2A1F-13976F198BAA}"/>
          </ac:spMkLst>
        </pc:spChg>
        <pc:grpChg chg="add mod">
          <ac:chgData name="donyes hsairi" userId="e9a51367b91d9da4" providerId="LiveId" clId="{A6B867E9-16FD-44FE-85DD-753E674B4A30}" dt="2026-08-10T14:49:14.734" v="280" actId="164"/>
          <ac:grpSpMkLst>
            <pc:docMk/>
            <pc:sldMk cId="3759658023" sldId="353"/>
            <ac:grpSpMk id="24" creationId="{0F243B13-1173-BC99-AE63-EDEA4C3BFE33}"/>
          </ac:grpSpMkLst>
        </pc:grpChg>
        <pc:grpChg chg="add mod">
          <ac:chgData name="donyes hsairi" userId="e9a51367b91d9da4" providerId="LiveId" clId="{A6B867E9-16FD-44FE-85DD-753E674B4A30}" dt="2026-08-10T14:49:20.496" v="281" actId="164"/>
          <ac:grpSpMkLst>
            <pc:docMk/>
            <pc:sldMk cId="3759658023" sldId="353"/>
            <ac:grpSpMk id="25" creationId="{F42ABC13-7D25-DE92-CB78-007C1B320B44}"/>
          </ac:grpSpMkLst>
        </pc:grpChg>
        <pc:grpChg chg="add mod">
          <ac:chgData name="donyes hsairi" userId="e9a51367b91d9da4" providerId="LiveId" clId="{A6B867E9-16FD-44FE-85DD-753E674B4A30}" dt="2026-08-10T14:49:23.869" v="282" actId="164"/>
          <ac:grpSpMkLst>
            <pc:docMk/>
            <pc:sldMk cId="3759658023" sldId="353"/>
            <ac:grpSpMk id="26" creationId="{EB160C0F-E007-CD2B-1F92-875B622531B8}"/>
          </ac:grpSpMkLst>
        </pc:grpChg>
        <pc:grpChg chg="add mod">
          <ac:chgData name="donyes hsairi" userId="e9a51367b91d9da4" providerId="LiveId" clId="{A6B867E9-16FD-44FE-85DD-753E674B4A30}" dt="2026-08-10T14:49:27.337" v="283" actId="164"/>
          <ac:grpSpMkLst>
            <pc:docMk/>
            <pc:sldMk cId="3759658023" sldId="353"/>
            <ac:grpSpMk id="27" creationId="{B7A3436D-232B-4398-184F-D35A1F53F407}"/>
          </ac:grpSpMkLst>
        </pc:grpChg>
      </pc:sldChg>
      <pc:sldChg chg="addSp delSp modSp mod modAnim">
        <pc:chgData name="donyes hsairi" userId="e9a51367b91d9da4" providerId="LiveId" clId="{A6B867E9-16FD-44FE-85DD-753E674B4A30}" dt="2026-08-28T13:13:05.164" v="388" actId="20577"/>
        <pc:sldMkLst>
          <pc:docMk/>
          <pc:sldMk cId="696660683" sldId="354"/>
        </pc:sldMkLst>
        <pc:spChg chg="mod topLvl">
          <ac:chgData name="donyes hsairi" userId="e9a51367b91d9da4" providerId="LiveId" clId="{A6B867E9-16FD-44FE-85DD-753E674B4A30}" dt="2026-08-10T14:50:13.779" v="289" actId="164"/>
          <ac:spMkLst>
            <pc:docMk/>
            <pc:sldMk cId="696660683" sldId="354"/>
            <ac:spMk id="2" creationId="{7B5339CD-2CC2-9D8F-2F8D-53CB8D0D00ED}"/>
          </ac:spMkLst>
        </pc:spChg>
        <pc:spChg chg="mod">
          <ac:chgData name="donyes hsairi" userId="e9a51367b91d9da4" providerId="LiveId" clId="{A6B867E9-16FD-44FE-85DD-753E674B4A30}" dt="2026-08-28T13:07:42.570" v="365"/>
          <ac:spMkLst>
            <pc:docMk/>
            <pc:sldMk cId="696660683" sldId="354"/>
            <ac:spMk id="6" creationId="{47BFBE61-1794-2EEE-E78A-4B20F3AABAE2}"/>
          </ac:spMkLst>
        </pc:spChg>
        <pc:spChg chg="mod topLvl">
          <ac:chgData name="donyes hsairi" userId="e9a51367b91d9da4" providerId="LiveId" clId="{A6B867E9-16FD-44FE-85DD-753E674B4A30}" dt="2026-08-10T14:50:17.578" v="290" actId="164"/>
          <ac:spMkLst>
            <pc:docMk/>
            <pc:sldMk cId="696660683" sldId="354"/>
            <ac:spMk id="10" creationId="{3D13F651-FC85-EF2F-F84C-224D3520FABA}"/>
          </ac:spMkLst>
        </pc:spChg>
        <pc:spChg chg="mod topLvl">
          <ac:chgData name="donyes hsairi" userId="e9a51367b91d9da4" providerId="LiveId" clId="{A6B867E9-16FD-44FE-85DD-753E674B4A30}" dt="2026-08-28T13:13:05.164" v="388" actId="20577"/>
          <ac:spMkLst>
            <pc:docMk/>
            <pc:sldMk cId="696660683" sldId="354"/>
            <ac:spMk id="11" creationId="{85235EFB-B76C-FA8B-5500-3ECAA41CC206}"/>
          </ac:spMkLst>
        </pc:spChg>
        <pc:spChg chg="add mod topLvl">
          <ac:chgData name="donyes hsairi" userId="e9a51367b91d9da4" providerId="LiveId" clId="{A6B867E9-16FD-44FE-85DD-753E674B4A30}" dt="2026-08-10T14:50:20.738" v="291" actId="164"/>
          <ac:spMkLst>
            <pc:docMk/>
            <pc:sldMk cId="696660683" sldId="354"/>
            <ac:spMk id="12" creationId="{8470CEBD-ACED-9D7B-03F8-653716D7B0E7}"/>
          </ac:spMkLst>
        </pc:spChg>
        <pc:spChg chg="add mod topLvl">
          <ac:chgData name="donyes hsairi" userId="e9a51367b91d9da4" providerId="LiveId" clId="{A6B867E9-16FD-44FE-85DD-753E674B4A30}" dt="2026-08-10T14:50:13.779" v="289" actId="164"/>
          <ac:spMkLst>
            <pc:docMk/>
            <pc:sldMk cId="696660683" sldId="354"/>
            <ac:spMk id="18" creationId="{94F426A1-3434-DC6E-F32E-01C9409FFBE6}"/>
          </ac:spMkLst>
        </pc:spChg>
        <pc:spChg chg="add mod topLvl">
          <ac:chgData name="donyes hsairi" userId="e9a51367b91d9da4" providerId="LiveId" clId="{A6B867E9-16FD-44FE-85DD-753E674B4A30}" dt="2026-08-10T14:50:17.578" v="290" actId="164"/>
          <ac:spMkLst>
            <pc:docMk/>
            <pc:sldMk cId="696660683" sldId="354"/>
            <ac:spMk id="20" creationId="{0096B006-21D3-4E1E-C232-9E290342203B}"/>
          </ac:spMkLst>
        </pc:spChg>
        <pc:grpChg chg="add mod">
          <ac:chgData name="donyes hsairi" userId="e9a51367b91d9da4" providerId="LiveId" clId="{A6B867E9-16FD-44FE-85DD-753E674B4A30}" dt="2026-08-10T14:50:13.779" v="289" actId="164"/>
          <ac:grpSpMkLst>
            <pc:docMk/>
            <pc:sldMk cId="696660683" sldId="354"/>
            <ac:grpSpMk id="22" creationId="{706458F8-7DA4-2A53-FBDC-9C9DC09A59A7}"/>
          </ac:grpSpMkLst>
        </pc:grpChg>
        <pc:grpChg chg="add mod">
          <ac:chgData name="donyes hsairi" userId="e9a51367b91d9da4" providerId="LiveId" clId="{A6B867E9-16FD-44FE-85DD-753E674B4A30}" dt="2026-08-10T14:50:17.578" v="290" actId="164"/>
          <ac:grpSpMkLst>
            <pc:docMk/>
            <pc:sldMk cId="696660683" sldId="354"/>
            <ac:grpSpMk id="23" creationId="{725C2160-0D69-70B5-FBFA-DDECA63E7E18}"/>
          </ac:grpSpMkLst>
        </pc:grpChg>
        <pc:grpChg chg="add mod">
          <ac:chgData name="donyes hsairi" userId="e9a51367b91d9da4" providerId="LiveId" clId="{A6B867E9-16FD-44FE-85DD-753E674B4A30}" dt="2026-08-10T14:50:20.738" v="291" actId="164"/>
          <ac:grpSpMkLst>
            <pc:docMk/>
            <pc:sldMk cId="696660683" sldId="354"/>
            <ac:grpSpMk id="24" creationId="{4DCFC787-51AE-B5E6-389B-AC97081C50AD}"/>
          </ac:grpSpMkLst>
        </pc:grpChg>
        <pc:picChg chg="mod topLvl">
          <ac:chgData name="donyes hsairi" userId="e9a51367b91d9da4" providerId="LiveId" clId="{A6B867E9-16FD-44FE-85DD-753E674B4A30}" dt="2026-08-10T14:50:10.100" v="288" actId="165"/>
          <ac:picMkLst>
            <pc:docMk/>
            <pc:sldMk cId="696660683" sldId="354"/>
            <ac:picMk id="8" creationId="{72FB0A11-EE19-2E8D-3DA7-C1337198483D}"/>
          </ac:picMkLst>
        </pc:picChg>
      </pc:sldChg>
      <pc:sldChg chg="addSp modSp mod modAnim">
        <pc:chgData name="donyes hsairi" userId="e9a51367b91d9da4" providerId="LiveId" clId="{A6B867E9-16FD-44FE-85DD-753E674B4A30}" dt="2026-08-28T13:07:48.239" v="366"/>
        <pc:sldMkLst>
          <pc:docMk/>
          <pc:sldMk cId="2511706088" sldId="355"/>
        </pc:sldMkLst>
        <pc:spChg chg="mod">
          <ac:chgData name="donyes hsairi" userId="e9a51367b91d9da4" providerId="LiveId" clId="{A6B867E9-16FD-44FE-85DD-753E674B4A30}" dt="2026-08-10T14:50:55.340" v="304" actId="164"/>
          <ac:spMkLst>
            <pc:docMk/>
            <pc:sldMk cId="2511706088" sldId="355"/>
            <ac:spMk id="2" creationId="{8032997D-0721-6F2E-A8C5-E16974BA63E4}"/>
          </ac:spMkLst>
        </pc:spChg>
        <pc:spChg chg="mod">
          <ac:chgData name="donyes hsairi" userId="e9a51367b91d9da4" providerId="LiveId" clId="{A6B867E9-16FD-44FE-85DD-753E674B4A30}" dt="2026-08-28T13:07:48.239" v="366"/>
          <ac:spMkLst>
            <pc:docMk/>
            <pc:sldMk cId="2511706088" sldId="355"/>
            <ac:spMk id="6" creationId="{F6CC7396-A438-12C7-019D-20A06B7C42CF}"/>
          </ac:spMkLst>
        </pc:spChg>
        <pc:spChg chg="mod">
          <ac:chgData name="donyes hsairi" userId="e9a51367b91d9da4" providerId="LiveId" clId="{A6B867E9-16FD-44FE-85DD-753E674B4A30}" dt="2026-08-10T14:50:58.360" v="305" actId="164"/>
          <ac:spMkLst>
            <pc:docMk/>
            <pc:sldMk cId="2511706088" sldId="355"/>
            <ac:spMk id="10" creationId="{390080CB-1ED2-C301-64E0-F0B64E6822A6}"/>
          </ac:spMkLst>
        </pc:spChg>
        <pc:spChg chg="mod">
          <ac:chgData name="donyes hsairi" userId="e9a51367b91d9da4" providerId="LiveId" clId="{A6B867E9-16FD-44FE-85DD-753E674B4A30}" dt="2026-08-10T14:52:04.531" v="322" actId="1036"/>
          <ac:spMkLst>
            <pc:docMk/>
            <pc:sldMk cId="2511706088" sldId="355"/>
            <ac:spMk id="11" creationId="{716CEE00-C71E-D797-FBD9-E8C609B7DE76}"/>
          </ac:spMkLst>
        </pc:spChg>
        <pc:spChg chg="mod">
          <ac:chgData name="donyes hsairi" userId="e9a51367b91d9da4" providerId="LiveId" clId="{A6B867E9-16FD-44FE-85DD-753E674B4A30}" dt="2026-08-10T14:51:09.819" v="307" actId="164"/>
          <ac:spMkLst>
            <pc:docMk/>
            <pc:sldMk cId="2511706088" sldId="355"/>
            <ac:spMk id="12" creationId="{79194A2F-32F8-5307-1FA9-DEFCE7EBCA8C}"/>
          </ac:spMkLst>
        </pc:spChg>
        <pc:spChg chg="mod">
          <ac:chgData name="donyes hsairi" userId="e9a51367b91d9da4" providerId="LiveId" clId="{A6B867E9-16FD-44FE-85DD-753E674B4A30}" dt="2026-08-10T14:51:13.098" v="308" actId="164"/>
          <ac:spMkLst>
            <pc:docMk/>
            <pc:sldMk cId="2511706088" sldId="355"/>
            <ac:spMk id="13" creationId="{FA279094-29D3-5456-5644-8A5D83141425}"/>
          </ac:spMkLst>
        </pc:spChg>
        <pc:spChg chg="mod">
          <ac:chgData name="donyes hsairi" userId="e9a51367b91d9da4" providerId="LiveId" clId="{A6B867E9-16FD-44FE-85DD-753E674B4A30}" dt="2026-08-10T14:51:15.820" v="309" actId="164"/>
          <ac:spMkLst>
            <pc:docMk/>
            <pc:sldMk cId="2511706088" sldId="355"/>
            <ac:spMk id="18" creationId="{BD5B08F8-DFD3-5C5E-CA75-E3F261C1899A}"/>
          </ac:spMkLst>
        </pc:spChg>
        <pc:spChg chg="mod">
          <ac:chgData name="donyes hsairi" userId="e9a51367b91d9da4" providerId="LiveId" clId="{A6B867E9-16FD-44FE-85DD-753E674B4A30}" dt="2026-08-10T14:52:15.860" v="323" actId="164"/>
          <ac:spMkLst>
            <pc:docMk/>
            <pc:sldMk cId="2511706088" sldId="355"/>
            <ac:spMk id="19" creationId="{B6DB4E95-4FC7-1B94-CA1B-6ACB0B771C2D}"/>
          </ac:spMkLst>
        </pc:spChg>
        <pc:spChg chg="add mod">
          <ac:chgData name="donyes hsairi" userId="e9a51367b91d9da4" providerId="LiveId" clId="{A6B867E9-16FD-44FE-85DD-753E674B4A30}" dt="2026-08-10T14:50:55.340" v="304" actId="164"/>
          <ac:spMkLst>
            <pc:docMk/>
            <pc:sldMk cId="2511706088" sldId="355"/>
            <ac:spMk id="20" creationId="{5D817370-4401-F527-8C54-791D19A8EADC}"/>
          </ac:spMkLst>
        </pc:spChg>
        <pc:spChg chg="add mod">
          <ac:chgData name="donyes hsairi" userId="e9a51367b91d9da4" providerId="LiveId" clId="{A6B867E9-16FD-44FE-85DD-753E674B4A30}" dt="2026-08-10T14:50:58.360" v="305" actId="164"/>
          <ac:spMkLst>
            <pc:docMk/>
            <pc:sldMk cId="2511706088" sldId="355"/>
            <ac:spMk id="22" creationId="{81581B78-B6DD-2C99-B7ED-F8BF2801C8B7}"/>
          </ac:spMkLst>
        </pc:spChg>
        <pc:spChg chg="add mod">
          <ac:chgData name="donyes hsairi" userId="e9a51367b91d9da4" providerId="LiveId" clId="{A6B867E9-16FD-44FE-85DD-753E674B4A30}" dt="2026-08-10T14:51:03.178" v="306" actId="164"/>
          <ac:spMkLst>
            <pc:docMk/>
            <pc:sldMk cId="2511706088" sldId="355"/>
            <ac:spMk id="24" creationId="{4244F4F6-C0AB-9794-2943-5D534EF0E432}"/>
          </ac:spMkLst>
        </pc:spChg>
        <pc:spChg chg="add mod">
          <ac:chgData name="donyes hsairi" userId="e9a51367b91d9da4" providerId="LiveId" clId="{A6B867E9-16FD-44FE-85DD-753E674B4A30}" dt="2026-08-10T14:51:09.819" v="307" actId="164"/>
          <ac:spMkLst>
            <pc:docMk/>
            <pc:sldMk cId="2511706088" sldId="355"/>
            <ac:spMk id="26" creationId="{8CFBB426-EA65-BD9F-085D-E89E1255BA45}"/>
          </ac:spMkLst>
        </pc:spChg>
        <pc:spChg chg="add mod">
          <ac:chgData name="donyes hsairi" userId="e9a51367b91d9da4" providerId="LiveId" clId="{A6B867E9-16FD-44FE-85DD-753E674B4A30}" dt="2026-08-10T14:51:13.098" v="308" actId="164"/>
          <ac:spMkLst>
            <pc:docMk/>
            <pc:sldMk cId="2511706088" sldId="355"/>
            <ac:spMk id="28" creationId="{979D50D9-5CCF-FB9A-44A8-8492E04F4310}"/>
          </ac:spMkLst>
        </pc:spChg>
        <pc:spChg chg="add mod">
          <ac:chgData name="donyes hsairi" userId="e9a51367b91d9da4" providerId="LiveId" clId="{A6B867E9-16FD-44FE-85DD-753E674B4A30}" dt="2026-08-10T14:51:15.820" v="309" actId="164"/>
          <ac:spMkLst>
            <pc:docMk/>
            <pc:sldMk cId="2511706088" sldId="355"/>
            <ac:spMk id="30" creationId="{D861D8FD-CB8C-9843-364F-249E58356A6D}"/>
          </ac:spMkLst>
        </pc:spChg>
        <pc:spChg chg="add mod">
          <ac:chgData name="donyes hsairi" userId="e9a51367b91d9da4" providerId="LiveId" clId="{A6B867E9-16FD-44FE-85DD-753E674B4A30}" dt="2026-08-10T14:52:15.860" v="323" actId="164"/>
          <ac:spMkLst>
            <pc:docMk/>
            <pc:sldMk cId="2511706088" sldId="355"/>
            <ac:spMk id="38" creationId="{C7EF7343-297B-8F15-BBF2-115CBE5EFEC7}"/>
          </ac:spMkLst>
        </pc:spChg>
        <pc:spChg chg="add mod">
          <ac:chgData name="donyes hsairi" userId="e9a51367b91d9da4" providerId="LiveId" clId="{A6B867E9-16FD-44FE-85DD-753E674B4A30}" dt="2026-08-10T14:52:15.860" v="323" actId="164"/>
          <ac:spMkLst>
            <pc:docMk/>
            <pc:sldMk cId="2511706088" sldId="355"/>
            <ac:spMk id="40" creationId="{ADF03D50-EAAA-ED90-01F2-833C00610ACC}"/>
          </ac:spMkLst>
        </pc:spChg>
        <pc:grpChg chg="add mod">
          <ac:chgData name="donyes hsairi" userId="e9a51367b91d9da4" providerId="LiveId" clId="{A6B867E9-16FD-44FE-85DD-753E674B4A30}" dt="2026-08-10T14:50:55.340" v="304" actId="164"/>
          <ac:grpSpMkLst>
            <pc:docMk/>
            <pc:sldMk cId="2511706088" sldId="355"/>
            <ac:grpSpMk id="31" creationId="{62D2FD27-8739-A87E-D2ED-E18876B0005B}"/>
          </ac:grpSpMkLst>
        </pc:grpChg>
        <pc:grpChg chg="add mod">
          <ac:chgData name="donyes hsairi" userId="e9a51367b91d9da4" providerId="LiveId" clId="{A6B867E9-16FD-44FE-85DD-753E674B4A30}" dt="2026-08-10T14:50:58.360" v="305" actId="164"/>
          <ac:grpSpMkLst>
            <pc:docMk/>
            <pc:sldMk cId="2511706088" sldId="355"/>
            <ac:grpSpMk id="32" creationId="{8B0D5D66-CB74-0D27-91B4-E6260415A693}"/>
          </ac:grpSpMkLst>
        </pc:grpChg>
        <pc:grpChg chg="add mod">
          <ac:chgData name="donyes hsairi" userId="e9a51367b91d9da4" providerId="LiveId" clId="{A6B867E9-16FD-44FE-85DD-753E674B4A30}" dt="2026-08-10T14:51:03.178" v="306" actId="164"/>
          <ac:grpSpMkLst>
            <pc:docMk/>
            <pc:sldMk cId="2511706088" sldId="355"/>
            <ac:grpSpMk id="33" creationId="{C7F2F3DE-A7B7-4FDC-8362-249F55BA93D6}"/>
          </ac:grpSpMkLst>
        </pc:grpChg>
        <pc:grpChg chg="add mod">
          <ac:chgData name="donyes hsairi" userId="e9a51367b91d9da4" providerId="LiveId" clId="{A6B867E9-16FD-44FE-85DD-753E674B4A30}" dt="2026-08-10T14:51:09.819" v="307" actId="164"/>
          <ac:grpSpMkLst>
            <pc:docMk/>
            <pc:sldMk cId="2511706088" sldId="355"/>
            <ac:grpSpMk id="34" creationId="{DA61FABD-B79D-10BD-1DFE-878BC3A7F0FB}"/>
          </ac:grpSpMkLst>
        </pc:grpChg>
        <pc:grpChg chg="add mod">
          <ac:chgData name="donyes hsairi" userId="e9a51367b91d9da4" providerId="LiveId" clId="{A6B867E9-16FD-44FE-85DD-753E674B4A30}" dt="2026-08-10T14:51:13.098" v="308" actId="164"/>
          <ac:grpSpMkLst>
            <pc:docMk/>
            <pc:sldMk cId="2511706088" sldId="355"/>
            <ac:grpSpMk id="35" creationId="{EDF9FBF0-18D8-A8D7-468E-26C4A1956CDA}"/>
          </ac:grpSpMkLst>
        </pc:grpChg>
        <pc:grpChg chg="add mod">
          <ac:chgData name="donyes hsairi" userId="e9a51367b91d9da4" providerId="LiveId" clId="{A6B867E9-16FD-44FE-85DD-753E674B4A30}" dt="2026-08-10T14:51:15.820" v="309" actId="164"/>
          <ac:grpSpMkLst>
            <pc:docMk/>
            <pc:sldMk cId="2511706088" sldId="355"/>
            <ac:grpSpMk id="36" creationId="{FE58E604-2EEA-85DE-5162-1B8C45CAEF2F}"/>
          </ac:grpSpMkLst>
        </pc:grpChg>
        <pc:grpChg chg="add mod">
          <ac:chgData name="donyes hsairi" userId="e9a51367b91d9da4" providerId="LiveId" clId="{A6B867E9-16FD-44FE-85DD-753E674B4A30}" dt="2026-08-10T14:52:15.860" v="323" actId="164"/>
          <ac:grpSpMkLst>
            <pc:docMk/>
            <pc:sldMk cId="2511706088" sldId="355"/>
            <ac:grpSpMk id="41" creationId="{E1A6146A-497B-AB01-64BC-D280EE592391}"/>
          </ac:grpSpMkLst>
        </pc:grpChg>
      </pc:sldChg>
      <pc:sldChg chg="modSp modAnim">
        <pc:chgData name="donyes hsairi" userId="e9a51367b91d9da4" providerId="LiveId" clId="{A6B867E9-16FD-44FE-85DD-753E674B4A30}" dt="2026-08-28T13:07:52.514" v="367"/>
        <pc:sldMkLst>
          <pc:docMk/>
          <pc:sldMk cId="2974623299" sldId="356"/>
        </pc:sldMkLst>
        <pc:spChg chg="mod">
          <ac:chgData name="donyes hsairi" userId="e9a51367b91d9da4" providerId="LiveId" clId="{A6B867E9-16FD-44FE-85DD-753E674B4A30}" dt="2026-08-28T13:07:52.514" v="367"/>
          <ac:spMkLst>
            <pc:docMk/>
            <pc:sldMk cId="2974623299" sldId="356"/>
            <ac:spMk id="6" creationId="{B87A2DFD-C4CE-023B-B1E4-61E8C36547DA}"/>
          </ac:spMkLst>
        </pc:spChg>
      </pc:sldChg>
      <pc:sldChg chg="add ord">
        <pc:chgData name="donyes hsairi" userId="e9a51367b91d9da4" providerId="LiveId" clId="{A6B867E9-16FD-44FE-85DD-753E674B4A30}" dt="2026-08-10T14:06:49.973" v="11"/>
        <pc:sldMkLst>
          <pc:docMk/>
          <pc:sldMk cId="1579858677" sldId="357"/>
        </pc:sldMkLst>
      </pc:sldChg>
      <pc:sldChg chg="modSp add ord modAnim">
        <pc:chgData name="donyes hsairi" userId="e9a51367b91d9da4" providerId="LiveId" clId="{A6B867E9-16FD-44FE-85DD-753E674B4A30}" dt="2026-08-10T14:57:02.832" v="353"/>
        <pc:sldMkLst>
          <pc:docMk/>
          <pc:sldMk cId="3520131212" sldId="358"/>
        </pc:sldMkLst>
        <pc:spChg chg="mod">
          <ac:chgData name="donyes hsairi" userId="e9a51367b91d9da4" providerId="LiveId" clId="{A6B867E9-16FD-44FE-85DD-753E674B4A30}" dt="2026-08-10T14:07:16.416" v="25" actId="20577"/>
          <ac:spMkLst>
            <pc:docMk/>
            <pc:sldMk cId="3520131212" sldId="358"/>
            <ac:spMk id="10" creationId="{4AD9B977-9EB8-89A7-BBDE-7B62130E4D92}"/>
          </ac:spMkLst>
        </pc:spChg>
      </pc:sldChg>
      <pc:sldChg chg="add">
        <pc:chgData name="donyes hsairi" userId="e9a51367b91d9da4" providerId="LiveId" clId="{A6B867E9-16FD-44FE-85DD-753E674B4A30}" dt="2026-08-28T13:07:21.082" v="356" actId="2890"/>
        <pc:sldMkLst>
          <pc:docMk/>
          <pc:sldMk cId="2123962318" sldId="35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CB8468-DAF0-0F71-CBE5-C372CE2038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a:extLst>
              <a:ext uri="{FF2B5EF4-FFF2-40B4-BE49-F238E27FC236}">
                <a16:creationId xmlns:a16="http://schemas.microsoft.com/office/drawing/2014/main" id="{F2F0A9B3-12F8-0F05-119E-2F594D548D1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D37F02E-CB08-48E2-AFC6-B9EF0ACBFAF0}" type="datetimeFigureOut">
              <a:rPr lang="en-DE" smtClean="0"/>
              <a:t>28/08/2026</a:t>
            </a:fld>
            <a:endParaRPr lang="en-DE"/>
          </a:p>
        </p:txBody>
      </p:sp>
      <p:sp>
        <p:nvSpPr>
          <p:cNvPr id="4" name="Footer Placeholder 3">
            <a:extLst>
              <a:ext uri="{FF2B5EF4-FFF2-40B4-BE49-F238E27FC236}">
                <a16:creationId xmlns:a16="http://schemas.microsoft.com/office/drawing/2014/main" id="{BD6B430E-FFD2-3326-FAD0-80D2AFC567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5" name="Slide Number Placeholder 4">
            <a:extLst>
              <a:ext uri="{FF2B5EF4-FFF2-40B4-BE49-F238E27FC236}">
                <a16:creationId xmlns:a16="http://schemas.microsoft.com/office/drawing/2014/main" id="{29C2D4A3-54B4-1ECA-5249-2820601A74A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D7A499-A3D5-4FFF-82E4-91B7A4B97103}" type="slidenum">
              <a:rPr lang="en-DE" smtClean="0"/>
              <a:t>‹#›</a:t>
            </a:fld>
            <a:endParaRPr lang="en-DE"/>
          </a:p>
        </p:txBody>
      </p:sp>
    </p:spTree>
    <p:extLst>
      <p:ext uri="{BB962C8B-B14F-4D97-AF65-F5344CB8AC3E}">
        <p14:creationId xmlns:p14="http://schemas.microsoft.com/office/powerpoint/2010/main" val="125338781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8753D7-45EE-47A5-892F-03B1D83FC5F8}" type="datetimeFigureOut">
              <a:rPr lang="en-DE" smtClean="0"/>
              <a:t>28/08/2026</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B59B79-CA89-4F0C-8DD4-7A0D2AA4A649}" type="slidenum">
              <a:rPr lang="en-DE" smtClean="0"/>
              <a:t>‹#›</a:t>
            </a:fld>
            <a:endParaRPr lang="en-DE"/>
          </a:p>
        </p:txBody>
      </p:sp>
    </p:spTree>
    <p:extLst>
      <p:ext uri="{BB962C8B-B14F-4D97-AF65-F5344CB8AC3E}">
        <p14:creationId xmlns:p14="http://schemas.microsoft.com/office/powerpoint/2010/main" val="144816664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again. Thank you for being here today. Last time, we started with first phase of our project. And I already presented the BLE fundamentals…. Since then, I’ve updated the presentation by adding some important details. So today, I’ll mainly explain these new parts and clarify how they complete the overall BLE architecture.</a:t>
            </a:r>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1</a:t>
            </a:fld>
            <a:endParaRPr lang="en-DE"/>
          </a:p>
        </p:txBody>
      </p:sp>
    </p:spTree>
    <p:extLst>
      <p:ext uri="{BB962C8B-B14F-4D97-AF65-F5344CB8AC3E}">
        <p14:creationId xmlns:p14="http://schemas.microsoft.com/office/powerpoint/2010/main" val="2042383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2</a:t>
            </a:fld>
            <a:endParaRPr lang="en-DE"/>
          </a:p>
        </p:txBody>
      </p:sp>
    </p:spTree>
    <p:extLst>
      <p:ext uri="{BB962C8B-B14F-4D97-AF65-F5344CB8AC3E}">
        <p14:creationId xmlns:p14="http://schemas.microsoft.com/office/powerpoint/2010/main" val="3025358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went through</a:t>
            </a:r>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4</a:t>
            </a:fld>
            <a:endParaRPr lang="en-DE"/>
          </a:p>
        </p:txBody>
      </p:sp>
    </p:spTree>
    <p:extLst>
      <p:ext uri="{BB962C8B-B14F-4D97-AF65-F5344CB8AC3E}">
        <p14:creationId xmlns:p14="http://schemas.microsoft.com/office/powerpoint/2010/main" val="787246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6</a:t>
            </a:fld>
            <a:endParaRPr lang="en-DE"/>
          </a:p>
        </p:txBody>
      </p:sp>
    </p:spTree>
    <p:extLst>
      <p:ext uri="{BB962C8B-B14F-4D97-AF65-F5344CB8AC3E}">
        <p14:creationId xmlns:p14="http://schemas.microsoft.com/office/powerpoint/2010/main" val="21485406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 is a combination between hardware and software</a:t>
            </a:r>
          </a:p>
          <a:p>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9</a:t>
            </a:fld>
            <a:endParaRPr lang="en-DE"/>
          </a:p>
        </p:txBody>
      </p:sp>
    </p:spTree>
    <p:extLst>
      <p:ext uri="{BB962C8B-B14F-4D97-AF65-F5344CB8AC3E}">
        <p14:creationId xmlns:p14="http://schemas.microsoft.com/office/powerpoint/2010/main" val="116446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303642"/>
                </a:solidFill>
                <a:latin typeface="Poppins" panose="00000500000000000000" pitchFamily="2" charset="0"/>
                <a:cs typeface="Poppins" panose="00000500000000000000" pitchFamily="2" charset="0"/>
              </a:rPr>
              <a:t>GATT: defines how data can be read or written.</a:t>
            </a:r>
            <a:br>
              <a:rPr lang="en-US" sz="1200" dirty="0">
                <a:solidFill>
                  <a:srgbClr val="303642"/>
                </a:solidFill>
                <a:latin typeface="Poppins" panose="00000500000000000000" pitchFamily="2" charset="0"/>
                <a:cs typeface="Poppins" panose="00000500000000000000" pitchFamily="2" charset="0"/>
              </a:rPr>
            </a:br>
            <a:r>
              <a:rPr lang="en-US" sz="1200" dirty="0" err="1">
                <a:solidFill>
                  <a:srgbClr val="303642"/>
                </a:solidFill>
                <a:latin typeface="Poppins" panose="00000500000000000000" pitchFamily="2" charset="0"/>
                <a:cs typeface="Poppins" panose="00000500000000000000" pitchFamily="2" charset="0"/>
              </a:rPr>
              <a:t>GATT</a:t>
            </a:r>
            <a:r>
              <a:rPr lang="en-US" sz="1200" dirty="0">
                <a:solidFill>
                  <a:srgbClr val="303642"/>
                </a:solidFill>
                <a:latin typeface="Poppins" panose="00000500000000000000" pitchFamily="2" charset="0"/>
                <a:cs typeface="Poppins" panose="00000500000000000000" pitchFamily="2" charset="0"/>
              </a:rPr>
              <a:t> server: stores and exposes sensor data (ESP32).</a:t>
            </a:r>
          </a:p>
          <a:p>
            <a:r>
              <a:rPr lang="en-US" sz="1200" dirty="0">
                <a:solidFill>
                  <a:srgbClr val="303642"/>
                </a:solidFill>
                <a:latin typeface="Poppins" panose="00000500000000000000" pitchFamily="2" charset="0"/>
                <a:cs typeface="Poppins" panose="00000500000000000000" pitchFamily="2" charset="0"/>
              </a:rPr>
              <a:t>GATT client: initiates commands and requests to the GATT Server</a:t>
            </a:r>
          </a:p>
          <a:p>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11</a:t>
            </a:fld>
            <a:endParaRPr lang="en-DE"/>
          </a:p>
        </p:txBody>
      </p:sp>
    </p:spTree>
    <p:extLst>
      <p:ext uri="{BB962C8B-B14F-4D97-AF65-F5344CB8AC3E}">
        <p14:creationId xmlns:p14="http://schemas.microsoft.com/office/powerpoint/2010/main" val="956689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Inside the Host, the sub-layers don’t communicate directly and randomly .</a:t>
            </a:r>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12</a:t>
            </a:fld>
            <a:endParaRPr lang="en-DE"/>
          </a:p>
        </p:txBody>
      </p:sp>
    </p:spTree>
    <p:extLst>
      <p:ext uri="{BB962C8B-B14F-4D97-AF65-F5344CB8AC3E}">
        <p14:creationId xmlns:p14="http://schemas.microsoft.com/office/powerpoint/2010/main" val="4303441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5541A-0140-CDF0-17D4-AA2D508C1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C41A0-C801-2CA1-9C54-BBAC5BFA1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F7499-317A-9477-C4EC-9316BBEA679D}"/>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2726B52D-40C6-2FB4-056F-E25C563A7620}"/>
              </a:ext>
            </a:extLst>
          </p:cNvPr>
          <p:cNvSpPr>
            <a:spLocks noGrp="1"/>
          </p:cNvSpPr>
          <p:nvPr>
            <p:ph type="sldNum" sz="quarter" idx="5"/>
          </p:nvPr>
        </p:nvSpPr>
        <p:spPr/>
        <p:txBody>
          <a:bodyPr/>
          <a:lstStyle/>
          <a:p>
            <a:fld id="{5EB59B79-CA89-4F0C-8DD4-7A0D2AA4A649}" type="slidenum">
              <a:rPr lang="en-DE" smtClean="0"/>
              <a:t>13</a:t>
            </a:fld>
            <a:endParaRPr lang="en-DE"/>
          </a:p>
        </p:txBody>
      </p:sp>
    </p:spTree>
    <p:extLst>
      <p:ext uri="{BB962C8B-B14F-4D97-AF65-F5344CB8AC3E}">
        <p14:creationId xmlns:p14="http://schemas.microsoft.com/office/powerpoint/2010/main" val="2967728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B6492-100C-AAC1-5738-3DD2F39AE6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FB16CB-E8E9-1C2D-5420-C640A6A0C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FD7AAA-D98E-3165-1835-A4AE10EE8B27}"/>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E20BB577-038F-2D71-19EC-E7A13D9D429F}"/>
              </a:ext>
            </a:extLst>
          </p:cNvPr>
          <p:cNvSpPr>
            <a:spLocks noGrp="1"/>
          </p:cNvSpPr>
          <p:nvPr>
            <p:ph type="sldNum" sz="quarter" idx="5"/>
          </p:nvPr>
        </p:nvSpPr>
        <p:spPr/>
        <p:txBody>
          <a:bodyPr/>
          <a:lstStyle/>
          <a:p>
            <a:fld id="{5EB59B79-CA89-4F0C-8DD4-7A0D2AA4A649}" type="slidenum">
              <a:rPr lang="en-DE" smtClean="0"/>
              <a:t>14</a:t>
            </a:fld>
            <a:endParaRPr lang="en-DE"/>
          </a:p>
        </p:txBody>
      </p:sp>
    </p:spTree>
    <p:extLst>
      <p:ext uri="{BB962C8B-B14F-4D97-AF65-F5344CB8AC3E}">
        <p14:creationId xmlns:p14="http://schemas.microsoft.com/office/powerpoint/2010/main" val="11265391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722CB-773B-CE4D-C4DC-D8C6A6F40C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C873F9-B5FC-78B9-328A-7052EEF85D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C4D689-E663-2910-BE49-C2124B26EC8E}"/>
              </a:ext>
            </a:extLst>
          </p:cNvPr>
          <p:cNvSpPr>
            <a:spLocks noGrp="1"/>
          </p:cNvSpPr>
          <p:nvPr>
            <p:ph type="body" idx="1"/>
          </p:nvPr>
        </p:nvSpPr>
        <p:spPr/>
        <p:txBody>
          <a:bodyPr/>
          <a:lstStyle/>
          <a:p>
            <a:r>
              <a:rPr lang="en-US" dirty="0"/>
              <a:t>MIC is optional and only present in encrypted connections</a:t>
            </a:r>
          </a:p>
          <a:p>
            <a:endParaRPr lang="en-DE" dirty="0"/>
          </a:p>
        </p:txBody>
      </p:sp>
      <p:sp>
        <p:nvSpPr>
          <p:cNvPr id="4" name="Slide Number Placeholder 3">
            <a:extLst>
              <a:ext uri="{FF2B5EF4-FFF2-40B4-BE49-F238E27FC236}">
                <a16:creationId xmlns:a16="http://schemas.microsoft.com/office/drawing/2014/main" id="{DD2557BA-C617-5157-6A9A-0347AA0F3C6C}"/>
              </a:ext>
            </a:extLst>
          </p:cNvPr>
          <p:cNvSpPr>
            <a:spLocks noGrp="1"/>
          </p:cNvSpPr>
          <p:nvPr>
            <p:ph type="sldNum" sz="quarter" idx="5"/>
          </p:nvPr>
        </p:nvSpPr>
        <p:spPr/>
        <p:txBody>
          <a:bodyPr/>
          <a:lstStyle/>
          <a:p>
            <a:fld id="{5EB59B79-CA89-4F0C-8DD4-7A0D2AA4A649}" type="slidenum">
              <a:rPr lang="en-DE" smtClean="0"/>
              <a:t>15</a:t>
            </a:fld>
            <a:endParaRPr lang="en-DE"/>
          </a:p>
        </p:txBody>
      </p:sp>
    </p:spTree>
    <p:extLst>
      <p:ext uri="{BB962C8B-B14F-4D97-AF65-F5344CB8AC3E}">
        <p14:creationId xmlns:p14="http://schemas.microsoft.com/office/powerpoint/2010/main" val="409664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3F792-F722-C00C-90D4-9F073C1B3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4E557E-725D-019E-B412-65FCFB8248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21B379-EB46-0DE6-C199-385B64FDD7B8}"/>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A720B0F8-EAED-E972-139E-DBD7C20B133D}"/>
              </a:ext>
            </a:extLst>
          </p:cNvPr>
          <p:cNvSpPr>
            <a:spLocks noGrp="1"/>
          </p:cNvSpPr>
          <p:nvPr>
            <p:ph type="sldNum" sz="quarter" idx="5"/>
          </p:nvPr>
        </p:nvSpPr>
        <p:spPr/>
        <p:txBody>
          <a:bodyPr/>
          <a:lstStyle/>
          <a:p>
            <a:fld id="{5EB59B79-CA89-4F0C-8DD4-7A0D2AA4A649}" type="slidenum">
              <a:rPr lang="en-DE" smtClean="0"/>
              <a:t>16</a:t>
            </a:fld>
            <a:endParaRPr lang="en-DE"/>
          </a:p>
        </p:txBody>
      </p:sp>
    </p:spTree>
    <p:extLst>
      <p:ext uri="{BB962C8B-B14F-4D97-AF65-F5344CB8AC3E}">
        <p14:creationId xmlns:p14="http://schemas.microsoft.com/office/powerpoint/2010/main" val="1636298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B2620-D056-7987-CF36-C96067D54D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F720F-72ED-E654-317C-407F613181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1D3C0-A675-262E-8251-7AD18CE656D2}"/>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6C1CE58E-C19A-2D8B-BD19-0049059724DE}"/>
              </a:ext>
            </a:extLst>
          </p:cNvPr>
          <p:cNvSpPr>
            <a:spLocks noGrp="1"/>
          </p:cNvSpPr>
          <p:nvPr>
            <p:ph type="sldNum" sz="quarter" idx="5"/>
          </p:nvPr>
        </p:nvSpPr>
        <p:spPr/>
        <p:txBody>
          <a:bodyPr/>
          <a:lstStyle/>
          <a:p>
            <a:fld id="{5EB59B79-CA89-4F0C-8DD4-7A0D2AA4A649}" type="slidenum">
              <a:rPr lang="en-DE" smtClean="0"/>
              <a:t>17</a:t>
            </a:fld>
            <a:endParaRPr lang="en-DE"/>
          </a:p>
        </p:txBody>
      </p:sp>
    </p:spTree>
    <p:extLst>
      <p:ext uri="{BB962C8B-B14F-4D97-AF65-F5344CB8AC3E}">
        <p14:creationId xmlns:p14="http://schemas.microsoft.com/office/powerpoint/2010/main" val="34186454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83F3D-67E3-9CA9-9A7B-84D38968A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F8D07-6082-4706-F585-49A575DCB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AFEAE-1880-4E68-280B-1B8B514B9351}"/>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C01393A0-1E19-9344-4CB5-2BAE5B057802}"/>
              </a:ext>
            </a:extLst>
          </p:cNvPr>
          <p:cNvSpPr>
            <a:spLocks noGrp="1"/>
          </p:cNvSpPr>
          <p:nvPr>
            <p:ph type="sldNum" sz="quarter" idx="5"/>
          </p:nvPr>
        </p:nvSpPr>
        <p:spPr/>
        <p:txBody>
          <a:bodyPr/>
          <a:lstStyle/>
          <a:p>
            <a:fld id="{5EB59B79-CA89-4F0C-8DD4-7A0D2AA4A649}" type="slidenum">
              <a:rPr lang="en-DE" smtClean="0"/>
              <a:t>18</a:t>
            </a:fld>
            <a:endParaRPr lang="en-DE"/>
          </a:p>
        </p:txBody>
      </p:sp>
    </p:spTree>
    <p:extLst>
      <p:ext uri="{BB962C8B-B14F-4D97-AF65-F5344CB8AC3E}">
        <p14:creationId xmlns:p14="http://schemas.microsoft.com/office/powerpoint/2010/main" val="31852959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A9841-C103-C930-8074-7DCEE6550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7806D8-5C1D-EFAE-7986-CF0BB93A1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3CA29-908E-85B9-0DD8-11C02C5213DD}"/>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FCA7AC4F-D995-31B5-0EC6-58F29519F2AC}"/>
              </a:ext>
            </a:extLst>
          </p:cNvPr>
          <p:cNvSpPr>
            <a:spLocks noGrp="1"/>
          </p:cNvSpPr>
          <p:nvPr>
            <p:ph type="sldNum" sz="quarter" idx="5"/>
          </p:nvPr>
        </p:nvSpPr>
        <p:spPr/>
        <p:txBody>
          <a:bodyPr/>
          <a:lstStyle/>
          <a:p>
            <a:fld id="{5EB59B79-CA89-4F0C-8DD4-7A0D2AA4A649}" type="slidenum">
              <a:rPr lang="en-DE" smtClean="0"/>
              <a:t>19</a:t>
            </a:fld>
            <a:endParaRPr lang="en-DE"/>
          </a:p>
        </p:txBody>
      </p:sp>
    </p:spTree>
    <p:extLst>
      <p:ext uri="{BB962C8B-B14F-4D97-AF65-F5344CB8AC3E}">
        <p14:creationId xmlns:p14="http://schemas.microsoft.com/office/powerpoint/2010/main" val="18520613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Application Programming Interface</a:t>
            </a:r>
            <a:r>
              <a:rPr lang="en-US" dirty="0"/>
              <a:t>s: set of rules or methods </a:t>
            </a:r>
            <a:r>
              <a:rPr lang="en-DE" dirty="0"/>
              <a:t>that allows one software component to communicate with another without needing to know its internal implementation.</a:t>
            </a:r>
          </a:p>
        </p:txBody>
      </p:sp>
      <p:sp>
        <p:nvSpPr>
          <p:cNvPr id="4" name="Slide Number Placeholder 3"/>
          <p:cNvSpPr>
            <a:spLocks noGrp="1"/>
          </p:cNvSpPr>
          <p:nvPr>
            <p:ph type="sldNum" sz="quarter" idx="5"/>
          </p:nvPr>
        </p:nvSpPr>
        <p:spPr/>
        <p:txBody>
          <a:bodyPr/>
          <a:lstStyle/>
          <a:p>
            <a:fld id="{5EB59B79-CA89-4F0C-8DD4-7A0D2AA4A649}" type="slidenum">
              <a:rPr lang="en-DE" smtClean="0"/>
              <a:t>20</a:t>
            </a:fld>
            <a:endParaRPr lang="en-DE"/>
          </a:p>
        </p:txBody>
      </p:sp>
    </p:spTree>
    <p:extLst>
      <p:ext uri="{BB962C8B-B14F-4D97-AF65-F5344CB8AC3E}">
        <p14:creationId xmlns:p14="http://schemas.microsoft.com/office/powerpoint/2010/main" val="1301167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are fixed and standardized inside the Host stack.</a:t>
            </a:r>
            <a:endParaRPr lang="en-DE" sz="1200" kern="1200" dirty="0">
              <a:solidFill>
                <a:schemeClr val="tx1"/>
              </a:solidFill>
              <a:effectLst/>
              <a:latin typeface="+mn-lt"/>
              <a:ea typeface="+mn-ea"/>
              <a:cs typeface="+mn-cs"/>
            </a:endParaRPr>
          </a:p>
          <a:p>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21</a:t>
            </a:fld>
            <a:endParaRPr lang="en-DE"/>
          </a:p>
        </p:txBody>
      </p:sp>
    </p:spTree>
    <p:extLst>
      <p:ext uri="{BB962C8B-B14F-4D97-AF65-F5344CB8AC3E}">
        <p14:creationId xmlns:p14="http://schemas.microsoft.com/office/powerpoint/2010/main" val="3028683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27</a:t>
            </a:fld>
            <a:endParaRPr lang="en-DE"/>
          </a:p>
        </p:txBody>
      </p:sp>
    </p:spTree>
    <p:extLst>
      <p:ext uri="{BB962C8B-B14F-4D97-AF65-F5344CB8AC3E}">
        <p14:creationId xmlns:p14="http://schemas.microsoft.com/office/powerpoint/2010/main" val="20199893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E8974-A2E2-8B0D-F04D-5B5B0BFC6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8BC2B-8ABA-5A5C-C73B-CE0F591CF1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166BE-4EBC-6570-75CC-CB129AA133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GAP is a set of rules that control how Bluetooth Low Energy (BLE) devices discover, connect, and communicate with each other.</a:t>
            </a:r>
            <a:endParaRPr lang="en-DE"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17D1658-9DD1-5BC6-864E-2700046D7ED4}"/>
              </a:ext>
            </a:extLst>
          </p:cNvPr>
          <p:cNvSpPr>
            <a:spLocks noGrp="1"/>
          </p:cNvSpPr>
          <p:nvPr>
            <p:ph type="sldNum" sz="quarter" idx="5"/>
          </p:nvPr>
        </p:nvSpPr>
        <p:spPr/>
        <p:txBody>
          <a:bodyPr/>
          <a:lstStyle/>
          <a:p>
            <a:fld id="{5EB59B79-CA89-4F0C-8DD4-7A0D2AA4A649}" type="slidenum">
              <a:rPr lang="en-DE" smtClean="0"/>
              <a:t>29</a:t>
            </a:fld>
            <a:endParaRPr lang="en-DE"/>
          </a:p>
        </p:txBody>
      </p:sp>
    </p:spTree>
    <p:extLst>
      <p:ext uri="{BB962C8B-B14F-4D97-AF65-F5344CB8AC3E}">
        <p14:creationId xmlns:p14="http://schemas.microsoft.com/office/powerpoint/2010/main" val="40717921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DE"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EB59B79-CA89-4F0C-8DD4-7A0D2AA4A649}" type="slidenum">
              <a:rPr lang="en-DE" smtClean="0"/>
              <a:t>31</a:t>
            </a:fld>
            <a:endParaRPr lang="en-DE"/>
          </a:p>
        </p:txBody>
      </p:sp>
    </p:spTree>
    <p:extLst>
      <p:ext uri="{BB962C8B-B14F-4D97-AF65-F5344CB8AC3E}">
        <p14:creationId xmlns:p14="http://schemas.microsoft.com/office/powerpoint/2010/main" val="3506909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35</a:t>
            </a:fld>
            <a:endParaRPr lang="en-DE"/>
          </a:p>
        </p:txBody>
      </p:sp>
    </p:spTree>
    <p:extLst>
      <p:ext uri="{BB962C8B-B14F-4D97-AF65-F5344CB8AC3E}">
        <p14:creationId xmlns:p14="http://schemas.microsoft.com/office/powerpoint/2010/main" val="14451125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send a request packet specifying the characteristics.</a:t>
            </a:r>
            <a:br>
              <a:rPr lang="en-US" dirty="0"/>
            </a:br>
            <a:r>
              <a:rPr lang="en-US" dirty="0"/>
              <a:t>Server: </a:t>
            </a:r>
            <a:r>
              <a:rPr lang="en-US" sz="1200" kern="1200" dirty="0">
                <a:solidFill>
                  <a:schemeClr val="tx1"/>
                </a:solidFill>
                <a:effectLst/>
                <a:latin typeface="+mn-lt"/>
                <a:ea typeface="+mn-ea"/>
                <a:cs typeface="+mn-cs"/>
              </a:rPr>
              <a:t>pulls the requested value from its database and replies with a packet containing the data</a:t>
            </a:r>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37</a:t>
            </a:fld>
            <a:endParaRPr lang="en-DE"/>
          </a:p>
        </p:txBody>
      </p:sp>
    </p:spTree>
    <p:extLst>
      <p:ext uri="{BB962C8B-B14F-4D97-AF65-F5344CB8AC3E}">
        <p14:creationId xmlns:p14="http://schemas.microsoft.com/office/powerpoint/2010/main" val="23354882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6D189-463C-5730-9616-A6DE754A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AE610-8599-11AE-5195-E781A095E6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A0E561-37B9-1FF0-B2D0-412114661DE1}"/>
              </a:ext>
            </a:extLst>
          </p:cNvPr>
          <p:cNvSpPr>
            <a:spLocks noGrp="1"/>
          </p:cNvSpPr>
          <p:nvPr>
            <p:ph type="body" idx="1"/>
          </p:nvPr>
        </p:nvSpPr>
        <p:spPr/>
        <p:txBody>
          <a:bodyPr/>
          <a:lstStyle/>
          <a:p>
            <a:r>
              <a:rPr lang="en-US" dirty="0"/>
              <a:t>Client: send a request packet specifying the characteristics.</a:t>
            </a:r>
            <a:br>
              <a:rPr lang="en-US" dirty="0"/>
            </a:br>
            <a:r>
              <a:rPr lang="en-US" dirty="0"/>
              <a:t>Server: </a:t>
            </a:r>
            <a:r>
              <a:rPr lang="en-US" sz="1200" kern="1200" dirty="0">
                <a:solidFill>
                  <a:schemeClr val="tx1"/>
                </a:solidFill>
                <a:effectLst/>
                <a:latin typeface="+mn-lt"/>
                <a:ea typeface="+mn-ea"/>
                <a:cs typeface="+mn-cs"/>
              </a:rPr>
              <a:t>pulls the requested value from its database and replies with a packet containing the data</a:t>
            </a:r>
            <a:endParaRPr lang="en-DE" dirty="0"/>
          </a:p>
        </p:txBody>
      </p:sp>
      <p:sp>
        <p:nvSpPr>
          <p:cNvPr id="4" name="Slide Number Placeholder 3">
            <a:extLst>
              <a:ext uri="{FF2B5EF4-FFF2-40B4-BE49-F238E27FC236}">
                <a16:creationId xmlns:a16="http://schemas.microsoft.com/office/drawing/2014/main" id="{BE960E7F-6D7E-5E8B-164D-553DA29CBA79}"/>
              </a:ext>
            </a:extLst>
          </p:cNvPr>
          <p:cNvSpPr>
            <a:spLocks noGrp="1"/>
          </p:cNvSpPr>
          <p:nvPr>
            <p:ph type="sldNum" sz="quarter" idx="5"/>
          </p:nvPr>
        </p:nvSpPr>
        <p:spPr/>
        <p:txBody>
          <a:bodyPr/>
          <a:lstStyle/>
          <a:p>
            <a:fld id="{5EB59B79-CA89-4F0C-8DD4-7A0D2AA4A649}" type="slidenum">
              <a:rPr lang="en-DE" smtClean="0"/>
              <a:t>38</a:t>
            </a:fld>
            <a:endParaRPr lang="en-DE"/>
          </a:p>
        </p:txBody>
      </p:sp>
    </p:spTree>
    <p:extLst>
      <p:ext uri="{BB962C8B-B14F-4D97-AF65-F5344CB8AC3E}">
        <p14:creationId xmlns:p14="http://schemas.microsoft.com/office/powerpoint/2010/main" val="10356907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Throughput is the rate of the useful user data (payload) sent over the air</a:t>
            </a:r>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39</a:t>
            </a:fld>
            <a:endParaRPr lang="en-DE"/>
          </a:p>
        </p:txBody>
      </p:sp>
    </p:spTree>
    <p:extLst>
      <p:ext uri="{BB962C8B-B14F-4D97-AF65-F5344CB8AC3E}">
        <p14:creationId xmlns:p14="http://schemas.microsoft.com/office/powerpoint/2010/main" val="30209112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C0D20-1D9A-1B9A-7B10-1CA8AD227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D4ECB-7EB0-4FE6-E542-5A1097DB9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69ABBD-C21F-9915-9EE0-EF8A145CB6A8}"/>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CE29E834-940D-A8DB-8D24-5037B4D9EFD7}"/>
              </a:ext>
            </a:extLst>
          </p:cNvPr>
          <p:cNvSpPr>
            <a:spLocks noGrp="1"/>
          </p:cNvSpPr>
          <p:nvPr>
            <p:ph type="sldNum" sz="quarter" idx="5"/>
          </p:nvPr>
        </p:nvSpPr>
        <p:spPr/>
        <p:txBody>
          <a:bodyPr/>
          <a:lstStyle/>
          <a:p>
            <a:fld id="{5EB59B79-CA89-4F0C-8DD4-7A0D2AA4A649}" type="slidenum">
              <a:rPr lang="en-DE" smtClean="0"/>
              <a:t>40</a:t>
            </a:fld>
            <a:endParaRPr lang="en-DE"/>
          </a:p>
        </p:txBody>
      </p:sp>
    </p:spTree>
    <p:extLst>
      <p:ext uri="{BB962C8B-B14F-4D97-AF65-F5344CB8AC3E}">
        <p14:creationId xmlns:p14="http://schemas.microsoft.com/office/powerpoint/2010/main" val="9305025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0185F-8704-FA29-AAAE-1BCC08D9F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494F5-E382-2016-0840-758B03E8D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5DEF27-9F82-84C2-6F40-896DEE1A6C4B}"/>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FD3EF249-E1BB-49BE-5514-2290C6CE80E8}"/>
              </a:ext>
            </a:extLst>
          </p:cNvPr>
          <p:cNvSpPr>
            <a:spLocks noGrp="1"/>
          </p:cNvSpPr>
          <p:nvPr>
            <p:ph type="sldNum" sz="quarter" idx="5"/>
          </p:nvPr>
        </p:nvSpPr>
        <p:spPr/>
        <p:txBody>
          <a:bodyPr/>
          <a:lstStyle/>
          <a:p>
            <a:fld id="{5EB59B79-CA89-4F0C-8DD4-7A0D2AA4A649}" type="slidenum">
              <a:rPr lang="en-DE" smtClean="0"/>
              <a:t>41</a:t>
            </a:fld>
            <a:endParaRPr lang="en-DE"/>
          </a:p>
        </p:txBody>
      </p:sp>
    </p:spTree>
    <p:extLst>
      <p:ext uri="{BB962C8B-B14F-4D97-AF65-F5344CB8AC3E}">
        <p14:creationId xmlns:p14="http://schemas.microsoft.com/office/powerpoint/2010/main" val="20848311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42</a:t>
            </a:fld>
            <a:endParaRPr lang="en-DE"/>
          </a:p>
        </p:txBody>
      </p:sp>
    </p:spTree>
    <p:extLst>
      <p:ext uri="{BB962C8B-B14F-4D97-AF65-F5344CB8AC3E}">
        <p14:creationId xmlns:p14="http://schemas.microsoft.com/office/powerpoint/2010/main" val="11151874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9DC27-5704-62F5-CC13-193F79F54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A70AA7-49B4-DF97-5B08-6E0C7F4EA2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C577B-83BE-307A-E4BE-35EAFBA9EAFE}"/>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A1DD7400-82FC-EB6E-F4FE-93DE6F95B83B}"/>
              </a:ext>
            </a:extLst>
          </p:cNvPr>
          <p:cNvSpPr>
            <a:spLocks noGrp="1"/>
          </p:cNvSpPr>
          <p:nvPr>
            <p:ph type="sldNum" sz="quarter" idx="5"/>
          </p:nvPr>
        </p:nvSpPr>
        <p:spPr/>
        <p:txBody>
          <a:bodyPr/>
          <a:lstStyle/>
          <a:p>
            <a:fld id="{5EB59B79-CA89-4F0C-8DD4-7A0D2AA4A649}" type="slidenum">
              <a:rPr lang="en-DE" smtClean="0"/>
              <a:t>43</a:t>
            </a:fld>
            <a:endParaRPr lang="en-DE"/>
          </a:p>
        </p:txBody>
      </p:sp>
    </p:spTree>
    <p:extLst>
      <p:ext uri="{BB962C8B-B14F-4D97-AF65-F5344CB8AC3E}">
        <p14:creationId xmlns:p14="http://schemas.microsoft.com/office/powerpoint/2010/main" val="19539069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needs the Client confirmation</a:t>
            </a:r>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44</a:t>
            </a:fld>
            <a:endParaRPr lang="en-DE"/>
          </a:p>
        </p:txBody>
      </p:sp>
    </p:spTree>
    <p:extLst>
      <p:ext uri="{BB962C8B-B14F-4D97-AF65-F5344CB8AC3E}">
        <p14:creationId xmlns:p14="http://schemas.microsoft.com/office/powerpoint/2010/main" val="11045044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42CC5-634C-CF1B-9519-CB1CE0154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81F8A-554F-4D85-EC80-C07F01F14B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8FB3B-99D4-0227-7DC6-7A5384885E88}"/>
              </a:ext>
            </a:extLst>
          </p:cNvPr>
          <p:cNvSpPr>
            <a:spLocks noGrp="1"/>
          </p:cNvSpPr>
          <p:nvPr>
            <p:ph type="body" idx="1"/>
          </p:nvPr>
        </p:nvSpPr>
        <p:spPr/>
        <p:txBody>
          <a:bodyPr/>
          <a:lstStyle/>
          <a:p>
            <a:r>
              <a:rPr lang="en-US" dirty="0"/>
              <a:t>The application needs the Client confirmation</a:t>
            </a:r>
            <a:endParaRPr lang="en-DE" dirty="0"/>
          </a:p>
        </p:txBody>
      </p:sp>
      <p:sp>
        <p:nvSpPr>
          <p:cNvPr id="4" name="Slide Number Placeholder 3">
            <a:extLst>
              <a:ext uri="{FF2B5EF4-FFF2-40B4-BE49-F238E27FC236}">
                <a16:creationId xmlns:a16="http://schemas.microsoft.com/office/drawing/2014/main" id="{E6F32AAE-A8B7-CC32-25AB-EEA59E82B2B8}"/>
              </a:ext>
            </a:extLst>
          </p:cNvPr>
          <p:cNvSpPr>
            <a:spLocks noGrp="1"/>
          </p:cNvSpPr>
          <p:nvPr>
            <p:ph type="sldNum" sz="quarter" idx="5"/>
          </p:nvPr>
        </p:nvSpPr>
        <p:spPr/>
        <p:txBody>
          <a:bodyPr/>
          <a:lstStyle/>
          <a:p>
            <a:fld id="{5EB59B79-CA89-4F0C-8DD4-7A0D2AA4A649}" type="slidenum">
              <a:rPr lang="en-DE" smtClean="0"/>
              <a:t>45</a:t>
            </a:fld>
            <a:endParaRPr lang="en-DE"/>
          </a:p>
        </p:txBody>
      </p:sp>
    </p:spTree>
    <p:extLst>
      <p:ext uri="{BB962C8B-B14F-4D97-AF65-F5344CB8AC3E}">
        <p14:creationId xmlns:p14="http://schemas.microsoft.com/office/powerpoint/2010/main" val="27820901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0D73-9A00-24E9-50F4-EA90350BFF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5911FF-E281-A5F2-180B-CAFBDE049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B3240C-7333-0850-2483-7F2463FEB819}"/>
              </a:ext>
            </a:extLst>
          </p:cNvPr>
          <p:cNvSpPr>
            <a:spLocks noGrp="1"/>
          </p:cNvSpPr>
          <p:nvPr>
            <p:ph type="body" idx="1"/>
          </p:nvPr>
        </p:nvSpPr>
        <p:spPr/>
        <p:txBody>
          <a:bodyPr/>
          <a:lstStyle/>
          <a:p>
            <a:r>
              <a:rPr lang="en-US" dirty="0"/>
              <a:t> </a:t>
            </a:r>
            <a:endParaRPr lang="en-DE" dirty="0"/>
          </a:p>
        </p:txBody>
      </p:sp>
      <p:sp>
        <p:nvSpPr>
          <p:cNvPr id="4" name="Slide Number Placeholder 3">
            <a:extLst>
              <a:ext uri="{FF2B5EF4-FFF2-40B4-BE49-F238E27FC236}">
                <a16:creationId xmlns:a16="http://schemas.microsoft.com/office/drawing/2014/main" id="{8200BC34-F13F-9CA7-640B-E45948C6EA59}"/>
              </a:ext>
            </a:extLst>
          </p:cNvPr>
          <p:cNvSpPr>
            <a:spLocks noGrp="1"/>
          </p:cNvSpPr>
          <p:nvPr>
            <p:ph type="sldNum" sz="quarter" idx="5"/>
          </p:nvPr>
        </p:nvSpPr>
        <p:spPr/>
        <p:txBody>
          <a:bodyPr/>
          <a:lstStyle/>
          <a:p>
            <a:fld id="{5EB59B79-CA89-4F0C-8DD4-7A0D2AA4A649}" type="slidenum">
              <a:rPr lang="en-DE" smtClean="0"/>
              <a:t>46</a:t>
            </a:fld>
            <a:endParaRPr lang="en-DE"/>
          </a:p>
        </p:txBody>
      </p:sp>
    </p:spTree>
    <p:extLst>
      <p:ext uri="{BB962C8B-B14F-4D97-AF65-F5344CB8AC3E}">
        <p14:creationId xmlns:p14="http://schemas.microsoft.com/office/powerpoint/2010/main" val="1115573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47</a:t>
            </a:fld>
            <a:endParaRPr lang="en-DE"/>
          </a:p>
        </p:txBody>
      </p:sp>
    </p:spTree>
    <p:extLst>
      <p:ext uri="{BB962C8B-B14F-4D97-AF65-F5344CB8AC3E}">
        <p14:creationId xmlns:p14="http://schemas.microsoft.com/office/powerpoint/2010/main" val="20218115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4F6B1-D21C-2A90-3FBD-0EF7E503A2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B9FE11-D750-314D-C863-ABEC1DAC2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BCF90F-1257-9752-3081-E88BF7255C72}"/>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52115E49-8520-21AC-666D-7FFF3BAF84A6}"/>
              </a:ext>
            </a:extLst>
          </p:cNvPr>
          <p:cNvSpPr>
            <a:spLocks noGrp="1"/>
          </p:cNvSpPr>
          <p:nvPr>
            <p:ph type="sldNum" sz="quarter" idx="5"/>
          </p:nvPr>
        </p:nvSpPr>
        <p:spPr/>
        <p:txBody>
          <a:bodyPr/>
          <a:lstStyle/>
          <a:p>
            <a:fld id="{5EB59B79-CA89-4F0C-8DD4-7A0D2AA4A649}" type="slidenum">
              <a:rPr lang="en-DE" smtClean="0"/>
              <a:t>50</a:t>
            </a:fld>
            <a:endParaRPr lang="en-DE"/>
          </a:p>
        </p:txBody>
      </p:sp>
    </p:spTree>
    <p:extLst>
      <p:ext uri="{BB962C8B-B14F-4D97-AF65-F5344CB8AC3E}">
        <p14:creationId xmlns:p14="http://schemas.microsoft.com/office/powerpoint/2010/main" val="33337095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C379F-EAAC-9864-4790-0DCDEDD998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C0CAB-72A3-C09F-F338-11133CF5D2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D8C9D-436B-D9D5-E9D5-19CAA101D273}"/>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05613EFD-9CD4-F644-964C-06A3DE3B4CC0}"/>
              </a:ext>
            </a:extLst>
          </p:cNvPr>
          <p:cNvSpPr>
            <a:spLocks noGrp="1"/>
          </p:cNvSpPr>
          <p:nvPr>
            <p:ph type="sldNum" sz="quarter" idx="5"/>
          </p:nvPr>
        </p:nvSpPr>
        <p:spPr/>
        <p:txBody>
          <a:bodyPr/>
          <a:lstStyle/>
          <a:p>
            <a:fld id="{5EB59B79-CA89-4F0C-8DD4-7A0D2AA4A649}" type="slidenum">
              <a:rPr lang="en-DE" smtClean="0"/>
              <a:t>51</a:t>
            </a:fld>
            <a:endParaRPr lang="en-DE"/>
          </a:p>
        </p:txBody>
      </p:sp>
    </p:spTree>
    <p:extLst>
      <p:ext uri="{BB962C8B-B14F-4D97-AF65-F5344CB8AC3E}">
        <p14:creationId xmlns:p14="http://schemas.microsoft.com/office/powerpoint/2010/main" val="25894469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375B4-17B3-6D6F-6C93-0B384CAE72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B0F6A-F233-ABD5-915C-3250674561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6FE92A-C491-06AD-4552-3CDAEE7EDA24}"/>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7506F930-AFDB-027C-A5B8-9917C8FBA008}"/>
              </a:ext>
            </a:extLst>
          </p:cNvPr>
          <p:cNvSpPr>
            <a:spLocks noGrp="1"/>
          </p:cNvSpPr>
          <p:nvPr>
            <p:ph type="sldNum" sz="quarter" idx="5"/>
          </p:nvPr>
        </p:nvSpPr>
        <p:spPr/>
        <p:txBody>
          <a:bodyPr/>
          <a:lstStyle/>
          <a:p>
            <a:fld id="{5EB59B79-CA89-4F0C-8DD4-7A0D2AA4A649}" type="slidenum">
              <a:rPr lang="en-DE" smtClean="0"/>
              <a:t>53</a:t>
            </a:fld>
            <a:endParaRPr lang="en-DE"/>
          </a:p>
        </p:txBody>
      </p:sp>
    </p:spTree>
    <p:extLst>
      <p:ext uri="{BB962C8B-B14F-4D97-AF65-F5344CB8AC3E}">
        <p14:creationId xmlns:p14="http://schemas.microsoft.com/office/powerpoint/2010/main" val="36260818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93396-FB91-B7D9-A19D-C37595E45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43BB1-6067-B4EF-8DF9-9A69EC2493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5FF020-1301-CE8B-1F33-2D0F896435F4}"/>
              </a:ext>
            </a:extLst>
          </p:cNvPr>
          <p:cNvSpPr>
            <a:spLocks noGrp="1"/>
          </p:cNvSpPr>
          <p:nvPr>
            <p:ph type="body" idx="1"/>
          </p:nvPr>
        </p:nvSpPr>
        <p:spPr/>
        <p:txBody>
          <a:bodyPr/>
          <a:lstStyle/>
          <a:p>
            <a:r>
              <a:rPr lang="en-US" dirty="0"/>
              <a:t> </a:t>
            </a:r>
            <a:endParaRPr lang="en-DE" dirty="0"/>
          </a:p>
        </p:txBody>
      </p:sp>
      <p:sp>
        <p:nvSpPr>
          <p:cNvPr id="4" name="Slide Number Placeholder 3">
            <a:extLst>
              <a:ext uri="{FF2B5EF4-FFF2-40B4-BE49-F238E27FC236}">
                <a16:creationId xmlns:a16="http://schemas.microsoft.com/office/drawing/2014/main" id="{2B08C15C-8259-9C12-EED0-660B28072120}"/>
              </a:ext>
            </a:extLst>
          </p:cNvPr>
          <p:cNvSpPr>
            <a:spLocks noGrp="1"/>
          </p:cNvSpPr>
          <p:nvPr>
            <p:ph type="sldNum" sz="quarter" idx="5"/>
          </p:nvPr>
        </p:nvSpPr>
        <p:spPr/>
        <p:txBody>
          <a:bodyPr/>
          <a:lstStyle/>
          <a:p>
            <a:fld id="{5EB59B79-CA89-4F0C-8DD4-7A0D2AA4A649}" type="slidenum">
              <a:rPr lang="en-DE" smtClean="0"/>
              <a:t>54</a:t>
            </a:fld>
            <a:endParaRPr lang="en-DE"/>
          </a:p>
        </p:txBody>
      </p:sp>
    </p:spTree>
    <p:extLst>
      <p:ext uri="{BB962C8B-B14F-4D97-AF65-F5344CB8AC3E}">
        <p14:creationId xmlns:p14="http://schemas.microsoft.com/office/powerpoint/2010/main" val="20826155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sz="1200" kern="1200" dirty="0">
                <a:solidFill>
                  <a:schemeClr val="tx1"/>
                </a:solidFill>
                <a:effectLst/>
                <a:latin typeface="+mn-lt"/>
                <a:ea typeface="+mn-ea"/>
                <a:cs typeface="+mn-cs"/>
              </a:rPr>
              <a:t>Once the client finds the advertising server, communication can begin.</a:t>
            </a:r>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57</a:t>
            </a:fld>
            <a:endParaRPr lang="en-DE"/>
          </a:p>
        </p:txBody>
      </p:sp>
    </p:spTree>
    <p:extLst>
      <p:ext uri="{BB962C8B-B14F-4D97-AF65-F5344CB8AC3E}">
        <p14:creationId xmlns:p14="http://schemas.microsoft.com/office/powerpoint/2010/main" val="18391337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Advertising is used either to announce the device’s existence or to transfer data.</a:t>
            </a:r>
            <a:endParaRPr lang="en-DE" sz="1200" kern="1200" dirty="0">
              <a:solidFill>
                <a:schemeClr val="tx1"/>
              </a:solidFill>
              <a:effectLst/>
              <a:latin typeface="+mn-lt"/>
              <a:ea typeface="+mn-ea"/>
              <a:cs typeface="+mn-cs"/>
            </a:endParaRPr>
          </a:p>
          <a:p>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58</a:t>
            </a:fld>
            <a:endParaRPr lang="en-DE"/>
          </a:p>
        </p:txBody>
      </p:sp>
    </p:spTree>
    <p:extLst>
      <p:ext uri="{BB962C8B-B14F-4D97-AF65-F5344CB8AC3E}">
        <p14:creationId xmlns:p14="http://schemas.microsoft.com/office/powerpoint/2010/main" val="17414739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FF393-2D31-6805-8A6B-EA7345A365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480E85-AAF3-7419-BB3C-AE1CB14E45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B56B16-6B53-8553-7B86-B00D6E5E60E0}"/>
              </a:ext>
            </a:extLst>
          </p:cNvPr>
          <p:cNvSpPr>
            <a:spLocks noGrp="1"/>
          </p:cNvSpPr>
          <p:nvPr>
            <p:ph type="body" idx="1"/>
          </p:nvPr>
        </p:nvSpPr>
        <p:spPr/>
        <p:txBody>
          <a:bodyPr/>
          <a:lstStyle/>
          <a:p>
            <a:r>
              <a:rPr lang="en-DE" sz="1200" kern="1200" dirty="0">
                <a:solidFill>
                  <a:schemeClr val="tx1"/>
                </a:solidFill>
                <a:effectLst/>
                <a:latin typeface="+mn-lt"/>
                <a:ea typeface="+mn-ea"/>
                <a:cs typeface="+mn-cs"/>
              </a:rPr>
              <a:t>Once the client finds the advertising server, communication can begin.</a:t>
            </a:r>
            <a:endParaRPr lang="en-DE" dirty="0"/>
          </a:p>
        </p:txBody>
      </p:sp>
      <p:sp>
        <p:nvSpPr>
          <p:cNvPr id="4" name="Slide Number Placeholder 3">
            <a:extLst>
              <a:ext uri="{FF2B5EF4-FFF2-40B4-BE49-F238E27FC236}">
                <a16:creationId xmlns:a16="http://schemas.microsoft.com/office/drawing/2014/main" id="{3BDEE288-9B22-0FF3-8D17-98414F34E6FD}"/>
              </a:ext>
            </a:extLst>
          </p:cNvPr>
          <p:cNvSpPr>
            <a:spLocks noGrp="1"/>
          </p:cNvSpPr>
          <p:nvPr>
            <p:ph type="sldNum" sz="quarter" idx="5"/>
          </p:nvPr>
        </p:nvSpPr>
        <p:spPr/>
        <p:txBody>
          <a:bodyPr/>
          <a:lstStyle/>
          <a:p>
            <a:fld id="{5EB59B79-CA89-4F0C-8DD4-7A0D2AA4A649}" type="slidenum">
              <a:rPr lang="en-DE" smtClean="0"/>
              <a:t>59</a:t>
            </a:fld>
            <a:endParaRPr lang="en-DE"/>
          </a:p>
        </p:txBody>
      </p:sp>
    </p:spTree>
    <p:extLst>
      <p:ext uri="{BB962C8B-B14F-4D97-AF65-F5344CB8AC3E}">
        <p14:creationId xmlns:p14="http://schemas.microsoft.com/office/powerpoint/2010/main" val="39782884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E1088-EA0F-4C98-C9AC-E2F193E41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89C0E3-BDD5-4346-D6CD-F614A89A8F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C2F6DD-8E23-F54D-5010-6FEA99C7C524}"/>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2C88C8C3-F9A3-B93D-9370-C89351479BDA}"/>
              </a:ext>
            </a:extLst>
          </p:cNvPr>
          <p:cNvSpPr>
            <a:spLocks noGrp="1"/>
          </p:cNvSpPr>
          <p:nvPr>
            <p:ph type="sldNum" sz="quarter" idx="5"/>
          </p:nvPr>
        </p:nvSpPr>
        <p:spPr/>
        <p:txBody>
          <a:bodyPr/>
          <a:lstStyle/>
          <a:p>
            <a:fld id="{5EB59B79-CA89-4F0C-8DD4-7A0D2AA4A649}" type="slidenum">
              <a:rPr lang="en-DE" smtClean="0"/>
              <a:t>60</a:t>
            </a:fld>
            <a:endParaRPr lang="en-DE"/>
          </a:p>
        </p:txBody>
      </p:sp>
    </p:spTree>
    <p:extLst>
      <p:ext uri="{BB962C8B-B14F-4D97-AF65-F5344CB8AC3E}">
        <p14:creationId xmlns:p14="http://schemas.microsoft.com/office/powerpoint/2010/main" val="39995803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61BC0-183B-8C59-B491-29ABF1713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054F0-D2D7-5A7C-EA87-58D8DFF9C4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A8EBB-785D-8B0D-247C-DBA704DA57F3}"/>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FA5F3833-2B66-91DB-1903-DF13F3341442}"/>
              </a:ext>
            </a:extLst>
          </p:cNvPr>
          <p:cNvSpPr>
            <a:spLocks noGrp="1"/>
          </p:cNvSpPr>
          <p:nvPr>
            <p:ph type="sldNum" sz="quarter" idx="5"/>
          </p:nvPr>
        </p:nvSpPr>
        <p:spPr/>
        <p:txBody>
          <a:bodyPr/>
          <a:lstStyle/>
          <a:p>
            <a:fld id="{5EB59B79-CA89-4F0C-8DD4-7A0D2AA4A649}" type="slidenum">
              <a:rPr lang="en-DE" smtClean="0"/>
              <a:t>61</a:t>
            </a:fld>
            <a:endParaRPr lang="en-DE"/>
          </a:p>
        </p:txBody>
      </p:sp>
    </p:spTree>
    <p:extLst>
      <p:ext uri="{BB962C8B-B14F-4D97-AF65-F5344CB8AC3E}">
        <p14:creationId xmlns:p14="http://schemas.microsoft.com/office/powerpoint/2010/main" val="25596657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61395-9589-B139-32E9-C1DA4F18C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9B1C07-9544-DCCA-1870-319ECA0CAE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E3846B-526E-4DA1-A14C-0A6AAB54EF3E}"/>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82351183-89ED-6DCB-5C1B-F479A7BE9CE0}"/>
              </a:ext>
            </a:extLst>
          </p:cNvPr>
          <p:cNvSpPr>
            <a:spLocks noGrp="1"/>
          </p:cNvSpPr>
          <p:nvPr>
            <p:ph type="sldNum" sz="quarter" idx="5"/>
          </p:nvPr>
        </p:nvSpPr>
        <p:spPr/>
        <p:txBody>
          <a:bodyPr/>
          <a:lstStyle/>
          <a:p>
            <a:fld id="{5EB59B79-CA89-4F0C-8DD4-7A0D2AA4A649}" type="slidenum">
              <a:rPr lang="en-DE" smtClean="0"/>
              <a:t>62</a:t>
            </a:fld>
            <a:endParaRPr lang="en-DE"/>
          </a:p>
        </p:txBody>
      </p:sp>
    </p:spTree>
    <p:extLst>
      <p:ext uri="{BB962C8B-B14F-4D97-AF65-F5344CB8AC3E}">
        <p14:creationId xmlns:p14="http://schemas.microsoft.com/office/powerpoint/2010/main" val="23517122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19149-F595-BB28-C7C6-B5381D07D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6200F-90EF-E8A3-A4FC-02100490D1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11E78B-16F0-91B5-3FAF-51342592F351}"/>
              </a:ext>
            </a:extLst>
          </p:cNvPr>
          <p:cNvSpPr>
            <a:spLocks noGrp="1"/>
          </p:cNvSpPr>
          <p:nvPr>
            <p:ph type="body" idx="1"/>
          </p:nvPr>
        </p:nvSpPr>
        <p:spPr/>
        <p:txBody>
          <a:bodyPr/>
          <a:lstStyle/>
          <a:p>
            <a:r>
              <a:rPr lang="en-DE" sz="1200" kern="1200" dirty="0">
                <a:solidFill>
                  <a:schemeClr val="tx1"/>
                </a:solidFill>
                <a:effectLst/>
                <a:latin typeface="+mn-lt"/>
                <a:ea typeface="+mn-ea"/>
                <a:cs typeface="+mn-cs"/>
              </a:rPr>
              <a:t>Once the client finds the advertising server, communication can begin.</a:t>
            </a:r>
            <a:endParaRPr lang="en-DE" dirty="0"/>
          </a:p>
        </p:txBody>
      </p:sp>
      <p:sp>
        <p:nvSpPr>
          <p:cNvPr id="4" name="Slide Number Placeholder 3">
            <a:extLst>
              <a:ext uri="{FF2B5EF4-FFF2-40B4-BE49-F238E27FC236}">
                <a16:creationId xmlns:a16="http://schemas.microsoft.com/office/drawing/2014/main" id="{B7B49C02-076D-5C96-5716-1F1BD9B7AAD3}"/>
              </a:ext>
            </a:extLst>
          </p:cNvPr>
          <p:cNvSpPr>
            <a:spLocks noGrp="1"/>
          </p:cNvSpPr>
          <p:nvPr>
            <p:ph type="sldNum" sz="quarter" idx="5"/>
          </p:nvPr>
        </p:nvSpPr>
        <p:spPr/>
        <p:txBody>
          <a:bodyPr/>
          <a:lstStyle/>
          <a:p>
            <a:fld id="{5EB59B79-CA89-4F0C-8DD4-7A0D2AA4A649}" type="slidenum">
              <a:rPr lang="en-DE" smtClean="0"/>
              <a:t>63</a:t>
            </a:fld>
            <a:endParaRPr lang="en-DE"/>
          </a:p>
        </p:txBody>
      </p:sp>
    </p:spTree>
    <p:extLst>
      <p:ext uri="{BB962C8B-B14F-4D97-AF65-F5344CB8AC3E}">
        <p14:creationId xmlns:p14="http://schemas.microsoft.com/office/powerpoint/2010/main" val="31407575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FE5E7-0431-EC6E-1D8B-90C9F9D15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737948-9DCC-3D5A-F13A-653CD0E52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4C4CD8-2AAD-1434-327C-C70AE74E0381}"/>
              </a:ext>
            </a:extLst>
          </p:cNvPr>
          <p:cNvSpPr>
            <a:spLocks noGrp="1"/>
          </p:cNvSpPr>
          <p:nvPr>
            <p:ph type="body" idx="1"/>
          </p:nvPr>
        </p:nvSpPr>
        <p:spPr/>
        <p:txBody>
          <a:bodyPr/>
          <a:lstStyle/>
          <a:p>
            <a:r>
              <a:rPr lang="en-DE" dirty="0"/>
              <a:t>The scanning phase involves a peripheral device and a central device.</a:t>
            </a:r>
          </a:p>
        </p:txBody>
      </p:sp>
      <p:sp>
        <p:nvSpPr>
          <p:cNvPr id="4" name="Slide Number Placeholder 3">
            <a:extLst>
              <a:ext uri="{FF2B5EF4-FFF2-40B4-BE49-F238E27FC236}">
                <a16:creationId xmlns:a16="http://schemas.microsoft.com/office/drawing/2014/main" id="{915E4591-A428-4028-3B0D-DCDEB15DC1AF}"/>
              </a:ext>
            </a:extLst>
          </p:cNvPr>
          <p:cNvSpPr>
            <a:spLocks noGrp="1"/>
          </p:cNvSpPr>
          <p:nvPr>
            <p:ph type="sldNum" sz="quarter" idx="5"/>
          </p:nvPr>
        </p:nvSpPr>
        <p:spPr/>
        <p:txBody>
          <a:bodyPr/>
          <a:lstStyle/>
          <a:p>
            <a:fld id="{5EB59B79-CA89-4F0C-8DD4-7A0D2AA4A649}" type="slidenum">
              <a:rPr lang="en-DE" smtClean="0"/>
              <a:t>64</a:t>
            </a:fld>
            <a:endParaRPr lang="en-DE"/>
          </a:p>
        </p:txBody>
      </p:sp>
    </p:spTree>
    <p:extLst>
      <p:ext uri="{BB962C8B-B14F-4D97-AF65-F5344CB8AC3E}">
        <p14:creationId xmlns:p14="http://schemas.microsoft.com/office/powerpoint/2010/main" val="177954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53898-536E-F9E9-FCE4-7CFA1F3015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30545-EAE2-5984-8C40-1FAE5915B0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D520F7-A5CE-343E-FCA4-852B3E998963}"/>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6400478B-FDB7-A774-73E1-C0D950E4CC66}"/>
              </a:ext>
            </a:extLst>
          </p:cNvPr>
          <p:cNvSpPr>
            <a:spLocks noGrp="1"/>
          </p:cNvSpPr>
          <p:nvPr>
            <p:ph type="sldNum" sz="quarter" idx="5"/>
          </p:nvPr>
        </p:nvSpPr>
        <p:spPr/>
        <p:txBody>
          <a:bodyPr/>
          <a:lstStyle/>
          <a:p>
            <a:fld id="{5EB59B79-CA89-4F0C-8DD4-7A0D2AA4A649}" type="slidenum">
              <a:rPr lang="en-DE" smtClean="0"/>
              <a:t>65</a:t>
            </a:fld>
            <a:endParaRPr lang="en-DE"/>
          </a:p>
        </p:txBody>
      </p:sp>
    </p:spTree>
    <p:extLst>
      <p:ext uri="{BB962C8B-B14F-4D97-AF65-F5344CB8AC3E}">
        <p14:creationId xmlns:p14="http://schemas.microsoft.com/office/powerpoint/2010/main" val="20293443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9BEAA-8CD2-3F44-66EA-1EFAC7743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D1CDB1-703D-6246-FB32-EEC0280DEA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33EC78-6D37-EF5D-E1D6-C2E822194EA1}"/>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81947D0C-01CD-4EBF-D51D-CA8EC8258091}"/>
              </a:ext>
            </a:extLst>
          </p:cNvPr>
          <p:cNvSpPr>
            <a:spLocks noGrp="1"/>
          </p:cNvSpPr>
          <p:nvPr>
            <p:ph type="sldNum" sz="quarter" idx="5"/>
          </p:nvPr>
        </p:nvSpPr>
        <p:spPr/>
        <p:txBody>
          <a:bodyPr/>
          <a:lstStyle/>
          <a:p>
            <a:fld id="{5EB59B79-CA89-4F0C-8DD4-7A0D2AA4A649}" type="slidenum">
              <a:rPr lang="en-DE" smtClean="0"/>
              <a:t>66</a:t>
            </a:fld>
            <a:endParaRPr lang="en-DE"/>
          </a:p>
        </p:txBody>
      </p:sp>
    </p:spTree>
    <p:extLst>
      <p:ext uri="{BB962C8B-B14F-4D97-AF65-F5344CB8AC3E}">
        <p14:creationId xmlns:p14="http://schemas.microsoft.com/office/powerpoint/2010/main" val="41808102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9DE41-7963-1FB6-90AF-CB6B4B0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8539EB-5470-22EA-9AE8-22FAFB16A9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721085-5584-2349-C94F-FB9FBA52BF8E}"/>
              </a:ext>
            </a:extLst>
          </p:cNvPr>
          <p:cNvSpPr>
            <a:spLocks noGrp="1"/>
          </p:cNvSpPr>
          <p:nvPr>
            <p:ph type="body" idx="1"/>
          </p:nvPr>
        </p:nvSpPr>
        <p:spPr/>
        <p:txBody>
          <a:bodyPr/>
          <a:lstStyle/>
          <a:p>
            <a:r>
              <a:rPr lang="en-DE" sz="1200" kern="1200" dirty="0">
                <a:solidFill>
                  <a:schemeClr val="tx1"/>
                </a:solidFill>
                <a:effectLst/>
                <a:latin typeface="+mn-lt"/>
                <a:ea typeface="+mn-ea"/>
                <a:cs typeface="+mn-cs"/>
              </a:rPr>
              <a:t>Once the client finds the advertising server, communication can begin.</a:t>
            </a:r>
            <a:endParaRPr lang="en-DE" dirty="0"/>
          </a:p>
        </p:txBody>
      </p:sp>
      <p:sp>
        <p:nvSpPr>
          <p:cNvPr id="4" name="Slide Number Placeholder 3">
            <a:extLst>
              <a:ext uri="{FF2B5EF4-FFF2-40B4-BE49-F238E27FC236}">
                <a16:creationId xmlns:a16="http://schemas.microsoft.com/office/drawing/2014/main" id="{6108037E-B1C9-1505-AE5B-E64F7FE48B7B}"/>
              </a:ext>
            </a:extLst>
          </p:cNvPr>
          <p:cNvSpPr>
            <a:spLocks noGrp="1"/>
          </p:cNvSpPr>
          <p:nvPr>
            <p:ph type="sldNum" sz="quarter" idx="5"/>
          </p:nvPr>
        </p:nvSpPr>
        <p:spPr/>
        <p:txBody>
          <a:bodyPr/>
          <a:lstStyle/>
          <a:p>
            <a:fld id="{5EB59B79-CA89-4F0C-8DD4-7A0D2AA4A649}" type="slidenum">
              <a:rPr lang="en-DE" smtClean="0"/>
              <a:t>67</a:t>
            </a:fld>
            <a:endParaRPr lang="en-DE"/>
          </a:p>
        </p:txBody>
      </p:sp>
    </p:spTree>
    <p:extLst>
      <p:ext uri="{BB962C8B-B14F-4D97-AF65-F5344CB8AC3E}">
        <p14:creationId xmlns:p14="http://schemas.microsoft.com/office/powerpoint/2010/main" val="1554836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103AB-5445-0E49-282D-0A2906EB1F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1619C-8686-FF21-A118-341A1F866C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0008B7-DA6D-98B2-DA5B-CC6442FBD300}"/>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D0919991-734C-D7D4-43D3-6F8D095A5A31}"/>
              </a:ext>
            </a:extLst>
          </p:cNvPr>
          <p:cNvSpPr>
            <a:spLocks noGrp="1"/>
          </p:cNvSpPr>
          <p:nvPr>
            <p:ph type="sldNum" sz="quarter" idx="5"/>
          </p:nvPr>
        </p:nvSpPr>
        <p:spPr/>
        <p:txBody>
          <a:bodyPr/>
          <a:lstStyle/>
          <a:p>
            <a:fld id="{5EB59B79-CA89-4F0C-8DD4-7A0D2AA4A649}" type="slidenum">
              <a:rPr lang="en-DE" smtClean="0"/>
              <a:t>68</a:t>
            </a:fld>
            <a:endParaRPr lang="en-DE"/>
          </a:p>
        </p:txBody>
      </p:sp>
    </p:spTree>
    <p:extLst>
      <p:ext uri="{BB962C8B-B14F-4D97-AF65-F5344CB8AC3E}">
        <p14:creationId xmlns:p14="http://schemas.microsoft.com/office/powerpoint/2010/main" val="9348802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47FF4-5116-D37C-0C18-E4F594DD5F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624356-07D2-68BB-A191-6CF5318EBE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58084-8CF0-92A3-E6D6-ABA05CCC964D}"/>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C58E2110-B6D2-7A38-BA10-D30AF1EB4035}"/>
              </a:ext>
            </a:extLst>
          </p:cNvPr>
          <p:cNvSpPr>
            <a:spLocks noGrp="1"/>
          </p:cNvSpPr>
          <p:nvPr>
            <p:ph type="sldNum" sz="quarter" idx="5"/>
          </p:nvPr>
        </p:nvSpPr>
        <p:spPr/>
        <p:txBody>
          <a:bodyPr/>
          <a:lstStyle/>
          <a:p>
            <a:fld id="{5EB59B79-CA89-4F0C-8DD4-7A0D2AA4A649}" type="slidenum">
              <a:rPr lang="en-DE" smtClean="0"/>
              <a:t>69</a:t>
            </a:fld>
            <a:endParaRPr lang="en-DE"/>
          </a:p>
        </p:txBody>
      </p:sp>
    </p:spTree>
    <p:extLst>
      <p:ext uri="{BB962C8B-B14F-4D97-AF65-F5344CB8AC3E}">
        <p14:creationId xmlns:p14="http://schemas.microsoft.com/office/powerpoint/2010/main" val="31475133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C2E06-482C-C5F7-321E-B1206F6BE0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EEDF7-73C8-30C3-1236-7134E9CFB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9AC290-8B43-37FB-E67B-779E37377BA7}"/>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2EBDDECC-A111-FE3B-364D-308E65E2A27D}"/>
              </a:ext>
            </a:extLst>
          </p:cNvPr>
          <p:cNvSpPr>
            <a:spLocks noGrp="1"/>
          </p:cNvSpPr>
          <p:nvPr>
            <p:ph type="sldNum" sz="quarter" idx="5"/>
          </p:nvPr>
        </p:nvSpPr>
        <p:spPr/>
        <p:txBody>
          <a:bodyPr/>
          <a:lstStyle/>
          <a:p>
            <a:fld id="{5EB59B79-CA89-4F0C-8DD4-7A0D2AA4A649}" type="slidenum">
              <a:rPr lang="en-DE" smtClean="0"/>
              <a:t>70</a:t>
            </a:fld>
            <a:endParaRPr lang="en-DE"/>
          </a:p>
        </p:txBody>
      </p:sp>
    </p:spTree>
    <p:extLst>
      <p:ext uri="{BB962C8B-B14F-4D97-AF65-F5344CB8AC3E}">
        <p14:creationId xmlns:p14="http://schemas.microsoft.com/office/powerpoint/2010/main" val="10571596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7DED4-8090-F248-0F94-AA992F2C90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3C401F-F25A-998F-2D9E-AC4FAA511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434F6D-1FE4-E627-D51E-CE6FE7FF69BE}"/>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AE77FE16-B4DE-9FAE-0653-ECDFA1DDB95F}"/>
              </a:ext>
            </a:extLst>
          </p:cNvPr>
          <p:cNvSpPr>
            <a:spLocks noGrp="1"/>
          </p:cNvSpPr>
          <p:nvPr>
            <p:ph type="sldNum" sz="quarter" idx="5"/>
          </p:nvPr>
        </p:nvSpPr>
        <p:spPr/>
        <p:txBody>
          <a:bodyPr/>
          <a:lstStyle/>
          <a:p>
            <a:fld id="{5EB59B79-CA89-4F0C-8DD4-7A0D2AA4A649}" type="slidenum">
              <a:rPr lang="en-DE" smtClean="0"/>
              <a:t>71</a:t>
            </a:fld>
            <a:endParaRPr lang="en-DE"/>
          </a:p>
        </p:txBody>
      </p:sp>
    </p:spTree>
    <p:extLst>
      <p:ext uri="{BB962C8B-B14F-4D97-AF65-F5344CB8AC3E}">
        <p14:creationId xmlns:p14="http://schemas.microsoft.com/office/powerpoint/2010/main" val="22653410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44D8F-A99C-CCFF-B59C-52A2D1131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36C56-1077-BA8C-15C3-52DAD3F188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AC4C72-9C9F-9288-5A60-D13032D52521}"/>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5224BFB9-75AF-7823-F903-6456A3E83406}"/>
              </a:ext>
            </a:extLst>
          </p:cNvPr>
          <p:cNvSpPr>
            <a:spLocks noGrp="1"/>
          </p:cNvSpPr>
          <p:nvPr>
            <p:ph type="sldNum" sz="quarter" idx="5"/>
          </p:nvPr>
        </p:nvSpPr>
        <p:spPr/>
        <p:txBody>
          <a:bodyPr/>
          <a:lstStyle/>
          <a:p>
            <a:fld id="{5EB59B79-CA89-4F0C-8DD4-7A0D2AA4A649}" type="slidenum">
              <a:rPr lang="en-DE" smtClean="0"/>
              <a:t>72</a:t>
            </a:fld>
            <a:endParaRPr lang="en-DE"/>
          </a:p>
        </p:txBody>
      </p:sp>
    </p:spTree>
    <p:extLst>
      <p:ext uri="{BB962C8B-B14F-4D97-AF65-F5344CB8AC3E}">
        <p14:creationId xmlns:p14="http://schemas.microsoft.com/office/powerpoint/2010/main" val="28389305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72A47-FBB2-3F6E-D034-85034D8623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FAE6F0-8C64-21A2-A795-DB3B74E160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589092-33EF-CF96-D8CC-2B27E423EBDB}"/>
              </a:ext>
            </a:extLst>
          </p:cNvPr>
          <p:cNvSpPr>
            <a:spLocks noGrp="1"/>
          </p:cNvSpPr>
          <p:nvPr>
            <p:ph type="body" idx="1"/>
          </p:nvPr>
        </p:nvSpPr>
        <p:spPr/>
        <p:txBody>
          <a:bodyPr/>
          <a:lstStyle/>
          <a:p>
            <a:pPr marL="0" indent="0">
              <a:buFont typeface="Arial" panose="020B0604020202020204" pitchFamily="34" charset="0"/>
              <a:buNone/>
            </a:pPr>
            <a:r>
              <a:rPr lang="en-DE" sz="1200" kern="1200" dirty="0">
                <a:solidFill>
                  <a:schemeClr val="tx1"/>
                </a:solidFill>
                <a:effectLst/>
                <a:latin typeface="+mn-lt"/>
                <a:ea typeface="+mn-ea"/>
                <a:cs typeface="+mn-cs"/>
              </a:rPr>
              <a:t>Once connected</a:t>
            </a:r>
            <a:r>
              <a:rPr lang="en-US" sz="1200" kern="1200" dirty="0">
                <a:solidFill>
                  <a:schemeClr val="tx1"/>
                </a:solidFill>
                <a:effectLst/>
                <a:latin typeface="+mn-lt"/>
                <a:ea typeface="+mn-ea"/>
                <a:cs typeface="+mn-cs"/>
              </a:rPr>
              <a:t>, both devices will be ready for data exchange.</a:t>
            </a:r>
            <a:br>
              <a:rPr lang="en-US" sz="1200" dirty="0">
                <a:solidFill>
                  <a:srgbClr val="303642"/>
                </a:solidFill>
                <a:latin typeface="Poppins" panose="00000500000000000000" pitchFamily="2" charset="0"/>
                <a:cs typeface="Poppins" panose="00000500000000000000" pitchFamily="2" charset="0"/>
              </a:rPr>
            </a:br>
            <a:r>
              <a:rPr lang="en-US" sz="1200" dirty="0">
                <a:solidFill>
                  <a:srgbClr val="303642"/>
                </a:solidFill>
                <a:latin typeface="Poppins" panose="00000500000000000000" pitchFamily="2" charset="0"/>
                <a:cs typeface="Poppins" panose="00000500000000000000" pitchFamily="2" charset="0"/>
              </a:rPr>
              <a:t>GAP:</a:t>
            </a:r>
            <a:br>
              <a:rPr lang="en-US" sz="1200" dirty="0">
                <a:solidFill>
                  <a:srgbClr val="303642"/>
                </a:solidFill>
                <a:latin typeface="Poppins" panose="00000500000000000000" pitchFamily="2" charset="0"/>
                <a:cs typeface="Poppins" panose="00000500000000000000" pitchFamily="2" charset="0"/>
              </a:rPr>
            </a:br>
            <a:r>
              <a:rPr lang="en-US" sz="1200" dirty="0">
                <a:solidFill>
                  <a:srgbClr val="303642"/>
                </a:solidFill>
                <a:latin typeface="Poppins" panose="00000500000000000000" pitchFamily="2" charset="0"/>
                <a:cs typeface="Poppins" panose="00000500000000000000" pitchFamily="2" charset="0"/>
              </a:rPr>
              <a:t>- Manages device connections and advertising.</a:t>
            </a:r>
          </a:p>
          <a:p>
            <a:pPr marL="0" indent="0">
              <a:buFont typeface="Arial" panose="020B0604020202020204" pitchFamily="34" charset="0"/>
              <a:buNone/>
            </a:pPr>
            <a:r>
              <a:rPr lang="en-US" sz="1200" dirty="0">
                <a:solidFill>
                  <a:srgbClr val="303642"/>
                </a:solidFill>
                <a:latin typeface="Poppins" panose="00000500000000000000" pitchFamily="2" charset="0"/>
                <a:cs typeface="Poppins" panose="00000500000000000000" pitchFamily="2" charset="0"/>
              </a:rPr>
              <a:t>-Defines the roles of devices in Bluetooth communication. ( central/ peripheral).</a:t>
            </a:r>
          </a:p>
          <a:p>
            <a:endParaRPr lang="en-DE" dirty="0"/>
          </a:p>
          <a:p>
            <a:endParaRPr lang="en-DE" dirty="0"/>
          </a:p>
        </p:txBody>
      </p:sp>
      <p:sp>
        <p:nvSpPr>
          <p:cNvPr id="4" name="Slide Number Placeholder 3">
            <a:extLst>
              <a:ext uri="{FF2B5EF4-FFF2-40B4-BE49-F238E27FC236}">
                <a16:creationId xmlns:a16="http://schemas.microsoft.com/office/drawing/2014/main" id="{7115B5C2-2874-4BF1-F402-A581591A87DF}"/>
              </a:ext>
            </a:extLst>
          </p:cNvPr>
          <p:cNvSpPr>
            <a:spLocks noGrp="1"/>
          </p:cNvSpPr>
          <p:nvPr>
            <p:ph type="sldNum" sz="quarter" idx="5"/>
          </p:nvPr>
        </p:nvSpPr>
        <p:spPr/>
        <p:txBody>
          <a:bodyPr/>
          <a:lstStyle/>
          <a:p>
            <a:fld id="{5EB59B79-CA89-4F0C-8DD4-7A0D2AA4A649}" type="slidenum">
              <a:rPr lang="en-DE" smtClean="0"/>
              <a:t>73</a:t>
            </a:fld>
            <a:endParaRPr lang="en-DE"/>
          </a:p>
        </p:txBody>
      </p:sp>
    </p:spTree>
    <p:extLst>
      <p:ext uri="{BB962C8B-B14F-4D97-AF65-F5344CB8AC3E}">
        <p14:creationId xmlns:p14="http://schemas.microsoft.com/office/powerpoint/2010/main" val="39210902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sz="1200" kern="1200" dirty="0">
                <a:solidFill>
                  <a:schemeClr val="tx1"/>
                </a:solidFill>
                <a:effectLst/>
                <a:latin typeface="+mn-lt"/>
                <a:ea typeface="+mn-ea"/>
                <a:cs typeface="+mn-cs"/>
              </a:rPr>
              <a:t>When communication is no longer needed</a:t>
            </a:r>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74</a:t>
            </a:fld>
            <a:endParaRPr lang="en-DE"/>
          </a:p>
        </p:txBody>
      </p:sp>
    </p:spTree>
    <p:extLst>
      <p:ext uri="{BB962C8B-B14F-4D97-AF65-F5344CB8AC3E}">
        <p14:creationId xmlns:p14="http://schemas.microsoft.com/office/powerpoint/2010/main" val="327844029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33CDA-7EB5-28E6-101B-FBC931A9DE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0C80E-018D-4461-EA38-EAB6E1BA92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D03922-ABE6-40E8-DB43-1BE941C20D9F}"/>
              </a:ext>
            </a:extLst>
          </p:cNvPr>
          <p:cNvSpPr>
            <a:spLocks noGrp="1"/>
          </p:cNvSpPr>
          <p:nvPr>
            <p:ph type="body" idx="1"/>
          </p:nvPr>
        </p:nvSpPr>
        <p:spPr/>
        <p:txBody>
          <a:bodyPr/>
          <a:lstStyle/>
          <a:p>
            <a:pPr marL="0" indent="0">
              <a:buFont typeface="Arial" panose="020B0604020202020204" pitchFamily="34" charset="0"/>
              <a:buNone/>
            </a:pPr>
            <a:r>
              <a:rPr lang="en-US" sz="1200" dirty="0">
                <a:solidFill>
                  <a:srgbClr val="303642"/>
                </a:solidFill>
                <a:latin typeface="Poppins" panose="00000500000000000000" pitchFamily="2" charset="0"/>
                <a:cs typeface="Poppins" panose="00000500000000000000" pitchFamily="2" charset="0"/>
              </a:rPr>
              <a:t>GAP:</a:t>
            </a:r>
            <a:br>
              <a:rPr lang="en-US" sz="1200" dirty="0">
                <a:solidFill>
                  <a:srgbClr val="303642"/>
                </a:solidFill>
                <a:latin typeface="Poppins" panose="00000500000000000000" pitchFamily="2" charset="0"/>
                <a:cs typeface="Poppins" panose="00000500000000000000" pitchFamily="2" charset="0"/>
              </a:rPr>
            </a:br>
            <a:r>
              <a:rPr lang="en-US" sz="1200" dirty="0">
                <a:solidFill>
                  <a:srgbClr val="303642"/>
                </a:solidFill>
                <a:latin typeface="Poppins" panose="00000500000000000000" pitchFamily="2" charset="0"/>
                <a:cs typeface="Poppins" panose="00000500000000000000" pitchFamily="2" charset="0"/>
              </a:rPr>
              <a:t>- Manages device connections and advertising.</a:t>
            </a:r>
          </a:p>
          <a:p>
            <a:pPr marL="0" indent="0">
              <a:buFont typeface="Arial" panose="020B0604020202020204" pitchFamily="34" charset="0"/>
              <a:buNone/>
            </a:pPr>
            <a:r>
              <a:rPr lang="en-US" sz="1200" dirty="0">
                <a:solidFill>
                  <a:srgbClr val="303642"/>
                </a:solidFill>
                <a:latin typeface="Poppins" panose="00000500000000000000" pitchFamily="2" charset="0"/>
                <a:cs typeface="Poppins" panose="00000500000000000000" pitchFamily="2" charset="0"/>
              </a:rPr>
              <a:t>-Defines the roles of devices in Bluetooth communication. ( central/ peripheral).</a:t>
            </a:r>
          </a:p>
          <a:p>
            <a:endParaRPr lang="en-DE" dirty="0"/>
          </a:p>
          <a:p>
            <a:endParaRPr lang="en-DE" dirty="0"/>
          </a:p>
        </p:txBody>
      </p:sp>
      <p:sp>
        <p:nvSpPr>
          <p:cNvPr id="4" name="Slide Number Placeholder 3">
            <a:extLst>
              <a:ext uri="{FF2B5EF4-FFF2-40B4-BE49-F238E27FC236}">
                <a16:creationId xmlns:a16="http://schemas.microsoft.com/office/drawing/2014/main" id="{746F5705-F404-FC69-3EC6-0DD22409A67F}"/>
              </a:ext>
            </a:extLst>
          </p:cNvPr>
          <p:cNvSpPr>
            <a:spLocks noGrp="1"/>
          </p:cNvSpPr>
          <p:nvPr>
            <p:ph type="sldNum" sz="quarter" idx="5"/>
          </p:nvPr>
        </p:nvSpPr>
        <p:spPr/>
        <p:txBody>
          <a:bodyPr/>
          <a:lstStyle/>
          <a:p>
            <a:fld id="{5EB59B79-CA89-4F0C-8DD4-7A0D2AA4A649}" type="slidenum">
              <a:rPr lang="en-DE" smtClean="0"/>
              <a:t>75</a:t>
            </a:fld>
            <a:endParaRPr lang="en-DE"/>
          </a:p>
        </p:txBody>
      </p:sp>
    </p:spTree>
    <p:extLst>
      <p:ext uri="{BB962C8B-B14F-4D97-AF65-F5344CB8AC3E}">
        <p14:creationId xmlns:p14="http://schemas.microsoft.com/office/powerpoint/2010/main" val="28996555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connected,</a:t>
            </a:r>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76</a:t>
            </a:fld>
            <a:endParaRPr lang="en-DE"/>
          </a:p>
        </p:txBody>
      </p:sp>
    </p:spTree>
    <p:extLst>
      <p:ext uri="{BB962C8B-B14F-4D97-AF65-F5344CB8AC3E}">
        <p14:creationId xmlns:p14="http://schemas.microsoft.com/office/powerpoint/2010/main" val="13958961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62F60-EB43-0736-C1CD-EB38E7FCEA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203370-4238-6AB6-4787-806F7AAE3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3A9F5E-6DB1-FAD6-A8CD-B124C85E9A63}"/>
              </a:ext>
            </a:extLst>
          </p:cNvPr>
          <p:cNvSpPr>
            <a:spLocks noGrp="1"/>
          </p:cNvSpPr>
          <p:nvPr>
            <p:ph type="body" idx="1"/>
          </p:nvPr>
        </p:nvSpPr>
        <p:spPr/>
        <p:txBody>
          <a:bodyPr/>
          <a:lstStyle/>
          <a:p>
            <a:r>
              <a:rPr lang="en-DE" sz="1200" kern="1200" dirty="0">
                <a:solidFill>
                  <a:schemeClr val="tx1"/>
                </a:solidFill>
                <a:effectLst/>
                <a:latin typeface="+mn-lt"/>
                <a:ea typeface="+mn-ea"/>
                <a:cs typeface="+mn-cs"/>
              </a:rPr>
              <a:t>Once connected</a:t>
            </a:r>
            <a:r>
              <a:rPr lang="en-US" sz="1200" kern="1200" dirty="0">
                <a:solidFill>
                  <a:schemeClr val="tx1"/>
                </a:solidFill>
                <a:effectLst/>
                <a:latin typeface="+mn-lt"/>
                <a:ea typeface="+mn-ea"/>
                <a:cs typeface="+mn-cs"/>
              </a:rPr>
              <a:t>, both devices will be ready for data exchange.</a:t>
            </a:r>
            <a:endParaRPr lang="en-DE" dirty="0"/>
          </a:p>
        </p:txBody>
      </p:sp>
      <p:sp>
        <p:nvSpPr>
          <p:cNvPr id="4" name="Slide Number Placeholder 3">
            <a:extLst>
              <a:ext uri="{FF2B5EF4-FFF2-40B4-BE49-F238E27FC236}">
                <a16:creationId xmlns:a16="http://schemas.microsoft.com/office/drawing/2014/main" id="{898CAFA6-8AD9-809E-B812-F7D52A6585E1}"/>
              </a:ext>
            </a:extLst>
          </p:cNvPr>
          <p:cNvSpPr>
            <a:spLocks noGrp="1"/>
          </p:cNvSpPr>
          <p:nvPr>
            <p:ph type="sldNum" sz="quarter" idx="5"/>
          </p:nvPr>
        </p:nvSpPr>
        <p:spPr/>
        <p:txBody>
          <a:bodyPr/>
          <a:lstStyle/>
          <a:p>
            <a:fld id="{5EB59B79-CA89-4F0C-8DD4-7A0D2AA4A649}" type="slidenum">
              <a:rPr lang="en-DE" smtClean="0"/>
              <a:t>77</a:t>
            </a:fld>
            <a:endParaRPr lang="en-DE"/>
          </a:p>
        </p:txBody>
      </p:sp>
    </p:spTree>
    <p:extLst>
      <p:ext uri="{BB962C8B-B14F-4D97-AF65-F5344CB8AC3E}">
        <p14:creationId xmlns:p14="http://schemas.microsoft.com/office/powerpoint/2010/main" val="39047083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sz="1200" kern="1200" dirty="0">
                <a:solidFill>
                  <a:schemeClr val="tx1"/>
                </a:solidFill>
                <a:effectLst/>
                <a:latin typeface="+mn-lt"/>
                <a:ea typeface="+mn-ea"/>
                <a:cs typeface="+mn-cs"/>
              </a:rPr>
              <a:t>When communication is no longer needed</a:t>
            </a:r>
            <a:endParaRPr lang="en-DE" dirty="0"/>
          </a:p>
        </p:txBody>
      </p:sp>
      <p:sp>
        <p:nvSpPr>
          <p:cNvPr id="4" name="Slide Number Placeholder 3"/>
          <p:cNvSpPr>
            <a:spLocks noGrp="1"/>
          </p:cNvSpPr>
          <p:nvPr>
            <p:ph type="sldNum" sz="quarter" idx="5"/>
          </p:nvPr>
        </p:nvSpPr>
        <p:spPr/>
        <p:txBody>
          <a:bodyPr/>
          <a:lstStyle/>
          <a:p>
            <a:fld id="{5EB59B79-CA89-4F0C-8DD4-7A0D2AA4A649}" type="slidenum">
              <a:rPr lang="en-DE" smtClean="0"/>
              <a:t>78</a:t>
            </a:fld>
            <a:endParaRPr lang="en-DE"/>
          </a:p>
        </p:txBody>
      </p:sp>
    </p:spTree>
    <p:extLst>
      <p:ext uri="{BB962C8B-B14F-4D97-AF65-F5344CB8AC3E}">
        <p14:creationId xmlns:p14="http://schemas.microsoft.com/office/powerpoint/2010/main" val="142871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416FDF0-5872-46EE-A82E-70B40F7F0CE0}" type="datetime1">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grpSp>
        <p:nvGrpSpPr>
          <p:cNvPr id="7" name="Group 6">
            <a:extLst>
              <a:ext uri="{FF2B5EF4-FFF2-40B4-BE49-F238E27FC236}">
                <a16:creationId xmlns:a16="http://schemas.microsoft.com/office/drawing/2014/main" id="{F8C68C62-98B7-94FB-199B-518FC97A4ABC}"/>
              </a:ext>
            </a:extLst>
          </p:cNvPr>
          <p:cNvGrpSpPr/>
          <p:nvPr userDrawn="1"/>
        </p:nvGrpSpPr>
        <p:grpSpPr>
          <a:xfrm>
            <a:off x="12725400" y="5620034"/>
            <a:ext cx="6843959" cy="5273309"/>
            <a:chOff x="4388374" y="807867"/>
            <a:chExt cx="9563717" cy="7368898"/>
          </a:xfrm>
        </p:grpSpPr>
        <p:grpSp>
          <p:nvGrpSpPr>
            <p:cNvPr id="8" name="Group 7">
              <a:extLst>
                <a:ext uri="{FF2B5EF4-FFF2-40B4-BE49-F238E27FC236}">
                  <a16:creationId xmlns:a16="http://schemas.microsoft.com/office/drawing/2014/main" id="{8236997C-E864-AF57-7D67-6A30AB2982EB}"/>
                </a:ext>
              </a:extLst>
            </p:cNvPr>
            <p:cNvGrpSpPr/>
            <p:nvPr userDrawn="1"/>
          </p:nvGrpSpPr>
          <p:grpSpPr>
            <a:xfrm>
              <a:off x="4388374" y="807867"/>
              <a:ext cx="8847884" cy="6855338"/>
              <a:chOff x="1672279" y="3371"/>
              <a:chExt cx="8847884" cy="6855338"/>
            </a:xfrm>
            <a:noFill/>
          </p:grpSpPr>
          <p:sp>
            <p:nvSpPr>
              <p:cNvPr id="22" name="Freeform: Shape 21">
                <a:extLst>
                  <a:ext uri="{FF2B5EF4-FFF2-40B4-BE49-F238E27FC236}">
                    <a16:creationId xmlns:a16="http://schemas.microsoft.com/office/drawing/2014/main" id="{2F742C49-4B88-6134-AF6D-609F77A2B1AC}"/>
                  </a:ext>
                </a:extLst>
              </p:cNvPr>
              <p:cNvSpPr/>
              <p:nvPr/>
            </p:nvSpPr>
            <p:spPr>
              <a:xfrm>
                <a:off x="3802340" y="3371"/>
                <a:ext cx="6717823" cy="6259766"/>
              </a:xfrm>
              <a:custGeom>
                <a:avLst/>
                <a:gdLst>
                  <a:gd name="connsiteX0" fmla="*/ 1614691 w 6717823"/>
                  <a:gd name="connsiteY0" fmla="*/ 4808585 h 6259766"/>
                  <a:gd name="connsiteX1" fmla="*/ 0 w 6717823"/>
                  <a:gd name="connsiteY1" fmla="*/ 4932437 h 6259766"/>
                  <a:gd name="connsiteX2" fmla="*/ 1705628 w 6717823"/>
                  <a:gd name="connsiteY2" fmla="*/ 5707666 h 6259766"/>
                  <a:gd name="connsiteX3" fmla="*/ 2489552 w 6717823"/>
                  <a:gd name="connsiteY3" fmla="*/ 6259766 h 6259766"/>
                  <a:gd name="connsiteX4" fmla="*/ 1521270 w 6717823"/>
                  <a:gd name="connsiteY4" fmla="*/ 6099628 h 6259766"/>
                  <a:gd name="connsiteX5" fmla="*/ 1705628 w 6717823"/>
                  <a:gd name="connsiteY5" fmla="*/ 5707666 h 6259766"/>
                  <a:gd name="connsiteX6" fmla="*/ 3008382 w 6717823"/>
                  <a:gd name="connsiteY6" fmla="*/ 5626045 h 6259766"/>
                  <a:gd name="connsiteX7" fmla="*/ 2259946 w 6717823"/>
                  <a:gd name="connsiteY7" fmla="*/ 4763338 h 6259766"/>
                  <a:gd name="connsiteX8" fmla="*/ 2864391 w 6717823"/>
                  <a:gd name="connsiteY8" fmla="*/ 4797939 h 6259766"/>
                  <a:gd name="connsiteX9" fmla="*/ 3676349 w 6717823"/>
                  <a:gd name="connsiteY9" fmla="*/ 4615886 h 6259766"/>
                  <a:gd name="connsiteX10" fmla="*/ 3027191 w 6717823"/>
                  <a:gd name="connsiteY10" fmla="*/ 4194559 h 6259766"/>
                  <a:gd name="connsiteX11" fmla="*/ 2938294 w 6717823"/>
                  <a:gd name="connsiteY11" fmla="*/ 3715031 h 6259766"/>
                  <a:gd name="connsiteX12" fmla="*/ 3512396 w 6717823"/>
                  <a:gd name="connsiteY12" fmla="*/ 3500331 h 6259766"/>
                  <a:gd name="connsiteX13" fmla="*/ 3906399 w 6717823"/>
                  <a:gd name="connsiteY13" fmla="*/ 2680564 h 6259766"/>
                  <a:gd name="connsiteX14" fmla="*/ 5757881 w 6717823"/>
                  <a:gd name="connsiteY14" fmla="*/ 2302265 h 6259766"/>
                  <a:gd name="connsiteX15" fmla="*/ 4854985 w 6717823"/>
                  <a:gd name="connsiteY15" fmla="*/ 2063522 h 6259766"/>
                  <a:gd name="connsiteX16" fmla="*/ 3906399 w 6717823"/>
                  <a:gd name="connsiteY16" fmla="*/ 2680564 h 6259766"/>
                  <a:gd name="connsiteX17" fmla="*/ 5215629 w 6717823"/>
                  <a:gd name="connsiteY17" fmla="*/ 3363614 h 6259766"/>
                  <a:gd name="connsiteX18" fmla="*/ 3512396 w 6717823"/>
                  <a:gd name="connsiteY18" fmla="*/ 3500331 h 6259766"/>
                  <a:gd name="connsiteX19" fmla="*/ 3136226 w 6717823"/>
                  <a:gd name="connsiteY19" fmla="*/ 3000841 h 6259766"/>
                  <a:gd name="connsiteX20" fmla="*/ 2938294 w 6717823"/>
                  <a:gd name="connsiteY20" fmla="*/ 3715031 h 6259766"/>
                  <a:gd name="connsiteX21" fmla="*/ 3644233 w 6717823"/>
                  <a:gd name="connsiteY21" fmla="*/ 3640596 h 6259766"/>
                  <a:gd name="connsiteX22" fmla="*/ 3027191 w 6717823"/>
                  <a:gd name="connsiteY22" fmla="*/ 4194559 h 6259766"/>
                  <a:gd name="connsiteX23" fmla="*/ 4394799 w 6717823"/>
                  <a:gd name="connsiteY23" fmla="*/ 3603777 h 6259766"/>
                  <a:gd name="connsiteX24" fmla="*/ 3906399 w 6717823"/>
                  <a:gd name="connsiteY24" fmla="*/ 2680564 h 6259766"/>
                  <a:gd name="connsiteX25" fmla="*/ 4090580 w 6717823"/>
                  <a:gd name="connsiteY25" fmla="*/ 1703942 h 6259766"/>
                  <a:gd name="connsiteX26" fmla="*/ 5290242 w 6717823"/>
                  <a:gd name="connsiteY26" fmla="*/ 1124251 h 6259766"/>
                  <a:gd name="connsiteX27" fmla="*/ 6717824 w 6717823"/>
                  <a:gd name="connsiteY27" fmla="*/ 0 h 625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7823" h="6259766">
                    <a:moveTo>
                      <a:pt x="1614691" y="4808585"/>
                    </a:moveTo>
                    <a:lnTo>
                      <a:pt x="0" y="4932437"/>
                    </a:lnTo>
                    <a:lnTo>
                      <a:pt x="1705628" y="5707666"/>
                    </a:lnTo>
                    <a:lnTo>
                      <a:pt x="2489552" y="6259766"/>
                    </a:lnTo>
                    <a:lnTo>
                      <a:pt x="1521270" y="6099628"/>
                    </a:lnTo>
                    <a:lnTo>
                      <a:pt x="1705628" y="5707666"/>
                    </a:lnTo>
                    <a:lnTo>
                      <a:pt x="3008382" y="5626045"/>
                    </a:lnTo>
                    <a:lnTo>
                      <a:pt x="2259946" y="4763338"/>
                    </a:lnTo>
                    <a:lnTo>
                      <a:pt x="2864391" y="4797939"/>
                    </a:lnTo>
                    <a:lnTo>
                      <a:pt x="3676349" y="4615886"/>
                    </a:lnTo>
                    <a:lnTo>
                      <a:pt x="3027191" y="4194559"/>
                    </a:lnTo>
                    <a:lnTo>
                      <a:pt x="2938294" y="3715031"/>
                    </a:lnTo>
                    <a:lnTo>
                      <a:pt x="3512396" y="3500331"/>
                    </a:lnTo>
                    <a:lnTo>
                      <a:pt x="3906399" y="2680564"/>
                    </a:lnTo>
                    <a:lnTo>
                      <a:pt x="5757881" y="2302265"/>
                    </a:lnTo>
                    <a:lnTo>
                      <a:pt x="4854985" y="2063522"/>
                    </a:lnTo>
                    <a:lnTo>
                      <a:pt x="3906399" y="2680564"/>
                    </a:lnTo>
                    <a:lnTo>
                      <a:pt x="5215629" y="3363614"/>
                    </a:lnTo>
                    <a:lnTo>
                      <a:pt x="3512396" y="3500331"/>
                    </a:lnTo>
                    <a:lnTo>
                      <a:pt x="3136226" y="3000841"/>
                    </a:lnTo>
                    <a:lnTo>
                      <a:pt x="2938294" y="3715031"/>
                    </a:lnTo>
                    <a:lnTo>
                      <a:pt x="3644233" y="3640596"/>
                    </a:lnTo>
                    <a:lnTo>
                      <a:pt x="3027191" y="4194559"/>
                    </a:lnTo>
                    <a:lnTo>
                      <a:pt x="4394799" y="3603777"/>
                    </a:lnTo>
                    <a:lnTo>
                      <a:pt x="3906399" y="2680564"/>
                    </a:lnTo>
                    <a:lnTo>
                      <a:pt x="4090580" y="1703942"/>
                    </a:lnTo>
                    <a:lnTo>
                      <a:pt x="5290242" y="1124251"/>
                    </a:lnTo>
                    <a:lnTo>
                      <a:pt x="6717824" y="0"/>
                    </a:lnTo>
                  </a:path>
                </a:pathLst>
              </a:custGeom>
              <a:grpFill/>
              <a:ln w="6350" cap="rnd">
                <a:solidFill>
                  <a:srgbClr val="0085F0">
                    <a:alpha val="50000"/>
                  </a:srgbClr>
                </a:solidFill>
                <a:prstDash val="solid"/>
                <a:round/>
              </a:ln>
            </p:spPr>
            <p:txBody>
              <a:bodyPr rtlCol="0" anchor="ctr"/>
              <a:lstStyle/>
              <a:p>
                <a:endParaRPr lang="en-IN"/>
              </a:p>
            </p:txBody>
          </p:sp>
          <p:sp>
            <p:nvSpPr>
              <p:cNvPr id="23" name="Freeform: Shape 22">
                <a:extLst>
                  <a:ext uri="{FF2B5EF4-FFF2-40B4-BE49-F238E27FC236}">
                    <a16:creationId xmlns:a16="http://schemas.microsoft.com/office/drawing/2014/main" id="{820A3AEE-5FE2-D8EB-AFC9-CBF953ECCA80}"/>
                  </a:ext>
                </a:extLst>
              </p:cNvPr>
              <p:cNvSpPr/>
              <p:nvPr/>
            </p:nvSpPr>
            <p:spPr>
              <a:xfrm>
                <a:off x="1961149" y="4811956"/>
                <a:ext cx="3546819" cy="1520648"/>
              </a:xfrm>
              <a:custGeom>
                <a:avLst/>
                <a:gdLst>
                  <a:gd name="connsiteX0" fmla="*/ 0 w 3546819"/>
                  <a:gd name="connsiteY0" fmla="*/ 263851 h 1520648"/>
                  <a:gd name="connsiteX1" fmla="*/ 653329 w 3546819"/>
                  <a:gd name="connsiteY1" fmla="*/ 1070221 h 1520648"/>
                  <a:gd name="connsiteX2" fmla="*/ 1170207 w 3546819"/>
                  <a:gd name="connsiteY2" fmla="*/ 455130 h 1520648"/>
                  <a:gd name="connsiteX3" fmla="*/ 3546819 w 3546819"/>
                  <a:gd name="connsiteY3" fmla="*/ 899081 h 1520648"/>
                  <a:gd name="connsiteX4" fmla="*/ 2347246 w 3546819"/>
                  <a:gd name="connsiteY4" fmla="*/ 1520649 h 1520648"/>
                  <a:gd name="connsiteX5" fmla="*/ 1170207 w 3546819"/>
                  <a:gd name="connsiteY5" fmla="*/ 455130 h 1520648"/>
                  <a:gd name="connsiteX6" fmla="*/ 3455882 w 3546819"/>
                  <a:gd name="connsiteY6" fmla="*/ 0 h 1520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819" h="1520648">
                    <a:moveTo>
                      <a:pt x="0" y="263851"/>
                    </a:moveTo>
                    <a:lnTo>
                      <a:pt x="653329" y="1070221"/>
                    </a:lnTo>
                    <a:lnTo>
                      <a:pt x="1170207" y="455130"/>
                    </a:lnTo>
                    <a:lnTo>
                      <a:pt x="3546819" y="899081"/>
                    </a:lnTo>
                    <a:lnTo>
                      <a:pt x="2347246" y="1520649"/>
                    </a:lnTo>
                    <a:lnTo>
                      <a:pt x="1170207" y="455130"/>
                    </a:lnTo>
                    <a:lnTo>
                      <a:pt x="3455882" y="0"/>
                    </a:lnTo>
                  </a:path>
                </a:pathLst>
              </a:custGeom>
              <a:grpFill/>
              <a:ln w="6350" cap="rnd">
                <a:solidFill>
                  <a:srgbClr val="0085F0">
                    <a:alpha val="50000"/>
                  </a:srgbClr>
                </a:solidFill>
                <a:prstDash val="solid"/>
                <a:round/>
              </a:ln>
            </p:spPr>
            <p:txBody>
              <a:bodyPr rtlCol="0" anchor="ctr"/>
              <a:lstStyle/>
              <a:p>
                <a:endParaRPr lang="en-IN"/>
              </a:p>
            </p:txBody>
          </p:sp>
          <p:sp>
            <p:nvSpPr>
              <p:cNvPr id="24" name="Freeform: Shape 23">
                <a:extLst>
                  <a:ext uri="{FF2B5EF4-FFF2-40B4-BE49-F238E27FC236}">
                    <a16:creationId xmlns:a16="http://schemas.microsoft.com/office/drawing/2014/main" id="{93E5F1B7-DC90-3882-0BE3-88BB6A1674CD}"/>
                  </a:ext>
                </a:extLst>
              </p:cNvPr>
              <p:cNvSpPr/>
              <p:nvPr/>
            </p:nvSpPr>
            <p:spPr>
              <a:xfrm>
                <a:off x="1672279" y="3918286"/>
                <a:ext cx="5686018" cy="2940423"/>
              </a:xfrm>
              <a:custGeom>
                <a:avLst/>
                <a:gdLst>
                  <a:gd name="connsiteX0" fmla="*/ 4994452 w 5686018"/>
                  <a:gd name="connsiteY0" fmla="*/ 883023 h 2940423"/>
                  <a:gd name="connsiteX1" fmla="*/ 5686019 w 5686018"/>
                  <a:gd name="connsiteY1" fmla="*/ 1449584 h 2940423"/>
                  <a:gd name="connsiteX2" fmla="*/ 4712059 w 5686018"/>
                  <a:gd name="connsiteY2" fmla="*/ 908308 h 2940423"/>
                  <a:gd name="connsiteX3" fmla="*/ 3837286 w 5686018"/>
                  <a:gd name="connsiteY3" fmla="*/ 0 h 2940423"/>
                  <a:gd name="connsiteX4" fmla="*/ 4390008 w 5686018"/>
                  <a:gd name="connsiteY4" fmla="*/ 848423 h 2940423"/>
                  <a:gd name="connsiteX5" fmla="*/ 4712059 w 5686018"/>
                  <a:gd name="connsiteY5" fmla="*/ 908308 h 2940423"/>
                  <a:gd name="connsiteX6" fmla="*/ 3710240 w 5686018"/>
                  <a:gd name="connsiteY6" fmla="*/ 1556225 h 2940423"/>
                  <a:gd name="connsiteX7" fmla="*/ 2130061 w 5686018"/>
                  <a:gd name="connsiteY7" fmla="*/ 1017522 h 2940423"/>
                  <a:gd name="connsiteX8" fmla="*/ 1459077 w 5686018"/>
                  <a:gd name="connsiteY8" fmla="*/ 1348799 h 2940423"/>
                  <a:gd name="connsiteX9" fmla="*/ 288870 w 5686018"/>
                  <a:gd name="connsiteY9" fmla="*/ 1157520 h 2940423"/>
                  <a:gd name="connsiteX10" fmla="*/ 0 w 5686018"/>
                  <a:gd name="connsiteY10" fmla="*/ 1775273 h 2940423"/>
                  <a:gd name="connsiteX11" fmla="*/ 1459077 w 5686018"/>
                  <a:gd name="connsiteY11" fmla="*/ 1348799 h 2940423"/>
                  <a:gd name="connsiteX12" fmla="*/ 3710240 w 5686018"/>
                  <a:gd name="connsiteY12" fmla="*/ 1556225 h 2940423"/>
                  <a:gd name="connsiteX13" fmla="*/ 2636116 w 5686018"/>
                  <a:gd name="connsiteY13" fmla="*/ 2414318 h 2940423"/>
                  <a:gd name="connsiteX14" fmla="*/ 288870 w 5686018"/>
                  <a:gd name="connsiteY14" fmla="*/ 1157520 h 2940423"/>
                  <a:gd name="connsiteX15" fmla="*/ 1186088 w 5686018"/>
                  <a:gd name="connsiteY15" fmla="*/ 2940423 h 2940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86018" h="2940423">
                    <a:moveTo>
                      <a:pt x="4994452" y="883023"/>
                    </a:moveTo>
                    <a:lnTo>
                      <a:pt x="5686019" y="1449584"/>
                    </a:lnTo>
                    <a:lnTo>
                      <a:pt x="4712059" y="908308"/>
                    </a:lnTo>
                    <a:lnTo>
                      <a:pt x="3837286" y="0"/>
                    </a:lnTo>
                    <a:lnTo>
                      <a:pt x="4390008" y="848423"/>
                    </a:lnTo>
                    <a:lnTo>
                      <a:pt x="4712059" y="908308"/>
                    </a:lnTo>
                    <a:lnTo>
                      <a:pt x="3710240" y="1556225"/>
                    </a:lnTo>
                    <a:lnTo>
                      <a:pt x="2130061" y="1017522"/>
                    </a:lnTo>
                    <a:lnTo>
                      <a:pt x="1459077" y="1348799"/>
                    </a:lnTo>
                    <a:lnTo>
                      <a:pt x="288870" y="1157520"/>
                    </a:lnTo>
                    <a:lnTo>
                      <a:pt x="0" y="1775273"/>
                    </a:lnTo>
                    <a:lnTo>
                      <a:pt x="1459077" y="1348799"/>
                    </a:lnTo>
                    <a:lnTo>
                      <a:pt x="3710240" y="1556225"/>
                    </a:lnTo>
                    <a:lnTo>
                      <a:pt x="2636116" y="2414318"/>
                    </a:lnTo>
                    <a:lnTo>
                      <a:pt x="288870" y="1157520"/>
                    </a:lnTo>
                    <a:lnTo>
                      <a:pt x="1186088" y="2940423"/>
                    </a:lnTo>
                  </a:path>
                </a:pathLst>
              </a:custGeom>
              <a:grpFill/>
              <a:ln w="6350" cap="rnd">
                <a:solidFill>
                  <a:srgbClr val="0085F0">
                    <a:alpha val="50000"/>
                  </a:srgbClr>
                </a:solidFill>
                <a:prstDash val="solid"/>
                <a:round/>
              </a:ln>
            </p:spPr>
            <p:txBody>
              <a:bodyPr rtlCol="0" anchor="ctr"/>
              <a:lstStyle/>
              <a:p>
                <a:endParaRPr lang="en-IN"/>
              </a:p>
            </p:txBody>
          </p:sp>
          <p:sp>
            <p:nvSpPr>
              <p:cNvPr id="25" name="Freeform: Shape 24">
                <a:extLst>
                  <a:ext uri="{FF2B5EF4-FFF2-40B4-BE49-F238E27FC236}">
                    <a16:creationId xmlns:a16="http://schemas.microsoft.com/office/drawing/2014/main" id="{15831DBD-090A-2847-D514-498FF3EF10D2}"/>
                  </a:ext>
                </a:extLst>
              </p:cNvPr>
              <p:cNvSpPr/>
              <p:nvPr/>
            </p:nvSpPr>
            <p:spPr>
              <a:xfrm>
                <a:off x="5624545" y="2991702"/>
                <a:ext cx="242736" cy="511999"/>
              </a:xfrm>
              <a:custGeom>
                <a:avLst/>
                <a:gdLst>
                  <a:gd name="connsiteX0" fmla="*/ 0 w 242736"/>
                  <a:gd name="connsiteY0" fmla="*/ 0 h 511999"/>
                  <a:gd name="connsiteX1" fmla="*/ 117198 w 242736"/>
                  <a:gd name="connsiteY1" fmla="*/ 511999 h 511999"/>
                  <a:gd name="connsiteX2" fmla="*/ 242736 w 242736"/>
                  <a:gd name="connsiteY2" fmla="*/ 309630 h 511999"/>
                  <a:gd name="connsiteX3" fmla="*/ 0 w 242736"/>
                  <a:gd name="connsiteY3" fmla="*/ 0 h 511999"/>
                </a:gdLst>
                <a:ahLst/>
                <a:cxnLst>
                  <a:cxn ang="0">
                    <a:pos x="connsiteX0" y="connsiteY0"/>
                  </a:cxn>
                  <a:cxn ang="0">
                    <a:pos x="connsiteX1" y="connsiteY1"/>
                  </a:cxn>
                  <a:cxn ang="0">
                    <a:pos x="connsiteX2" y="connsiteY2"/>
                  </a:cxn>
                  <a:cxn ang="0">
                    <a:pos x="connsiteX3" y="connsiteY3"/>
                  </a:cxn>
                </a:cxnLst>
                <a:rect l="l" t="t" r="r" b="b"/>
                <a:pathLst>
                  <a:path w="242736" h="511999">
                    <a:moveTo>
                      <a:pt x="0" y="0"/>
                    </a:moveTo>
                    <a:lnTo>
                      <a:pt x="117198" y="511999"/>
                    </a:lnTo>
                    <a:lnTo>
                      <a:pt x="242736" y="309630"/>
                    </a:lnTo>
                    <a:lnTo>
                      <a:pt x="0" y="0"/>
                    </a:lnTo>
                    <a:close/>
                  </a:path>
                </a:pathLst>
              </a:custGeom>
              <a:grpFill/>
              <a:ln w="6350" cap="rnd">
                <a:solidFill>
                  <a:srgbClr val="0085F0">
                    <a:alpha val="50000"/>
                  </a:srgbClr>
                </a:solidFill>
                <a:prstDash val="solid"/>
                <a:round/>
              </a:ln>
            </p:spPr>
            <p:txBody>
              <a:bodyPr rtlCol="0" anchor="ctr"/>
              <a:lstStyle/>
              <a:p>
                <a:endParaRPr lang="en-IN"/>
              </a:p>
            </p:txBody>
          </p:sp>
        </p:grpSp>
        <p:grpSp>
          <p:nvGrpSpPr>
            <p:cNvPr id="9" name="Group 8">
              <a:extLst>
                <a:ext uri="{FF2B5EF4-FFF2-40B4-BE49-F238E27FC236}">
                  <a16:creationId xmlns:a16="http://schemas.microsoft.com/office/drawing/2014/main" id="{20D55D66-7805-4C72-AE44-7B34C438BA65}"/>
                </a:ext>
              </a:extLst>
            </p:cNvPr>
            <p:cNvGrpSpPr/>
            <p:nvPr userDrawn="1"/>
          </p:nvGrpSpPr>
          <p:grpSpPr>
            <a:xfrm>
              <a:off x="5449507" y="2592069"/>
              <a:ext cx="8502584" cy="5584696"/>
              <a:chOff x="3468307" y="4005454"/>
              <a:chExt cx="8502584" cy="5584696"/>
            </a:xfrm>
          </p:grpSpPr>
          <p:sp>
            <p:nvSpPr>
              <p:cNvPr id="17" name="Freeform: Shape 16">
                <a:extLst>
                  <a:ext uri="{FF2B5EF4-FFF2-40B4-BE49-F238E27FC236}">
                    <a16:creationId xmlns:a16="http://schemas.microsoft.com/office/drawing/2014/main" id="{15371C03-74F8-9ECF-36C8-07A20EF76391}"/>
                  </a:ext>
                </a:extLst>
              </p:cNvPr>
              <p:cNvSpPr/>
              <p:nvPr/>
            </p:nvSpPr>
            <p:spPr>
              <a:xfrm>
                <a:off x="3468307" y="5702999"/>
                <a:ext cx="7775543" cy="3509676"/>
              </a:xfrm>
              <a:custGeom>
                <a:avLst/>
                <a:gdLst>
                  <a:gd name="connsiteX0" fmla="*/ 5660803 w 7775543"/>
                  <a:gd name="connsiteY0" fmla="*/ 1267587 h 3509676"/>
                  <a:gd name="connsiteX1" fmla="*/ 6273356 w 7775543"/>
                  <a:gd name="connsiteY1" fmla="*/ 0 h 3509676"/>
                  <a:gd name="connsiteX2" fmla="*/ 7020878 w 7775543"/>
                  <a:gd name="connsiteY2" fmla="*/ 1608011 h 3509676"/>
                  <a:gd name="connsiteX3" fmla="*/ 7775544 w 7775543"/>
                  <a:gd name="connsiteY3" fmla="*/ 2539746 h 3509676"/>
                  <a:gd name="connsiteX4" fmla="*/ 7766113 w 7775543"/>
                  <a:gd name="connsiteY4" fmla="*/ 1571434 h 3509676"/>
                  <a:gd name="connsiteX5" fmla="*/ 7020878 w 7775543"/>
                  <a:gd name="connsiteY5" fmla="*/ 1608011 h 3509676"/>
                  <a:gd name="connsiteX6" fmla="*/ 6508242 w 7775543"/>
                  <a:gd name="connsiteY6" fmla="*/ 2731294 h 3509676"/>
                  <a:gd name="connsiteX7" fmla="*/ 5422773 w 7775543"/>
                  <a:gd name="connsiteY7" fmla="*/ 1773650 h 3509676"/>
                  <a:gd name="connsiteX8" fmla="*/ 5305616 w 7775543"/>
                  <a:gd name="connsiteY8" fmla="*/ 2274856 h 3509676"/>
                  <a:gd name="connsiteX9" fmla="*/ 4837652 w 7775543"/>
                  <a:gd name="connsiteY9" fmla="*/ 2861786 h 3509676"/>
                  <a:gd name="connsiteX10" fmla="*/ 4476083 w 7775543"/>
                  <a:gd name="connsiteY10" fmla="*/ 2192274 h 3509676"/>
                  <a:gd name="connsiteX11" fmla="*/ 3934873 w 7775543"/>
                  <a:gd name="connsiteY11" fmla="*/ 1972342 h 3509676"/>
                  <a:gd name="connsiteX12" fmla="*/ 3552444 w 7775543"/>
                  <a:gd name="connsiteY12" fmla="*/ 2323529 h 3509676"/>
                  <a:gd name="connsiteX13" fmla="*/ 2634425 w 7775543"/>
                  <a:gd name="connsiteY13" fmla="*/ 2338673 h 3509676"/>
                  <a:gd name="connsiteX14" fmla="*/ 1852422 w 7775543"/>
                  <a:gd name="connsiteY14" fmla="*/ 3452812 h 3509676"/>
                  <a:gd name="connsiteX15" fmla="*/ 1866043 w 7775543"/>
                  <a:gd name="connsiteY15" fmla="*/ 2771584 h 3509676"/>
                  <a:gd name="connsiteX16" fmla="*/ 2634425 w 7775543"/>
                  <a:gd name="connsiteY16" fmla="*/ 2338673 h 3509676"/>
                  <a:gd name="connsiteX17" fmla="*/ 2975705 w 7775543"/>
                  <a:gd name="connsiteY17" fmla="*/ 3509677 h 3509676"/>
                  <a:gd name="connsiteX18" fmla="*/ 3552444 w 7775543"/>
                  <a:gd name="connsiteY18" fmla="*/ 2323529 h 3509676"/>
                  <a:gd name="connsiteX19" fmla="*/ 3129534 w 7775543"/>
                  <a:gd name="connsiteY19" fmla="*/ 1905762 h 3509676"/>
                  <a:gd name="connsiteX20" fmla="*/ 3934873 w 7775543"/>
                  <a:gd name="connsiteY20" fmla="*/ 1972342 h 3509676"/>
                  <a:gd name="connsiteX21" fmla="*/ 3671602 w 7775543"/>
                  <a:gd name="connsiteY21" fmla="*/ 2467070 h 3509676"/>
                  <a:gd name="connsiteX22" fmla="*/ 4476083 w 7775543"/>
                  <a:gd name="connsiteY22" fmla="*/ 2192274 h 3509676"/>
                  <a:gd name="connsiteX23" fmla="*/ 3438716 w 7775543"/>
                  <a:gd name="connsiteY23" fmla="*/ 3006471 h 3509676"/>
                  <a:gd name="connsiteX24" fmla="*/ 2634425 w 7775543"/>
                  <a:gd name="connsiteY24" fmla="*/ 2338673 h 3509676"/>
                  <a:gd name="connsiteX25" fmla="*/ 1750124 w 7775543"/>
                  <a:gd name="connsiteY25" fmla="*/ 2175129 h 3509676"/>
                  <a:gd name="connsiteX26" fmla="*/ 1042606 w 7775543"/>
                  <a:gd name="connsiteY26" fmla="*/ 2747582 h 3509676"/>
                  <a:gd name="connsiteX27" fmla="*/ 0 w 7775543"/>
                  <a:gd name="connsiteY27" fmla="*/ 3234023 h 3509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775543" h="3509676">
                    <a:moveTo>
                      <a:pt x="5660803" y="1267587"/>
                    </a:moveTo>
                    <a:lnTo>
                      <a:pt x="6273356" y="0"/>
                    </a:lnTo>
                    <a:lnTo>
                      <a:pt x="7020878" y="1608011"/>
                    </a:lnTo>
                    <a:lnTo>
                      <a:pt x="7775544" y="2539746"/>
                    </a:lnTo>
                    <a:lnTo>
                      <a:pt x="7766113" y="1571434"/>
                    </a:lnTo>
                    <a:lnTo>
                      <a:pt x="7020878" y="1608011"/>
                    </a:lnTo>
                    <a:lnTo>
                      <a:pt x="6508242" y="2731294"/>
                    </a:lnTo>
                    <a:lnTo>
                      <a:pt x="5422773" y="1773650"/>
                    </a:lnTo>
                    <a:lnTo>
                      <a:pt x="5305616" y="2274856"/>
                    </a:lnTo>
                    <a:lnTo>
                      <a:pt x="4837652" y="2861786"/>
                    </a:lnTo>
                    <a:lnTo>
                      <a:pt x="4476083" y="2192274"/>
                    </a:lnTo>
                    <a:lnTo>
                      <a:pt x="3934873" y="1972342"/>
                    </a:lnTo>
                    <a:lnTo>
                      <a:pt x="3552444" y="2323529"/>
                    </a:lnTo>
                    <a:lnTo>
                      <a:pt x="2634425" y="2338673"/>
                    </a:lnTo>
                    <a:lnTo>
                      <a:pt x="1852422" y="3452812"/>
                    </a:lnTo>
                    <a:lnTo>
                      <a:pt x="1866043" y="2771584"/>
                    </a:lnTo>
                    <a:lnTo>
                      <a:pt x="2634425" y="2338673"/>
                    </a:lnTo>
                    <a:lnTo>
                      <a:pt x="2975705" y="3509677"/>
                    </a:lnTo>
                    <a:lnTo>
                      <a:pt x="3552444" y="2323529"/>
                    </a:lnTo>
                    <a:lnTo>
                      <a:pt x="3129534" y="1905762"/>
                    </a:lnTo>
                    <a:lnTo>
                      <a:pt x="3934873" y="1972342"/>
                    </a:lnTo>
                    <a:lnTo>
                      <a:pt x="3671602" y="2467070"/>
                    </a:lnTo>
                    <a:lnTo>
                      <a:pt x="4476083" y="2192274"/>
                    </a:lnTo>
                    <a:lnTo>
                      <a:pt x="3438716" y="3006471"/>
                    </a:lnTo>
                    <a:lnTo>
                      <a:pt x="2634425" y="2338673"/>
                    </a:lnTo>
                    <a:lnTo>
                      <a:pt x="1750124" y="2175129"/>
                    </a:lnTo>
                    <a:lnTo>
                      <a:pt x="1042606" y="2747582"/>
                    </a:lnTo>
                    <a:lnTo>
                      <a:pt x="0" y="3234023"/>
                    </a:lnTo>
                  </a:path>
                </a:pathLst>
              </a:custGeom>
              <a:noFill/>
              <a:ln w="7144" cap="rnd">
                <a:solidFill>
                  <a:srgbClr val="0085F0"/>
                </a:solidFill>
                <a:prstDash val="solid"/>
                <a:round/>
              </a:ln>
            </p:spPr>
            <p:txBody>
              <a:bodyPr rtlCol="0" anchor="ctr"/>
              <a:lstStyle/>
              <a:p>
                <a:endParaRPr lang="en-IN"/>
              </a:p>
            </p:txBody>
          </p:sp>
          <p:sp>
            <p:nvSpPr>
              <p:cNvPr id="18" name="Freeform: Shape 17">
                <a:extLst>
                  <a:ext uri="{FF2B5EF4-FFF2-40B4-BE49-F238E27FC236}">
                    <a16:creationId xmlns:a16="http://schemas.microsoft.com/office/drawing/2014/main" id="{67FCF113-60E3-C2E6-98D8-AAA0D48CC7F0}"/>
                  </a:ext>
                </a:extLst>
              </p:cNvPr>
              <p:cNvSpPr/>
              <p:nvPr/>
            </p:nvSpPr>
            <p:spPr>
              <a:xfrm>
                <a:off x="4337177" y="6381750"/>
                <a:ext cx="5639371" cy="2948654"/>
              </a:xfrm>
              <a:custGeom>
                <a:avLst/>
                <a:gdLst>
                  <a:gd name="connsiteX0" fmla="*/ 4309777 w 5639371"/>
                  <a:gd name="connsiteY0" fmla="*/ 0 h 2948654"/>
                  <a:gd name="connsiteX1" fmla="*/ 3916299 w 5639371"/>
                  <a:gd name="connsiteY1" fmla="*/ 1093089 h 2948654"/>
                  <a:gd name="connsiteX2" fmla="*/ 3607213 w 5639371"/>
                  <a:gd name="connsiteY2" fmla="*/ 1513523 h 2948654"/>
                  <a:gd name="connsiteX3" fmla="*/ 4791933 w 5639371"/>
                  <a:gd name="connsiteY3" fmla="*/ 588835 h 2948654"/>
                  <a:gd name="connsiteX4" fmla="*/ 3611785 w 5639371"/>
                  <a:gd name="connsiteY4" fmla="*/ 440055 h 2948654"/>
                  <a:gd name="connsiteX5" fmla="*/ 4436745 w 5639371"/>
                  <a:gd name="connsiteY5" fmla="*/ 1596104 h 2948654"/>
                  <a:gd name="connsiteX6" fmla="*/ 4549140 w 5639371"/>
                  <a:gd name="connsiteY6" fmla="*/ 1375219 h 2948654"/>
                  <a:gd name="connsiteX7" fmla="*/ 5639372 w 5639371"/>
                  <a:gd name="connsiteY7" fmla="*/ 2052542 h 2948654"/>
                  <a:gd name="connsiteX8" fmla="*/ 4436745 w 5639371"/>
                  <a:gd name="connsiteY8" fmla="*/ 1596104 h 2948654"/>
                  <a:gd name="connsiteX9" fmla="*/ 3607213 w 5639371"/>
                  <a:gd name="connsiteY9" fmla="*/ 1513523 h 2948654"/>
                  <a:gd name="connsiteX10" fmla="*/ 4553903 w 5639371"/>
                  <a:gd name="connsiteY10" fmla="*/ 1094899 h 2948654"/>
                  <a:gd name="connsiteX11" fmla="*/ 4791933 w 5639371"/>
                  <a:gd name="connsiteY11" fmla="*/ 588835 h 2948654"/>
                  <a:gd name="connsiteX12" fmla="*/ 4309777 w 5639371"/>
                  <a:gd name="connsiteY12" fmla="*/ 0 h 2948654"/>
                  <a:gd name="connsiteX13" fmla="*/ 3611785 w 5639371"/>
                  <a:gd name="connsiteY13" fmla="*/ 440055 h 2948654"/>
                  <a:gd name="connsiteX14" fmla="*/ 3607213 w 5639371"/>
                  <a:gd name="connsiteY14" fmla="*/ 1513523 h 2948654"/>
                  <a:gd name="connsiteX15" fmla="*/ 3066002 w 5639371"/>
                  <a:gd name="connsiteY15" fmla="*/ 1293590 h 2948654"/>
                  <a:gd name="connsiteX16" fmla="*/ 2443448 w 5639371"/>
                  <a:gd name="connsiteY16" fmla="*/ 1530572 h 2948654"/>
                  <a:gd name="connsiteX17" fmla="*/ 2260664 w 5639371"/>
                  <a:gd name="connsiteY17" fmla="*/ 1227010 h 2948654"/>
                  <a:gd name="connsiteX18" fmla="*/ 1765554 w 5639371"/>
                  <a:gd name="connsiteY18" fmla="*/ 1659922 h 2948654"/>
                  <a:gd name="connsiteX19" fmla="*/ 881253 w 5639371"/>
                  <a:gd name="connsiteY19" fmla="*/ 1496377 h 2948654"/>
                  <a:gd name="connsiteX20" fmla="*/ 0 w 5639371"/>
                  <a:gd name="connsiteY20" fmla="*/ 2948654 h 2948654"/>
                  <a:gd name="connsiteX21" fmla="*/ 997172 w 5639371"/>
                  <a:gd name="connsiteY21" fmla="*/ 2092833 h 2948654"/>
                  <a:gd name="connsiteX22" fmla="*/ 2683574 w 5639371"/>
                  <a:gd name="connsiteY22" fmla="*/ 1644777 h 2948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39371" h="2948654">
                    <a:moveTo>
                      <a:pt x="4309777" y="0"/>
                    </a:moveTo>
                    <a:lnTo>
                      <a:pt x="3916299" y="1093089"/>
                    </a:lnTo>
                    <a:lnTo>
                      <a:pt x="3607213" y="1513523"/>
                    </a:lnTo>
                    <a:lnTo>
                      <a:pt x="4791933" y="588835"/>
                    </a:lnTo>
                    <a:lnTo>
                      <a:pt x="3611785" y="440055"/>
                    </a:lnTo>
                    <a:lnTo>
                      <a:pt x="4436745" y="1596104"/>
                    </a:lnTo>
                    <a:lnTo>
                      <a:pt x="4549140" y="1375219"/>
                    </a:lnTo>
                    <a:lnTo>
                      <a:pt x="5639372" y="2052542"/>
                    </a:lnTo>
                    <a:lnTo>
                      <a:pt x="4436745" y="1596104"/>
                    </a:lnTo>
                    <a:lnTo>
                      <a:pt x="3607213" y="1513523"/>
                    </a:lnTo>
                    <a:lnTo>
                      <a:pt x="4553903" y="1094899"/>
                    </a:lnTo>
                    <a:lnTo>
                      <a:pt x="4791933" y="588835"/>
                    </a:lnTo>
                    <a:lnTo>
                      <a:pt x="4309777" y="0"/>
                    </a:lnTo>
                    <a:lnTo>
                      <a:pt x="3611785" y="440055"/>
                    </a:lnTo>
                    <a:lnTo>
                      <a:pt x="3607213" y="1513523"/>
                    </a:lnTo>
                    <a:lnTo>
                      <a:pt x="3066002" y="1293590"/>
                    </a:lnTo>
                    <a:lnTo>
                      <a:pt x="2443448" y="1530572"/>
                    </a:lnTo>
                    <a:lnTo>
                      <a:pt x="2260664" y="1227010"/>
                    </a:lnTo>
                    <a:lnTo>
                      <a:pt x="1765554" y="1659922"/>
                    </a:lnTo>
                    <a:lnTo>
                      <a:pt x="881253" y="1496377"/>
                    </a:lnTo>
                    <a:lnTo>
                      <a:pt x="0" y="2948654"/>
                    </a:lnTo>
                    <a:lnTo>
                      <a:pt x="997172" y="2092833"/>
                    </a:lnTo>
                    <a:lnTo>
                      <a:pt x="2683574" y="1644777"/>
                    </a:lnTo>
                  </a:path>
                </a:pathLst>
              </a:custGeom>
              <a:noFill/>
              <a:ln w="7144" cap="rnd">
                <a:solidFill>
                  <a:srgbClr val="0085F0"/>
                </a:solidFill>
                <a:prstDash val="solid"/>
                <a:round/>
              </a:ln>
            </p:spPr>
            <p:txBody>
              <a:bodyPr rtlCol="0" anchor="ctr"/>
              <a:lstStyle/>
              <a:p>
                <a:endParaRPr lang="en-IN"/>
              </a:p>
            </p:txBody>
          </p:sp>
          <p:sp>
            <p:nvSpPr>
              <p:cNvPr id="19" name="Freeform: Shape 18">
                <a:extLst>
                  <a:ext uri="{FF2B5EF4-FFF2-40B4-BE49-F238E27FC236}">
                    <a16:creationId xmlns:a16="http://schemas.microsoft.com/office/drawing/2014/main" id="{51BA3815-1BD3-EDDE-C8BD-A3452B648EB0}"/>
                  </a:ext>
                </a:extLst>
              </p:cNvPr>
              <p:cNvSpPr/>
              <p:nvPr/>
            </p:nvSpPr>
            <p:spPr>
              <a:xfrm>
                <a:off x="6907021" y="6970585"/>
                <a:ext cx="3974972" cy="2619565"/>
              </a:xfrm>
              <a:custGeom>
                <a:avLst/>
                <a:gdLst>
                  <a:gd name="connsiteX0" fmla="*/ 3582162 w 3974972"/>
                  <a:gd name="connsiteY0" fmla="*/ 340424 h 2619565"/>
                  <a:gd name="connsiteX1" fmla="*/ 3974973 w 3974972"/>
                  <a:gd name="connsiteY1" fmla="*/ 2077879 h 2619565"/>
                  <a:gd name="connsiteX2" fmla="*/ 3069526 w 3974972"/>
                  <a:gd name="connsiteY2" fmla="*/ 1463707 h 2619565"/>
                  <a:gd name="connsiteX3" fmla="*/ 2497074 w 3974972"/>
                  <a:gd name="connsiteY3" fmla="*/ 1825466 h 2619565"/>
                  <a:gd name="connsiteX4" fmla="*/ 1398937 w 3974972"/>
                  <a:gd name="connsiteY4" fmla="*/ 1594199 h 2619565"/>
                  <a:gd name="connsiteX5" fmla="*/ 232886 w 3974972"/>
                  <a:gd name="connsiteY5" fmla="*/ 1199483 h 2619565"/>
                  <a:gd name="connsiteX6" fmla="*/ 113729 w 3974972"/>
                  <a:gd name="connsiteY6" fmla="*/ 1055942 h 2619565"/>
                  <a:gd name="connsiteX7" fmla="*/ 0 w 3974972"/>
                  <a:gd name="connsiteY7" fmla="*/ 1738884 h 2619565"/>
                  <a:gd name="connsiteX8" fmla="*/ 649891 w 3974972"/>
                  <a:gd name="connsiteY8" fmla="*/ 2619566 h 2619565"/>
                  <a:gd name="connsiteX9" fmla="*/ 1398937 w 3974972"/>
                  <a:gd name="connsiteY9" fmla="*/ 1594199 h 2619565"/>
                  <a:gd name="connsiteX10" fmla="*/ 1940719 w 3974972"/>
                  <a:gd name="connsiteY10" fmla="*/ 1902524 h 2619565"/>
                  <a:gd name="connsiteX11" fmla="*/ 1037368 w 3974972"/>
                  <a:gd name="connsiteY11" fmla="*/ 924687 h 2619565"/>
                  <a:gd name="connsiteX12" fmla="*/ 1979295 w 3974972"/>
                  <a:gd name="connsiteY12" fmla="*/ 786384 h 2619565"/>
                  <a:gd name="connsiteX13" fmla="*/ 3582162 w 3974972"/>
                  <a:gd name="connsiteY13" fmla="*/ 340424 h 2619565"/>
                  <a:gd name="connsiteX14" fmla="*/ 3228309 w 3974972"/>
                  <a:gd name="connsiteY14" fmla="*/ 157353 h 2619565"/>
                  <a:gd name="connsiteX15" fmla="*/ 2222087 w 3974972"/>
                  <a:gd name="connsiteY15" fmla="*/ 0 h 2619565"/>
                  <a:gd name="connsiteX16" fmla="*/ 1346454 w 3974972"/>
                  <a:gd name="connsiteY16" fmla="*/ 504254 h 2619565"/>
                  <a:gd name="connsiteX17" fmla="*/ 496157 w 3974972"/>
                  <a:gd name="connsiteY17" fmla="*/ 704755 h 2619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74972" h="2619565">
                    <a:moveTo>
                      <a:pt x="3582162" y="340424"/>
                    </a:moveTo>
                    <a:lnTo>
                      <a:pt x="3974973" y="2077879"/>
                    </a:lnTo>
                    <a:lnTo>
                      <a:pt x="3069526" y="1463707"/>
                    </a:lnTo>
                    <a:lnTo>
                      <a:pt x="2497074" y="1825466"/>
                    </a:lnTo>
                    <a:lnTo>
                      <a:pt x="1398937" y="1594199"/>
                    </a:lnTo>
                    <a:lnTo>
                      <a:pt x="232886" y="1199483"/>
                    </a:lnTo>
                    <a:lnTo>
                      <a:pt x="113729" y="1055942"/>
                    </a:lnTo>
                    <a:lnTo>
                      <a:pt x="0" y="1738884"/>
                    </a:lnTo>
                    <a:lnTo>
                      <a:pt x="649891" y="2619566"/>
                    </a:lnTo>
                    <a:lnTo>
                      <a:pt x="1398937" y="1594199"/>
                    </a:lnTo>
                    <a:lnTo>
                      <a:pt x="1940719" y="1902524"/>
                    </a:lnTo>
                    <a:lnTo>
                      <a:pt x="1037368" y="924687"/>
                    </a:lnTo>
                    <a:lnTo>
                      <a:pt x="1979295" y="786384"/>
                    </a:lnTo>
                    <a:lnTo>
                      <a:pt x="3582162" y="340424"/>
                    </a:lnTo>
                    <a:lnTo>
                      <a:pt x="3228309" y="157353"/>
                    </a:lnTo>
                    <a:lnTo>
                      <a:pt x="2222087" y="0"/>
                    </a:lnTo>
                    <a:lnTo>
                      <a:pt x="1346454" y="504254"/>
                    </a:lnTo>
                    <a:lnTo>
                      <a:pt x="496157" y="704755"/>
                    </a:lnTo>
                  </a:path>
                </a:pathLst>
              </a:custGeom>
              <a:noFill/>
              <a:ln w="7144" cap="rnd">
                <a:solidFill>
                  <a:srgbClr val="0085F0"/>
                </a:solidFill>
                <a:prstDash val="solid"/>
                <a:round/>
              </a:ln>
            </p:spPr>
            <p:txBody>
              <a:bodyPr rtlCol="0" anchor="ctr"/>
              <a:lstStyle/>
              <a:p>
                <a:endParaRPr lang="en-IN"/>
              </a:p>
            </p:txBody>
          </p:sp>
          <p:sp>
            <p:nvSpPr>
              <p:cNvPr id="20" name="Freeform: Shape 19">
                <a:extLst>
                  <a:ext uri="{FF2B5EF4-FFF2-40B4-BE49-F238E27FC236}">
                    <a16:creationId xmlns:a16="http://schemas.microsoft.com/office/drawing/2014/main" id="{F267883F-A9AE-C3CA-9D8F-440012BAD404}"/>
                  </a:ext>
                </a:extLst>
              </p:cNvPr>
              <p:cNvSpPr/>
              <p:nvPr/>
            </p:nvSpPr>
            <p:spPr>
              <a:xfrm>
                <a:off x="7948961" y="4005454"/>
                <a:ext cx="4021930" cy="4790598"/>
              </a:xfrm>
              <a:custGeom>
                <a:avLst/>
                <a:gdLst>
                  <a:gd name="connsiteX0" fmla="*/ 2493264 w 4021930"/>
                  <a:gd name="connsiteY0" fmla="*/ 243840 h 4790598"/>
                  <a:gd name="connsiteX1" fmla="*/ 4021931 w 4021930"/>
                  <a:gd name="connsiteY1" fmla="*/ 2395252 h 4790598"/>
                  <a:gd name="connsiteX2" fmla="*/ 2186369 w 4021930"/>
                  <a:gd name="connsiteY2" fmla="*/ 3122486 h 4790598"/>
                  <a:gd name="connsiteX3" fmla="*/ 2478976 w 4021930"/>
                  <a:gd name="connsiteY3" fmla="*/ 1194435 h 4790598"/>
                  <a:gd name="connsiteX4" fmla="*/ 3587496 w 4021930"/>
                  <a:gd name="connsiteY4" fmla="*/ 0 h 4790598"/>
                  <a:gd name="connsiteX5" fmla="*/ 2493264 w 4021930"/>
                  <a:gd name="connsiteY5" fmla="*/ 243840 h 4790598"/>
                  <a:gd name="connsiteX6" fmla="*/ 2478976 w 4021930"/>
                  <a:gd name="connsiteY6" fmla="*/ 1194435 h 4790598"/>
                  <a:gd name="connsiteX7" fmla="*/ 1792700 w 4021930"/>
                  <a:gd name="connsiteY7" fmla="*/ 1697546 h 4790598"/>
                  <a:gd name="connsiteX8" fmla="*/ 2186369 w 4021930"/>
                  <a:gd name="connsiteY8" fmla="*/ 3122486 h 4790598"/>
                  <a:gd name="connsiteX9" fmla="*/ 937355 w 4021930"/>
                  <a:gd name="connsiteY9" fmla="*/ 3751517 h 4790598"/>
                  <a:gd name="connsiteX10" fmla="*/ 942118 w 4021930"/>
                  <a:gd name="connsiteY10" fmla="*/ 3471196 h 4790598"/>
                  <a:gd name="connsiteX11" fmla="*/ 0 w 4021930"/>
                  <a:gd name="connsiteY11" fmla="*/ 2816352 h 4790598"/>
                  <a:gd name="connsiteX12" fmla="*/ 937355 w 4021930"/>
                  <a:gd name="connsiteY12" fmla="*/ 3751517 h 4790598"/>
                  <a:gd name="connsiteX13" fmla="*/ 1455134 w 4021930"/>
                  <a:gd name="connsiteY13" fmla="*/ 4790599 h 4790598"/>
                  <a:gd name="connsiteX14" fmla="*/ 824960 w 4021930"/>
                  <a:gd name="connsiteY14" fmla="*/ 3972401 h 479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21930" h="4790598">
                    <a:moveTo>
                      <a:pt x="2493264" y="243840"/>
                    </a:moveTo>
                    <a:lnTo>
                      <a:pt x="4021931" y="2395252"/>
                    </a:lnTo>
                    <a:lnTo>
                      <a:pt x="2186369" y="3122486"/>
                    </a:lnTo>
                    <a:lnTo>
                      <a:pt x="2478976" y="1194435"/>
                    </a:lnTo>
                    <a:lnTo>
                      <a:pt x="3587496" y="0"/>
                    </a:lnTo>
                    <a:lnTo>
                      <a:pt x="2493264" y="243840"/>
                    </a:lnTo>
                    <a:lnTo>
                      <a:pt x="2478976" y="1194435"/>
                    </a:lnTo>
                    <a:lnTo>
                      <a:pt x="1792700" y="1697546"/>
                    </a:lnTo>
                    <a:lnTo>
                      <a:pt x="2186369" y="3122486"/>
                    </a:lnTo>
                    <a:lnTo>
                      <a:pt x="937355" y="3751517"/>
                    </a:lnTo>
                    <a:lnTo>
                      <a:pt x="942118" y="3471196"/>
                    </a:lnTo>
                    <a:lnTo>
                      <a:pt x="0" y="2816352"/>
                    </a:lnTo>
                    <a:lnTo>
                      <a:pt x="937355" y="3751517"/>
                    </a:lnTo>
                    <a:lnTo>
                      <a:pt x="1455134" y="4790599"/>
                    </a:lnTo>
                    <a:lnTo>
                      <a:pt x="824960" y="3972401"/>
                    </a:lnTo>
                  </a:path>
                </a:pathLst>
              </a:custGeom>
              <a:noFill/>
              <a:ln w="7144" cap="rnd">
                <a:solidFill>
                  <a:srgbClr val="0085F0"/>
                </a:solidFill>
                <a:prstDash val="solid"/>
                <a:round/>
              </a:ln>
            </p:spPr>
            <p:txBody>
              <a:bodyPr rtlCol="0" anchor="ctr"/>
              <a:lstStyle/>
              <a:p>
                <a:endParaRPr lang="en-IN"/>
              </a:p>
            </p:txBody>
          </p:sp>
          <p:sp>
            <p:nvSpPr>
              <p:cNvPr id="21" name="Freeform: Shape 20">
                <a:extLst>
                  <a:ext uri="{FF2B5EF4-FFF2-40B4-BE49-F238E27FC236}">
                    <a16:creationId xmlns:a16="http://schemas.microsoft.com/office/drawing/2014/main" id="{166507B1-5B01-3AE4-F070-E7C6AA97C3E6}"/>
                  </a:ext>
                </a:extLst>
              </p:cNvPr>
              <p:cNvSpPr/>
              <p:nvPr/>
            </p:nvSpPr>
            <p:spPr>
              <a:xfrm>
                <a:off x="4510913" y="7878127"/>
                <a:ext cx="809815" cy="1277683"/>
              </a:xfrm>
              <a:custGeom>
                <a:avLst/>
                <a:gdLst>
                  <a:gd name="connsiteX0" fmla="*/ 0 w 809815"/>
                  <a:gd name="connsiteY0" fmla="*/ 572453 h 1277683"/>
                  <a:gd name="connsiteX1" fmla="*/ 198596 w 809815"/>
                  <a:gd name="connsiteY1" fmla="*/ 0 h 1277683"/>
                  <a:gd name="connsiteX2" fmla="*/ 809816 w 809815"/>
                  <a:gd name="connsiteY2" fmla="*/ 1277683 h 1277683"/>
                </a:gdLst>
                <a:ahLst/>
                <a:cxnLst>
                  <a:cxn ang="0">
                    <a:pos x="connsiteX0" y="connsiteY0"/>
                  </a:cxn>
                  <a:cxn ang="0">
                    <a:pos x="connsiteX1" y="connsiteY1"/>
                  </a:cxn>
                  <a:cxn ang="0">
                    <a:pos x="connsiteX2" y="connsiteY2"/>
                  </a:cxn>
                </a:cxnLst>
                <a:rect l="l" t="t" r="r" b="b"/>
                <a:pathLst>
                  <a:path w="809815" h="1277683">
                    <a:moveTo>
                      <a:pt x="0" y="572453"/>
                    </a:moveTo>
                    <a:lnTo>
                      <a:pt x="198596" y="0"/>
                    </a:lnTo>
                    <a:lnTo>
                      <a:pt x="809816" y="1277683"/>
                    </a:lnTo>
                  </a:path>
                </a:pathLst>
              </a:custGeom>
              <a:noFill/>
              <a:ln w="7144" cap="rnd">
                <a:solidFill>
                  <a:srgbClr val="0085F0"/>
                </a:solidFill>
                <a:prstDash val="solid"/>
                <a:round/>
              </a:ln>
            </p:spPr>
            <p:txBody>
              <a:bodyPr rtlCol="0" anchor="ctr"/>
              <a:lstStyle/>
              <a:p>
                <a:endParaRPr lang="en-IN"/>
              </a:p>
            </p:txBody>
          </p:sp>
        </p:grpSp>
        <p:grpSp>
          <p:nvGrpSpPr>
            <p:cNvPr id="10" name="Group 9">
              <a:extLst>
                <a:ext uri="{FF2B5EF4-FFF2-40B4-BE49-F238E27FC236}">
                  <a16:creationId xmlns:a16="http://schemas.microsoft.com/office/drawing/2014/main" id="{271D7744-18AD-2770-53C1-319506DB114A}"/>
                </a:ext>
              </a:extLst>
            </p:cNvPr>
            <p:cNvGrpSpPr/>
            <p:nvPr userDrawn="1"/>
          </p:nvGrpSpPr>
          <p:grpSpPr>
            <a:xfrm>
              <a:off x="7163814" y="4239249"/>
              <a:ext cx="4613529" cy="2287268"/>
              <a:chOff x="7163814" y="4239249"/>
              <a:chExt cx="4613529" cy="2287268"/>
            </a:xfrm>
          </p:grpSpPr>
          <p:sp>
            <p:nvSpPr>
              <p:cNvPr id="11" name="Oval 10">
                <a:extLst>
                  <a:ext uri="{FF2B5EF4-FFF2-40B4-BE49-F238E27FC236}">
                    <a16:creationId xmlns:a16="http://schemas.microsoft.com/office/drawing/2014/main" id="{0A29D513-ABA7-D180-E0D1-952271F7BF6B}"/>
                  </a:ext>
                </a:extLst>
              </p:cNvPr>
              <p:cNvSpPr/>
              <p:nvPr/>
            </p:nvSpPr>
            <p:spPr>
              <a:xfrm>
                <a:off x="9879704" y="5375531"/>
                <a:ext cx="117729" cy="117729"/>
              </a:xfrm>
              <a:prstGeom prst="ellipse">
                <a:avLst/>
              </a:prstGeom>
              <a:gradFill flip="none" rotWithShape="1">
                <a:gsLst>
                  <a:gs pos="0">
                    <a:srgbClr val="4791FF"/>
                  </a:gs>
                  <a:gs pos="41000">
                    <a:srgbClr val="2980FF"/>
                  </a:gs>
                  <a:gs pos="100000">
                    <a:srgbClr val="1D62EB"/>
                  </a:gs>
                </a:gsLst>
                <a:path path="circle">
                  <a:fillToRect l="50000" t="50000" r="50000" b="50000"/>
                </a:path>
                <a:tileRect/>
              </a:gradFill>
              <a:ln>
                <a:solidFill>
                  <a:srgbClr val="3371ED"/>
                </a:solidFill>
              </a:ln>
              <a:effectLst>
                <a:glow rad="127000">
                  <a:schemeClr val="accent1">
                    <a:satMod val="175000"/>
                    <a:alpha val="8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58BC6352-CB43-3F1F-A52E-A90FF5170432}"/>
                  </a:ext>
                </a:extLst>
              </p:cNvPr>
              <p:cNvSpPr/>
              <p:nvPr/>
            </p:nvSpPr>
            <p:spPr>
              <a:xfrm>
                <a:off x="11057467" y="5468711"/>
                <a:ext cx="117729" cy="117729"/>
              </a:xfrm>
              <a:prstGeom prst="ellipse">
                <a:avLst/>
              </a:prstGeom>
              <a:gradFill flip="none" rotWithShape="1">
                <a:gsLst>
                  <a:gs pos="0">
                    <a:srgbClr val="4791FF"/>
                  </a:gs>
                  <a:gs pos="41000">
                    <a:srgbClr val="2980FF"/>
                  </a:gs>
                  <a:gs pos="100000">
                    <a:srgbClr val="1D62EB"/>
                  </a:gs>
                </a:gsLst>
                <a:path path="circle">
                  <a:fillToRect l="50000" t="50000" r="50000" b="50000"/>
                </a:path>
                <a:tileRect/>
              </a:gradFill>
              <a:ln>
                <a:solidFill>
                  <a:srgbClr val="3371ED"/>
                </a:solidFill>
              </a:ln>
              <a:effectLst>
                <a:glow rad="127000">
                  <a:schemeClr val="accent1">
                    <a:satMod val="175000"/>
                    <a:alpha val="8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FBC2E338-EAF1-F044-F43B-577FEBE2DCBF}"/>
                  </a:ext>
                </a:extLst>
              </p:cNvPr>
              <p:cNvSpPr/>
              <p:nvPr/>
            </p:nvSpPr>
            <p:spPr>
              <a:xfrm>
                <a:off x="8524511" y="6134128"/>
                <a:ext cx="117729" cy="117729"/>
              </a:xfrm>
              <a:prstGeom prst="ellipse">
                <a:avLst/>
              </a:prstGeom>
              <a:gradFill flip="none" rotWithShape="1">
                <a:gsLst>
                  <a:gs pos="0">
                    <a:srgbClr val="4791FF"/>
                  </a:gs>
                  <a:gs pos="41000">
                    <a:srgbClr val="2980FF"/>
                  </a:gs>
                  <a:gs pos="100000">
                    <a:srgbClr val="1D62EB"/>
                  </a:gs>
                </a:gsLst>
                <a:path path="circle">
                  <a:fillToRect l="50000" t="50000" r="50000" b="50000"/>
                </a:path>
                <a:tileRect/>
              </a:gradFill>
              <a:ln>
                <a:solidFill>
                  <a:srgbClr val="3371ED"/>
                </a:solidFill>
              </a:ln>
              <a:effectLst>
                <a:glow rad="127000">
                  <a:schemeClr val="accent1">
                    <a:satMod val="175000"/>
                    <a:alpha val="8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78938CD1-8DE5-37DB-A76E-802161041899}"/>
                  </a:ext>
                </a:extLst>
              </p:cNvPr>
              <p:cNvSpPr/>
              <p:nvPr/>
            </p:nvSpPr>
            <p:spPr>
              <a:xfrm>
                <a:off x="9879704" y="6405877"/>
                <a:ext cx="117729" cy="117729"/>
              </a:xfrm>
              <a:prstGeom prst="ellipse">
                <a:avLst/>
              </a:prstGeom>
              <a:gradFill flip="none" rotWithShape="1">
                <a:gsLst>
                  <a:gs pos="0">
                    <a:srgbClr val="4791FF"/>
                  </a:gs>
                  <a:gs pos="41000">
                    <a:srgbClr val="2980FF"/>
                  </a:gs>
                  <a:gs pos="100000">
                    <a:srgbClr val="1D62EB"/>
                  </a:gs>
                </a:gsLst>
                <a:path path="circle">
                  <a:fillToRect l="50000" t="50000" r="50000" b="50000"/>
                </a:path>
                <a:tileRect/>
              </a:gradFill>
              <a:ln>
                <a:solidFill>
                  <a:srgbClr val="3371ED"/>
                </a:solidFill>
              </a:ln>
              <a:effectLst>
                <a:glow rad="127000">
                  <a:schemeClr val="accent1">
                    <a:satMod val="175000"/>
                    <a:alpha val="8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0D2DB17B-401F-EE74-B85F-84FE6DA9263F}"/>
                  </a:ext>
                </a:extLst>
              </p:cNvPr>
              <p:cNvSpPr/>
              <p:nvPr/>
            </p:nvSpPr>
            <p:spPr>
              <a:xfrm>
                <a:off x="7163814" y="6408788"/>
                <a:ext cx="117729" cy="117729"/>
              </a:xfrm>
              <a:prstGeom prst="ellipse">
                <a:avLst/>
              </a:prstGeom>
              <a:gradFill flip="none" rotWithShape="1">
                <a:gsLst>
                  <a:gs pos="0">
                    <a:srgbClr val="4791FF"/>
                  </a:gs>
                  <a:gs pos="41000">
                    <a:srgbClr val="2980FF"/>
                  </a:gs>
                  <a:gs pos="100000">
                    <a:srgbClr val="1D62EB"/>
                  </a:gs>
                </a:gsLst>
                <a:path path="circle">
                  <a:fillToRect l="50000" t="50000" r="50000" b="50000"/>
                </a:path>
                <a:tileRect/>
              </a:gradFill>
              <a:ln>
                <a:solidFill>
                  <a:srgbClr val="3371ED"/>
                </a:solidFill>
              </a:ln>
              <a:effectLst>
                <a:glow rad="127000">
                  <a:schemeClr val="accent1">
                    <a:satMod val="175000"/>
                    <a:alpha val="8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EA9957E5-FB9B-0F3D-1026-17EE6C681461}"/>
                  </a:ext>
                </a:extLst>
              </p:cNvPr>
              <p:cNvSpPr/>
              <p:nvPr/>
            </p:nvSpPr>
            <p:spPr>
              <a:xfrm>
                <a:off x="11659614" y="4239249"/>
                <a:ext cx="117729" cy="117729"/>
              </a:xfrm>
              <a:prstGeom prst="ellipse">
                <a:avLst/>
              </a:prstGeom>
              <a:gradFill flip="none" rotWithShape="1">
                <a:gsLst>
                  <a:gs pos="0">
                    <a:srgbClr val="4791FF"/>
                  </a:gs>
                  <a:gs pos="41000">
                    <a:srgbClr val="2980FF"/>
                  </a:gs>
                  <a:gs pos="100000">
                    <a:srgbClr val="1D62EB"/>
                  </a:gs>
                </a:gsLst>
                <a:path path="circle">
                  <a:fillToRect l="50000" t="50000" r="50000" b="50000"/>
                </a:path>
                <a:tileRect/>
              </a:gradFill>
              <a:ln>
                <a:solidFill>
                  <a:srgbClr val="3371ED"/>
                </a:solidFill>
              </a:ln>
              <a:effectLst>
                <a:glow rad="127000">
                  <a:schemeClr val="accent1">
                    <a:satMod val="175000"/>
                    <a:alpha val="8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4108A8-4FBA-4DFF-9D31-B78B52155A3D}" type="datetime1">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B0523-8B9F-4B1E-AB95-C54E5265D823}" type="datetime1">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5621000" y="9486900"/>
            <a:ext cx="2133600" cy="365125"/>
          </a:xfr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E189CD-45E2-4F78-B424-E1CC4C53A0E0}" type="datetime1">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9FFC5A62-6BCF-3DAC-E62C-A3FA453BDCA9}"/>
              </a:ext>
            </a:extLst>
          </p:cNvPr>
          <p:cNvSpPr>
            <a:spLocks noGrp="1"/>
          </p:cNvSpPr>
          <p:nvPr>
            <p:ph type="sldNum" sz="quarter" idx="12"/>
          </p:nvPr>
        </p:nvSpPr>
        <p:spPr>
          <a:xfrm>
            <a:off x="15621000" y="9486900"/>
            <a:ext cx="2133600" cy="365125"/>
          </a:xfrm>
        </p:spPr>
        <p:txBody>
          <a:bodyPr/>
          <a:lstStyle>
            <a:lvl1pPr>
              <a:defRPr sz="1800"/>
            </a:lvl1pPr>
          </a:lstStyle>
          <a:p>
            <a:fld id="{B6F15528-21DE-4FAA-801E-634DDDAF4B2B}" type="slidenum">
              <a:rPr lang="en-US" smtClean="0"/>
              <a:pPr/>
              <a:t>‹#›</a:t>
            </a:fld>
            <a:endParaRPr lang="en-US" sz="18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935862A-4C89-4432-99E1-BE23526A8A99}" type="datetime1">
              <a:rPr lang="en-US" smtClean="0"/>
              <a:t>8/28/2026</a:t>
            </a:fld>
            <a:endParaRPr lang="en-US"/>
          </a:p>
        </p:txBody>
      </p:sp>
      <p:sp>
        <p:nvSpPr>
          <p:cNvPr id="8" name="Footer Placeholder 7"/>
          <p:cNvSpPr>
            <a:spLocks noGrp="1"/>
          </p:cNvSpPr>
          <p:nvPr>
            <p:ph type="ftr" sz="quarter" idx="11"/>
          </p:nvPr>
        </p:nvSpPr>
        <p:spPr/>
        <p:txBody>
          <a:bodyPr/>
          <a:lstStyle/>
          <a:p>
            <a:endParaRPr lang="en-US"/>
          </a:p>
        </p:txBody>
      </p:sp>
      <p:sp>
        <p:nvSpPr>
          <p:cNvPr id="10" name="Slide Number Placeholder 5">
            <a:extLst>
              <a:ext uri="{FF2B5EF4-FFF2-40B4-BE49-F238E27FC236}">
                <a16:creationId xmlns:a16="http://schemas.microsoft.com/office/drawing/2014/main" id="{50FC196D-D3EE-61E0-ECAF-761E876B5389}"/>
              </a:ext>
            </a:extLst>
          </p:cNvPr>
          <p:cNvSpPr txBox="1">
            <a:spLocks/>
          </p:cNvSpPr>
          <p:nvPr userDrawn="1"/>
        </p:nvSpPr>
        <p:spPr>
          <a:xfrm>
            <a:off x="15621000" y="94869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1800" smtClean="0"/>
              <a:pPr/>
              <a:t>‹#›</a:t>
            </a:fld>
            <a:endParaRPr lang="en-US" sz="1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453745-2AFB-4111-92C9-36B1C92EC4BC}" type="datetime1">
              <a:rPr lang="en-US" smtClean="0"/>
              <a:t>8/28/2026</a:t>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0B4E13-D935-A578-BF75-ADC0519C2EA5}"/>
              </a:ext>
            </a:extLst>
          </p:cNvPr>
          <p:cNvSpPr>
            <a:spLocks noGrp="1"/>
          </p:cNvSpPr>
          <p:nvPr>
            <p:ph type="sldNum" sz="quarter" idx="12"/>
          </p:nvPr>
        </p:nvSpPr>
        <p:spPr>
          <a:xfrm>
            <a:off x="15621000" y="9486900"/>
            <a:ext cx="2133600" cy="365125"/>
          </a:xfrm>
        </p:spPr>
        <p:txBody>
          <a:bodyPr/>
          <a:lstStyle>
            <a:lvl1pPr>
              <a:defRPr sz="1800"/>
            </a:lvl1pPr>
          </a:lstStyle>
          <a:p>
            <a:fld id="{B6F15528-21DE-4FAA-801E-634DDDAF4B2B}" type="slidenum">
              <a:rPr lang="en-US" smtClean="0"/>
              <a:pPr/>
              <a:t>‹#›</a:t>
            </a:fld>
            <a:endParaRPr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98EA48-4137-49EA-AE48-ACD02178D4E4}" type="datetime1">
              <a:rPr lang="en-US" smtClean="0"/>
              <a:t>8/28/2026</a:t>
            </a:fld>
            <a:endParaRPr lang="en-US"/>
          </a:p>
        </p:txBody>
      </p:sp>
      <p:sp>
        <p:nvSpPr>
          <p:cNvPr id="3" name="Footer Placeholder 2"/>
          <p:cNvSpPr>
            <a:spLocks noGrp="1"/>
          </p:cNvSpPr>
          <p:nvPr>
            <p:ph type="ftr" sz="quarter" idx="11"/>
          </p:nvPr>
        </p:nvSpPr>
        <p:spPr/>
        <p:txBody>
          <a:bodyPr/>
          <a:lstStyle/>
          <a:p>
            <a:endParaRPr lang="en-US"/>
          </a:p>
        </p:txBody>
      </p:sp>
      <p:sp>
        <p:nvSpPr>
          <p:cNvPr id="5" name="Slide Number Placeholder 5">
            <a:extLst>
              <a:ext uri="{FF2B5EF4-FFF2-40B4-BE49-F238E27FC236}">
                <a16:creationId xmlns:a16="http://schemas.microsoft.com/office/drawing/2014/main" id="{45050BD9-A11F-B128-4E06-ECEED3A1CBCF}"/>
              </a:ext>
            </a:extLst>
          </p:cNvPr>
          <p:cNvSpPr>
            <a:spLocks noGrp="1"/>
          </p:cNvSpPr>
          <p:nvPr>
            <p:ph type="sldNum" sz="quarter" idx="12"/>
          </p:nvPr>
        </p:nvSpPr>
        <p:spPr>
          <a:xfrm>
            <a:off x="15621000" y="9486900"/>
            <a:ext cx="2133600" cy="365125"/>
          </a:xfrm>
        </p:spPr>
        <p:txBody>
          <a:bodyPr/>
          <a:lstStyle>
            <a:lvl1pPr>
              <a:defRPr sz="1800"/>
            </a:lvl1pPr>
          </a:lstStyle>
          <a:p>
            <a:fld id="{B6F15528-21DE-4FAA-801E-634DDDAF4B2B}" type="slidenum">
              <a:rPr lang="en-US" smtClean="0"/>
              <a:pPr/>
              <a:t>‹#›</a:t>
            </a:fld>
            <a:endParaRPr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ACFDC2-0F88-4127-9E11-8A3D48D873A2}" type="datetime1">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956D2675-3D4F-D7F9-1313-901737E97179}"/>
              </a:ext>
            </a:extLst>
          </p:cNvPr>
          <p:cNvSpPr>
            <a:spLocks noGrp="1"/>
          </p:cNvSpPr>
          <p:nvPr>
            <p:ph type="sldNum" sz="quarter" idx="12"/>
          </p:nvPr>
        </p:nvSpPr>
        <p:spPr>
          <a:xfrm>
            <a:off x="15621000" y="9486900"/>
            <a:ext cx="2133600" cy="365125"/>
          </a:xfrm>
        </p:spPr>
        <p:txBody>
          <a:bodyPr/>
          <a:lstStyle>
            <a:lvl1pPr>
              <a:defRPr sz="1800"/>
            </a:lvl1pPr>
          </a:lstStyle>
          <a:p>
            <a:fld id="{B6F15528-21DE-4FAA-801E-634DDDAF4B2B}" type="slidenum">
              <a:rPr lang="en-US" smtClean="0"/>
              <a:pPr/>
              <a:t>‹#›</a:t>
            </a:fld>
            <a:endParaRPr lang="en-US" sz="18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B87D79-3FB7-4D81-AC6B-3DC5A2EAF786}" type="datetime1">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34494D94-8D2A-2889-3A5B-C87EEF9A9670}"/>
              </a:ext>
            </a:extLst>
          </p:cNvPr>
          <p:cNvSpPr>
            <a:spLocks noGrp="1"/>
          </p:cNvSpPr>
          <p:nvPr>
            <p:ph type="sldNum" sz="quarter" idx="12"/>
          </p:nvPr>
        </p:nvSpPr>
        <p:spPr>
          <a:xfrm>
            <a:off x="15621000" y="9486900"/>
            <a:ext cx="2133600" cy="365125"/>
          </a:xfrm>
        </p:spPr>
        <p:txBody>
          <a:bodyPr/>
          <a:lstStyle>
            <a:lvl1pPr>
              <a:defRPr sz="1800"/>
            </a:lvl1pPr>
          </a:lstStyle>
          <a:p>
            <a:fld id="{B6F15528-21DE-4FAA-801E-634DDDAF4B2B}" type="slidenum">
              <a:rPr lang="en-US" smtClean="0"/>
              <a:pPr/>
              <a:t>‹#›</a:t>
            </a:fld>
            <a:endParaRPr lang="en-US" sz="18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292953-76A1-4ACF-A5C8-068B997171AF}" type="datetime1">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5">
            <a:extLst>
              <a:ext uri="{FF2B5EF4-FFF2-40B4-BE49-F238E27FC236}">
                <a16:creationId xmlns:a16="http://schemas.microsoft.com/office/drawing/2014/main" id="{CD3D4292-5FE9-C7D6-8F7E-F534041F828D}"/>
              </a:ext>
            </a:extLst>
          </p:cNvPr>
          <p:cNvSpPr>
            <a:spLocks noGrp="1"/>
          </p:cNvSpPr>
          <p:nvPr>
            <p:ph type="sldNum" sz="quarter" idx="12"/>
          </p:nvPr>
        </p:nvSpPr>
        <p:spPr>
          <a:xfrm>
            <a:off x="15621000" y="9486900"/>
            <a:ext cx="2133600" cy="365125"/>
          </a:xfrm>
        </p:spPr>
        <p:txBody>
          <a:bodyPr/>
          <a:lstStyle>
            <a:lvl1pPr>
              <a:defRPr sz="1800"/>
            </a:lvl1pPr>
          </a:lstStyle>
          <a:p>
            <a:fld id="{B6F15528-21DE-4FAA-801E-634DDDAF4B2B}" type="slidenum">
              <a:rPr lang="en-US" smtClean="0"/>
              <a:pPr/>
              <a:t>‹#›</a:t>
            </a:fld>
            <a:endParaRPr lang="en-US" sz="18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49A9E8-1F6B-4A6D-8560-871FF9C253DE}" type="datetime1">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5">
            <a:extLst>
              <a:ext uri="{FF2B5EF4-FFF2-40B4-BE49-F238E27FC236}">
                <a16:creationId xmlns:a16="http://schemas.microsoft.com/office/drawing/2014/main" id="{7E3E0C15-3C4C-1029-B19C-0544295D8846}"/>
              </a:ext>
            </a:extLst>
          </p:cNvPr>
          <p:cNvSpPr>
            <a:spLocks noGrp="1"/>
          </p:cNvSpPr>
          <p:nvPr>
            <p:ph type="sldNum" sz="quarter" idx="12"/>
          </p:nvPr>
        </p:nvSpPr>
        <p:spPr>
          <a:xfrm>
            <a:off x="15621000" y="9486900"/>
            <a:ext cx="2133600" cy="365125"/>
          </a:xfrm>
        </p:spPr>
        <p:txBody>
          <a:bodyPr/>
          <a:lstStyle>
            <a:lvl1pPr>
              <a:defRPr sz="1800"/>
            </a:lvl1pPr>
          </a:lstStyle>
          <a:p>
            <a:fld id="{B6F15528-21DE-4FAA-801E-634DDDAF4B2B}" type="slidenum">
              <a:rPr lang="en-US" smtClean="0"/>
              <a:pPr/>
              <a:t>‹#›</a:t>
            </a:fld>
            <a:endParaRPr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DFFE4F-BC3C-4A54-8128-D422B9185635}" type="datetime1">
              <a:rPr lang="en-US" smtClean="0"/>
              <a:t>8/28/2026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1.sv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18.svg"/></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hemeOverride" Target="../theme/themeOverride2.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themeOverride" Target="../theme/themeOverride3.xml"/><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hemeOverride" Target="../theme/themeOverride4.xml"/><Relationship Id="rId4" Type="http://schemas.openxmlformats.org/officeDocument/2006/relationships/image" Target="../media/image42.png"/></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hemeOverride" Target="../theme/themeOverride5.xml"/><Relationship Id="rId4" Type="http://schemas.openxmlformats.org/officeDocument/2006/relationships/image" Target="../media/image44.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image" Target="../media/image51.png"/><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image" Target="../media/image45.png"/><Relationship Id="rId5" Type="http://schemas.openxmlformats.org/officeDocument/2006/relationships/image" Target="../media/image50.png"/><Relationship Id="rId4" Type="http://schemas.openxmlformats.org/officeDocument/2006/relationships/image" Target="../media/image46.svg"/></Relationships>
</file>

<file path=ppt/slides/_rels/slide5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6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42.xml"/><Relationship Id="rId7" Type="http://schemas.openxmlformats.org/officeDocument/2006/relationships/image" Target="../media/image51.png"/><Relationship Id="rId2" Type="http://schemas.openxmlformats.org/officeDocument/2006/relationships/slideLayout" Target="../slideLayouts/slideLayout7.xml"/><Relationship Id="rId1" Type="http://schemas.openxmlformats.org/officeDocument/2006/relationships/tags" Target="../tags/tag3.xml"/><Relationship Id="rId6" Type="http://schemas.openxmlformats.org/officeDocument/2006/relationships/image" Target="../media/image45.png"/><Relationship Id="rId5" Type="http://schemas.openxmlformats.org/officeDocument/2006/relationships/image" Target="../media/image50.png"/><Relationship Id="rId4" Type="http://schemas.openxmlformats.org/officeDocument/2006/relationships/image" Target="../media/image46.svg"/></Relationships>
</file>

<file path=ppt/slides/_rels/slide6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6.xml"/><Relationship Id="rId7" Type="http://schemas.openxmlformats.org/officeDocument/2006/relationships/image" Target="../media/image51.png"/><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image" Target="../media/image45.png"/><Relationship Id="rId5" Type="http://schemas.openxmlformats.org/officeDocument/2006/relationships/image" Target="../media/image50.png"/><Relationship Id="rId4" Type="http://schemas.openxmlformats.org/officeDocument/2006/relationships/image" Target="../media/image46.sv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7.xml"/><Relationship Id="rId1" Type="http://schemas.openxmlformats.org/officeDocument/2006/relationships/tags" Target="../tags/tag5.xml"/><Relationship Id="rId4" Type="http://schemas.openxmlformats.org/officeDocument/2006/relationships/image" Target="../media/image46.svg"/></Relationships>
</file>

<file path=ppt/slides/_rels/slide7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46.svg"/></Relationships>
</file>

<file path=ppt/slides/_rels/slide7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7.xml"/><Relationship Id="rId1" Type="http://schemas.openxmlformats.org/officeDocument/2006/relationships/tags" Target="../tags/tag7.xml"/><Relationship Id="rId4" Type="http://schemas.openxmlformats.org/officeDocument/2006/relationships/image" Target="../media/image46.sv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tags" Target="../tags/tag8.xml"/><Relationship Id="rId4" Type="http://schemas.openxmlformats.org/officeDocument/2006/relationships/image" Target="../media/image46.svg"/></Relationships>
</file>

<file path=ppt/slides/_rels/slide79.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slideLayout" Target="../slideLayouts/slideLayout7.xml"/><Relationship Id="rId1" Type="http://schemas.openxmlformats.org/officeDocument/2006/relationships/tags" Target="../tags/tag9.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8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 Id="rId5" Type="http://schemas.openxmlformats.org/officeDocument/2006/relationships/image" Target="../media/image64.jpg"/><Relationship Id="rId4" Type="http://schemas.openxmlformats.org/officeDocument/2006/relationships/image" Target="../media/image63.png"/></Relationships>
</file>

<file path=ppt/slides/_rels/slide8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1.png"/><Relationship Id="rId1" Type="http://schemas.openxmlformats.org/officeDocument/2006/relationships/slideLayout" Target="../slideLayouts/slideLayout7.xml"/><Relationship Id="rId5" Type="http://schemas.openxmlformats.org/officeDocument/2006/relationships/image" Target="../media/image62.png"/><Relationship Id="rId4" Type="http://schemas.openxmlformats.org/officeDocument/2006/relationships/image" Target="../media/image66.png"/></Relationships>
</file>

<file path=ppt/slides/_rels/slide8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130300" y="4057750"/>
            <a:ext cx="3086100" cy="2171499"/>
            <a:chOff x="0" y="0"/>
            <a:chExt cx="812800" cy="571917"/>
          </a:xfrm>
        </p:grpSpPr>
        <p:sp>
          <p:nvSpPr>
            <p:cNvPr id="4" name="Freeform 4"/>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en-DE" dirty="0"/>
            </a:p>
          </p:txBody>
        </p:sp>
        <p:sp>
          <p:nvSpPr>
            <p:cNvPr id="5" name="TextBox 5"/>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6467343" y="4057750"/>
            <a:ext cx="3086100" cy="2171499"/>
            <a:chOff x="0" y="0"/>
            <a:chExt cx="812800" cy="571917"/>
          </a:xfrm>
        </p:grpSpPr>
        <p:sp>
          <p:nvSpPr>
            <p:cNvPr id="7" name="Freeform 7"/>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en-DE"/>
            </a:p>
          </p:txBody>
        </p:sp>
        <p:sp>
          <p:nvSpPr>
            <p:cNvPr id="8" name="TextBox 8"/>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5129698" y="533489"/>
            <a:ext cx="2675289" cy="1342103"/>
          </a:xfrm>
          <a:custGeom>
            <a:avLst/>
            <a:gdLst/>
            <a:ahLst/>
            <a:cxnLst/>
            <a:rect l="l" t="t" r="r" b="b"/>
            <a:pathLst>
              <a:path w="4007554" h="2010456">
                <a:moveTo>
                  <a:pt x="0" y="0"/>
                </a:moveTo>
                <a:lnTo>
                  <a:pt x="4007554" y="0"/>
                </a:lnTo>
                <a:lnTo>
                  <a:pt x="4007554" y="2010456"/>
                </a:lnTo>
                <a:lnTo>
                  <a:pt x="0" y="2010456"/>
                </a:lnTo>
                <a:lnTo>
                  <a:pt x="0" y="0"/>
                </a:lnTo>
                <a:close/>
              </a:path>
            </a:pathLst>
          </a:custGeom>
          <a:blipFill>
            <a:blip r:embed="rId3"/>
            <a:stretch>
              <a:fillRect/>
            </a:stretch>
          </a:blipFill>
        </p:spPr>
        <p:txBody>
          <a:bodyPr/>
          <a:lstStyle/>
          <a:p>
            <a:endParaRPr lang="en-DE"/>
          </a:p>
        </p:txBody>
      </p:sp>
      <p:sp>
        <p:nvSpPr>
          <p:cNvPr id="10" name="TextBox 10"/>
          <p:cNvSpPr txBox="1"/>
          <p:nvPr/>
        </p:nvSpPr>
        <p:spPr>
          <a:xfrm>
            <a:off x="2712637" y="3855318"/>
            <a:ext cx="12997868" cy="3193182"/>
          </a:xfrm>
          <a:prstGeom prst="rect">
            <a:avLst/>
          </a:prstGeom>
        </p:spPr>
        <p:txBody>
          <a:bodyPr lIns="0" tIns="0" rIns="0" bIns="0" rtlCol="0" anchor="t">
            <a:spAutoFit/>
          </a:bodyPr>
          <a:lstStyle/>
          <a:p>
            <a:pPr algn="ctr">
              <a:lnSpc>
                <a:spcPts val="8400"/>
              </a:lnSpc>
            </a:pPr>
            <a:r>
              <a:rPr lang="en-US" sz="6000" b="1" dirty="0">
                <a:solidFill>
                  <a:srgbClr val="004AAD"/>
                </a:solidFill>
                <a:latin typeface="League Spartan"/>
                <a:ea typeface="League Spartan"/>
                <a:cs typeface="League Spartan"/>
                <a:sym typeface="League Spartan"/>
              </a:rPr>
              <a:t>BLUETOOTH LOW ENERGY (BLE) FUNDAMENTALS and ESP32 IMPLEMENTATION</a:t>
            </a:r>
          </a:p>
        </p:txBody>
      </p:sp>
      <p:sp>
        <p:nvSpPr>
          <p:cNvPr id="11" name="TextBox 11"/>
          <p:cNvSpPr txBox="1"/>
          <p:nvPr/>
        </p:nvSpPr>
        <p:spPr>
          <a:xfrm>
            <a:off x="6323004" y="2400300"/>
            <a:ext cx="5641992" cy="913044"/>
          </a:xfrm>
          <a:prstGeom prst="rect">
            <a:avLst/>
          </a:prstGeom>
        </p:spPr>
        <p:txBody>
          <a:bodyPr lIns="0" tIns="0" rIns="0" bIns="0" rtlCol="0" anchor="t">
            <a:spAutoFit/>
          </a:bodyPr>
          <a:lstStyle/>
          <a:p>
            <a:pPr algn="ctr">
              <a:lnSpc>
                <a:spcPts val="7424"/>
              </a:lnSpc>
            </a:pPr>
            <a:r>
              <a:rPr lang="en-US" sz="5303" b="1" dirty="0">
                <a:solidFill>
                  <a:srgbClr val="303642"/>
                </a:solidFill>
                <a:latin typeface="Roboto Bold"/>
                <a:ea typeface="Roboto Bold"/>
                <a:cs typeface="Roboto Bold"/>
                <a:sym typeface="Roboto Bold"/>
              </a:rPr>
              <a:t>PRESENTATION</a:t>
            </a:r>
          </a:p>
        </p:txBody>
      </p:sp>
      <p:grpSp>
        <p:nvGrpSpPr>
          <p:cNvPr id="18" name="Group 17">
            <a:extLst>
              <a:ext uri="{FF2B5EF4-FFF2-40B4-BE49-F238E27FC236}">
                <a16:creationId xmlns:a16="http://schemas.microsoft.com/office/drawing/2014/main" id="{EDCE8248-4998-43FC-167E-C12C409A1E51}"/>
              </a:ext>
            </a:extLst>
          </p:cNvPr>
          <p:cNvGrpSpPr/>
          <p:nvPr/>
        </p:nvGrpSpPr>
        <p:grpSpPr>
          <a:xfrm>
            <a:off x="5798782" y="8105775"/>
            <a:ext cx="6690436" cy="542925"/>
            <a:chOff x="5055686" y="6576304"/>
            <a:chExt cx="6690436" cy="542925"/>
          </a:xfrm>
        </p:grpSpPr>
        <p:sp>
          <p:nvSpPr>
            <p:cNvPr id="12" name="TextBox 12"/>
            <p:cNvSpPr txBox="1"/>
            <p:nvPr/>
          </p:nvSpPr>
          <p:spPr>
            <a:xfrm>
              <a:off x="5055686" y="6576304"/>
              <a:ext cx="3186306" cy="542925"/>
            </a:xfrm>
            <a:prstGeom prst="rect">
              <a:avLst/>
            </a:prstGeom>
          </p:spPr>
          <p:txBody>
            <a:bodyPr lIns="0" tIns="0" rIns="0" bIns="0" rtlCol="0" anchor="t">
              <a:spAutoFit/>
            </a:bodyPr>
            <a:lstStyle/>
            <a:p>
              <a:pPr algn="l">
                <a:lnSpc>
                  <a:spcPts val="4200"/>
                </a:lnSpc>
                <a:spcBef>
                  <a:spcPct val="0"/>
                </a:spcBef>
              </a:pPr>
              <a:r>
                <a:rPr lang="en-US" sz="3000" b="1" dirty="0">
                  <a:solidFill>
                    <a:srgbClr val="303642"/>
                  </a:solidFill>
                  <a:latin typeface="Poppins Bold"/>
                  <a:ea typeface="Poppins Bold"/>
                  <a:cs typeface="Poppins Bold"/>
                  <a:sym typeface="Poppins Bold"/>
                </a:rPr>
                <a:t>Prepared by: </a:t>
              </a:r>
            </a:p>
          </p:txBody>
        </p:sp>
        <p:sp>
          <p:nvSpPr>
            <p:cNvPr id="13" name="TextBox 13"/>
            <p:cNvSpPr txBox="1"/>
            <p:nvPr/>
          </p:nvSpPr>
          <p:spPr>
            <a:xfrm>
              <a:off x="8559816" y="6595354"/>
              <a:ext cx="3186306" cy="523875"/>
            </a:xfrm>
            <a:prstGeom prst="rect">
              <a:avLst/>
            </a:prstGeom>
          </p:spPr>
          <p:txBody>
            <a:bodyPr lIns="0" tIns="0" rIns="0" bIns="0" rtlCol="0" anchor="t">
              <a:spAutoFit/>
            </a:bodyPr>
            <a:lstStyle/>
            <a:p>
              <a:pPr marL="0" lvl="0" indent="0" algn="ctr">
                <a:lnSpc>
                  <a:spcPts val="4200"/>
                </a:lnSpc>
                <a:spcBef>
                  <a:spcPct val="0"/>
                </a:spcBef>
              </a:pPr>
              <a:r>
                <a:rPr lang="en-US" sz="3000" b="1" u="none" strike="noStrike" dirty="0">
                  <a:solidFill>
                    <a:srgbClr val="004AAD"/>
                  </a:solidFill>
                  <a:latin typeface="League Spartan"/>
                  <a:ea typeface="League Spartan"/>
                  <a:cs typeface="League Spartan"/>
                  <a:sym typeface="League Spartan"/>
                </a:rPr>
                <a:t>DONYES HSAIRI</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95486" y="147516"/>
            <a:ext cx="5245100" cy="1332778"/>
            <a:chOff x="0" y="0"/>
            <a:chExt cx="1381426" cy="351020"/>
          </a:xfrm>
        </p:grpSpPr>
        <p:sp>
          <p:nvSpPr>
            <p:cNvPr id="4" name="Freeform 4"/>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3544414" y="147516"/>
            <a:ext cx="5118100" cy="1332778"/>
            <a:chOff x="0" y="0"/>
            <a:chExt cx="1347977" cy="351020"/>
          </a:xfrm>
        </p:grpSpPr>
        <p:sp>
          <p:nvSpPr>
            <p:cNvPr id="7" name="Freeform 7"/>
            <p:cNvSpPr/>
            <p:nvPr/>
          </p:nvSpPr>
          <p:spPr>
            <a:xfrm>
              <a:off x="0" y="0"/>
              <a:ext cx="1347977" cy="351020"/>
            </a:xfrm>
            <a:custGeom>
              <a:avLst/>
              <a:gdLst/>
              <a:ahLst/>
              <a:cxnLst/>
              <a:rect l="l" t="t" r="r" b="b"/>
              <a:pathLst>
                <a:path w="1347977" h="351020">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txBody>
            <a:bodyPr/>
            <a:lstStyle/>
            <a:p>
              <a:endParaRPr lang="en-DE"/>
            </a:p>
          </p:txBody>
        </p:sp>
        <p:sp>
          <p:nvSpPr>
            <p:cNvPr id="8" name="TextBox 8"/>
            <p:cNvSpPr txBox="1"/>
            <p:nvPr/>
          </p:nvSpPr>
          <p:spPr>
            <a:xfrm>
              <a:off x="0" y="-47625"/>
              <a:ext cx="1347977" cy="39864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4736311" y="214914"/>
            <a:ext cx="8421405" cy="1265381"/>
          </a:xfrm>
          <a:prstGeom prst="rect">
            <a:avLst/>
          </a:prstGeom>
        </p:spPr>
        <p:txBody>
          <a:bodyPr lIns="0" tIns="0" rIns="0" bIns="0" rtlCol="0" anchor="t">
            <a:spAutoFit/>
          </a:bodyPr>
          <a:lstStyle/>
          <a:p>
            <a:pPr algn="ctr">
              <a:lnSpc>
                <a:spcPts val="10334"/>
              </a:lnSpc>
            </a:pPr>
            <a:r>
              <a:rPr lang="en-US" sz="7382" b="1" dirty="0">
                <a:solidFill>
                  <a:srgbClr val="004AAD"/>
                </a:solidFill>
                <a:latin typeface="League Spartan"/>
                <a:ea typeface="League Spartan"/>
                <a:cs typeface="League Spartan"/>
                <a:sym typeface="League Spartan"/>
              </a:rPr>
              <a:t>PLAN</a:t>
            </a:r>
          </a:p>
        </p:txBody>
      </p:sp>
      <p:grpSp>
        <p:nvGrpSpPr>
          <p:cNvPr id="75" name="Group 74">
            <a:extLst>
              <a:ext uri="{FF2B5EF4-FFF2-40B4-BE49-F238E27FC236}">
                <a16:creationId xmlns:a16="http://schemas.microsoft.com/office/drawing/2014/main" id="{11BE13C5-652D-44EC-F586-23C3B6451D6C}"/>
              </a:ext>
            </a:extLst>
          </p:cNvPr>
          <p:cNvGrpSpPr/>
          <p:nvPr/>
        </p:nvGrpSpPr>
        <p:grpSpPr>
          <a:xfrm>
            <a:off x="609600" y="2247900"/>
            <a:ext cx="10210800" cy="917575"/>
            <a:chOff x="609600" y="3997325"/>
            <a:chExt cx="10210800" cy="917575"/>
          </a:xfrm>
        </p:grpSpPr>
        <p:grpSp>
          <p:nvGrpSpPr>
            <p:cNvPr id="10" name="Group 10"/>
            <p:cNvGrpSpPr/>
            <p:nvPr/>
          </p:nvGrpSpPr>
          <p:grpSpPr>
            <a:xfrm>
              <a:off x="1800612" y="4103084"/>
              <a:ext cx="9019788" cy="811816"/>
              <a:chOff x="0" y="-85725"/>
              <a:chExt cx="12026384" cy="1082421"/>
            </a:xfrm>
          </p:grpSpPr>
          <p:sp>
            <p:nvSpPr>
              <p:cNvPr id="11" name="Freeform 11"/>
              <p:cNvSpPr/>
              <p:nvPr/>
            </p:nvSpPr>
            <p:spPr>
              <a:xfrm>
                <a:off x="0" y="0"/>
                <a:ext cx="12026384" cy="996696"/>
              </a:xfrm>
              <a:custGeom>
                <a:avLst/>
                <a:gdLst/>
                <a:ahLst/>
                <a:cxnLst/>
                <a:rect l="l" t="t" r="r" b="b"/>
                <a:pathLst>
                  <a:path w="9776915" h="996696">
                    <a:moveTo>
                      <a:pt x="0" y="0"/>
                    </a:moveTo>
                    <a:lnTo>
                      <a:pt x="9776915" y="0"/>
                    </a:lnTo>
                    <a:lnTo>
                      <a:pt x="9776915" y="996696"/>
                    </a:lnTo>
                    <a:lnTo>
                      <a:pt x="0" y="996696"/>
                    </a:lnTo>
                    <a:close/>
                  </a:path>
                </a:pathLst>
              </a:custGeom>
              <a:ln cap="sq">
                <a:noFill/>
                <a:prstDash val="solid"/>
                <a:miter/>
              </a:ln>
            </p:spPr>
            <p:txBody>
              <a:bodyPr/>
              <a:lstStyle/>
              <a:p>
                <a:endParaRPr lang="en-DE"/>
              </a:p>
            </p:txBody>
          </p:sp>
          <p:sp>
            <p:nvSpPr>
              <p:cNvPr id="12" name="TextBox 12"/>
              <p:cNvSpPr txBox="1"/>
              <p:nvPr/>
            </p:nvSpPr>
            <p:spPr>
              <a:xfrm>
                <a:off x="0" y="-85725"/>
                <a:ext cx="11518384" cy="1082421"/>
              </a:xfrm>
              <a:prstGeom prst="rect">
                <a:avLst/>
              </a:prstGeom>
            </p:spPr>
            <p:txBody>
              <a:bodyPr lIns="0" tIns="0" rIns="0" bIns="0" rtlCol="0" anchor="t"/>
              <a:lstStyle/>
              <a:p>
                <a:pPr algn="l">
                  <a:lnSpc>
                    <a:spcPts val="4200"/>
                  </a:lnSpc>
                  <a:spcBef>
                    <a:spcPct val="0"/>
                  </a:spcBef>
                </a:pPr>
                <a:r>
                  <a:rPr lang="en-US" sz="3000" b="1" dirty="0">
                    <a:solidFill>
                      <a:srgbClr val="303642"/>
                    </a:solidFill>
                    <a:latin typeface="Poppins Bold"/>
                    <a:ea typeface="Poppins Bold"/>
                    <a:cs typeface="Poppins Bold"/>
                    <a:sym typeface="Poppins Bold"/>
                  </a:rPr>
                  <a:t>Introduction to </a:t>
                </a:r>
                <a:r>
                  <a:rPr lang="en-US" sz="3000" b="1" u="none" strike="noStrike" dirty="0">
                    <a:solidFill>
                      <a:srgbClr val="303642"/>
                    </a:solidFill>
                    <a:latin typeface="Poppins Bold"/>
                    <a:ea typeface="Poppins Bold"/>
                    <a:cs typeface="Poppins Bold"/>
                    <a:sym typeface="Poppins Bold"/>
                  </a:rPr>
                  <a:t>Bluetooth Low Energy (BLE).</a:t>
                </a:r>
              </a:p>
            </p:txBody>
          </p:sp>
        </p:grpSp>
        <p:grpSp>
          <p:nvGrpSpPr>
            <p:cNvPr id="34" name="Group 34"/>
            <p:cNvGrpSpPr/>
            <p:nvPr/>
          </p:nvGrpSpPr>
          <p:grpSpPr>
            <a:xfrm>
              <a:off x="609600" y="3997325"/>
              <a:ext cx="808950" cy="765175"/>
              <a:chOff x="0" y="0"/>
              <a:chExt cx="1078600" cy="1020233"/>
            </a:xfrm>
          </p:grpSpPr>
          <p:grpSp>
            <p:nvGrpSpPr>
              <p:cNvPr id="35" name="Group 35"/>
              <p:cNvGrpSpPr/>
              <p:nvPr/>
            </p:nvGrpSpPr>
            <p:grpSpPr>
              <a:xfrm>
                <a:off x="0" y="0"/>
                <a:ext cx="1078600" cy="1020233"/>
                <a:chOff x="0" y="0"/>
                <a:chExt cx="859299" cy="812800"/>
              </a:xfrm>
            </p:grpSpPr>
            <p:sp>
              <p:nvSpPr>
                <p:cNvPr id="36" name="Freeform 36"/>
                <p:cNvSpPr/>
                <p:nvPr/>
              </p:nvSpPr>
              <p:spPr>
                <a:xfrm>
                  <a:off x="0" y="0"/>
                  <a:ext cx="859299" cy="812800"/>
                </a:xfrm>
                <a:custGeom>
                  <a:avLst/>
                  <a:gdLst/>
                  <a:ahLst/>
                  <a:cxnLst/>
                  <a:rect l="l" t="t" r="r" b="b"/>
                  <a:pathLst>
                    <a:path w="859299" h="812800">
                      <a:moveTo>
                        <a:pt x="429650" y="0"/>
                      </a:moveTo>
                      <a:cubicBezTo>
                        <a:pt x="192361" y="0"/>
                        <a:pt x="0" y="181951"/>
                        <a:pt x="0" y="406400"/>
                      </a:cubicBezTo>
                      <a:cubicBezTo>
                        <a:pt x="0" y="630849"/>
                        <a:pt x="192361" y="812800"/>
                        <a:pt x="429650" y="812800"/>
                      </a:cubicBezTo>
                      <a:cubicBezTo>
                        <a:pt x="666939" y="812800"/>
                        <a:pt x="859299" y="630849"/>
                        <a:pt x="859299" y="406400"/>
                      </a:cubicBezTo>
                      <a:cubicBezTo>
                        <a:pt x="859299" y="181951"/>
                        <a:pt x="666939" y="0"/>
                        <a:pt x="429650" y="0"/>
                      </a:cubicBezTo>
                      <a:close/>
                    </a:path>
                  </a:pathLst>
                </a:custGeom>
                <a:solidFill>
                  <a:srgbClr val="004AAD"/>
                </a:solidFill>
              </p:spPr>
              <p:txBody>
                <a:bodyPr/>
                <a:lstStyle/>
                <a:p>
                  <a:endParaRPr lang="en-DE"/>
                </a:p>
              </p:txBody>
            </p:sp>
            <p:sp>
              <p:nvSpPr>
                <p:cNvPr id="37" name="TextBox 37"/>
                <p:cNvSpPr txBox="1"/>
                <p:nvPr/>
              </p:nvSpPr>
              <p:spPr>
                <a:xfrm>
                  <a:off x="80559" y="28575"/>
                  <a:ext cx="698181" cy="708025"/>
                </a:xfrm>
                <a:prstGeom prst="rect">
                  <a:avLst/>
                </a:prstGeom>
              </p:spPr>
              <p:txBody>
                <a:bodyPr lIns="50800" tIns="50800" rIns="50800" bIns="50800" rtlCol="0" anchor="ctr"/>
                <a:lstStyle/>
                <a:p>
                  <a:pPr algn="ctr">
                    <a:lnSpc>
                      <a:spcPts val="2659"/>
                    </a:lnSpc>
                  </a:pPr>
                  <a:endParaRPr/>
                </a:p>
              </p:txBody>
            </p:sp>
          </p:grpSp>
          <p:sp>
            <p:nvSpPr>
              <p:cNvPr id="38" name="TextBox 38"/>
              <p:cNvSpPr txBox="1"/>
              <p:nvPr/>
            </p:nvSpPr>
            <p:spPr>
              <a:xfrm>
                <a:off x="63260" y="152606"/>
                <a:ext cx="946144" cy="717077"/>
              </a:xfrm>
              <a:prstGeom prst="rect">
                <a:avLst/>
              </a:prstGeom>
            </p:spPr>
            <p:txBody>
              <a:bodyPr lIns="0" tIns="0" rIns="0" bIns="0" rtlCol="0" anchor="t">
                <a:spAutoFit/>
              </a:bodyPr>
              <a:lstStyle/>
              <a:p>
                <a:pPr algn="ctr">
                  <a:lnSpc>
                    <a:spcPts val="4506"/>
                  </a:lnSpc>
                </a:pPr>
                <a:r>
                  <a:rPr lang="en-US" sz="3218" dirty="0">
                    <a:solidFill>
                      <a:srgbClr val="FFFFFF"/>
                    </a:solidFill>
                    <a:latin typeface="League Spartan"/>
                    <a:ea typeface="League Spartan"/>
                    <a:cs typeface="League Spartan"/>
                    <a:sym typeface="League Spartan"/>
                  </a:rPr>
                  <a:t>1</a:t>
                </a:r>
              </a:p>
            </p:txBody>
          </p:sp>
        </p:grpSp>
      </p:grpSp>
      <p:grpSp>
        <p:nvGrpSpPr>
          <p:cNvPr id="76" name="Group 75">
            <a:extLst>
              <a:ext uri="{FF2B5EF4-FFF2-40B4-BE49-F238E27FC236}">
                <a16:creationId xmlns:a16="http://schemas.microsoft.com/office/drawing/2014/main" id="{E9AEEF60-A990-0727-3A40-1BD9532CBC04}"/>
              </a:ext>
            </a:extLst>
          </p:cNvPr>
          <p:cNvGrpSpPr/>
          <p:nvPr/>
        </p:nvGrpSpPr>
        <p:grpSpPr>
          <a:xfrm>
            <a:off x="647700" y="4991100"/>
            <a:ext cx="6463879" cy="889587"/>
            <a:chOff x="609600" y="5295900"/>
            <a:chExt cx="6463879" cy="889587"/>
          </a:xfrm>
        </p:grpSpPr>
        <p:grpSp>
          <p:nvGrpSpPr>
            <p:cNvPr id="13" name="Group 13"/>
            <p:cNvGrpSpPr/>
            <p:nvPr/>
          </p:nvGrpSpPr>
          <p:grpSpPr>
            <a:xfrm>
              <a:off x="1800612" y="5389044"/>
              <a:ext cx="5272867" cy="796443"/>
              <a:chOff x="0" y="-117552"/>
              <a:chExt cx="7030490" cy="1061924"/>
            </a:xfrm>
          </p:grpSpPr>
          <p:sp>
            <p:nvSpPr>
              <p:cNvPr id="14" name="Freeform 14"/>
              <p:cNvSpPr/>
              <p:nvPr/>
            </p:nvSpPr>
            <p:spPr>
              <a:xfrm>
                <a:off x="0" y="0"/>
                <a:ext cx="7030489" cy="944372"/>
              </a:xfrm>
              <a:custGeom>
                <a:avLst/>
                <a:gdLst/>
                <a:ahLst/>
                <a:cxnLst/>
                <a:rect l="l" t="t" r="r" b="b"/>
                <a:pathLst>
                  <a:path w="7030489" h="944372">
                    <a:moveTo>
                      <a:pt x="0" y="0"/>
                    </a:moveTo>
                    <a:lnTo>
                      <a:pt x="7030489" y="0"/>
                    </a:lnTo>
                    <a:lnTo>
                      <a:pt x="7030489" y="944372"/>
                    </a:lnTo>
                    <a:lnTo>
                      <a:pt x="0" y="944372"/>
                    </a:lnTo>
                    <a:close/>
                  </a:path>
                </a:pathLst>
              </a:custGeom>
              <a:ln cap="sq">
                <a:noFill/>
                <a:prstDash val="solid"/>
                <a:miter/>
              </a:ln>
            </p:spPr>
            <p:txBody>
              <a:bodyPr/>
              <a:lstStyle/>
              <a:p>
                <a:endParaRPr lang="en-DE"/>
              </a:p>
            </p:txBody>
          </p:sp>
          <p:sp>
            <p:nvSpPr>
              <p:cNvPr id="15" name="TextBox 15"/>
              <p:cNvSpPr txBox="1"/>
              <p:nvPr/>
            </p:nvSpPr>
            <p:spPr>
              <a:xfrm>
                <a:off x="0" y="-117552"/>
                <a:ext cx="7030490" cy="1011046"/>
              </a:xfrm>
              <a:prstGeom prst="rect">
                <a:avLst/>
              </a:prstGeom>
            </p:spPr>
            <p:txBody>
              <a:bodyPr lIns="0" tIns="0" rIns="0" bIns="0" rtlCol="0" anchor="t"/>
              <a:lstStyle/>
              <a:p>
                <a:pPr algn="l">
                  <a:lnSpc>
                    <a:spcPts val="4479"/>
                  </a:lnSpc>
                  <a:spcBef>
                    <a:spcPct val="0"/>
                  </a:spcBef>
                </a:pPr>
                <a:r>
                  <a:rPr lang="en-US" sz="3199" b="1" spc="79" dirty="0">
                    <a:solidFill>
                      <a:srgbClr val="0B132B"/>
                    </a:solidFill>
                    <a:latin typeface="Bricolage Grotesque Bold"/>
                    <a:ea typeface="Bricolage Grotesque Bold"/>
                    <a:cs typeface="Bricolage Grotesque Bold"/>
                    <a:sym typeface="Bricolage Grotesque Bold"/>
                  </a:rPr>
                  <a:t>BLE Operations.</a:t>
                </a:r>
                <a:endParaRPr lang="en-US" sz="3199" b="1" u="none" strike="noStrike" spc="79" dirty="0">
                  <a:solidFill>
                    <a:srgbClr val="0B132B"/>
                  </a:solidFill>
                  <a:latin typeface="Bricolage Grotesque Bold"/>
                  <a:ea typeface="Bricolage Grotesque Bold"/>
                  <a:cs typeface="Bricolage Grotesque Bold"/>
                  <a:sym typeface="Bricolage Grotesque Bold"/>
                </a:endParaRPr>
              </a:p>
            </p:txBody>
          </p:sp>
        </p:grpSp>
        <p:grpSp>
          <p:nvGrpSpPr>
            <p:cNvPr id="39" name="Group 39"/>
            <p:cNvGrpSpPr/>
            <p:nvPr/>
          </p:nvGrpSpPr>
          <p:grpSpPr>
            <a:xfrm>
              <a:off x="609600" y="5295900"/>
              <a:ext cx="808950" cy="765175"/>
              <a:chOff x="0" y="0"/>
              <a:chExt cx="1078600" cy="1020233"/>
            </a:xfrm>
          </p:grpSpPr>
          <p:grpSp>
            <p:nvGrpSpPr>
              <p:cNvPr id="40" name="Group 40"/>
              <p:cNvGrpSpPr/>
              <p:nvPr/>
            </p:nvGrpSpPr>
            <p:grpSpPr>
              <a:xfrm>
                <a:off x="0" y="0"/>
                <a:ext cx="1078600" cy="1020233"/>
                <a:chOff x="0" y="0"/>
                <a:chExt cx="859299" cy="812800"/>
              </a:xfrm>
            </p:grpSpPr>
            <p:sp>
              <p:nvSpPr>
                <p:cNvPr id="41" name="Freeform 41"/>
                <p:cNvSpPr/>
                <p:nvPr/>
              </p:nvSpPr>
              <p:spPr>
                <a:xfrm>
                  <a:off x="0" y="0"/>
                  <a:ext cx="859299" cy="812800"/>
                </a:xfrm>
                <a:custGeom>
                  <a:avLst/>
                  <a:gdLst/>
                  <a:ahLst/>
                  <a:cxnLst/>
                  <a:rect l="l" t="t" r="r" b="b"/>
                  <a:pathLst>
                    <a:path w="859299" h="812800">
                      <a:moveTo>
                        <a:pt x="429650" y="0"/>
                      </a:moveTo>
                      <a:cubicBezTo>
                        <a:pt x="192361" y="0"/>
                        <a:pt x="0" y="181951"/>
                        <a:pt x="0" y="406400"/>
                      </a:cubicBezTo>
                      <a:cubicBezTo>
                        <a:pt x="0" y="630849"/>
                        <a:pt x="192361" y="812800"/>
                        <a:pt x="429650" y="812800"/>
                      </a:cubicBezTo>
                      <a:cubicBezTo>
                        <a:pt x="666939" y="812800"/>
                        <a:pt x="859299" y="630849"/>
                        <a:pt x="859299" y="406400"/>
                      </a:cubicBezTo>
                      <a:cubicBezTo>
                        <a:pt x="859299" y="181951"/>
                        <a:pt x="666939" y="0"/>
                        <a:pt x="429650" y="0"/>
                      </a:cubicBezTo>
                      <a:close/>
                    </a:path>
                  </a:pathLst>
                </a:custGeom>
                <a:solidFill>
                  <a:srgbClr val="004AAD"/>
                </a:solidFill>
              </p:spPr>
              <p:txBody>
                <a:bodyPr/>
                <a:lstStyle/>
                <a:p>
                  <a:endParaRPr lang="en-DE"/>
                </a:p>
              </p:txBody>
            </p:sp>
            <p:sp>
              <p:nvSpPr>
                <p:cNvPr id="42" name="TextBox 42"/>
                <p:cNvSpPr txBox="1"/>
                <p:nvPr/>
              </p:nvSpPr>
              <p:spPr>
                <a:xfrm>
                  <a:off x="80559" y="28575"/>
                  <a:ext cx="698181" cy="708025"/>
                </a:xfrm>
                <a:prstGeom prst="rect">
                  <a:avLst/>
                </a:prstGeom>
              </p:spPr>
              <p:txBody>
                <a:bodyPr lIns="50800" tIns="50800" rIns="50800" bIns="50800" rtlCol="0" anchor="ctr"/>
                <a:lstStyle/>
                <a:p>
                  <a:pPr algn="ctr">
                    <a:lnSpc>
                      <a:spcPts val="2659"/>
                    </a:lnSpc>
                  </a:pPr>
                  <a:endParaRPr/>
                </a:p>
              </p:txBody>
            </p:sp>
          </p:grpSp>
          <p:sp>
            <p:nvSpPr>
              <p:cNvPr id="43" name="TextBox 43"/>
              <p:cNvSpPr txBox="1"/>
              <p:nvPr/>
            </p:nvSpPr>
            <p:spPr>
              <a:xfrm>
                <a:off x="63260" y="152607"/>
                <a:ext cx="946144" cy="742169"/>
              </a:xfrm>
              <a:prstGeom prst="rect">
                <a:avLst/>
              </a:prstGeom>
            </p:spPr>
            <p:txBody>
              <a:bodyPr lIns="0" tIns="0" rIns="0" bIns="0" rtlCol="0" anchor="t">
                <a:spAutoFit/>
              </a:bodyPr>
              <a:lstStyle/>
              <a:p>
                <a:pPr algn="ctr">
                  <a:lnSpc>
                    <a:spcPts val="4506"/>
                  </a:lnSpc>
                </a:pPr>
                <a:r>
                  <a:rPr lang="en-US" sz="3218" b="1" dirty="0">
                    <a:solidFill>
                      <a:srgbClr val="FFFFFF"/>
                    </a:solidFill>
                    <a:latin typeface="League Spartan"/>
                    <a:ea typeface="League Spartan"/>
                    <a:cs typeface="League Spartan"/>
                    <a:sym typeface="League Spartan"/>
                  </a:rPr>
                  <a:t>3</a:t>
                </a:r>
              </a:p>
            </p:txBody>
          </p:sp>
        </p:grpSp>
      </p:grpSp>
      <p:grpSp>
        <p:nvGrpSpPr>
          <p:cNvPr id="77" name="Group 76">
            <a:extLst>
              <a:ext uri="{FF2B5EF4-FFF2-40B4-BE49-F238E27FC236}">
                <a16:creationId xmlns:a16="http://schemas.microsoft.com/office/drawing/2014/main" id="{7655B6C3-5A6A-7580-1C8C-69DD749BA69E}"/>
              </a:ext>
            </a:extLst>
          </p:cNvPr>
          <p:cNvGrpSpPr/>
          <p:nvPr/>
        </p:nvGrpSpPr>
        <p:grpSpPr>
          <a:xfrm>
            <a:off x="7696200" y="3619500"/>
            <a:ext cx="10001854" cy="838469"/>
            <a:chOff x="9566897" y="4000500"/>
            <a:chExt cx="9977556" cy="838469"/>
          </a:xfrm>
        </p:grpSpPr>
        <p:grpSp>
          <p:nvGrpSpPr>
            <p:cNvPr id="28" name="Group 28"/>
            <p:cNvGrpSpPr/>
            <p:nvPr/>
          </p:nvGrpSpPr>
          <p:grpSpPr>
            <a:xfrm>
              <a:off x="10743026" y="4073064"/>
              <a:ext cx="8801427" cy="765905"/>
              <a:chOff x="-88558" y="0"/>
              <a:chExt cx="11735234" cy="1021208"/>
            </a:xfrm>
          </p:grpSpPr>
          <p:sp>
            <p:nvSpPr>
              <p:cNvPr id="29" name="Freeform 29"/>
              <p:cNvSpPr/>
              <p:nvPr/>
            </p:nvSpPr>
            <p:spPr>
              <a:xfrm>
                <a:off x="0" y="0"/>
                <a:ext cx="9544531" cy="944372"/>
              </a:xfrm>
              <a:custGeom>
                <a:avLst/>
                <a:gdLst/>
                <a:ahLst/>
                <a:cxnLst/>
                <a:rect l="l" t="t" r="r" b="b"/>
                <a:pathLst>
                  <a:path w="9544531" h="944372">
                    <a:moveTo>
                      <a:pt x="0" y="0"/>
                    </a:moveTo>
                    <a:lnTo>
                      <a:pt x="9544531" y="0"/>
                    </a:lnTo>
                    <a:lnTo>
                      <a:pt x="9544531" y="944372"/>
                    </a:lnTo>
                    <a:lnTo>
                      <a:pt x="0" y="944372"/>
                    </a:lnTo>
                    <a:close/>
                  </a:path>
                </a:pathLst>
              </a:custGeom>
              <a:ln cap="sq">
                <a:noFill/>
                <a:prstDash val="solid"/>
                <a:miter/>
              </a:ln>
            </p:spPr>
            <p:txBody>
              <a:bodyPr/>
              <a:lstStyle/>
              <a:p>
                <a:endParaRPr lang="en-DE"/>
              </a:p>
            </p:txBody>
          </p:sp>
          <p:sp>
            <p:nvSpPr>
              <p:cNvPr id="30" name="TextBox 30"/>
              <p:cNvSpPr txBox="1"/>
              <p:nvPr/>
            </p:nvSpPr>
            <p:spPr>
              <a:xfrm>
                <a:off x="-88558" y="10160"/>
                <a:ext cx="11735234" cy="1011048"/>
              </a:xfrm>
              <a:prstGeom prst="rect">
                <a:avLst/>
              </a:prstGeom>
            </p:spPr>
            <p:txBody>
              <a:bodyPr lIns="0" tIns="0" rIns="0" bIns="0" rtlCol="0" anchor="t"/>
              <a:lstStyle/>
              <a:p>
                <a:pPr marL="0" lvl="0" indent="0" algn="l">
                  <a:lnSpc>
                    <a:spcPts val="4479"/>
                  </a:lnSpc>
                  <a:spcBef>
                    <a:spcPct val="0"/>
                  </a:spcBef>
                </a:pPr>
                <a:r>
                  <a:rPr lang="en-US" sz="3199" b="1" spc="79" dirty="0">
                    <a:solidFill>
                      <a:srgbClr val="0B132B"/>
                    </a:solidFill>
                    <a:latin typeface="Bricolage Grotesque Bold"/>
                    <a:ea typeface="Bricolage Grotesque Bold"/>
                    <a:cs typeface="Bricolage Grotesque Bold"/>
                    <a:sym typeface="Bricolage Grotesque Bold"/>
                  </a:rPr>
                  <a:t>BLE Architecture and operating principals.</a:t>
                </a:r>
                <a:endParaRPr lang="en-US" sz="3199" b="1" u="none" strike="noStrike" spc="79" dirty="0">
                  <a:solidFill>
                    <a:srgbClr val="0B132B"/>
                  </a:solidFill>
                  <a:latin typeface="Bricolage Grotesque Bold"/>
                  <a:ea typeface="Bricolage Grotesque Bold"/>
                  <a:cs typeface="Bricolage Grotesque Bold"/>
                  <a:sym typeface="Bricolage Grotesque Bold"/>
                </a:endParaRPr>
              </a:p>
            </p:txBody>
          </p:sp>
        </p:grpSp>
        <p:grpSp>
          <p:nvGrpSpPr>
            <p:cNvPr id="54" name="Group 54"/>
            <p:cNvGrpSpPr/>
            <p:nvPr/>
          </p:nvGrpSpPr>
          <p:grpSpPr>
            <a:xfrm>
              <a:off x="9566897" y="4000500"/>
              <a:ext cx="808950" cy="765175"/>
              <a:chOff x="0" y="-1"/>
              <a:chExt cx="1078600" cy="1020233"/>
            </a:xfrm>
          </p:grpSpPr>
          <p:grpSp>
            <p:nvGrpSpPr>
              <p:cNvPr id="55" name="Group 55"/>
              <p:cNvGrpSpPr/>
              <p:nvPr/>
            </p:nvGrpSpPr>
            <p:grpSpPr>
              <a:xfrm>
                <a:off x="0" y="-1"/>
                <a:ext cx="1078600" cy="1020233"/>
                <a:chOff x="0" y="-1"/>
                <a:chExt cx="859299" cy="812800"/>
              </a:xfrm>
            </p:grpSpPr>
            <p:sp>
              <p:nvSpPr>
                <p:cNvPr id="56" name="Freeform 56"/>
                <p:cNvSpPr/>
                <p:nvPr/>
              </p:nvSpPr>
              <p:spPr>
                <a:xfrm>
                  <a:off x="0" y="-1"/>
                  <a:ext cx="859299" cy="812800"/>
                </a:xfrm>
                <a:custGeom>
                  <a:avLst/>
                  <a:gdLst/>
                  <a:ahLst/>
                  <a:cxnLst/>
                  <a:rect l="l" t="t" r="r" b="b"/>
                  <a:pathLst>
                    <a:path w="859299" h="812800">
                      <a:moveTo>
                        <a:pt x="429650" y="0"/>
                      </a:moveTo>
                      <a:cubicBezTo>
                        <a:pt x="192361" y="0"/>
                        <a:pt x="0" y="181951"/>
                        <a:pt x="0" y="406400"/>
                      </a:cubicBezTo>
                      <a:cubicBezTo>
                        <a:pt x="0" y="630849"/>
                        <a:pt x="192361" y="812800"/>
                        <a:pt x="429650" y="812800"/>
                      </a:cubicBezTo>
                      <a:cubicBezTo>
                        <a:pt x="666939" y="812800"/>
                        <a:pt x="859299" y="630849"/>
                        <a:pt x="859299" y="406400"/>
                      </a:cubicBezTo>
                      <a:cubicBezTo>
                        <a:pt x="859299" y="181951"/>
                        <a:pt x="666939" y="0"/>
                        <a:pt x="429650" y="0"/>
                      </a:cubicBezTo>
                      <a:close/>
                    </a:path>
                  </a:pathLst>
                </a:custGeom>
                <a:solidFill>
                  <a:srgbClr val="004AAD"/>
                </a:solidFill>
              </p:spPr>
              <p:txBody>
                <a:bodyPr/>
                <a:lstStyle/>
                <a:p>
                  <a:endParaRPr lang="en-DE"/>
                </a:p>
              </p:txBody>
            </p:sp>
            <p:sp>
              <p:nvSpPr>
                <p:cNvPr id="57" name="TextBox 57"/>
                <p:cNvSpPr txBox="1"/>
                <p:nvPr/>
              </p:nvSpPr>
              <p:spPr>
                <a:xfrm>
                  <a:off x="80559" y="28575"/>
                  <a:ext cx="698181" cy="708025"/>
                </a:xfrm>
                <a:prstGeom prst="rect">
                  <a:avLst/>
                </a:prstGeom>
              </p:spPr>
              <p:txBody>
                <a:bodyPr lIns="50800" tIns="50800" rIns="50800" bIns="50800" rtlCol="0" anchor="ctr"/>
                <a:lstStyle/>
                <a:p>
                  <a:pPr algn="ctr">
                    <a:lnSpc>
                      <a:spcPts val="2659"/>
                    </a:lnSpc>
                  </a:pPr>
                  <a:endParaRPr/>
                </a:p>
              </p:txBody>
            </p:sp>
          </p:grpSp>
          <p:sp>
            <p:nvSpPr>
              <p:cNvPr id="58" name="TextBox 58"/>
              <p:cNvSpPr txBox="1"/>
              <p:nvPr/>
            </p:nvSpPr>
            <p:spPr>
              <a:xfrm>
                <a:off x="63261" y="152607"/>
                <a:ext cx="946144" cy="742169"/>
              </a:xfrm>
              <a:prstGeom prst="rect">
                <a:avLst/>
              </a:prstGeom>
            </p:spPr>
            <p:txBody>
              <a:bodyPr lIns="0" tIns="0" rIns="0" bIns="0" rtlCol="0" anchor="t">
                <a:spAutoFit/>
              </a:bodyPr>
              <a:lstStyle/>
              <a:p>
                <a:pPr algn="ctr">
                  <a:lnSpc>
                    <a:spcPts val="4506"/>
                  </a:lnSpc>
                </a:pPr>
                <a:r>
                  <a:rPr lang="en-US" sz="3218" b="1" dirty="0">
                    <a:solidFill>
                      <a:srgbClr val="FFFFFF"/>
                    </a:solidFill>
                    <a:latin typeface="League Spartan"/>
                    <a:ea typeface="League Spartan"/>
                    <a:cs typeface="League Spartan"/>
                    <a:sym typeface="League Spartan"/>
                  </a:rPr>
                  <a:t>2</a:t>
                </a:r>
              </a:p>
            </p:txBody>
          </p:sp>
        </p:grpSp>
      </p:grpSp>
      <p:grpSp>
        <p:nvGrpSpPr>
          <p:cNvPr id="78" name="Group 77">
            <a:extLst>
              <a:ext uri="{FF2B5EF4-FFF2-40B4-BE49-F238E27FC236}">
                <a16:creationId xmlns:a16="http://schemas.microsoft.com/office/drawing/2014/main" id="{2C24AF4C-3092-0244-1272-E75053A4C906}"/>
              </a:ext>
            </a:extLst>
          </p:cNvPr>
          <p:cNvGrpSpPr/>
          <p:nvPr/>
        </p:nvGrpSpPr>
        <p:grpSpPr>
          <a:xfrm>
            <a:off x="7696200" y="6265060"/>
            <a:ext cx="8899060" cy="824598"/>
            <a:chOff x="9630450" y="5368925"/>
            <a:chExt cx="8899060" cy="824598"/>
          </a:xfrm>
        </p:grpSpPr>
        <p:grpSp>
          <p:nvGrpSpPr>
            <p:cNvPr id="22" name="Group 22"/>
            <p:cNvGrpSpPr/>
            <p:nvPr/>
          </p:nvGrpSpPr>
          <p:grpSpPr>
            <a:xfrm>
              <a:off x="10809443" y="5435238"/>
              <a:ext cx="7720067" cy="758285"/>
              <a:chOff x="-1" y="-66675"/>
              <a:chExt cx="10293423" cy="1011047"/>
            </a:xfrm>
          </p:grpSpPr>
          <p:sp>
            <p:nvSpPr>
              <p:cNvPr id="23" name="Freeform 23"/>
              <p:cNvSpPr/>
              <p:nvPr/>
            </p:nvSpPr>
            <p:spPr>
              <a:xfrm>
                <a:off x="0" y="0"/>
                <a:ext cx="7951856" cy="944372"/>
              </a:xfrm>
              <a:custGeom>
                <a:avLst/>
                <a:gdLst/>
                <a:ahLst/>
                <a:cxnLst/>
                <a:rect l="l" t="t" r="r" b="b"/>
                <a:pathLst>
                  <a:path w="7951856" h="944372">
                    <a:moveTo>
                      <a:pt x="0" y="0"/>
                    </a:moveTo>
                    <a:lnTo>
                      <a:pt x="7951856" y="0"/>
                    </a:lnTo>
                    <a:lnTo>
                      <a:pt x="7951856" y="944372"/>
                    </a:lnTo>
                    <a:lnTo>
                      <a:pt x="0" y="944372"/>
                    </a:lnTo>
                    <a:close/>
                  </a:path>
                </a:pathLst>
              </a:custGeom>
              <a:ln cap="sq">
                <a:noFill/>
                <a:prstDash val="solid"/>
                <a:miter/>
              </a:ln>
            </p:spPr>
            <p:txBody>
              <a:bodyPr/>
              <a:lstStyle/>
              <a:p>
                <a:endParaRPr lang="en-DE"/>
              </a:p>
            </p:txBody>
          </p:sp>
          <p:sp>
            <p:nvSpPr>
              <p:cNvPr id="24" name="TextBox 24"/>
              <p:cNvSpPr txBox="1"/>
              <p:nvPr/>
            </p:nvSpPr>
            <p:spPr>
              <a:xfrm>
                <a:off x="-1" y="-66675"/>
                <a:ext cx="10293423" cy="1011047"/>
              </a:xfrm>
              <a:prstGeom prst="rect">
                <a:avLst/>
              </a:prstGeom>
            </p:spPr>
            <p:txBody>
              <a:bodyPr lIns="0" tIns="0" rIns="0" bIns="0" rtlCol="0" anchor="t"/>
              <a:lstStyle/>
              <a:p>
                <a:pPr marL="0" lvl="0" indent="0" algn="l">
                  <a:lnSpc>
                    <a:spcPts val="4479"/>
                  </a:lnSpc>
                  <a:spcBef>
                    <a:spcPct val="0"/>
                  </a:spcBef>
                </a:pPr>
                <a:r>
                  <a:rPr lang="en-US" sz="3199" b="1" u="none" strike="noStrike" spc="79" dirty="0">
                    <a:solidFill>
                      <a:srgbClr val="0B132B"/>
                    </a:solidFill>
                    <a:latin typeface="Bricolage Grotesque Bold"/>
                    <a:ea typeface="Bricolage Grotesque Bold"/>
                    <a:cs typeface="Bricolage Grotesque Bold"/>
                    <a:sym typeface="Bricolage Grotesque Bold"/>
                  </a:rPr>
                  <a:t>Data Access and Security.</a:t>
                </a:r>
              </a:p>
            </p:txBody>
          </p:sp>
        </p:grpSp>
        <p:grpSp>
          <p:nvGrpSpPr>
            <p:cNvPr id="59" name="Group 59"/>
            <p:cNvGrpSpPr/>
            <p:nvPr/>
          </p:nvGrpSpPr>
          <p:grpSpPr>
            <a:xfrm>
              <a:off x="9630450" y="5368925"/>
              <a:ext cx="808950" cy="765175"/>
              <a:chOff x="0" y="0"/>
              <a:chExt cx="1078600" cy="1020233"/>
            </a:xfrm>
          </p:grpSpPr>
          <p:grpSp>
            <p:nvGrpSpPr>
              <p:cNvPr id="60" name="Group 60"/>
              <p:cNvGrpSpPr/>
              <p:nvPr/>
            </p:nvGrpSpPr>
            <p:grpSpPr>
              <a:xfrm>
                <a:off x="0" y="0"/>
                <a:ext cx="1078600" cy="1020233"/>
                <a:chOff x="0" y="0"/>
                <a:chExt cx="859299" cy="812800"/>
              </a:xfrm>
            </p:grpSpPr>
            <p:sp>
              <p:nvSpPr>
                <p:cNvPr id="61" name="Freeform 61"/>
                <p:cNvSpPr/>
                <p:nvPr/>
              </p:nvSpPr>
              <p:spPr>
                <a:xfrm>
                  <a:off x="0" y="0"/>
                  <a:ext cx="859299" cy="812800"/>
                </a:xfrm>
                <a:custGeom>
                  <a:avLst/>
                  <a:gdLst/>
                  <a:ahLst/>
                  <a:cxnLst/>
                  <a:rect l="l" t="t" r="r" b="b"/>
                  <a:pathLst>
                    <a:path w="859299" h="812800">
                      <a:moveTo>
                        <a:pt x="429650" y="0"/>
                      </a:moveTo>
                      <a:cubicBezTo>
                        <a:pt x="192361" y="0"/>
                        <a:pt x="0" y="181951"/>
                        <a:pt x="0" y="406400"/>
                      </a:cubicBezTo>
                      <a:cubicBezTo>
                        <a:pt x="0" y="630849"/>
                        <a:pt x="192361" y="812800"/>
                        <a:pt x="429650" y="812800"/>
                      </a:cubicBezTo>
                      <a:cubicBezTo>
                        <a:pt x="666939" y="812800"/>
                        <a:pt x="859299" y="630849"/>
                        <a:pt x="859299" y="406400"/>
                      </a:cubicBezTo>
                      <a:cubicBezTo>
                        <a:pt x="859299" y="181951"/>
                        <a:pt x="666939" y="0"/>
                        <a:pt x="429650" y="0"/>
                      </a:cubicBezTo>
                      <a:close/>
                    </a:path>
                  </a:pathLst>
                </a:custGeom>
                <a:solidFill>
                  <a:srgbClr val="004AAD"/>
                </a:solidFill>
              </p:spPr>
              <p:txBody>
                <a:bodyPr/>
                <a:lstStyle/>
                <a:p>
                  <a:endParaRPr lang="en-DE"/>
                </a:p>
              </p:txBody>
            </p:sp>
            <p:sp>
              <p:nvSpPr>
                <p:cNvPr id="62" name="TextBox 62"/>
                <p:cNvSpPr txBox="1"/>
                <p:nvPr/>
              </p:nvSpPr>
              <p:spPr>
                <a:xfrm>
                  <a:off x="80559" y="28575"/>
                  <a:ext cx="698181" cy="708025"/>
                </a:xfrm>
                <a:prstGeom prst="rect">
                  <a:avLst/>
                </a:prstGeom>
              </p:spPr>
              <p:txBody>
                <a:bodyPr lIns="50800" tIns="50800" rIns="50800" bIns="50800" rtlCol="0" anchor="ctr"/>
                <a:lstStyle/>
                <a:p>
                  <a:pPr algn="ctr">
                    <a:lnSpc>
                      <a:spcPts val="2659"/>
                    </a:lnSpc>
                  </a:pPr>
                  <a:endParaRPr/>
                </a:p>
              </p:txBody>
            </p:sp>
          </p:grpSp>
          <p:sp>
            <p:nvSpPr>
              <p:cNvPr id="63" name="TextBox 63"/>
              <p:cNvSpPr txBox="1"/>
              <p:nvPr/>
            </p:nvSpPr>
            <p:spPr>
              <a:xfrm>
                <a:off x="63260" y="152607"/>
                <a:ext cx="946144" cy="742169"/>
              </a:xfrm>
              <a:prstGeom prst="rect">
                <a:avLst/>
              </a:prstGeom>
            </p:spPr>
            <p:txBody>
              <a:bodyPr lIns="0" tIns="0" rIns="0" bIns="0" rtlCol="0" anchor="t">
                <a:spAutoFit/>
              </a:bodyPr>
              <a:lstStyle/>
              <a:p>
                <a:pPr algn="ctr">
                  <a:lnSpc>
                    <a:spcPts val="4506"/>
                  </a:lnSpc>
                </a:pPr>
                <a:r>
                  <a:rPr lang="en-US" sz="3218" b="1" dirty="0">
                    <a:solidFill>
                      <a:srgbClr val="FFFFFF"/>
                    </a:solidFill>
                    <a:latin typeface="League Spartan"/>
                    <a:ea typeface="League Spartan"/>
                    <a:cs typeface="League Spartan"/>
                    <a:sym typeface="League Spartan"/>
                  </a:rPr>
                  <a:t>4</a:t>
                </a:r>
              </a:p>
            </p:txBody>
          </p:sp>
        </p:grpSp>
      </p:grpSp>
      <p:sp>
        <p:nvSpPr>
          <p:cNvPr id="17" name="Slide Number Placeholder 16">
            <a:extLst>
              <a:ext uri="{FF2B5EF4-FFF2-40B4-BE49-F238E27FC236}">
                <a16:creationId xmlns:a16="http://schemas.microsoft.com/office/drawing/2014/main" id="{273DA33B-AC2D-D7C3-F0C4-6AF6DEE2AB7C}"/>
              </a:ext>
            </a:extLst>
          </p:cNvPr>
          <p:cNvSpPr>
            <a:spLocks noGrp="1"/>
          </p:cNvSpPr>
          <p:nvPr>
            <p:ph type="sldNum" sz="quarter" idx="12"/>
          </p:nvPr>
        </p:nvSpPr>
        <p:spPr/>
        <p:txBody>
          <a:bodyPr/>
          <a:lstStyle/>
          <a:p>
            <a:fld id="{B6F15528-21DE-4FAA-801E-634DDDAF4B2B}" type="slidenum">
              <a:rPr lang="en-US" smtClean="0"/>
              <a:pPr/>
              <a:t>2</a:t>
            </a:fld>
            <a:endParaRPr lang="en-US" sz="1800"/>
          </a:p>
        </p:txBody>
      </p:sp>
      <p:grpSp>
        <p:nvGrpSpPr>
          <p:cNvPr id="2" name="Group 1">
            <a:extLst>
              <a:ext uri="{FF2B5EF4-FFF2-40B4-BE49-F238E27FC236}">
                <a16:creationId xmlns:a16="http://schemas.microsoft.com/office/drawing/2014/main" id="{2BE1595F-8D43-00E6-4DCE-1DEBFC2B9FCD}"/>
              </a:ext>
            </a:extLst>
          </p:cNvPr>
          <p:cNvGrpSpPr/>
          <p:nvPr/>
        </p:nvGrpSpPr>
        <p:grpSpPr>
          <a:xfrm>
            <a:off x="609600" y="7976502"/>
            <a:ext cx="8899060" cy="824598"/>
            <a:chOff x="9630450" y="5368925"/>
            <a:chExt cx="8899060" cy="824598"/>
          </a:xfrm>
        </p:grpSpPr>
        <p:grpSp>
          <p:nvGrpSpPr>
            <p:cNvPr id="16" name="Group 22">
              <a:extLst>
                <a:ext uri="{FF2B5EF4-FFF2-40B4-BE49-F238E27FC236}">
                  <a16:creationId xmlns:a16="http://schemas.microsoft.com/office/drawing/2014/main" id="{79B54701-A5D0-5BC2-868D-3A5E6AF1DF28}"/>
                </a:ext>
              </a:extLst>
            </p:cNvPr>
            <p:cNvGrpSpPr/>
            <p:nvPr/>
          </p:nvGrpSpPr>
          <p:grpSpPr>
            <a:xfrm>
              <a:off x="10809443" y="5435238"/>
              <a:ext cx="7720067" cy="758285"/>
              <a:chOff x="-1" y="-66675"/>
              <a:chExt cx="10293423" cy="1011047"/>
            </a:xfrm>
          </p:grpSpPr>
          <p:sp>
            <p:nvSpPr>
              <p:cNvPr id="26" name="Freeform 23">
                <a:extLst>
                  <a:ext uri="{FF2B5EF4-FFF2-40B4-BE49-F238E27FC236}">
                    <a16:creationId xmlns:a16="http://schemas.microsoft.com/office/drawing/2014/main" id="{41846F8C-9D69-AD9D-02F2-04BE85B48C38}"/>
                  </a:ext>
                </a:extLst>
              </p:cNvPr>
              <p:cNvSpPr/>
              <p:nvPr/>
            </p:nvSpPr>
            <p:spPr>
              <a:xfrm>
                <a:off x="0" y="0"/>
                <a:ext cx="7951856" cy="944372"/>
              </a:xfrm>
              <a:custGeom>
                <a:avLst/>
                <a:gdLst/>
                <a:ahLst/>
                <a:cxnLst/>
                <a:rect l="l" t="t" r="r" b="b"/>
                <a:pathLst>
                  <a:path w="7951856" h="944372">
                    <a:moveTo>
                      <a:pt x="0" y="0"/>
                    </a:moveTo>
                    <a:lnTo>
                      <a:pt x="7951856" y="0"/>
                    </a:lnTo>
                    <a:lnTo>
                      <a:pt x="7951856" y="944372"/>
                    </a:lnTo>
                    <a:lnTo>
                      <a:pt x="0" y="944372"/>
                    </a:lnTo>
                    <a:close/>
                  </a:path>
                </a:pathLst>
              </a:custGeom>
              <a:ln cap="sq">
                <a:noFill/>
                <a:prstDash val="solid"/>
                <a:miter/>
              </a:ln>
            </p:spPr>
            <p:txBody>
              <a:bodyPr/>
              <a:lstStyle/>
              <a:p>
                <a:endParaRPr lang="en-DE"/>
              </a:p>
            </p:txBody>
          </p:sp>
          <p:sp>
            <p:nvSpPr>
              <p:cNvPr id="27" name="TextBox 24">
                <a:extLst>
                  <a:ext uri="{FF2B5EF4-FFF2-40B4-BE49-F238E27FC236}">
                    <a16:creationId xmlns:a16="http://schemas.microsoft.com/office/drawing/2014/main" id="{2F9B6914-9B7E-0425-3A59-54B2A3FDA58C}"/>
                  </a:ext>
                </a:extLst>
              </p:cNvPr>
              <p:cNvSpPr txBox="1"/>
              <p:nvPr/>
            </p:nvSpPr>
            <p:spPr>
              <a:xfrm>
                <a:off x="-1" y="-66675"/>
                <a:ext cx="10293423" cy="1011047"/>
              </a:xfrm>
              <a:prstGeom prst="rect">
                <a:avLst/>
              </a:prstGeom>
            </p:spPr>
            <p:txBody>
              <a:bodyPr lIns="0" tIns="0" rIns="0" bIns="0" rtlCol="0" anchor="t"/>
              <a:lstStyle/>
              <a:p>
                <a:pPr marL="0" lvl="0" indent="0" algn="l">
                  <a:lnSpc>
                    <a:spcPts val="4479"/>
                  </a:lnSpc>
                  <a:spcBef>
                    <a:spcPct val="0"/>
                  </a:spcBef>
                </a:pPr>
                <a:r>
                  <a:rPr lang="en-US" sz="3199" b="1" spc="79" dirty="0">
                    <a:solidFill>
                      <a:srgbClr val="0B132B"/>
                    </a:solidFill>
                    <a:latin typeface="Bricolage Grotesque Bold"/>
                    <a:ea typeface="Bricolage Grotesque Bold"/>
                    <a:cs typeface="Bricolage Grotesque Bold"/>
                    <a:sym typeface="Bricolage Grotesque Bold"/>
                  </a:rPr>
                  <a:t>ESP32-Based BLE Implementation.</a:t>
                </a:r>
                <a:endParaRPr lang="en-US" sz="3199" b="1" u="none" strike="noStrike" spc="79" dirty="0">
                  <a:solidFill>
                    <a:srgbClr val="0B132B"/>
                  </a:solidFill>
                  <a:latin typeface="Bricolage Grotesque Bold"/>
                  <a:ea typeface="Bricolage Grotesque Bold"/>
                  <a:cs typeface="Bricolage Grotesque Bold"/>
                  <a:sym typeface="Bricolage Grotesque Bold"/>
                </a:endParaRPr>
              </a:p>
            </p:txBody>
          </p:sp>
        </p:grpSp>
        <p:grpSp>
          <p:nvGrpSpPr>
            <p:cNvPr id="18" name="Group 59">
              <a:extLst>
                <a:ext uri="{FF2B5EF4-FFF2-40B4-BE49-F238E27FC236}">
                  <a16:creationId xmlns:a16="http://schemas.microsoft.com/office/drawing/2014/main" id="{FBBFDA73-D957-A64F-F201-CA5C80E26A2F}"/>
                </a:ext>
              </a:extLst>
            </p:cNvPr>
            <p:cNvGrpSpPr/>
            <p:nvPr/>
          </p:nvGrpSpPr>
          <p:grpSpPr>
            <a:xfrm>
              <a:off x="9630450" y="5368925"/>
              <a:ext cx="808950" cy="765175"/>
              <a:chOff x="0" y="0"/>
              <a:chExt cx="1078600" cy="1020233"/>
            </a:xfrm>
          </p:grpSpPr>
          <p:grpSp>
            <p:nvGrpSpPr>
              <p:cNvPr id="19" name="Group 60">
                <a:extLst>
                  <a:ext uri="{FF2B5EF4-FFF2-40B4-BE49-F238E27FC236}">
                    <a16:creationId xmlns:a16="http://schemas.microsoft.com/office/drawing/2014/main" id="{EA3738C0-E2DA-875E-BAFE-EAB8AFA7B1EE}"/>
                  </a:ext>
                </a:extLst>
              </p:cNvPr>
              <p:cNvGrpSpPr/>
              <p:nvPr/>
            </p:nvGrpSpPr>
            <p:grpSpPr>
              <a:xfrm>
                <a:off x="0" y="0"/>
                <a:ext cx="1078600" cy="1020233"/>
                <a:chOff x="0" y="0"/>
                <a:chExt cx="859299" cy="812800"/>
              </a:xfrm>
            </p:grpSpPr>
            <p:sp>
              <p:nvSpPr>
                <p:cNvPr id="21" name="Freeform 61">
                  <a:extLst>
                    <a:ext uri="{FF2B5EF4-FFF2-40B4-BE49-F238E27FC236}">
                      <a16:creationId xmlns:a16="http://schemas.microsoft.com/office/drawing/2014/main" id="{E38C4EC3-6D0C-0DC7-BA25-AF83430CA053}"/>
                    </a:ext>
                  </a:extLst>
                </p:cNvPr>
                <p:cNvSpPr/>
                <p:nvPr/>
              </p:nvSpPr>
              <p:spPr>
                <a:xfrm>
                  <a:off x="0" y="0"/>
                  <a:ext cx="859299" cy="812800"/>
                </a:xfrm>
                <a:custGeom>
                  <a:avLst/>
                  <a:gdLst/>
                  <a:ahLst/>
                  <a:cxnLst/>
                  <a:rect l="l" t="t" r="r" b="b"/>
                  <a:pathLst>
                    <a:path w="859299" h="812800">
                      <a:moveTo>
                        <a:pt x="429650" y="0"/>
                      </a:moveTo>
                      <a:cubicBezTo>
                        <a:pt x="192361" y="0"/>
                        <a:pt x="0" y="181951"/>
                        <a:pt x="0" y="406400"/>
                      </a:cubicBezTo>
                      <a:cubicBezTo>
                        <a:pt x="0" y="630849"/>
                        <a:pt x="192361" y="812800"/>
                        <a:pt x="429650" y="812800"/>
                      </a:cubicBezTo>
                      <a:cubicBezTo>
                        <a:pt x="666939" y="812800"/>
                        <a:pt x="859299" y="630849"/>
                        <a:pt x="859299" y="406400"/>
                      </a:cubicBezTo>
                      <a:cubicBezTo>
                        <a:pt x="859299" y="181951"/>
                        <a:pt x="666939" y="0"/>
                        <a:pt x="429650" y="0"/>
                      </a:cubicBezTo>
                      <a:close/>
                    </a:path>
                  </a:pathLst>
                </a:custGeom>
                <a:solidFill>
                  <a:srgbClr val="004AAD"/>
                </a:solidFill>
              </p:spPr>
              <p:txBody>
                <a:bodyPr/>
                <a:lstStyle/>
                <a:p>
                  <a:endParaRPr lang="en-DE"/>
                </a:p>
              </p:txBody>
            </p:sp>
            <p:sp>
              <p:nvSpPr>
                <p:cNvPr id="25" name="TextBox 62">
                  <a:extLst>
                    <a:ext uri="{FF2B5EF4-FFF2-40B4-BE49-F238E27FC236}">
                      <a16:creationId xmlns:a16="http://schemas.microsoft.com/office/drawing/2014/main" id="{0B872FCF-486B-CE20-1BBA-4EE6EE829953}"/>
                    </a:ext>
                  </a:extLst>
                </p:cNvPr>
                <p:cNvSpPr txBox="1"/>
                <p:nvPr/>
              </p:nvSpPr>
              <p:spPr>
                <a:xfrm>
                  <a:off x="80559" y="28575"/>
                  <a:ext cx="698181" cy="708025"/>
                </a:xfrm>
                <a:prstGeom prst="rect">
                  <a:avLst/>
                </a:prstGeom>
              </p:spPr>
              <p:txBody>
                <a:bodyPr lIns="50800" tIns="50800" rIns="50800" bIns="50800" rtlCol="0" anchor="ctr"/>
                <a:lstStyle/>
                <a:p>
                  <a:pPr algn="ctr">
                    <a:lnSpc>
                      <a:spcPts val="2659"/>
                    </a:lnSpc>
                  </a:pPr>
                  <a:endParaRPr/>
                </a:p>
              </p:txBody>
            </p:sp>
          </p:grpSp>
          <p:sp>
            <p:nvSpPr>
              <p:cNvPr id="20" name="TextBox 63">
                <a:extLst>
                  <a:ext uri="{FF2B5EF4-FFF2-40B4-BE49-F238E27FC236}">
                    <a16:creationId xmlns:a16="http://schemas.microsoft.com/office/drawing/2014/main" id="{807F013F-315E-FE2A-7BAB-A2B020F6C45B}"/>
                  </a:ext>
                </a:extLst>
              </p:cNvPr>
              <p:cNvSpPr txBox="1"/>
              <p:nvPr/>
            </p:nvSpPr>
            <p:spPr>
              <a:xfrm>
                <a:off x="63260" y="152607"/>
                <a:ext cx="946144" cy="742169"/>
              </a:xfrm>
              <a:prstGeom prst="rect">
                <a:avLst/>
              </a:prstGeom>
            </p:spPr>
            <p:txBody>
              <a:bodyPr lIns="0" tIns="0" rIns="0" bIns="0" rtlCol="0" anchor="t">
                <a:spAutoFit/>
              </a:bodyPr>
              <a:lstStyle/>
              <a:p>
                <a:pPr algn="ctr">
                  <a:lnSpc>
                    <a:spcPts val="4506"/>
                  </a:lnSpc>
                </a:pPr>
                <a:r>
                  <a:rPr lang="en-US" sz="3218" b="1" dirty="0">
                    <a:solidFill>
                      <a:srgbClr val="FFFFFF"/>
                    </a:solidFill>
                    <a:latin typeface="League Spartan"/>
                    <a:ea typeface="League Spartan"/>
                    <a:cs typeface="League Spartan"/>
                    <a:sym typeface="League Spartan"/>
                  </a:rPr>
                  <a:t>5</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Slide Background">
            <a:extLst>
              <a:ext uri="{FF2B5EF4-FFF2-40B4-BE49-F238E27FC236}">
                <a16:creationId xmlns:a16="http://schemas.microsoft.com/office/drawing/2014/main" id="{B03FEE6B-59C6-4F94-AC2D-FA73D296B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Rectangle 34">
            <a:extLst>
              <a:ext uri="{FF2B5EF4-FFF2-40B4-BE49-F238E27FC236}">
                <a16:creationId xmlns:a16="http://schemas.microsoft.com/office/drawing/2014/main" id="{86FEA2A0-6487-486E-B336-D39C827C05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6985917"/>
          </a:xfrm>
          <a:prstGeom prst="rect">
            <a:avLst/>
          </a:prstGeom>
          <a:ln>
            <a:noFill/>
          </a:ln>
          <a:effectLst>
            <a:outerShdw blurRad="368300" dist="330200" dir="714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9B542D2-F2C2-168E-B82F-2C47DFF58B39}"/>
              </a:ext>
            </a:extLst>
          </p:cNvPr>
          <p:cNvSpPr txBox="1"/>
          <p:nvPr/>
        </p:nvSpPr>
        <p:spPr>
          <a:xfrm>
            <a:off x="1148420" y="937796"/>
            <a:ext cx="7995579" cy="967287"/>
          </a:xfrm>
          <a:prstGeom prst="rect">
            <a:avLst/>
          </a:prstGeom>
        </p:spPr>
        <p:txBody>
          <a:bodyPr vert="horz" lIns="91440" tIns="45720" rIns="91440" bIns="45720" rtlCol="0" anchor="t">
            <a:normAutofit fontScale="92500" lnSpcReduction="10000"/>
          </a:bodyPr>
          <a:lstStyle/>
          <a:p>
            <a:pPr>
              <a:lnSpc>
                <a:spcPct val="90000"/>
              </a:lnSpc>
              <a:spcBef>
                <a:spcPct val="0"/>
              </a:spcBef>
              <a:spcAft>
                <a:spcPts val="600"/>
              </a:spcAft>
            </a:pPr>
            <a:r>
              <a:rPr lang="en-US" sz="4800" b="1" dirty="0">
                <a:solidFill>
                  <a:srgbClr val="004AAD"/>
                </a:solidFill>
                <a:latin typeface="League Spartan"/>
                <a:ea typeface="League Spartan"/>
                <a:cs typeface="League Spartan"/>
                <a:sym typeface="League Spartan"/>
              </a:rPr>
              <a:t>What</a:t>
            </a:r>
            <a:r>
              <a:rPr lang="en-US" sz="7200" b="1" dirty="0">
                <a:latin typeface="+mj-lt"/>
                <a:ea typeface="+mj-ea"/>
                <a:cs typeface="+mj-cs"/>
                <a:sym typeface="League Spartan"/>
              </a:rPr>
              <a:t> </a:t>
            </a:r>
            <a:r>
              <a:rPr lang="en-US" sz="4800" b="1" dirty="0">
                <a:solidFill>
                  <a:srgbClr val="004AAD"/>
                </a:solidFill>
                <a:latin typeface="League Spartan"/>
                <a:ea typeface="League Spartan"/>
                <a:cs typeface="League Spartan"/>
                <a:sym typeface="League Spartan"/>
              </a:rPr>
              <a:t>Is</a:t>
            </a:r>
            <a:r>
              <a:rPr lang="en-US" sz="7200" b="1" dirty="0">
                <a:latin typeface="+mj-lt"/>
                <a:ea typeface="+mj-ea"/>
                <a:cs typeface="+mj-cs"/>
                <a:sym typeface="League Spartan"/>
              </a:rPr>
              <a:t> </a:t>
            </a:r>
            <a:r>
              <a:rPr lang="en-US" sz="4800" b="1" dirty="0">
                <a:solidFill>
                  <a:srgbClr val="004AAD"/>
                </a:solidFill>
                <a:latin typeface="League Spartan"/>
                <a:ea typeface="League Spartan"/>
                <a:cs typeface="League Spartan"/>
                <a:sym typeface="League Spartan"/>
              </a:rPr>
              <a:t>BLE ?</a:t>
            </a:r>
          </a:p>
        </p:txBody>
      </p:sp>
      <p:grpSp>
        <p:nvGrpSpPr>
          <p:cNvPr id="15" name="Group 3">
            <a:extLst>
              <a:ext uri="{FF2B5EF4-FFF2-40B4-BE49-F238E27FC236}">
                <a16:creationId xmlns:a16="http://schemas.microsoft.com/office/drawing/2014/main" id="{C6B86BF7-3C82-9DB2-9DF2-B15CD6BCAC48}"/>
              </a:ext>
            </a:extLst>
          </p:cNvPr>
          <p:cNvGrpSpPr/>
          <p:nvPr/>
        </p:nvGrpSpPr>
        <p:grpSpPr>
          <a:xfrm>
            <a:off x="4343400" y="9089197"/>
            <a:ext cx="2791186" cy="805466"/>
            <a:chOff x="0" y="-47625"/>
            <a:chExt cx="1381426" cy="398645"/>
          </a:xfrm>
        </p:grpSpPr>
        <p:sp>
          <p:nvSpPr>
            <p:cNvPr id="18" name="Freeform 4">
              <a:extLst>
                <a:ext uri="{FF2B5EF4-FFF2-40B4-BE49-F238E27FC236}">
                  <a16:creationId xmlns:a16="http://schemas.microsoft.com/office/drawing/2014/main" id="{2A181DB3-84CD-CFC4-C87A-AE3B0137D175}"/>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393FBDB8-B3DD-F001-6264-ED1A7C5E99FB}"/>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0040D7DA-7975-050F-5A7C-52B2D6ADAE2E}"/>
              </a:ext>
            </a:extLst>
          </p:cNvPr>
          <p:cNvGrpSpPr/>
          <p:nvPr/>
        </p:nvGrpSpPr>
        <p:grpSpPr>
          <a:xfrm>
            <a:off x="1141046" y="9089197"/>
            <a:ext cx="2791187" cy="805467"/>
            <a:chOff x="0" y="-47625"/>
            <a:chExt cx="1381426" cy="398645"/>
          </a:xfrm>
        </p:grpSpPr>
        <p:sp>
          <p:nvSpPr>
            <p:cNvPr id="26" name="Freeform 4">
              <a:extLst>
                <a:ext uri="{FF2B5EF4-FFF2-40B4-BE49-F238E27FC236}">
                  <a16:creationId xmlns:a16="http://schemas.microsoft.com/office/drawing/2014/main" id="{3E09B247-EECB-0A99-3728-FE25F3780187}"/>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8DE425E9-441F-438D-1D2E-B4F32C2C71D5}"/>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59" name="Group 58">
            <a:extLst>
              <a:ext uri="{FF2B5EF4-FFF2-40B4-BE49-F238E27FC236}">
                <a16:creationId xmlns:a16="http://schemas.microsoft.com/office/drawing/2014/main" id="{420F7DBC-FDC4-7C9F-81A0-3BD21A39F1F3}"/>
              </a:ext>
            </a:extLst>
          </p:cNvPr>
          <p:cNvGrpSpPr/>
          <p:nvPr/>
        </p:nvGrpSpPr>
        <p:grpSpPr>
          <a:xfrm>
            <a:off x="9896952" y="2557465"/>
            <a:ext cx="7324248" cy="4872035"/>
            <a:chOff x="9829800" y="2252665"/>
            <a:chExt cx="7324248" cy="4872035"/>
          </a:xfrm>
        </p:grpSpPr>
        <p:pic>
          <p:nvPicPr>
            <p:cNvPr id="29" name="Picture 28">
              <a:extLst>
                <a:ext uri="{FF2B5EF4-FFF2-40B4-BE49-F238E27FC236}">
                  <a16:creationId xmlns:a16="http://schemas.microsoft.com/office/drawing/2014/main" id="{894D0FD5-6EB0-E1C1-96C7-4EA669977E61}"/>
                </a:ext>
              </a:extLst>
            </p:cNvPr>
            <p:cNvPicPr>
              <a:picLocks noChangeAspect="1"/>
            </p:cNvPicPr>
            <p:nvPr/>
          </p:nvPicPr>
          <p:blipFill>
            <a:blip r:embed="rId2"/>
            <a:srcRect l="14521" t="4251" r="9635" b="17723"/>
            <a:stretch>
              <a:fillRect/>
            </a:stretch>
          </p:blipFill>
          <p:spPr>
            <a:xfrm>
              <a:off x="11149234" y="2252665"/>
              <a:ext cx="5192705" cy="3740774"/>
            </a:xfrm>
            <a:prstGeom prst="rect">
              <a:avLst/>
            </a:prstGeom>
          </p:spPr>
        </p:pic>
        <p:grpSp>
          <p:nvGrpSpPr>
            <p:cNvPr id="57" name="Group 56">
              <a:extLst>
                <a:ext uri="{FF2B5EF4-FFF2-40B4-BE49-F238E27FC236}">
                  <a16:creationId xmlns:a16="http://schemas.microsoft.com/office/drawing/2014/main" id="{6BBF6A94-01E0-CF41-CE5F-37D84FF70204}"/>
                </a:ext>
              </a:extLst>
            </p:cNvPr>
            <p:cNvGrpSpPr/>
            <p:nvPr/>
          </p:nvGrpSpPr>
          <p:grpSpPr>
            <a:xfrm>
              <a:off x="9829800" y="3264795"/>
              <a:ext cx="1969747" cy="1174719"/>
              <a:chOff x="390374" y="3132453"/>
              <a:chExt cx="2581426" cy="1479018"/>
            </a:xfrm>
          </p:grpSpPr>
          <p:sp>
            <p:nvSpPr>
              <p:cNvPr id="41" name="TextBox 11">
                <a:extLst>
                  <a:ext uri="{FF2B5EF4-FFF2-40B4-BE49-F238E27FC236}">
                    <a16:creationId xmlns:a16="http://schemas.microsoft.com/office/drawing/2014/main" id="{5D460731-2BCF-3435-72D1-C743D7EF0815}"/>
                  </a:ext>
                </a:extLst>
              </p:cNvPr>
              <p:cNvSpPr txBox="1"/>
              <p:nvPr/>
            </p:nvSpPr>
            <p:spPr>
              <a:xfrm>
                <a:off x="390374" y="3995918"/>
                <a:ext cx="2581426" cy="615553"/>
              </a:xfrm>
              <a:prstGeom prst="rect">
                <a:avLst/>
              </a:prstGeom>
            </p:spPr>
            <p:txBody>
              <a:bodyPr wrap="square" lIns="0" tIns="0" rIns="0" bIns="0" rtlCol="0" anchor="t">
                <a:spAutoFit/>
              </a:bodyPr>
              <a:lstStyle/>
              <a:p>
                <a:pPr algn="r">
                  <a:spcBef>
                    <a:spcPct val="0"/>
                  </a:spcBef>
                </a:pPr>
                <a:r>
                  <a:rPr lang="en-US" sz="2000" dirty="0">
                    <a:solidFill>
                      <a:srgbClr val="303642"/>
                    </a:solidFill>
                    <a:latin typeface="Poppins" panose="00000500000000000000" pitchFamily="2" charset="0"/>
                    <a:ea typeface="Poppins Bold"/>
                    <a:cs typeface="Poppins" panose="00000500000000000000" pitchFamily="2" charset="0"/>
                    <a:sym typeface="Poppins Bold"/>
                  </a:rPr>
                  <a:t>Transmit data in short pieces</a:t>
                </a:r>
              </a:p>
            </p:txBody>
          </p:sp>
          <p:sp>
            <p:nvSpPr>
              <p:cNvPr id="43" name="TextBox 11">
                <a:extLst>
                  <a:ext uri="{FF2B5EF4-FFF2-40B4-BE49-F238E27FC236}">
                    <a16:creationId xmlns:a16="http://schemas.microsoft.com/office/drawing/2014/main" id="{2ED2CAC0-2468-14FA-1585-DAB2AE88057C}"/>
                  </a:ext>
                </a:extLst>
              </p:cNvPr>
              <p:cNvSpPr txBox="1"/>
              <p:nvPr/>
            </p:nvSpPr>
            <p:spPr>
              <a:xfrm>
                <a:off x="685800" y="3132453"/>
                <a:ext cx="2286000" cy="615553"/>
              </a:xfrm>
              <a:prstGeom prst="rect">
                <a:avLst/>
              </a:prstGeom>
            </p:spPr>
            <p:txBody>
              <a:bodyPr wrap="square" lIns="0" tIns="0" rIns="0" bIns="0" rtlCol="0" anchor="t">
                <a:spAutoFit/>
              </a:bodyPr>
              <a:lstStyle/>
              <a:p>
                <a:pPr algn="r">
                  <a:spcBef>
                    <a:spcPct val="0"/>
                  </a:spcBef>
                </a:pPr>
                <a:r>
                  <a:rPr lang="en-US" sz="2000" b="1" dirty="0">
                    <a:solidFill>
                      <a:schemeClr val="tx2"/>
                    </a:solidFill>
                    <a:latin typeface="Poppins Bold"/>
                    <a:ea typeface="Poppins Bold"/>
                    <a:cs typeface="Poppins Bold"/>
                    <a:sym typeface="Poppins Bold"/>
                  </a:rPr>
                  <a:t>Small Data Bursts</a:t>
                </a:r>
              </a:p>
            </p:txBody>
          </p:sp>
        </p:grpSp>
        <p:grpSp>
          <p:nvGrpSpPr>
            <p:cNvPr id="48" name="Group 47">
              <a:extLst>
                <a:ext uri="{FF2B5EF4-FFF2-40B4-BE49-F238E27FC236}">
                  <a16:creationId xmlns:a16="http://schemas.microsoft.com/office/drawing/2014/main" id="{374CAE31-E152-1FA8-FE65-CA126070CEF9}"/>
                </a:ext>
              </a:extLst>
            </p:cNvPr>
            <p:cNvGrpSpPr/>
            <p:nvPr/>
          </p:nvGrpSpPr>
          <p:grpSpPr>
            <a:xfrm>
              <a:off x="15353490" y="3179477"/>
              <a:ext cx="1800558" cy="1174719"/>
              <a:chOff x="542774" y="3284853"/>
              <a:chExt cx="2359697" cy="1479018"/>
            </a:xfrm>
          </p:grpSpPr>
          <p:sp>
            <p:nvSpPr>
              <p:cNvPr id="45" name="TextBox 11">
                <a:extLst>
                  <a:ext uri="{FF2B5EF4-FFF2-40B4-BE49-F238E27FC236}">
                    <a16:creationId xmlns:a16="http://schemas.microsoft.com/office/drawing/2014/main" id="{72A582B4-B276-8D13-0234-93E5A7AA73A8}"/>
                  </a:ext>
                </a:extLst>
              </p:cNvPr>
              <p:cNvSpPr txBox="1"/>
              <p:nvPr/>
            </p:nvSpPr>
            <p:spPr>
              <a:xfrm>
                <a:off x="542774" y="4148318"/>
                <a:ext cx="2359697" cy="615553"/>
              </a:xfrm>
              <a:prstGeom prst="rect">
                <a:avLst/>
              </a:prstGeom>
            </p:spPr>
            <p:txBody>
              <a:bodyPr wrap="square" lIns="0" tIns="0" rIns="0" bIns="0" rtlCol="0" anchor="t">
                <a:spAutoFit/>
              </a:bodyPr>
              <a:lstStyle/>
              <a:p>
                <a:pPr>
                  <a:spcBef>
                    <a:spcPct val="0"/>
                  </a:spcBef>
                </a:pPr>
                <a:r>
                  <a:rPr lang="en-US" sz="2000" dirty="0">
                    <a:solidFill>
                      <a:srgbClr val="303642"/>
                    </a:solidFill>
                    <a:latin typeface="Poppins" panose="00000500000000000000" pitchFamily="2" charset="0"/>
                    <a:ea typeface="Poppins Bold"/>
                    <a:cs typeface="Poppins" panose="00000500000000000000" pitchFamily="2" charset="0"/>
                    <a:sym typeface="Poppins Bold"/>
                  </a:rPr>
                  <a:t>Wake up briefly for data</a:t>
                </a:r>
              </a:p>
            </p:txBody>
          </p:sp>
          <p:sp>
            <p:nvSpPr>
              <p:cNvPr id="47" name="TextBox 11">
                <a:extLst>
                  <a:ext uri="{FF2B5EF4-FFF2-40B4-BE49-F238E27FC236}">
                    <a16:creationId xmlns:a16="http://schemas.microsoft.com/office/drawing/2014/main" id="{1AEC7098-8983-DAA7-12F5-F056878503F9}"/>
                  </a:ext>
                </a:extLst>
              </p:cNvPr>
              <p:cNvSpPr txBox="1"/>
              <p:nvPr/>
            </p:nvSpPr>
            <p:spPr>
              <a:xfrm>
                <a:off x="542775" y="3284853"/>
                <a:ext cx="2131096" cy="615553"/>
              </a:xfrm>
              <a:prstGeom prst="rect">
                <a:avLst/>
              </a:prstGeom>
            </p:spPr>
            <p:txBody>
              <a:bodyPr wrap="square" lIns="0" tIns="0" rIns="0" bIns="0" rtlCol="0" anchor="t">
                <a:spAutoFit/>
              </a:bodyPr>
              <a:lstStyle/>
              <a:p>
                <a:pPr>
                  <a:spcBef>
                    <a:spcPct val="0"/>
                  </a:spcBef>
                </a:pPr>
                <a:r>
                  <a:rPr lang="en-US" sz="2000" b="1" dirty="0">
                    <a:solidFill>
                      <a:schemeClr val="tx2"/>
                    </a:solidFill>
                    <a:latin typeface="Poppins Bold"/>
                    <a:ea typeface="Poppins Bold"/>
                    <a:cs typeface="Poppins Bold"/>
                    <a:sym typeface="Poppins Bold"/>
                  </a:rPr>
                  <a:t>Deep Sleep State</a:t>
                </a:r>
              </a:p>
            </p:txBody>
          </p:sp>
        </p:grpSp>
        <p:grpSp>
          <p:nvGrpSpPr>
            <p:cNvPr id="51" name="Group 50">
              <a:extLst>
                <a:ext uri="{FF2B5EF4-FFF2-40B4-BE49-F238E27FC236}">
                  <a16:creationId xmlns:a16="http://schemas.microsoft.com/office/drawing/2014/main" id="{8D36ADF2-27F3-7309-ABB8-886251F7BFE2}"/>
                </a:ext>
              </a:extLst>
            </p:cNvPr>
            <p:cNvGrpSpPr/>
            <p:nvPr/>
          </p:nvGrpSpPr>
          <p:grpSpPr>
            <a:xfrm>
              <a:off x="11149235" y="5938024"/>
              <a:ext cx="2343645" cy="1186676"/>
              <a:chOff x="305851" y="3284853"/>
              <a:chExt cx="2596621" cy="1494073"/>
            </a:xfrm>
          </p:grpSpPr>
          <p:sp>
            <p:nvSpPr>
              <p:cNvPr id="52" name="TextBox 11">
                <a:extLst>
                  <a:ext uri="{FF2B5EF4-FFF2-40B4-BE49-F238E27FC236}">
                    <a16:creationId xmlns:a16="http://schemas.microsoft.com/office/drawing/2014/main" id="{D6D2A84D-E751-517B-2FBD-217637BDBD48}"/>
                  </a:ext>
                </a:extLst>
              </p:cNvPr>
              <p:cNvSpPr txBox="1"/>
              <p:nvPr/>
            </p:nvSpPr>
            <p:spPr>
              <a:xfrm>
                <a:off x="305851" y="4056285"/>
                <a:ext cx="2596621" cy="722641"/>
              </a:xfrm>
              <a:prstGeom prst="rect">
                <a:avLst/>
              </a:prstGeom>
            </p:spPr>
            <p:txBody>
              <a:bodyPr wrap="square" lIns="0" tIns="0" rIns="0" bIns="0" rtlCol="0" anchor="t">
                <a:spAutoFit/>
              </a:bodyPr>
              <a:lstStyle/>
              <a:p>
                <a:pPr algn="ctr">
                  <a:spcBef>
                    <a:spcPct val="0"/>
                  </a:spcBef>
                </a:pPr>
                <a:r>
                  <a:rPr lang="en-US" sz="2000" dirty="0">
                    <a:solidFill>
                      <a:srgbClr val="303642"/>
                    </a:solidFill>
                    <a:latin typeface="Poppins" panose="00000500000000000000" pitchFamily="2" charset="0"/>
                    <a:ea typeface="Poppins Bold"/>
                    <a:cs typeface="Poppins" panose="00000500000000000000" pitchFamily="2" charset="0"/>
                    <a:sym typeface="Poppins Bold"/>
                  </a:rPr>
                  <a:t>Classic Bluetooth uses much power</a:t>
                </a:r>
              </a:p>
            </p:txBody>
          </p:sp>
          <p:sp>
            <p:nvSpPr>
              <p:cNvPr id="53" name="TextBox 11">
                <a:extLst>
                  <a:ext uri="{FF2B5EF4-FFF2-40B4-BE49-F238E27FC236}">
                    <a16:creationId xmlns:a16="http://schemas.microsoft.com/office/drawing/2014/main" id="{33F973AD-CDDC-C44C-634A-C907158F2C89}"/>
                  </a:ext>
                </a:extLst>
              </p:cNvPr>
              <p:cNvSpPr txBox="1"/>
              <p:nvPr/>
            </p:nvSpPr>
            <p:spPr>
              <a:xfrm>
                <a:off x="542775" y="3284853"/>
                <a:ext cx="2131096" cy="615553"/>
              </a:xfrm>
              <a:prstGeom prst="rect">
                <a:avLst/>
              </a:prstGeom>
            </p:spPr>
            <p:txBody>
              <a:bodyPr wrap="square" lIns="0" tIns="0" rIns="0" bIns="0" rtlCol="0" anchor="t">
                <a:spAutoFit/>
              </a:bodyPr>
              <a:lstStyle/>
              <a:p>
                <a:pPr algn="ctr">
                  <a:spcBef>
                    <a:spcPct val="0"/>
                  </a:spcBef>
                </a:pPr>
                <a:r>
                  <a:rPr lang="en-US" sz="2000" b="1" dirty="0">
                    <a:solidFill>
                      <a:schemeClr val="tx2"/>
                    </a:solidFill>
                    <a:latin typeface="Poppins Bold"/>
                    <a:ea typeface="Poppins Bold"/>
                    <a:cs typeface="Poppins Bold"/>
                    <a:sym typeface="Poppins Bold"/>
                  </a:rPr>
                  <a:t>High Power Consumption</a:t>
                </a:r>
              </a:p>
            </p:txBody>
          </p:sp>
        </p:grpSp>
        <p:grpSp>
          <p:nvGrpSpPr>
            <p:cNvPr id="54" name="Group 53">
              <a:extLst>
                <a:ext uri="{FF2B5EF4-FFF2-40B4-BE49-F238E27FC236}">
                  <a16:creationId xmlns:a16="http://schemas.microsoft.com/office/drawing/2014/main" id="{9F9F4CCA-FBC5-A512-526F-D795A994FD77}"/>
                </a:ext>
              </a:extLst>
            </p:cNvPr>
            <p:cNvGrpSpPr/>
            <p:nvPr/>
          </p:nvGrpSpPr>
          <p:grpSpPr>
            <a:xfrm>
              <a:off x="13979560" y="5946880"/>
              <a:ext cx="2129804" cy="1101620"/>
              <a:chOff x="542774" y="3284853"/>
              <a:chExt cx="2359697" cy="1386984"/>
            </a:xfrm>
          </p:grpSpPr>
          <p:sp>
            <p:nvSpPr>
              <p:cNvPr id="55" name="TextBox 11">
                <a:extLst>
                  <a:ext uri="{FF2B5EF4-FFF2-40B4-BE49-F238E27FC236}">
                    <a16:creationId xmlns:a16="http://schemas.microsoft.com/office/drawing/2014/main" id="{A49E50FA-5CAB-77B8-1F07-79225C7572E3}"/>
                  </a:ext>
                </a:extLst>
              </p:cNvPr>
              <p:cNvSpPr txBox="1"/>
              <p:nvPr/>
            </p:nvSpPr>
            <p:spPr>
              <a:xfrm>
                <a:off x="542774" y="4056284"/>
                <a:ext cx="2359697" cy="615553"/>
              </a:xfrm>
              <a:prstGeom prst="rect">
                <a:avLst/>
              </a:prstGeom>
            </p:spPr>
            <p:txBody>
              <a:bodyPr wrap="square" lIns="0" tIns="0" rIns="0" bIns="0" rtlCol="0" anchor="t">
                <a:spAutoFit/>
              </a:bodyPr>
              <a:lstStyle/>
              <a:p>
                <a:pPr algn="ctr">
                  <a:spcBef>
                    <a:spcPct val="0"/>
                  </a:spcBef>
                </a:pPr>
                <a:r>
                  <a:rPr lang="en-US" sz="2000" dirty="0">
                    <a:solidFill>
                      <a:srgbClr val="303642"/>
                    </a:solidFill>
                    <a:latin typeface="Poppins" panose="00000500000000000000" pitchFamily="2" charset="0"/>
                    <a:ea typeface="Poppins Bold"/>
                    <a:cs typeface="Poppins" panose="00000500000000000000" pitchFamily="2" charset="0"/>
                    <a:sym typeface="Poppins Bold"/>
                  </a:rPr>
                  <a:t>Bluetooth Smart uses less power</a:t>
                </a:r>
              </a:p>
            </p:txBody>
          </p:sp>
          <p:sp>
            <p:nvSpPr>
              <p:cNvPr id="56" name="TextBox 11">
                <a:extLst>
                  <a:ext uri="{FF2B5EF4-FFF2-40B4-BE49-F238E27FC236}">
                    <a16:creationId xmlns:a16="http://schemas.microsoft.com/office/drawing/2014/main" id="{73F7E6FC-3784-F854-CD5E-A07165035EAF}"/>
                  </a:ext>
                </a:extLst>
              </p:cNvPr>
              <p:cNvSpPr txBox="1"/>
              <p:nvPr/>
            </p:nvSpPr>
            <p:spPr>
              <a:xfrm>
                <a:off x="542775" y="3284853"/>
                <a:ext cx="2131096" cy="615553"/>
              </a:xfrm>
              <a:prstGeom prst="rect">
                <a:avLst/>
              </a:prstGeom>
            </p:spPr>
            <p:txBody>
              <a:bodyPr wrap="square" lIns="0" tIns="0" rIns="0" bIns="0" rtlCol="0" anchor="t">
                <a:spAutoFit/>
              </a:bodyPr>
              <a:lstStyle/>
              <a:p>
                <a:pPr algn="ctr">
                  <a:spcBef>
                    <a:spcPct val="0"/>
                  </a:spcBef>
                </a:pPr>
                <a:r>
                  <a:rPr lang="en-US" sz="2000" b="1" dirty="0">
                    <a:solidFill>
                      <a:schemeClr val="tx2"/>
                    </a:solidFill>
                    <a:latin typeface="Poppins Bold"/>
                    <a:ea typeface="Poppins Bold"/>
                    <a:cs typeface="Poppins Bold"/>
                    <a:sym typeface="Poppins Bold"/>
                  </a:rPr>
                  <a:t>Low Power Consumption</a:t>
                </a:r>
              </a:p>
            </p:txBody>
          </p:sp>
        </p:grpSp>
      </p:grpSp>
      <p:sp>
        <p:nvSpPr>
          <p:cNvPr id="61" name="TextBox 11">
            <a:extLst>
              <a:ext uri="{FF2B5EF4-FFF2-40B4-BE49-F238E27FC236}">
                <a16:creationId xmlns:a16="http://schemas.microsoft.com/office/drawing/2014/main" id="{BFF17ACD-D0F2-75A6-32CD-06F2EE9B39C9}"/>
              </a:ext>
            </a:extLst>
          </p:cNvPr>
          <p:cNvSpPr txBox="1"/>
          <p:nvPr/>
        </p:nvSpPr>
        <p:spPr>
          <a:xfrm>
            <a:off x="936499" y="4035504"/>
            <a:ext cx="9062393" cy="2215991"/>
          </a:xfrm>
          <a:prstGeom prst="rect">
            <a:avLst/>
          </a:prstGeom>
        </p:spPr>
        <p:txBody>
          <a:bodyPr wrap="square" lIns="0" tIns="0" rIns="0" bIns="0" rtlCol="0" anchor="t">
            <a:spAutoFit/>
          </a:bodyPr>
          <a:lstStyle/>
          <a:p>
            <a:pPr marL="342900" indent="-342900">
              <a:spcBef>
                <a:spcPct val="0"/>
              </a:spcBef>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Wireless technology for short-range communication.</a:t>
            </a:r>
          </a:p>
          <a:p>
            <a:pPr marL="342900" indent="-342900">
              <a:spcBef>
                <a:spcPct val="0"/>
              </a:spcBef>
              <a:buFont typeface="Arial" panose="020B0604020202020204" pitchFamily="34" charset="0"/>
              <a:buChar char="•"/>
            </a:pPr>
            <a:endParaRPr lang="en-US" sz="2400" dirty="0">
              <a:solidFill>
                <a:srgbClr val="303642"/>
              </a:solidFill>
              <a:latin typeface="Poppins" panose="00000500000000000000" pitchFamily="2" charset="0"/>
              <a:cs typeface="Poppins" panose="00000500000000000000" pitchFamily="2" charset="0"/>
            </a:endParaRPr>
          </a:p>
          <a:p>
            <a:pPr marL="342900" indent="-342900">
              <a:spcBef>
                <a:spcPct val="0"/>
              </a:spcBef>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sym typeface="Poppins Bold"/>
              </a:rPr>
              <a:t> Developed by </a:t>
            </a:r>
            <a:r>
              <a:rPr lang="en-US" sz="2400" dirty="0">
                <a:solidFill>
                  <a:srgbClr val="303642"/>
                </a:solidFill>
                <a:latin typeface="Poppins" panose="00000500000000000000" pitchFamily="2" charset="0"/>
                <a:cs typeface="Poppins" panose="00000500000000000000" pitchFamily="2" charset="0"/>
              </a:rPr>
              <a:t>the Bluetooth Special Interest Group (Bluetooth SIG).</a:t>
            </a:r>
          </a:p>
          <a:p>
            <a:pPr marL="342900" indent="-342900">
              <a:spcBef>
                <a:spcPct val="0"/>
              </a:spcBef>
              <a:buFont typeface="Arial" panose="020B0604020202020204" pitchFamily="34" charset="0"/>
              <a:buChar char="•"/>
            </a:pPr>
            <a:endParaRPr lang="en-US" sz="2400" dirty="0">
              <a:solidFill>
                <a:srgbClr val="303642"/>
              </a:solidFill>
              <a:latin typeface="Poppins" panose="00000500000000000000" pitchFamily="2" charset="0"/>
              <a:cs typeface="Poppins" panose="00000500000000000000" pitchFamily="2" charset="0"/>
              <a:sym typeface="Poppins Bold"/>
            </a:endParaRPr>
          </a:p>
          <a:p>
            <a:pPr marL="342900" indent="-342900">
              <a:spcBef>
                <a:spcPct val="0"/>
              </a:spcBef>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use much less power and cost less than the Classic.</a:t>
            </a:r>
            <a:endParaRPr lang="en-US" sz="2400" dirty="0">
              <a:solidFill>
                <a:srgbClr val="303642"/>
              </a:solidFill>
              <a:latin typeface="Poppins" panose="00000500000000000000" pitchFamily="2" charset="0"/>
              <a:cs typeface="Poppins" panose="00000500000000000000" pitchFamily="2" charset="0"/>
              <a:sym typeface="Poppins Bold"/>
            </a:endParaRPr>
          </a:p>
        </p:txBody>
      </p:sp>
      <p:sp>
        <p:nvSpPr>
          <p:cNvPr id="4" name="Slide Number Placeholder 3">
            <a:extLst>
              <a:ext uri="{FF2B5EF4-FFF2-40B4-BE49-F238E27FC236}">
                <a16:creationId xmlns:a16="http://schemas.microsoft.com/office/drawing/2014/main" id="{E05D71DE-1C24-7DA1-666A-64EB1B41F86B}"/>
              </a:ext>
            </a:extLst>
          </p:cNvPr>
          <p:cNvSpPr>
            <a:spLocks noGrp="1"/>
          </p:cNvSpPr>
          <p:nvPr>
            <p:ph type="sldNum" sz="quarter" idx="12"/>
          </p:nvPr>
        </p:nvSpPr>
        <p:spPr/>
        <p:txBody>
          <a:bodyPr/>
          <a:lstStyle/>
          <a:p>
            <a:fld id="{B6F15528-21DE-4FAA-801E-634DDDAF4B2B}" type="slidenum">
              <a:rPr lang="en-US" smtClean="0"/>
              <a:pPr/>
              <a:t>3</a:t>
            </a:fld>
            <a:endParaRPr lang="en-US"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A3C83-5B2E-238E-2EFB-D8C5FD4853DB}"/>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A7CE583A-7A22-DC04-7A1F-D9910C098A38}"/>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Classic Bluetooth vs BLE</a:t>
            </a:r>
          </a:p>
        </p:txBody>
      </p:sp>
      <p:grpSp>
        <p:nvGrpSpPr>
          <p:cNvPr id="15" name="Group 3">
            <a:extLst>
              <a:ext uri="{FF2B5EF4-FFF2-40B4-BE49-F238E27FC236}">
                <a16:creationId xmlns:a16="http://schemas.microsoft.com/office/drawing/2014/main" id="{D3F9A2C8-9D8C-8CE0-1C41-A3A076C7A830}"/>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03DDF65E-A7AB-08D6-4920-33FE8E5A45B4}"/>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3D66747E-801D-60B2-BAAF-F69AEB85E98D}"/>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9D2DC6DB-9340-C74B-7D15-C48BF2F01B1A}"/>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6076433A-08ED-7500-2001-BE72CDE1A8A3}"/>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53FDFF75-0A00-7DD4-CA9A-475438D3D8F9}"/>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3" name="Group 2">
            <a:extLst>
              <a:ext uri="{FF2B5EF4-FFF2-40B4-BE49-F238E27FC236}">
                <a16:creationId xmlns:a16="http://schemas.microsoft.com/office/drawing/2014/main" id="{9F9432CA-466E-E46F-42A9-10AF4903B708}"/>
              </a:ext>
            </a:extLst>
          </p:cNvPr>
          <p:cNvGrpSpPr/>
          <p:nvPr/>
        </p:nvGrpSpPr>
        <p:grpSpPr>
          <a:xfrm>
            <a:off x="647700" y="2596278"/>
            <a:ext cx="8264874" cy="6814422"/>
            <a:chOff x="1446713" y="2743048"/>
            <a:chExt cx="5486400" cy="4800904"/>
          </a:xfrm>
        </p:grpSpPr>
        <p:grpSp>
          <p:nvGrpSpPr>
            <p:cNvPr id="44" name="Group 43">
              <a:extLst>
                <a:ext uri="{FF2B5EF4-FFF2-40B4-BE49-F238E27FC236}">
                  <a16:creationId xmlns:a16="http://schemas.microsoft.com/office/drawing/2014/main" id="{42EC8F3F-FEFF-7482-7086-61ECDF9FBD0B}"/>
                </a:ext>
              </a:extLst>
            </p:cNvPr>
            <p:cNvGrpSpPr/>
            <p:nvPr/>
          </p:nvGrpSpPr>
          <p:grpSpPr>
            <a:xfrm>
              <a:off x="1446713" y="2743048"/>
              <a:ext cx="5486400" cy="4800904"/>
              <a:chOff x="1371600" y="2557397"/>
              <a:chExt cx="5486400" cy="4800904"/>
            </a:xfrm>
          </p:grpSpPr>
          <p:sp>
            <p:nvSpPr>
              <p:cNvPr id="28" name="Rectangle 27">
                <a:extLst>
                  <a:ext uri="{FF2B5EF4-FFF2-40B4-BE49-F238E27FC236}">
                    <a16:creationId xmlns:a16="http://schemas.microsoft.com/office/drawing/2014/main" id="{AA268C0E-21B1-BCB9-F7EA-04A6BCEEA58E}"/>
                  </a:ext>
                </a:extLst>
              </p:cNvPr>
              <p:cNvSpPr/>
              <p:nvPr/>
            </p:nvSpPr>
            <p:spPr>
              <a:xfrm>
                <a:off x="1371600" y="2928699"/>
                <a:ext cx="5486400" cy="1262475"/>
              </a:xfrm>
              <a:prstGeom prst="rect">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2"/>
                    </a:solidFill>
                    <a:latin typeface="Poppins Bold"/>
                    <a:cs typeface="Poppins Bold"/>
                    <a:sym typeface="League Spartan"/>
                  </a:rPr>
                  <a:t>Classic Bluetooth</a:t>
                </a:r>
                <a:endParaRPr lang="en-US" sz="3000" b="1" dirty="0">
                  <a:solidFill>
                    <a:schemeClr val="tx2"/>
                  </a:solidFill>
                  <a:latin typeface="Poppins Bold"/>
                  <a:cs typeface="Poppins Bold"/>
                </a:endParaRPr>
              </a:p>
            </p:txBody>
          </p:sp>
          <p:sp>
            <p:nvSpPr>
              <p:cNvPr id="30" name="Rectangle 29">
                <a:extLst>
                  <a:ext uri="{FF2B5EF4-FFF2-40B4-BE49-F238E27FC236}">
                    <a16:creationId xmlns:a16="http://schemas.microsoft.com/office/drawing/2014/main" id="{BF3C8D9F-7AD6-6353-909C-88262CF32D4A}"/>
                  </a:ext>
                </a:extLst>
              </p:cNvPr>
              <p:cNvSpPr/>
              <p:nvPr/>
            </p:nvSpPr>
            <p:spPr>
              <a:xfrm>
                <a:off x="1371600" y="4191174"/>
                <a:ext cx="5486400" cy="3167127"/>
              </a:xfrm>
              <a:prstGeom prst="rect">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150" indent="-342900">
                  <a:lnSpc>
                    <a:spcPct val="150000"/>
                  </a:lnSpc>
                  <a:spcBef>
                    <a:spcPct val="0"/>
                  </a:spcBef>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Designed for continuous, high-speed data streaming.</a:t>
                </a:r>
              </a:p>
              <a:p>
                <a:pPr marL="57150" indent="-342900">
                  <a:lnSpc>
                    <a:spcPct val="150000"/>
                  </a:lnSpc>
                  <a:spcBef>
                    <a:spcPct val="0"/>
                  </a:spcBef>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Offers high data rates (1-3 </a:t>
                </a:r>
                <a:r>
                  <a:rPr lang="en-US" sz="2400" dirty="0" err="1">
                    <a:solidFill>
                      <a:srgbClr val="303642"/>
                    </a:solidFill>
                    <a:latin typeface="Poppins" panose="00000500000000000000" pitchFamily="2" charset="0"/>
                    <a:cs typeface="Poppins" panose="00000500000000000000" pitchFamily="2" charset="0"/>
                  </a:rPr>
                  <a:t>Mbits</a:t>
                </a:r>
                <a:r>
                  <a:rPr lang="en-US" sz="2400" dirty="0">
                    <a:solidFill>
                      <a:srgbClr val="303642"/>
                    </a:solidFill>
                    <a:latin typeface="Poppins" panose="00000500000000000000" pitchFamily="2" charset="0"/>
                    <a:cs typeface="Poppins" panose="00000500000000000000" pitchFamily="2" charset="0"/>
                  </a:rPr>
                  <a:t>/s) and strong performance.</a:t>
                </a:r>
              </a:p>
              <a:p>
                <a:pPr marL="57150" indent="-342900">
                  <a:lnSpc>
                    <a:spcPct val="150000"/>
                  </a:lnSpc>
                  <a:spcBef>
                    <a:spcPct val="0"/>
                  </a:spcBef>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High power consumption (~1 W, used as reference).</a:t>
                </a:r>
              </a:p>
              <a:p>
                <a:pPr marL="57150" indent="-342900">
                  <a:lnSpc>
                    <a:spcPct val="150000"/>
                  </a:lnSpc>
                  <a:spcBef>
                    <a:spcPct val="0"/>
                  </a:spcBef>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Transmits data faster , responds to input slower (100 </a:t>
                </a:r>
                <a:r>
                  <a:rPr lang="en-US" sz="2400" dirty="0" err="1">
                    <a:solidFill>
                      <a:srgbClr val="303642"/>
                    </a:solidFill>
                    <a:latin typeface="Poppins" panose="00000500000000000000" pitchFamily="2" charset="0"/>
                    <a:cs typeface="Poppins" panose="00000500000000000000" pitchFamily="2" charset="0"/>
                  </a:rPr>
                  <a:t>ms</a:t>
                </a:r>
                <a:r>
                  <a:rPr lang="en-US" sz="2400" dirty="0">
                    <a:solidFill>
                      <a:srgbClr val="303642"/>
                    </a:solidFill>
                    <a:latin typeface="Poppins" panose="00000500000000000000" pitchFamily="2" charset="0"/>
                    <a:cs typeface="Poppins" panose="00000500000000000000" pitchFamily="2" charset="0"/>
                  </a:rPr>
                  <a:t> wake latency).</a:t>
                </a:r>
              </a:p>
              <a:p>
                <a:endParaRPr lang="en-US" dirty="0">
                  <a:solidFill>
                    <a:schemeClr val="tx1"/>
                  </a:solidFill>
                </a:endParaRPr>
              </a:p>
            </p:txBody>
          </p:sp>
          <p:sp>
            <p:nvSpPr>
              <p:cNvPr id="35" name="Oval 34">
                <a:extLst>
                  <a:ext uri="{FF2B5EF4-FFF2-40B4-BE49-F238E27FC236}">
                    <a16:creationId xmlns:a16="http://schemas.microsoft.com/office/drawing/2014/main" id="{F72AECA8-0A0F-43D1-D62A-5F2BD2A8B73F}"/>
                  </a:ext>
                </a:extLst>
              </p:cNvPr>
              <p:cNvSpPr/>
              <p:nvPr/>
            </p:nvSpPr>
            <p:spPr>
              <a:xfrm>
                <a:off x="5793374" y="2557397"/>
                <a:ext cx="950325" cy="950325"/>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6627E300-8D0C-87B6-4B02-720364FF1F58}"/>
                </a:ext>
              </a:extLst>
            </p:cNvPr>
            <p:cNvPicPr>
              <a:picLocks noChangeAspect="1"/>
            </p:cNvPicPr>
            <p:nvPr/>
          </p:nvPicPr>
          <p:blipFill>
            <a:blip r:embed="rId3"/>
            <a:stretch>
              <a:fillRect/>
            </a:stretch>
          </p:blipFill>
          <p:spPr>
            <a:xfrm>
              <a:off x="6016932" y="2859523"/>
              <a:ext cx="703537" cy="703537"/>
            </a:xfrm>
            <a:prstGeom prst="rect">
              <a:avLst/>
            </a:prstGeom>
          </p:spPr>
        </p:pic>
      </p:grpSp>
      <p:grpSp>
        <p:nvGrpSpPr>
          <p:cNvPr id="7" name="Group 6">
            <a:extLst>
              <a:ext uri="{FF2B5EF4-FFF2-40B4-BE49-F238E27FC236}">
                <a16:creationId xmlns:a16="http://schemas.microsoft.com/office/drawing/2014/main" id="{8FEFA623-FAAD-AE39-EA5C-DE9AA5F97500}"/>
              </a:ext>
            </a:extLst>
          </p:cNvPr>
          <p:cNvGrpSpPr/>
          <p:nvPr/>
        </p:nvGrpSpPr>
        <p:grpSpPr>
          <a:xfrm>
            <a:off x="9375427" y="2618899"/>
            <a:ext cx="7848600" cy="6791802"/>
            <a:chOff x="9375427" y="2476500"/>
            <a:chExt cx="7848600" cy="6508679"/>
          </a:xfrm>
        </p:grpSpPr>
        <p:grpSp>
          <p:nvGrpSpPr>
            <p:cNvPr id="45" name="Group 44">
              <a:extLst>
                <a:ext uri="{FF2B5EF4-FFF2-40B4-BE49-F238E27FC236}">
                  <a16:creationId xmlns:a16="http://schemas.microsoft.com/office/drawing/2014/main" id="{989008F6-A0BE-4076-4355-759D315A16D0}"/>
                </a:ext>
              </a:extLst>
            </p:cNvPr>
            <p:cNvGrpSpPr/>
            <p:nvPr/>
          </p:nvGrpSpPr>
          <p:grpSpPr>
            <a:xfrm>
              <a:off x="9375427" y="2476500"/>
              <a:ext cx="7848600" cy="6508679"/>
              <a:chOff x="1371600" y="2557397"/>
              <a:chExt cx="5486400" cy="4800904"/>
            </a:xfrm>
          </p:grpSpPr>
          <p:sp>
            <p:nvSpPr>
              <p:cNvPr id="46" name="Rectangle 45">
                <a:extLst>
                  <a:ext uri="{FF2B5EF4-FFF2-40B4-BE49-F238E27FC236}">
                    <a16:creationId xmlns:a16="http://schemas.microsoft.com/office/drawing/2014/main" id="{C8E66A91-B35A-FE9C-C22C-8F602BE67A21}"/>
                  </a:ext>
                </a:extLst>
              </p:cNvPr>
              <p:cNvSpPr/>
              <p:nvPr/>
            </p:nvSpPr>
            <p:spPr>
              <a:xfrm>
                <a:off x="1371600" y="2928699"/>
                <a:ext cx="5486400" cy="1262475"/>
              </a:xfrm>
              <a:prstGeom prst="rect">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2"/>
                    </a:solidFill>
                    <a:latin typeface="Poppins Bold"/>
                    <a:cs typeface="Poppins Bold"/>
                    <a:sym typeface="League Spartan"/>
                  </a:rPr>
                  <a:t>BLE (Bluetooth Smart)</a:t>
                </a:r>
                <a:endParaRPr lang="en-US" sz="3000" b="1" dirty="0">
                  <a:solidFill>
                    <a:schemeClr val="tx2"/>
                  </a:solidFill>
                  <a:latin typeface="Poppins Bold"/>
                  <a:cs typeface="Poppins Bold"/>
                </a:endParaRPr>
              </a:p>
            </p:txBody>
          </p:sp>
          <p:sp>
            <p:nvSpPr>
              <p:cNvPr id="47" name="Rectangle 46">
                <a:extLst>
                  <a:ext uri="{FF2B5EF4-FFF2-40B4-BE49-F238E27FC236}">
                    <a16:creationId xmlns:a16="http://schemas.microsoft.com/office/drawing/2014/main" id="{AD55537B-13AA-8311-EB75-11F319BC1D6E}"/>
                  </a:ext>
                </a:extLst>
              </p:cNvPr>
              <p:cNvSpPr/>
              <p:nvPr/>
            </p:nvSpPr>
            <p:spPr>
              <a:xfrm>
                <a:off x="1371600" y="4191174"/>
                <a:ext cx="5486400" cy="3167127"/>
              </a:xfrm>
              <a:prstGeom prst="rect">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Designed specifically for IoT applications.</a:t>
                </a:r>
              </a:p>
              <a:p>
                <a:pPr marL="342900" indent="-342900">
                  <a:lnSpc>
                    <a:spcPct val="150000"/>
                  </a:lnSpc>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Sends short bursts of data (ranges across 125 Kbits/s – 2 </a:t>
                </a:r>
                <a:r>
                  <a:rPr lang="en-US" sz="2400" dirty="0" err="1">
                    <a:solidFill>
                      <a:srgbClr val="303642"/>
                    </a:solidFill>
                    <a:latin typeface="Poppins" panose="00000500000000000000" pitchFamily="2" charset="0"/>
                    <a:cs typeface="Poppins" panose="00000500000000000000" pitchFamily="2" charset="0"/>
                  </a:rPr>
                  <a:t>Mbits</a:t>
                </a:r>
                <a:r>
                  <a:rPr lang="en-US" sz="2400" dirty="0">
                    <a:solidFill>
                      <a:srgbClr val="303642"/>
                    </a:solidFill>
                    <a:latin typeface="Poppins" panose="00000500000000000000" pitchFamily="2" charset="0"/>
                    <a:cs typeface="Poppins" panose="00000500000000000000" pitchFamily="2" charset="0"/>
                  </a:rPr>
                  <a:t>/s depending on the mode).</a:t>
                </a:r>
              </a:p>
              <a:p>
                <a:pPr marL="342900" indent="-342900">
                  <a:lnSpc>
                    <a:spcPct val="150000"/>
                  </a:lnSpc>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Consumes extremely low power (0.01-0.50W).</a:t>
                </a:r>
              </a:p>
              <a:p>
                <a:pPr marL="342900" indent="-342900">
                  <a:lnSpc>
                    <a:spcPct val="150000"/>
                  </a:lnSpc>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Transmits data slower, responds to input faster (6 </a:t>
                </a:r>
                <a:r>
                  <a:rPr lang="en-US" sz="2400" dirty="0" err="1">
                    <a:solidFill>
                      <a:srgbClr val="303642"/>
                    </a:solidFill>
                    <a:latin typeface="Poppins" panose="00000500000000000000" pitchFamily="2" charset="0"/>
                    <a:cs typeface="Poppins" panose="00000500000000000000" pitchFamily="2" charset="0"/>
                  </a:rPr>
                  <a:t>ms</a:t>
                </a:r>
                <a:r>
                  <a:rPr lang="en-US" sz="2400" dirty="0">
                    <a:solidFill>
                      <a:srgbClr val="303642"/>
                    </a:solidFill>
                    <a:latin typeface="Poppins" panose="00000500000000000000" pitchFamily="2" charset="0"/>
                    <a:cs typeface="Poppins" panose="00000500000000000000" pitchFamily="2" charset="0"/>
                  </a:rPr>
                  <a:t> wake latency).</a:t>
                </a:r>
              </a:p>
              <a:p>
                <a:pPr algn="ctr"/>
                <a:endParaRPr lang="en-US" dirty="0"/>
              </a:p>
            </p:txBody>
          </p:sp>
          <p:sp>
            <p:nvSpPr>
              <p:cNvPr id="48" name="Oval 47">
                <a:extLst>
                  <a:ext uri="{FF2B5EF4-FFF2-40B4-BE49-F238E27FC236}">
                    <a16:creationId xmlns:a16="http://schemas.microsoft.com/office/drawing/2014/main" id="{2E93392F-4A65-C644-5EF1-CBC805EFC415}"/>
                  </a:ext>
                </a:extLst>
              </p:cNvPr>
              <p:cNvSpPr/>
              <p:nvPr/>
            </p:nvSpPr>
            <p:spPr>
              <a:xfrm>
                <a:off x="5793374" y="2557397"/>
                <a:ext cx="950325" cy="950325"/>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26779AB1-80CF-3D96-92F7-66F1C5EDC2FE}"/>
                </a:ext>
              </a:extLst>
            </p:cNvPr>
            <p:cNvPicPr>
              <a:picLocks noChangeAspect="1"/>
            </p:cNvPicPr>
            <p:nvPr/>
          </p:nvPicPr>
          <p:blipFill>
            <a:blip r:embed="rId4"/>
            <a:stretch>
              <a:fillRect/>
            </a:stretch>
          </p:blipFill>
          <p:spPr>
            <a:xfrm>
              <a:off x="15827229" y="2560801"/>
              <a:ext cx="1142221" cy="1082469"/>
            </a:xfrm>
            <a:prstGeom prst="rect">
              <a:avLst/>
            </a:prstGeom>
          </p:spPr>
        </p:pic>
      </p:grpSp>
      <p:sp>
        <p:nvSpPr>
          <p:cNvPr id="9" name="TextBox 11">
            <a:extLst>
              <a:ext uri="{FF2B5EF4-FFF2-40B4-BE49-F238E27FC236}">
                <a16:creationId xmlns:a16="http://schemas.microsoft.com/office/drawing/2014/main" id="{602D8231-30DC-0B45-7CFF-67731AA21079}"/>
              </a:ext>
            </a:extLst>
          </p:cNvPr>
          <p:cNvSpPr txBox="1"/>
          <p:nvPr/>
        </p:nvSpPr>
        <p:spPr>
          <a:xfrm>
            <a:off x="1066800" y="2107168"/>
            <a:ext cx="13883997" cy="369332"/>
          </a:xfrm>
          <a:prstGeom prst="rect">
            <a:avLst/>
          </a:prstGeom>
        </p:spPr>
        <p:txBody>
          <a:bodyPr wrap="square" lIns="0" tIns="0" rIns="0" bIns="0" rtlCol="0" anchor="t">
            <a:spAutoFit/>
          </a:bodyPr>
          <a:lstStyle/>
          <a:p>
            <a:pPr algn="ctr">
              <a:spcBef>
                <a:spcPct val="0"/>
              </a:spcBef>
            </a:pPr>
            <a:r>
              <a:rPr lang="en-US" sz="2400" dirty="0">
                <a:solidFill>
                  <a:srgbClr val="303642"/>
                </a:solidFill>
                <a:latin typeface="Poppins" panose="00000500000000000000" pitchFamily="2" charset="0"/>
                <a:ea typeface="Poppins Bold"/>
                <a:cs typeface="Poppins" panose="00000500000000000000" pitchFamily="2" charset="0"/>
                <a:sym typeface="Poppins Bold"/>
              </a:rPr>
              <a:t>Bluetooth is a wireless technology standard used for exchanging data over short distances. </a:t>
            </a:r>
          </a:p>
        </p:txBody>
      </p:sp>
      <p:sp>
        <p:nvSpPr>
          <p:cNvPr id="8" name="Slide Number Placeholder 7">
            <a:extLst>
              <a:ext uri="{FF2B5EF4-FFF2-40B4-BE49-F238E27FC236}">
                <a16:creationId xmlns:a16="http://schemas.microsoft.com/office/drawing/2014/main" id="{3ED76BB1-4231-A0C2-3CF2-4F28E8B7AA71}"/>
              </a:ext>
            </a:extLst>
          </p:cNvPr>
          <p:cNvSpPr>
            <a:spLocks noGrp="1"/>
          </p:cNvSpPr>
          <p:nvPr>
            <p:ph type="sldNum" sz="quarter" idx="12"/>
          </p:nvPr>
        </p:nvSpPr>
        <p:spPr/>
        <p:txBody>
          <a:bodyPr/>
          <a:lstStyle/>
          <a:p>
            <a:fld id="{B6F15528-21DE-4FAA-801E-634DDDAF4B2B}" type="slidenum">
              <a:rPr lang="en-US" smtClean="0"/>
              <a:pPr/>
              <a:t>4</a:t>
            </a:fld>
            <a:endParaRPr lang="en-US" sz="1800"/>
          </a:p>
        </p:txBody>
      </p:sp>
    </p:spTree>
    <p:extLst>
      <p:ext uri="{BB962C8B-B14F-4D97-AF65-F5344CB8AC3E}">
        <p14:creationId xmlns:p14="http://schemas.microsoft.com/office/powerpoint/2010/main" val="2125373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C36F3-6CD6-62EB-263A-3C5030EF1FBD}"/>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FE13B0FD-3CB0-E322-C364-8A0799E9ABA1}"/>
              </a:ext>
            </a:extLst>
          </p:cNvPr>
          <p:cNvGrpSpPr/>
          <p:nvPr/>
        </p:nvGrpSpPr>
        <p:grpSpPr>
          <a:xfrm>
            <a:off x="-1143000" y="9439785"/>
            <a:ext cx="5245100" cy="1513604"/>
            <a:chOff x="0" y="-47625"/>
            <a:chExt cx="1381426" cy="398645"/>
          </a:xfrm>
        </p:grpSpPr>
        <p:sp>
          <p:nvSpPr>
            <p:cNvPr id="4" name="Freeform 4">
              <a:extLst>
                <a:ext uri="{FF2B5EF4-FFF2-40B4-BE49-F238E27FC236}">
                  <a16:creationId xmlns:a16="http://schemas.microsoft.com/office/drawing/2014/main" id="{D29EE55C-6D4E-6D8C-C03D-F61B67F7B5C7}"/>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9256E757-7686-AFE1-0119-9686F3B46184}"/>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6F6F32A4-50AD-707C-223E-14E5222ECB50}"/>
              </a:ext>
            </a:extLst>
          </p:cNvPr>
          <p:cNvGrpSpPr/>
          <p:nvPr/>
        </p:nvGrpSpPr>
        <p:grpSpPr>
          <a:xfrm>
            <a:off x="13912849" y="-746559"/>
            <a:ext cx="5245100" cy="1513604"/>
            <a:chOff x="0" y="-47625"/>
            <a:chExt cx="1381426" cy="398645"/>
          </a:xfrm>
        </p:grpSpPr>
        <p:sp>
          <p:nvSpPr>
            <p:cNvPr id="15" name="Freeform 4">
              <a:extLst>
                <a:ext uri="{FF2B5EF4-FFF2-40B4-BE49-F238E27FC236}">
                  <a16:creationId xmlns:a16="http://schemas.microsoft.com/office/drawing/2014/main" id="{2285D447-9E54-436F-DA71-57BD8A397B36}"/>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32269EFD-D3B9-AFAC-5E52-3AA2BF4DEF8E}"/>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pic>
        <p:nvPicPr>
          <p:cNvPr id="33" name="Picture 32">
            <a:extLst>
              <a:ext uri="{FF2B5EF4-FFF2-40B4-BE49-F238E27FC236}">
                <a16:creationId xmlns:a16="http://schemas.microsoft.com/office/drawing/2014/main" id="{48770996-067E-B575-7B8F-C7AF6ADAE494}"/>
              </a:ext>
            </a:extLst>
          </p:cNvPr>
          <p:cNvPicPr>
            <a:picLocks noChangeAspect="1"/>
          </p:cNvPicPr>
          <p:nvPr/>
        </p:nvPicPr>
        <p:blipFill>
          <a:blip r:embed="rId2"/>
          <a:stretch>
            <a:fillRect/>
          </a:stretch>
        </p:blipFill>
        <p:spPr>
          <a:xfrm>
            <a:off x="3527393" y="947871"/>
            <a:ext cx="11101624" cy="8491914"/>
          </a:xfrm>
          <a:prstGeom prst="rect">
            <a:avLst/>
          </a:prstGeom>
        </p:spPr>
      </p:pic>
      <p:sp>
        <p:nvSpPr>
          <p:cNvPr id="34" name="Oval 33">
            <a:extLst>
              <a:ext uri="{FF2B5EF4-FFF2-40B4-BE49-F238E27FC236}">
                <a16:creationId xmlns:a16="http://schemas.microsoft.com/office/drawing/2014/main" id="{7906F86A-932C-A333-1D74-4CD8B37F9665}"/>
              </a:ext>
            </a:extLst>
          </p:cNvPr>
          <p:cNvSpPr/>
          <p:nvPr/>
        </p:nvSpPr>
        <p:spPr>
          <a:xfrm>
            <a:off x="5925456" y="1866900"/>
            <a:ext cx="1295400" cy="381000"/>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380594D3-220F-8F48-2101-96CF382FE0D2}"/>
              </a:ext>
            </a:extLst>
          </p:cNvPr>
          <p:cNvSpPr/>
          <p:nvPr/>
        </p:nvSpPr>
        <p:spPr>
          <a:xfrm>
            <a:off x="10363200" y="1815465"/>
            <a:ext cx="3733800" cy="502920"/>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F827C3B9-5140-1E85-1352-841C647256E0}"/>
              </a:ext>
            </a:extLst>
          </p:cNvPr>
          <p:cNvSpPr/>
          <p:nvPr/>
        </p:nvSpPr>
        <p:spPr>
          <a:xfrm>
            <a:off x="6019800" y="5270500"/>
            <a:ext cx="1600200" cy="480758"/>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975659C3-777B-8B22-B947-B015F0197B27}"/>
              </a:ext>
            </a:extLst>
          </p:cNvPr>
          <p:cNvSpPr/>
          <p:nvPr/>
        </p:nvSpPr>
        <p:spPr>
          <a:xfrm>
            <a:off x="6019800" y="7277100"/>
            <a:ext cx="1981200" cy="480758"/>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C98E3841-F9BC-0EAD-61FD-8B2F7C949857}"/>
              </a:ext>
            </a:extLst>
          </p:cNvPr>
          <p:cNvSpPr/>
          <p:nvPr/>
        </p:nvSpPr>
        <p:spPr>
          <a:xfrm>
            <a:off x="10493406" y="7277100"/>
            <a:ext cx="3419443" cy="480758"/>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E31EB4F1-0064-CC7F-5B79-4D091821674D}"/>
              </a:ext>
            </a:extLst>
          </p:cNvPr>
          <p:cNvSpPr/>
          <p:nvPr/>
        </p:nvSpPr>
        <p:spPr>
          <a:xfrm>
            <a:off x="10515600" y="5332158"/>
            <a:ext cx="609600" cy="390071"/>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99BC39DA-42EB-9C23-9CFC-1A4292BC5FE8}"/>
              </a:ext>
            </a:extLst>
          </p:cNvPr>
          <p:cNvSpPr>
            <a:spLocks noGrp="1"/>
          </p:cNvSpPr>
          <p:nvPr>
            <p:ph type="sldNum" sz="quarter" idx="12"/>
          </p:nvPr>
        </p:nvSpPr>
        <p:spPr/>
        <p:txBody>
          <a:bodyPr/>
          <a:lstStyle/>
          <a:p>
            <a:fld id="{B6F15528-21DE-4FAA-801E-634DDDAF4B2B}" type="slidenum">
              <a:rPr lang="en-US" smtClean="0"/>
              <a:pPr/>
              <a:t>5</a:t>
            </a:fld>
            <a:endParaRPr lang="en-US" sz="1800"/>
          </a:p>
        </p:txBody>
      </p:sp>
    </p:spTree>
    <p:extLst>
      <p:ext uri="{BB962C8B-B14F-4D97-AF65-F5344CB8AC3E}">
        <p14:creationId xmlns:p14="http://schemas.microsoft.com/office/powerpoint/2010/main" val="199961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20CCC-7FC5-223E-E8A2-D8707BF057FC}"/>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05A1F47D-B672-9863-7599-867DEA209887}"/>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BLE vs Classic Bluetooth</a:t>
            </a:r>
          </a:p>
        </p:txBody>
      </p:sp>
      <p:sp>
        <p:nvSpPr>
          <p:cNvPr id="5" name="TextBox 4">
            <a:extLst>
              <a:ext uri="{FF2B5EF4-FFF2-40B4-BE49-F238E27FC236}">
                <a16:creationId xmlns:a16="http://schemas.microsoft.com/office/drawing/2014/main" id="{B8109B59-264D-B652-0EAF-7BB1FA043F1D}"/>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813D1996-8C27-5D54-AB42-07806A2FBBAE}"/>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7F06A903-F90A-53C0-E5B5-E34CB8E24BF0}"/>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EED14264-AFA6-AA1D-94B9-A0C0DE38C927}"/>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1AD95FFE-F7A0-D06B-6ECA-CA608D97A9BA}"/>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778F1F8A-01A0-2D52-487A-4D97BCD55596}"/>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A727D945-5118-7C2D-A39B-3F5A55CE540B}"/>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3" name="Group 2">
            <a:extLst>
              <a:ext uri="{FF2B5EF4-FFF2-40B4-BE49-F238E27FC236}">
                <a16:creationId xmlns:a16="http://schemas.microsoft.com/office/drawing/2014/main" id="{44F1161E-C717-BD9D-3208-18EDD2F7A14A}"/>
              </a:ext>
            </a:extLst>
          </p:cNvPr>
          <p:cNvGrpSpPr/>
          <p:nvPr/>
        </p:nvGrpSpPr>
        <p:grpSpPr>
          <a:xfrm>
            <a:off x="2824807" y="4005977"/>
            <a:ext cx="12324724" cy="3877985"/>
            <a:chOff x="2824807" y="4005977"/>
            <a:chExt cx="12324724" cy="3877985"/>
          </a:xfrm>
        </p:grpSpPr>
        <p:sp>
          <p:nvSpPr>
            <p:cNvPr id="2" name="Arrow: Right 1">
              <a:extLst>
                <a:ext uri="{FF2B5EF4-FFF2-40B4-BE49-F238E27FC236}">
                  <a16:creationId xmlns:a16="http://schemas.microsoft.com/office/drawing/2014/main" id="{89F9683C-36D3-7E61-08BA-743192C07966}"/>
                </a:ext>
              </a:extLst>
            </p:cNvPr>
            <p:cNvSpPr/>
            <p:nvPr/>
          </p:nvSpPr>
          <p:spPr>
            <a:xfrm>
              <a:off x="2824807" y="4686300"/>
              <a:ext cx="1601351" cy="1066800"/>
            </a:xfrm>
            <a:prstGeom prst="rightArrow">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DE" sz="2000"/>
            </a:p>
          </p:txBody>
        </p:sp>
        <p:sp>
          <p:nvSpPr>
            <p:cNvPr id="6" name="TextBox 11">
              <a:extLst>
                <a:ext uri="{FF2B5EF4-FFF2-40B4-BE49-F238E27FC236}">
                  <a16:creationId xmlns:a16="http://schemas.microsoft.com/office/drawing/2014/main" id="{63F1BE9D-C987-3CC6-877D-E92B4E904BC9}"/>
                </a:ext>
              </a:extLst>
            </p:cNvPr>
            <p:cNvSpPr txBox="1"/>
            <p:nvPr/>
          </p:nvSpPr>
          <p:spPr>
            <a:xfrm>
              <a:off x="5627172" y="4005977"/>
              <a:ext cx="9522359" cy="3877985"/>
            </a:xfrm>
            <a:prstGeom prst="rect">
              <a:avLst/>
            </a:prstGeom>
          </p:spPr>
          <p:txBody>
            <a:bodyPr wrap="square" lIns="0" tIns="0" rIns="0" bIns="0" rtlCol="0" anchor="t">
              <a:spAutoFit/>
            </a:bodyPr>
            <a:lstStyle/>
            <a:p>
              <a:pPr marL="457200" indent="-457200">
                <a:spcBef>
                  <a:spcPct val="0"/>
                </a:spcBef>
                <a:buFont typeface="Arial" panose="020B0604020202020204" pitchFamily="34" charset="0"/>
                <a:buChar char="•"/>
              </a:pPr>
              <a:r>
                <a:rPr lang="en-US" sz="2800" dirty="0">
                  <a:solidFill>
                    <a:srgbClr val="303642"/>
                  </a:solidFill>
                  <a:latin typeface="Poppins" panose="00000500000000000000" pitchFamily="2" charset="0"/>
                  <a:cs typeface="Poppins" panose="00000500000000000000" pitchFamily="2" charset="0"/>
                </a:rPr>
                <a:t>BLE is the clear winner in terms of energy efficiency.</a:t>
              </a:r>
            </a:p>
            <a:p>
              <a:pPr marL="342900" indent="-342900">
                <a:spcBef>
                  <a:spcPct val="0"/>
                </a:spcBef>
                <a:buFontTx/>
                <a:buChar char="-"/>
              </a:pPr>
              <a:endParaRPr lang="en-US" sz="2800" dirty="0">
                <a:solidFill>
                  <a:srgbClr val="303642"/>
                </a:solidFill>
                <a:latin typeface="Poppins" panose="00000500000000000000" pitchFamily="2" charset="0"/>
                <a:cs typeface="Poppins" panose="00000500000000000000" pitchFamily="2" charset="0"/>
              </a:endParaRPr>
            </a:p>
            <a:p>
              <a:pPr marL="457200" indent="-457200">
                <a:spcBef>
                  <a:spcPct val="0"/>
                </a:spcBef>
                <a:buFont typeface="Arial" panose="020B0604020202020204" pitchFamily="34" charset="0"/>
                <a:buChar char="•"/>
              </a:pPr>
              <a:r>
                <a:rPr lang="en-US" sz="2800" dirty="0">
                  <a:solidFill>
                    <a:srgbClr val="303642"/>
                  </a:solidFill>
                  <a:latin typeface="Poppins" panose="00000500000000000000" pitchFamily="2" charset="0"/>
                  <a:cs typeface="Poppins" panose="00000500000000000000" pitchFamily="2" charset="0"/>
                </a:rPr>
                <a:t>Keeps devices running for months or even years on a single battery (1–2 years on a 1,000 </a:t>
              </a:r>
              <a:r>
                <a:rPr lang="en-US" sz="2800" dirty="0" err="1">
                  <a:solidFill>
                    <a:srgbClr val="303642"/>
                  </a:solidFill>
                  <a:latin typeface="Poppins" panose="00000500000000000000" pitchFamily="2" charset="0"/>
                  <a:cs typeface="Poppins" panose="00000500000000000000" pitchFamily="2" charset="0"/>
                </a:rPr>
                <a:t>mAh</a:t>
              </a:r>
              <a:r>
                <a:rPr lang="en-US" sz="2800" dirty="0">
                  <a:solidFill>
                    <a:srgbClr val="303642"/>
                  </a:solidFill>
                  <a:latin typeface="Poppins" panose="00000500000000000000" pitchFamily="2" charset="0"/>
                  <a:cs typeface="Poppins" panose="00000500000000000000" pitchFamily="2" charset="0"/>
                </a:rPr>
                <a:t> per cell). </a:t>
              </a:r>
            </a:p>
            <a:p>
              <a:pPr marL="342900" indent="-342900">
                <a:spcBef>
                  <a:spcPct val="0"/>
                </a:spcBef>
                <a:buFontTx/>
                <a:buChar char="-"/>
              </a:pPr>
              <a:endParaRPr lang="en-US" sz="2800" dirty="0">
                <a:solidFill>
                  <a:srgbClr val="303642"/>
                </a:solidFill>
                <a:latin typeface="Poppins" panose="00000500000000000000" pitchFamily="2" charset="0"/>
                <a:cs typeface="Poppins" panose="00000500000000000000" pitchFamily="2" charset="0"/>
              </a:endParaRPr>
            </a:p>
            <a:p>
              <a:pPr marL="457200" indent="-457200">
                <a:spcBef>
                  <a:spcPct val="0"/>
                </a:spcBef>
                <a:buFont typeface="Arial" panose="020B0604020202020204" pitchFamily="34" charset="0"/>
                <a:buChar char="•"/>
              </a:pPr>
              <a:r>
                <a:rPr lang="en-US" sz="2800" dirty="0">
                  <a:solidFill>
                    <a:srgbClr val="303642"/>
                  </a:solidFill>
                  <a:latin typeface="Poppins" panose="00000500000000000000" pitchFamily="2" charset="0"/>
                  <a:cs typeface="Poppins" panose="00000500000000000000" pitchFamily="2" charset="0"/>
                </a:rPr>
                <a:t>Better choice for low-power, IoT-oriented automotive application, etc.</a:t>
              </a:r>
              <a:endParaRPr lang="en-US" sz="2800" dirty="0">
                <a:solidFill>
                  <a:srgbClr val="303642"/>
                </a:solidFill>
                <a:latin typeface="Poppins" panose="00000500000000000000" pitchFamily="2" charset="0"/>
                <a:cs typeface="Poppins" panose="00000500000000000000" pitchFamily="2" charset="0"/>
                <a:sym typeface="Poppins Bold"/>
              </a:endParaRPr>
            </a:p>
          </p:txBody>
        </p:sp>
      </p:grpSp>
      <p:sp>
        <p:nvSpPr>
          <p:cNvPr id="8" name="Slide Number Placeholder 7">
            <a:extLst>
              <a:ext uri="{FF2B5EF4-FFF2-40B4-BE49-F238E27FC236}">
                <a16:creationId xmlns:a16="http://schemas.microsoft.com/office/drawing/2014/main" id="{64CF06F9-718D-1AB9-629E-FCFB2AD17991}"/>
              </a:ext>
            </a:extLst>
          </p:cNvPr>
          <p:cNvSpPr>
            <a:spLocks noGrp="1"/>
          </p:cNvSpPr>
          <p:nvPr>
            <p:ph type="sldNum" sz="quarter" idx="12"/>
          </p:nvPr>
        </p:nvSpPr>
        <p:spPr/>
        <p:txBody>
          <a:bodyPr/>
          <a:lstStyle/>
          <a:p>
            <a:fld id="{B6F15528-21DE-4FAA-801E-634DDDAF4B2B}" type="slidenum">
              <a:rPr lang="en-US" smtClean="0"/>
              <a:pPr/>
              <a:t>6</a:t>
            </a:fld>
            <a:endParaRPr lang="en-US" sz="1800"/>
          </a:p>
        </p:txBody>
      </p:sp>
    </p:spTree>
    <p:extLst>
      <p:ext uri="{BB962C8B-B14F-4D97-AF65-F5344CB8AC3E}">
        <p14:creationId xmlns:p14="http://schemas.microsoft.com/office/powerpoint/2010/main" val="2279984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2C96B-0DBA-F571-CC55-961073643583}"/>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2544CCA3-3317-F370-2FA0-64AC6A51E031}"/>
              </a:ext>
            </a:extLst>
          </p:cNvPr>
          <p:cNvGrpSpPr/>
          <p:nvPr/>
        </p:nvGrpSpPr>
        <p:grpSpPr>
          <a:xfrm>
            <a:off x="-1130300" y="4057750"/>
            <a:ext cx="3086100" cy="2171499"/>
            <a:chOff x="0" y="0"/>
            <a:chExt cx="812800" cy="571917"/>
          </a:xfrm>
        </p:grpSpPr>
        <p:sp>
          <p:nvSpPr>
            <p:cNvPr id="4" name="Freeform 4">
              <a:extLst>
                <a:ext uri="{FF2B5EF4-FFF2-40B4-BE49-F238E27FC236}">
                  <a16:creationId xmlns:a16="http://schemas.microsoft.com/office/drawing/2014/main" id="{13BDD1B6-4E5F-3104-FF12-02BA659EB86A}"/>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en-DE" dirty="0"/>
            </a:p>
          </p:txBody>
        </p:sp>
        <p:sp>
          <p:nvSpPr>
            <p:cNvPr id="5" name="TextBox 5">
              <a:extLst>
                <a:ext uri="{FF2B5EF4-FFF2-40B4-BE49-F238E27FC236}">
                  <a16:creationId xmlns:a16="http://schemas.microsoft.com/office/drawing/2014/main" id="{8F9D1A52-EF4F-610A-BE06-DA4692224D6F}"/>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FEDB2340-178E-5468-218F-419850DC02E2}"/>
              </a:ext>
            </a:extLst>
          </p:cNvPr>
          <p:cNvGrpSpPr/>
          <p:nvPr/>
        </p:nvGrpSpPr>
        <p:grpSpPr>
          <a:xfrm>
            <a:off x="16467343" y="4057750"/>
            <a:ext cx="3086100" cy="2171499"/>
            <a:chOff x="0" y="0"/>
            <a:chExt cx="812800" cy="571917"/>
          </a:xfrm>
        </p:grpSpPr>
        <p:sp>
          <p:nvSpPr>
            <p:cNvPr id="7" name="Freeform 7">
              <a:extLst>
                <a:ext uri="{FF2B5EF4-FFF2-40B4-BE49-F238E27FC236}">
                  <a16:creationId xmlns:a16="http://schemas.microsoft.com/office/drawing/2014/main" id="{DF9C470C-2F0B-C42E-D17A-A6A4F975FD1A}"/>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en-DE"/>
            </a:p>
          </p:txBody>
        </p:sp>
        <p:sp>
          <p:nvSpPr>
            <p:cNvPr id="8" name="TextBox 8">
              <a:extLst>
                <a:ext uri="{FF2B5EF4-FFF2-40B4-BE49-F238E27FC236}">
                  <a16:creationId xmlns:a16="http://schemas.microsoft.com/office/drawing/2014/main" id="{7D90DA38-8B3B-3057-99BA-D57C95FFECB2}"/>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9" name="Freeform 9">
            <a:extLst>
              <a:ext uri="{FF2B5EF4-FFF2-40B4-BE49-F238E27FC236}">
                <a16:creationId xmlns:a16="http://schemas.microsoft.com/office/drawing/2014/main" id="{7F0145E8-14D3-F293-12EB-93FB4E01AD87}"/>
              </a:ext>
            </a:extLst>
          </p:cNvPr>
          <p:cNvSpPr/>
          <p:nvPr/>
        </p:nvSpPr>
        <p:spPr>
          <a:xfrm>
            <a:off x="15129698" y="533489"/>
            <a:ext cx="2675289" cy="1342103"/>
          </a:xfrm>
          <a:custGeom>
            <a:avLst/>
            <a:gdLst/>
            <a:ahLst/>
            <a:cxnLst/>
            <a:rect l="l" t="t" r="r" b="b"/>
            <a:pathLst>
              <a:path w="4007554" h="2010456">
                <a:moveTo>
                  <a:pt x="0" y="0"/>
                </a:moveTo>
                <a:lnTo>
                  <a:pt x="4007554" y="0"/>
                </a:lnTo>
                <a:lnTo>
                  <a:pt x="4007554" y="2010456"/>
                </a:lnTo>
                <a:lnTo>
                  <a:pt x="0" y="2010456"/>
                </a:lnTo>
                <a:lnTo>
                  <a:pt x="0" y="0"/>
                </a:lnTo>
                <a:close/>
              </a:path>
            </a:pathLst>
          </a:custGeom>
          <a:blipFill>
            <a:blip r:embed="rId2"/>
            <a:stretch>
              <a:fillRect/>
            </a:stretch>
          </a:blipFill>
        </p:spPr>
        <p:txBody>
          <a:bodyPr/>
          <a:lstStyle/>
          <a:p>
            <a:endParaRPr lang="en-DE"/>
          </a:p>
        </p:txBody>
      </p:sp>
      <p:sp>
        <p:nvSpPr>
          <p:cNvPr id="10" name="TextBox 10">
            <a:extLst>
              <a:ext uri="{FF2B5EF4-FFF2-40B4-BE49-F238E27FC236}">
                <a16:creationId xmlns:a16="http://schemas.microsoft.com/office/drawing/2014/main" id="{41E9A059-B00C-6E66-5015-C27D595C44AF}"/>
              </a:ext>
            </a:extLst>
          </p:cNvPr>
          <p:cNvSpPr txBox="1"/>
          <p:nvPr/>
        </p:nvSpPr>
        <p:spPr>
          <a:xfrm>
            <a:off x="2712637" y="4257675"/>
            <a:ext cx="12997868" cy="2105025"/>
          </a:xfrm>
          <a:prstGeom prst="rect">
            <a:avLst/>
          </a:prstGeom>
        </p:spPr>
        <p:txBody>
          <a:bodyPr lIns="0" tIns="0" rIns="0" bIns="0" rtlCol="0" anchor="t">
            <a:spAutoFit/>
          </a:bodyPr>
          <a:lstStyle/>
          <a:p>
            <a:pPr algn="ctr">
              <a:lnSpc>
                <a:spcPts val="8400"/>
              </a:lnSpc>
            </a:pPr>
            <a:r>
              <a:rPr lang="en-US" sz="6000" b="1" dirty="0">
                <a:solidFill>
                  <a:srgbClr val="004AAD"/>
                </a:solidFill>
                <a:latin typeface="League Spartan"/>
                <a:ea typeface="League Spartan"/>
                <a:cs typeface="League Spartan"/>
                <a:sym typeface="League Spartan"/>
              </a:rPr>
              <a:t>BLE Architecture and operating principals</a:t>
            </a:r>
          </a:p>
        </p:txBody>
      </p:sp>
      <p:sp>
        <p:nvSpPr>
          <p:cNvPr id="14" name="Freeform 56">
            <a:extLst>
              <a:ext uri="{FF2B5EF4-FFF2-40B4-BE49-F238E27FC236}">
                <a16:creationId xmlns:a16="http://schemas.microsoft.com/office/drawing/2014/main" id="{E66A7120-F37D-D877-6BE6-F37DA5E79271}"/>
              </a:ext>
            </a:extLst>
          </p:cNvPr>
          <p:cNvSpPr/>
          <p:nvPr/>
        </p:nvSpPr>
        <p:spPr>
          <a:xfrm>
            <a:off x="8326046" y="1562100"/>
            <a:ext cx="1884754" cy="1938790"/>
          </a:xfrm>
          <a:custGeom>
            <a:avLst/>
            <a:gdLst/>
            <a:ahLst/>
            <a:cxnLst/>
            <a:rect l="l" t="t" r="r" b="b"/>
            <a:pathLst>
              <a:path w="859299" h="812800">
                <a:moveTo>
                  <a:pt x="429650" y="0"/>
                </a:moveTo>
                <a:cubicBezTo>
                  <a:pt x="192361" y="0"/>
                  <a:pt x="0" y="181951"/>
                  <a:pt x="0" y="406400"/>
                </a:cubicBezTo>
                <a:cubicBezTo>
                  <a:pt x="0" y="630849"/>
                  <a:pt x="192361" y="812800"/>
                  <a:pt x="429650" y="812800"/>
                </a:cubicBezTo>
                <a:cubicBezTo>
                  <a:pt x="666939" y="812800"/>
                  <a:pt x="859299" y="630849"/>
                  <a:pt x="859299" y="406400"/>
                </a:cubicBezTo>
                <a:cubicBezTo>
                  <a:pt x="859299" y="181951"/>
                  <a:pt x="666939" y="0"/>
                  <a:pt x="429650" y="0"/>
                </a:cubicBezTo>
                <a:close/>
              </a:path>
            </a:pathLst>
          </a:custGeom>
          <a:solidFill>
            <a:srgbClr val="004AAD"/>
          </a:solidFill>
        </p:spPr>
        <p:txBody>
          <a:bodyPr/>
          <a:lstStyle/>
          <a:p>
            <a:endParaRPr lang="en-DE" dirty="0"/>
          </a:p>
        </p:txBody>
      </p:sp>
      <p:sp>
        <p:nvSpPr>
          <p:cNvPr id="16" name="TextBox 58">
            <a:extLst>
              <a:ext uri="{FF2B5EF4-FFF2-40B4-BE49-F238E27FC236}">
                <a16:creationId xmlns:a16="http://schemas.microsoft.com/office/drawing/2014/main" id="{65A3037C-E001-CB34-FE91-6702EED21FE3}"/>
              </a:ext>
            </a:extLst>
          </p:cNvPr>
          <p:cNvSpPr txBox="1"/>
          <p:nvPr/>
        </p:nvSpPr>
        <p:spPr>
          <a:xfrm>
            <a:off x="8326046" y="2399374"/>
            <a:ext cx="1884754" cy="686726"/>
          </a:xfrm>
          <a:prstGeom prst="rect">
            <a:avLst/>
          </a:prstGeom>
        </p:spPr>
        <p:txBody>
          <a:bodyPr wrap="square" lIns="0" tIns="0" rIns="0" bIns="0" rtlCol="0" anchor="t">
            <a:spAutoFit/>
          </a:bodyPr>
          <a:lstStyle/>
          <a:p>
            <a:pPr algn="ctr">
              <a:lnSpc>
                <a:spcPts val="4506"/>
              </a:lnSpc>
            </a:pPr>
            <a:r>
              <a:rPr lang="en-US" sz="6600" b="1" dirty="0">
                <a:solidFill>
                  <a:srgbClr val="FFFFFF"/>
                </a:solidFill>
                <a:latin typeface="League Spartan"/>
                <a:ea typeface="League Spartan"/>
                <a:cs typeface="League Spartan"/>
                <a:sym typeface="League Spartan"/>
              </a:rPr>
              <a:t>2</a:t>
            </a:r>
          </a:p>
        </p:txBody>
      </p:sp>
      <p:sp>
        <p:nvSpPr>
          <p:cNvPr id="12" name="Slide Number Placeholder 11">
            <a:extLst>
              <a:ext uri="{FF2B5EF4-FFF2-40B4-BE49-F238E27FC236}">
                <a16:creationId xmlns:a16="http://schemas.microsoft.com/office/drawing/2014/main" id="{228F03F9-732B-ECB1-5BC3-AF44AEE5E032}"/>
              </a:ext>
            </a:extLst>
          </p:cNvPr>
          <p:cNvSpPr>
            <a:spLocks noGrp="1"/>
          </p:cNvSpPr>
          <p:nvPr>
            <p:ph type="sldNum" sz="quarter" idx="12"/>
          </p:nvPr>
        </p:nvSpPr>
        <p:spPr/>
        <p:txBody>
          <a:bodyPr/>
          <a:lstStyle/>
          <a:p>
            <a:fld id="{B6F15528-21DE-4FAA-801E-634DDDAF4B2B}" type="slidenum">
              <a:rPr lang="en-US" smtClean="0"/>
              <a:pPr/>
              <a:t>7</a:t>
            </a:fld>
            <a:endParaRPr lang="en-US" sz="1800"/>
          </a:p>
        </p:txBody>
      </p:sp>
    </p:spTree>
    <p:extLst>
      <p:ext uri="{BB962C8B-B14F-4D97-AF65-F5344CB8AC3E}">
        <p14:creationId xmlns:p14="http://schemas.microsoft.com/office/powerpoint/2010/main" val="4277537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EAE2E-A9FD-1408-B707-3C8C86CAACFD}"/>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01C2B6DC-5FEE-5978-63E6-7FB563883F8F}"/>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BLE Stack Architecture</a:t>
            </a:r>
          </a:p>
        </p:txBody>
      </p:sp>
      <p:grpSp>
        <p:nvGrpSpPr>
          <p:cNvPr id="3" name="Group 3">
            <a:extLst>
              <a:ext uri="{FF2B5EF4-FFF2-40B4-BE49-F238E27FC236}">
                <a16:creationId xmlns:a16="http://schemas.microsoft.com/office/drawing/2014/main" id="{4EC3AACA-6E32-BB7C-F1A3-44BF6BFE83A9}"/>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6E8A01FD-6B4D-18C8-441F-BF6FF4877187}"/>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2CD8671B-A52C-9ED0-5C84-BABC75710F9E}"/>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B12AA9D3-F2EA-C3E5-159C-00EA808A4C91}"/>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C0823D2B-D7EF-D4F9-E313-8B56301512BF}"/>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01E4495E-2A11-7372-6E3A-B2B79D6A4DDC}"/>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6" name="TextBox 11">
            <a:extLst>
              <a:ext uri="{FF2B5EF4-FFF2-40B4-BE49-F238E27FC236}">
                <a16:creationId xmlns:a16="http://schemas.microsoft.com/office/drawing/2014/main" id="{66CB3DF6-6906-5FAE-A73D-E504DCE17ACE}"/>
              </a:ext>
            </a:extLst>
          </p:cNvPr>
          <p:cNvSpPr txBox="1"/>
          <p:nvPr/>
        </p:nvSpPr>
        <p:spPr>
          <a:xfrm>
            <a:off x="914400" y="3560445"/>
            <a:ext cx="8168998" cy="2954655"/>
          </a:xfrm>
          <a:prstGeom prst="rect">
            <a:avLst/>
          </a:prstGeom>
        </p:spPr>
        <p:txBody>
          <a:bodyPr wrap="square" lIns="0" tIns="0" rIns="0" bIns="0" rtlCol="0" anchor="t">
            <a:spAutoFit/>
          </a:bodyPr>
          <a:lstStyle/>
          <a:p>
            <a:pPr marL="342900" indent="-342900">
              <a:spcBef>
                <a:spcPct val="0"/>
              </a:spcBef>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The BLE stack implements the core BLE functionality. </a:t>
            </a:r>
          </a:p>
          <a:p>
            <a:pPr>
              <a:spcBef>
                <a:spcPct val="0"/>
              </a:spcBef>
            </a:pPr>
            <a:endParaRPr lang="en-US" sz="2400" dirty="0">
              <a:solidFill>
                <a:srgbClr val="303642"/>
              </a:solidFill>
              <a:latin typeface="Poppins" panose="00000500000000000000" pitchFamily="2" charset="0"/>
              <a:cs typeface="Poppins" panose="00000500000000000000" pitchFamily="2" charset="0"/>
            </a:endParaRPr>
          </a:p>
          <a:p>
            <a:pPr marL="342900" indent="-342900">
              <a:spcBef>
                <a:spcPct val="0"/>
              </a:spcBef>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It is included as a precompiled library, embedded inside the BLE Component.</a:t>
            </a:r>
          </a:p>
          <a:p>
            <a:pPr marL="342900" indent="-342900">
              <a:spcBef>
                <a:spcPct val="0"/>
              </a:spcBef>
              <a:buFontTx/>
              <a:buChar char="-"/>
            </a:pPr>
            <a:endParaRPr lang="en-US" sz="2400" dirty="0">
              <a:solidFill>
                <a:srgbClr val="303642"/>
              </a:solidFill>
              <a:latin typeface="Poppins" panose="00000500000000000000" pitchFamily="2" charset="0"/>
              <a:cs typeface="Poppins" panose="00000500000000000000" pitchFamily="2" charset="0"/>
            </a:endParaRPr>
          </a:p>
          <a:p>
            <a:pPr marL="342900" indent="-342900">
              <a:spcBef>
                <a:spcPct val="0"/>
              </a:spcBef>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The BLE protocol implements a layered architecture:</a:t>
            </a:r>
          </a:p>
        </p:txBody>
      </p:sp>
      <p:sp>
        <p:nvSpPr>
          <p:cNvPr id="9" name="Slide Number Placeholder 8">
            <a:extLst>
              <a:ext uri="{FF2B5EF4-FFF2-40B4-BE49-F238E27FC236}">
                <a16:creationId xmlns:a16="http://schemas.microsoft.com/office/drawing/2014/main" id="{8AD01EDE-A3F1-F5EB-9D03-9880D151F968}"/>
              </a:ext>
            </a:extLst>
          </p:cNvPr>
          <p:cNvSpPr>
            <a:spLocks noGrp="1"/>
          </p:cNvSpPr>
          <p:nvPr>
            <p:ph type="sldNum" sz="quarter" idx="12"/>
          </p:nvPr>
        </p:nvSpPr>
        <p:spPr/>
        <p:txBody>
          <a:bodyPr/>
          <a:lstStyle/>
          <a:p>
            <a:fld id="{B6F15528-21DE-4FAA-801E-634DDDAF4B2B}" type="slidenum">
              <a:rPr lang="en-US" smtClean="0"/>
              <a:pPr/>
              <a:t>8</a:t>
            </a:fld>
            <a:endParaRPr lang="en-US" sz="1800"/>
          </a:p>
        </p:txBody>
      </p:sp>
      <p:pic>
        <p:nvPicPr>
          <p:cNvPr id="2" name="Picture 1">
            <a:extLst>
              <a:ext uri="{FF2B5EF4-FFF2-40B4-BE49-F238E27FC236}">
                <a16:creationId xmlns:a16="http://schemas.microsoft.com/office/drawing/2014/main" id="{5F2F95A2-3A32-CCD5-E0EE-36A9A109A5CE}"/>
              </a:ext>
            </a:extLst>
          </p:cNvPr>
          <p:cNvPicPr>
            <a:picLocks noChangeAspect="1"/>
          </p:cNvPicPr>
          <p:nvPr/>
        </p:nvPicPr>
        <p:blipFill>
          <a:blip r:embed="rId2">
            <a:extLst>
              <a:ext uri="{28A0092B-C50C-407E-A947-70E740481C1C}">
                <a14:useLocalDpi xmlns:a14="http://schemas.microsoft.com/office/drawing/2010/main" val="0"/>
              </a:ext>
            </a:extLst>
          </a:blip>
          <a:srcRect t="-985" r="-3137" b="3793"/>
          <a:stretch>
            <a:fillRect/>
          </a:stretch>
        </p:blipFill>
        <p:spPr>
          <a:xfrm>
            <a:off x="9271643" y="2857500"/>
            <a:ext cx="8987782" cy="5276918"/>
          </a:xfrm>
          <a:prstGeom prst="rect">
            <a:avLst/>
          </a:prstGeom>
        </p:spPr>
      </p:pic>
    </p:spTree>
    <p:extLst>
      <p:ext uri="{BB962C8B-B14F-4D97-AF65-F5344CB8AC3E}">
        <p14:creationId xmlns:p14="http://schemas.microsoft.com/office/powerpoint/2010/main" val="3868485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71DE6-7F13-DB39-D5B9-488CBEA5C978}"/>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E80F6A7C-DA39-C326-BC9E-1FCB3340F223}"/>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The Controller Layer</a:t>
            </a:r>
          </a:p>
        </p:txBody>
      </p:sp>
      <p:grpSp>
        <p:nvGrpSpPr>
          <p:cNvPr id="15" name="Group 3">
            <a:extLst>
              <a:ext uri="{FF2B5EF4-FFF2-40B4-BE49-F238E27FC236}">
                <a16:creationId xmlns:a16="http://schemas.microsoft.com/office/drawing/2014/main" id="{FA5786F0-21A9-6FE0-F81C-3CCD65B9628B}"/>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FCFF2907-7B2E-EE01-F36C-173E623BD73A}"/>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92CA035B-DC23-D4D0-F57F-DA1C94B13C5E}"/>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D4DBD5E6-B808-F86B-09D6-5763A1542B13}"/>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F9F1F7AD-7B96-826D-BA63-908D47AD88B9}"/>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F3C2068A-7F8D-0601-94AC-A3BDE0DCF929}"/>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10" name="TextBox 9">
            <a:extLst>
              <a:ext uri="{FF2B5EF4-FFF2-40B4-BE49-F238E27FC236}">
                <a16:creationId xmlns:a16="http://schemas.microsoft.com/office/drawing/2014/main" id="{1B0485C2-5CFC-57D2-884D-786F5C6D26B1}"/>
              </a:ext>
            </a:extLst>
          </p:cNvPr>
          <p:cNvSpPr txBox="1"/>
          <p:nvPr/>
        </p:nvSpPr>
        <p:spPr>
          <a:xfrm>
            <a:off x="975003" y="4381500"/>
            <a:ext cx="6644998" cy="1938992"/>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Controls </a:t>
            </a:r>
            <a:r>
              <a:rPr lang="en-DE" sz="2400" dirty="0">
                <a:solidFill>
                  <a:srgbClr val="303642"/>
                </a:solidFill>
                <a:latin typeface="Poppins" panose="00000500000000000000" pitchFamily="2" charset="0"/>
                <a:cs typeface="Poppins" panose="00000500000000000000" pitchFamily="2" charset="0"/>
              </a:rPr>
              <a:t>the hardware that transmits and receives radio waves</a:t>
            </a:r>
            <a:r>
              <a:rPr lang="en-US" sz="2400" dirty="0">
                <a:solidFill>
                  <a:srgbClr val="303642"/>
                </a:solidFill>
                <a:latin typeface="Poppins" panose="00000500000000000000" pitchFamily="2" charset="0"/>
                <a:cs typeface="Poppins" panose="00000500000000000000" pitchFamily="2" charset="0"/>
              </a:rPr>
              <a:t>.</a:t>
            </a:r>
          </a:p>
          <a:p>
            <a:pPr marL="342900" indent="-342900">
              <a:buFontTx/>
              <a:buChar char="-"/>
            </a:pPr>
            <a:endParaRPr lang="en-US" sz="2400" dirty="0">
              <a:solidFill>
                <a:srgbClr val="303642"/>
              </a:solidFill>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M</a:t>
            </a:r>
            <a:r>
              <a:rPr lang="en-DE" sz="2400" dirty="0">
                <a:solidFill>
                  <a:srgbClr val="303642"/>
                </a:solidFill>
                <a:latin typeface="Poppins" panose="00000500000000000000" pitchFamily="2" charset="0"/>
                <a:cs typeface="Poppins" panose="00000500000000000000" pitchFamily="2" charset="0"/>
              </a:rPr>
              <a:t>aps connection requests from the higher layers down to the physical layer. </a:t>
            </a:r>
          </a:p>
        </p:txBody>
      </p:sp>
      <p:pic>
        <p:nvPicPr>
          <p:cNvPr id="6" name="Picture 5">
            <a:extLst>
              <a:ext uri="{FF2B5EF4-FFF2-40B4-BE49-F238E27FC236}">
                <a16:creationId xmlns:a16="http://schemas.microsoft.com/office/drawing/2014/main" id="{836318BD-5CB3-B2DF-7F93-2BF808D73593}"/>
              </a:ext>
            </a:extLst>
          </p:cNvPr>
          <p:cNvPicPr>
            <a:picLocks noChangeAspect="1"/>
          </p:cNvPicPr>
          <p:nvPr/>
        </p:nvPicPr>
        <p:blipFill>
          <a:blip r:embed="rId3">
            <a:extLst>
              <a:ext uri="{28A0092B-C50C-407E-A947-70E740481C1C}">
                <a14:useLocalDpi xmlns:a14="http://schemas.microsoft.com/office/drawing/2010/main" val="0"/>
              </a:ext>
            </a:extLst>
          </a:blip>
          <a:srcRect t="65252" r="18740" b="4651"/>
          <a:stretch>
            <a:fillRect/>
          </a:stretch>
        </p:blipFill>
        <p:spPr>
          <a:xfrm>
            <a:off x="10134600" y="3869565"/>
            <a:ext cx="6875083" cy="1828800"/>
          </a:xfrm>
          <a:prstGeom prst="rect">
            <a:avLst/>
          </a:prstGeom>
        </p:spPr>
      </p:pic>
      <p:grpSp>
        <p:nvGrpSpPr>
          <p:cNvPr id="2" name="Group 1">
            <a:extLst>
              <a:ext uri="{FF2B5EF4-FFF2-40B4-BE49-F238E27FC236}">
                <a16:creationId xmlns:a16="http://schemas.microsoft.com/office/drawing/2014/main" id="{68AC174F-6AF3-041A-E1ED-8CD94467C776}"/>
              </a:ext>
            </a:extLst>
          </p:cNvPr>
          <p:cNvGrpSpPr/>
          <p:nvPr/>
        </p:nvGrpSpPr>
        <p:grpSpPr>
          <a:xfrm>
            <a:off x="10749423" y="1316642"/>
            <a:ext cx="5029200" cy="2476790"/>
            <a:chOff x="10749423" y="1316642"/>
            <a:chExt cx="5029200" cy="2476790"/>
          </a:xfrm>
        </p:grpSpPr>
        <p:sp>
          <p:nvSpPr>
            <p:cNvPr id="31" name="TextBox 30">
              <a:extLst>
                <a:ext uri="{FF2B5EF4-FFF2-40B4-BE49-F238E27FC236}">
                  <a16:creationId xmlns:a16="http://schemas.microsoft.com/office/drawing/2014/main" id="{83DE3912-6678-7314-FD0A-FC3096ED4A91}"/>
                </a:ext>
              </a:extLst>
            </p:cNvPr>
            <p:cNvSpPr txBox="1"/>
            <p:nvPr/>
          </p:nvSpPr>
          <p:spPr>
            <a:xfrm>
              <a:off x="10749423" y="1316642"/>
              <a:ext cx="5029200" cy="1200329"/>
            </a:xfrm>
            <a:prstGeom prst="rect">
              <a:avLst/>
            </a:prstGeom>
            <a:noFill/>
          </p:spPr>
          <p:txBody>
            <a:bodyPr wrap="square">
              <a:spAutoFit/>
            </a:bodyPr>
            <a:lstStyle/>
            <a:p>
              <a:pPr algn="ctr"/>
              <a:r>
                <a:rPr lang="en-US" sz="2400" dirty="0">
                  <a:solidFill>
                    <a:srgbClr val="303642"/>
                  </a:solidFill>
                  <a:latin typeface="Poppins" panose="00000500000000000000" pitchFamily="2" charset="0"/>
                  <a:cs typeface="Poppins" panose="00000500000000000000" pitchFamily="2" charset="0"/>
                </a:rPr>
                <a:t>Responsible for scanning, and for creating and maintaining connections.</a:t>
              </a:r>
            </a:p>
          </p:txBody>
        </p:sp>
        <p:sp>
          <p:nvSpPr>
            <p:cNvPr id="55" name="Arrow: Up 54">
              <a:extLst>
                <a:ext uri="{FF2B5EF4-FFF2-40B4-BE49-F238E27FC236}">
                  <a16:creationId xmlns:a16="http://schemas.microsoft.com/office/drawing/2014/main" id="{73E08A03-EC27-02B5-9CB6-E526C2D07B07}"/>
                </a:ext>
              </a:extLst>
            </p:cNvPr>
            <p:cNvSpPr/>
            <p:nvPr/>
          </p:nvSpPr>
          <p:spPr>
            <a:xfrm>
              <a:off x="13182601" y="2962435"/>
              <a:ext cx="162846" cy="830997"/>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grpSp>
        <p:nvGrpSpPr>
          <p:cNvPr id="3" name="Group 2">
            <a:extLst>
              <a:ext uri="{FF2B5EF4-FFF2-40B4-BE49-F238E27FC236}">
                <a16:creationId xmlns:a16="http://schemas.microsoft.com/office/drawing/2014/main" id="{765AF404-1040-123F-D651-E65D85C08432}"/>
              </a:ext>
            </a:extLst>
          </p:cNvPr>
          <p:cNvGrpSpPr/>
          <p:nvPr/>
        </p:nvGrpSpPr>
        <p:grpSpPr>
          <a:xfrm>
            <a:off x="11057541" y="5947488"/>
            <a:ext cx="5029200" cy="2320212"/>
            <a:chOff x="11057541" y="5947488"/>
            <a:chExt cx="5029200" cy="2320212"/>
          </a:xfrm>
        </p:grpSpPr>
        <p:sp>
          <p:nvSpPr>
            <p:cNvPr id="29" name="TextBox 28">
              <a:extLst>
                <a:ext uri="{FF2B5EF4-FFF2-40B4-BE49-F238E27FC236}">
                  <a16:creationId xmlns:a16="http://schemas.microsoft.com/office/drawing/2014/main" id="{D75EFFC6-55A5-F8F6-55BC-AC8A4375FD0B}"/>
                </a:ext>
              </a:extLst>
            </p:cNvPr>
            <p:cNvSpPr txBox="1"/>
            <p:nvPr/>
          </p:nvSpPr>
          <p:spPr>
            <a:xfrm>
              <a:off x="11057541" y="7067371"/>
              <a:ext cx="5029200" cy="1200329"/>
            </a:xfrm>
            <a:prstGeom prst="rect">
              <a:avLst/>
            </a:prstGeom>
            <a:noFill/>
          </p:spPr>
          <p:txBody>
            <a:bodyPr wrap="square">
              <a:spAutoFit/>
            </a:bodyPr>
            <a:lstStyle/>
            <a:p>
              <a:pPr algn="ctr"/>
              <a:r>
                <a:rPr lang="en-US" sz="2400" dirty="0">
                  <a:solidFill>
                    <a:srgbClr val="303642"/>
                  </a:solidFill>
                  <a:latin typeface="Poppins" panose="00000500000000000000" pitchFamily="2" charset="0"/>
                  <a:cs typeface="Poppins" panose="00000500000000000000" pitchFamily="2" charset="0"/>
                </a:rPr>
                <a:t>Responsible for the actual transmission over the air via radio waves.</a:t>
              </a:r>
            </a:p>
          </p:txBody>
        </p:sp>
        <p:sp>
          <p:nvSpPr>
            <p:cNvPr id="57" name="Arrow: Up 56">
              <a:extLst>
                <a:ext uri="{FF2B5EF4-FFF2-40B4-BE49-F238E27FC236}">
                  <a16:creationId xmlns:a16="http://schemas.microsoft.com/office/drawing/2014/main" id="{AC06C5D2-FBC4-D077-FA73-0E5FED5F3BB5}"/>
                </a:ext>
              </a:extLst>
            </p:cNvPr>
            <p:cNvSpPr/>
            <p:nvPr/>
          </p:nvSpPr>
          <p:spPr>
            <a:xfrm rot="10800000">
              <a:off x="13182600" y="5947488"/>
              <a:ext cx="162846" cy="830997"/>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sp>
        <p:nvSpPr>
          <p:cNvPr id="7" name="Slide Number Placeholder 6">
            <a:extLst>
              <a:ext uri="{FF2B5EF4-FFF2-40B4-BE49-F238E27FC236}">
                <a16:creationId xmlns:a16="http://schemas.microsoft.com/office/drawing/2014/main" id="{318CA4D4-6774-DA0F-0BB9-55814E718544}"/>
              </a:ext>
            </a:extLst>
          </p:cNvPr>
          <p:cNvSpPr>
            <a:spLocks noGrp="1"/>
          </p:cNvSpPr>
          <p:nvPr>
            <p:ph type="sldNum" sz="quarter" idx="12"/>
          </p:nvPr>
        </p:nvSpPr>
        <p:spPr/>
        <p:txBody>
          <a:bodyPr/>
          <a:lstStyle/>
          <a:p>
            <a:fld id="{B6F15528-21DE-4FAA-801E-634DDDAF4B2B}" type="slidenum">
              <a:rPr lang="en-US" smtClean="0"/>
              <a:pPr/>
              <a:t>9</a:t>
            </a:fld>
            <a:endParaRPr lang="en-US" sz="1800"/>
          </a:p>
        </p:txBody>
      </p:sp>
    </p:spTree>
    <p:extLst>
      <p:ext uri="{BB962C8B-B14F-4D97-AF65-F5344CB8AC3E}">
        <p14:creationId xmlns:p14="http://schemas.microsoft.com/office/powerpoint/2010/main" val="3791538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89EE9-FAD8-6700-AA56-02CC782B0F29}"/>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9924CBBC-5B04-D9BE-B0C0-BD88899C90A5}"/>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3D11A0E1-B58A-D614-1BE3-24E2409F2E83}"/>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6DD4024F-2E70-AEC8-C600-2EE18267D692}"/>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3B69D3F2-0893-3D72-44C9-FB3DE755C85D}"/>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16D564DD-0258-FBF9-0977-0F246078B919}"/>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0E10C529-5FD5-C07D-C507-EB4A12F44EC4}"/>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8" name="TextBox 7">
            <a:extLst>
              <a:ext uri="{FF2B5EF4-FFF2-40B4-BE49-F238E27FC236}">
                <a16:creationId xmlns:a16="http://schemas.microsoft.com/office/drawing/2014/main" id="{72AAEA5C-CAE8-10D6-10E5-3C1F5EDF0BCB}"/>
              </a:ext>
            </a:extLst>
          </p:cNvPr>
          <p:cNvSpPr txBox="1"/>
          <p:nvPr/>
        </p:nvSpPr>
        <p:spPr>
          <a:xfrm>
            <a:off x="4069080" y="4604929"/>
            <a:ext cx="10149840" cy="1449115"/>
          </a:xfrm>
          <a:prstGeom prst="rect">
            <a:avLst/>
          </a:prstGeom>
          <a:noFill/>
        </p:spPr>
        <p:txBody>
          <a:bodyPr wrap="square">
            <a:spAutoFit/>
          </a:bodyPr>
          <a:lstStyle/>
          <a:p>
            <a:pPr marL="342900" indent="-342900">
              <a:lnSpc>
                <a:spcPct val="115000"/>
              </a:lnSpc>
              <a:spcAft>
                <a:spcPts val="800"/>
              </a:spcAft>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Provides a standardized communication interface between the Host Layer and the Controller Layer.</a:t>
            </a:r>
          </a:p>
          <a:p>
            <a:pPr marL="342900" indent="-342900">
              <a:lnSpc>
                <a:spcPct val="115000"/>
              </a:lnSpc>
              <a:spcAft>
                <a:spcPts val="800"/>
              </a:spcAft>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Allows exchanging data and commands.</a:t>
            </a:r>
            <a:endParaRPr lang="en-DE" sz="2400" dirty="0">
              <a:solidFill>
                <a:srgbClr val="303642"/>
              </a:solidFill>
              <a:latin typeface="Poppins" panose="00000500000000000000" pitchFamily="2" charset="0"/>
              <a:cs typeface="Poppins" panose="00000500000000000000" pitchFamily="2" charset="0"/>
            </a:endParaRPr>
          </a:p>
        </p:txBody>
      </p:sp>
      <p:grpSp>
        <p:nvGrpSpPr>
          <p:cNvPr id="2" name="Group 1">
            <a:extLst>
              <a:ext uri="{FF2B5EF4-FFF2-40B4-BE49-F238E27FC236}">
                <a16:creationId xmlns:a16="http://schemas.microsoft.com/office/drawing/2014/main" id="{271ED8B2-98FF-78B1-9755-31AE2E3F44C8}"/>
              </a:ext>
            </a:extLst>
          </p:cNvPr>
          <p:cNvGrpSpPr/>
          <p:nvPr/>
        </p:nvGrpSpPr>
        <p:grpSpPr>
          <a:xfrm>
            <a:off x="975002" y="1159423"/>
            <a:ext cx="15560397" cy="1508882"/>
            <a:chOff x="975002" y="1159423"/>
            <a:chExt cx="15560397" cy="1508882"/>
          </a:xfrm>
        </p:grpSpPr>
        <p:sp>
          <p:nvSpPr>
            <p:cNvPr id="16" name="TextBox 15">
              <a:extLst>
                <a:ext uri="{FF2B5EF4-FFF2-40B4-BE49-F238E27FC236}">
                  <a16:creationId xmlns:a16="http://schemas.microsoft.com/office/drawing/2014/main" id="{FD63771B-07DA-CEC1-0376-31841158CA60}"/>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The HCI</a:t>
              </a:r>
            </a:p>
          </p:txBody>
        </p:sp>
        <p:sp>
          <p:nvSpPr>
            <p:cNvPr id="19" name="TextBox 18">
              <a:extLst>
                <a:ext uri="{FF2B5EF4-FFF2-40B4-BE49-F238E27FC236}">
                  <a16:creationId xmlns:a16="http://schemas.microsoft.com/office/drawing/2014/main" id="{A1A1ADBF-32F3-4EA8-BA9D-842FBAE4F1D1}"/>
                </a:ext>
              </a:extLst>
            </p:cNvPr>
            <p:cNvSpPr txBox="1"/>
            <p:nvPr/>
          </p:nvSpPr>
          <p:spPr>
            <a:xfrm>
              <a:off x="975002" y="2171246"/>
              <a:ext cx="10149840" cy="497059"/>
            </a:xfrm>
            <a:prstGeom prst="rect">
              <a:avLst/>
            </a:prstGeom>
            <a:noFill/>
          </p:spPr>
          <p:txBody>
            <a:bodyPr wrap="square">
              <a:spAutoFit/>
            </a:bodyPr>
            <a:lstStyle/>
            <a:p>
              <a:pPr>
                <a:lnSpc>
                  <a:spcPct val="115000"/>
                </a:lnSpc>
                <a:spcAft>
                  <a:spcPts val="800"/>
                </a:spcAft>
                <a:buNone/>
              </a:pPr>
              <a:r>
                <a:rPr lang="en-US" sz="2400" dirty="0">
                  <a:solidFill>
                    <a:srgbClr val="303642"/>
                  </a:solidFill>
                  <a:latin typeface="Poppins" panose="00000500000000000000" pitchFamily="2" charset="0"/>
                  <a:cs typeface="Poppins" panose="00000500000000000000" pitchFamily="2" charset="0"/>
                </a:rPr>
                <a:t>Host Controller Interface.</a:t>
              </a:r>
              <a:endParaRPr lang="en-DE" sz="2400" dirty="0">
                <a:solidFill>
                  <a:srgbClr val="303642"/>
                </a:solidFill>
                <a:latin typeface="Poppins" panose="00000500000000000000" pitchFamily="2" charset="0"/>
                <a:cs typeface="Poppins" panose="00000500000000000000" pitchFamily="2" charset="0"/>
              </a:endParaRPr>
            </a:p>
          </p:txBody>
        </p:sp>
      </p:grpSp>
      <p:sp>
        <p:nvSpPr>
          <p:cNvPr id="9" name="Slide Number Placeholder 8">
            <a:extLst>
              <a:ext uri="{FF2B5EF4-FFF2-40B4-BE49-F238E27FC236}">
                <a16:creationId xmlns:a16="http://schemas.microsoft.com/office/drawing/2014/main" id="{250DF819-64C7-92DF-0051-B0D5BACD5475}"/>
              </a:ext>
            </a:extLst>
          </p:cNvPr>
          <p:cNvSpPr>
            <a:spLocks noGrp="1"/>
          </p:cNvSpPr>
          <p:nvPr>
            <p:ph type="sldNum" sz="quarter" idx="12"/>
          </p:nvPr>
        </p:nvSpPr>
        <p:spPr/>
        <p:txBody>
          <a:bodyPr/>
          <a:lstStyle/>
          <a:p>
            <a:fld id="{B6F15528-21DE-4FAA-801E-634DDDAF4B2B}" type="slidenum">
              <a:rPr lang="en-US" smtClean="0"/>
              <a:pPr/>
              <a:t>10</a:t>
            </a:fld>
            <a:endParaRPr lang="en-US" sz="1800"/>
          </a:p>
        </p:txBody>
      </p:sp>
    </p:spTree>
    <p:extLst>
      <p:ext uri="{BB962C8B-B14F-4D97-AF65-F5344CB8AC3E}">
        <p14:creationId xmlns:p14="http://schemas.microsoft.com/office/powerpoint/2010/main" val="2917417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B4AD5-C6FB-3460-ACED-D476E4DAD565}"/>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04A71269-1F06-DBFC-9D61-673F26D61E2E}"/>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The Host Layer</a:t>
            </a:r>
          </a:p>
        </p:txBody>
      </p:sp>
      <p:grpSp>
        <p:nvGrpSpPr>
          <p:cNvPr id="15" name="Group 3">
            <a:extLst>
              <a:ext uri="{FF2B5EF4-FFF2-40B4-BE49-F238E27FC236}">
                <a16:creationId xmlns:a16="http://schemas.microsoft.com/office/drawing/2014/main" id="{45259561-6778-7300-2BFE-6404268A6E46}"/>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D3284C6D-19DA-5D3F-7AA1-5C316358F3AC}"/>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7405D64D-C5D2-0103-9A5D-7C5DD4EAC303}"/>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F8192ABA-4313-A7C8-C190-40524FCC6639}"/>
              </a:ext>
            </a:extLst>
          </p:cNvPr>
          <p:cNvGrpSpPr/>
          <p:nvPr/>
        </p:nvGrpSpPr>
        <p:grpSpPr>
          <a:xfrm>
            <a:off x="13394117" y="9268696"/>
            <a:ext cx="5245100" cy="1684695"/>
            <a:chOff x="0" y="-47625"/>
            <a:chExt cx="1381426" cy="443706"/>
          </a:xfrm>
        </p:grpSpPr>
        <p:sp>
          <p:nvSpPr>
            <p:cNvPr id="26" name="Freeform 4">
              <a:extLst>
                <a:ext uri="{FF2B5EF4-FFF2-40B4-BE49-F238E27FC236}">
                  <a16:creationId xmlns:a16="http://schemas.microsoft.com/office/drawing/2014/main" id="{1F4D0DC2-2049-41A7-0CB5-C0204138E456}"/>
                </a:ext>
              </a:extLst>
            </p:cNvPr>
            <p:cNvSpPr/>
            <p:nvPr/>
          </p:nvSpPr>
          <p:spPr>
            <a:xfrm>
              <a:off x="0" y="45061"/>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dirty="0"/>
            </a:p>
          </p:txBody>
        </p:sp>
        <p:sp>
          <p:nvSpPr>
            <p:cNvPr id="27" name="TextBox 5">
              <a:extLst>
                <a:ext uri="{FF2B5EF4-FFF2-40B4-BE49-F238E27FC236}">
                  <a16:creationId xmlns:a16="http://schemas.microsoft.com/office/drawing/2014/main" id="{95F1AF15-CCD6-7D32-CBB7-C900B48FAE03}"/>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pic>
        <p:nvPicPr>
          <p:cNvPr id="6" name="Picture 5">
            <a:extLst>
              <a:ext uri="{FF2B5EF4-FFF2-40B4-BE49-F238E27FC236}">
                <a16:creationId xmlns:a16="http://schemas.microsoft.com/office/drawing/2014/main" id="{3777D3EA-849B-9915-D245-9E0FCD4446FE}"/>
              </a:ext>
            </a:extLst>
          </p:cNvPr>
          <p:cNvPicPr>
            <a:picLocks noChangeAspect="1"/>
          </p:cNvPicPr>
          <p:nvPr/>
        </p:nvPicPr>
        <p:blipFill>
          <a:blip r:embed="rId3">
            <a:extLst>
              <a:ext uri="{28A0092B-C50C-407E-A947-70E740481C1C}">
                <a14:useLocalDpi xmlns:a14="http://schemas.microsoft.com/office/drawing/2010/main" val="0"/>
              </a:ext>
            </a:extLst>
          </a:blip>
          <a:srcRect t="18850" r="18740" b="39765"/>
          <a:stretch>
            <a:fillRect/>
          </a:stretch>
        </p:blipFill>
        <p:spPr>
          <a:xfrm>
            <a:off x="4724400" y="5586721"/>
            <a:ext cx="7924800" cy="2514600"/>
          </a:xfrm>
          <a:prstGeom prst="rect">
            <a:avLst/>
          </a:prstGeom>
        </p:spPr>
      </p:pic>
      <p:sp>
        <p:nvSpPr>
          <p:cNvPr id="3" name="TextBox 2">
            <a:extLst>
              <a:ext uri="{FF2B5EF4-FFF2-40B4-BE49-F238E27FC236}">
                <a16:creationId xmlns:a16="http://schemas.microsoft.com/office/drawing/2014/main" id="{31248C99-7AB3-3806-519F-541802C1A5F8}"/>
              </a:ext>
            </a:extLst>
          </p:cNvPr>
          <p:cNvSpPr txBox="1"/>
          <p:nvPr/>
        </p:nvSpPr>
        <p:spPr>
          <a:xfrm>
            <a:off x="975003" y="2198984"/>
            <a:ext cx="9738360" cy="461665"/>
          </a:xfrm>
          <a:prstGeom prst="rect">
            <a:avLst/>
          </a:prstGeom>
          <a:noFill/>
        </p:spPr>
        <p:txBody>
          <a:bodyPr wrap="square">
            <a:spAutoFit/>
          </a:bodyPr>
          <a:lstStyle/>
          <a:p>
            <a:r>
              <a:rPr lang="en-US" sz="2400" dirty="0">
                <a:solidFill>
                  <a:srgbClr val="303642"/>
                </a:solidFill>
                <a:latin typeface="Poppins" panose="00000500000000000000" pitchFamily="2" charset="0"/>
                <a:cs typeface="Poppins" panose="00000500000000000000" pitchFamily="2" charset="0"/>
              </a:rPr>
              <a:t>Handles pushing in and pulling out the data of the device. </a:t>
            </a:r>
            <a:endParaRPr lang="en-DE" sz="2400" dirty="0">
              <a:solidFill>
                <a:srgbClr val="303642"/>
              </a:solidFill>
              <a:latin typeface="Poppins" panose="00000500000000000000" pitchFamily="2" charset="0"/>
              <a:cs typeface="Poppins" panose="00000500000000000000" pitchFamily="2" charset="0"/>
            </a:endParaRPr>
          </a:p>
        </p:txBody>
      </p:sp>
      <p:grpSp>
        <p:nvGrpSpPr>
          <p:cNvPr id="36" name="Group 35">
            <a:extLst>
              <a:ext uri="{FF2B5EF4-FFF2-40B4-BE49-F238E27FC236}">
                <a16:creationId xmlns:a16="http://schemas.microsoft.com/office/drawing/2014/main" id="{1D67DAC7-D0A8-56B4-F2EC-473DDAD0A62C}"/>
              </a:ext>
            </a:extLst>
          </p:cNvPr>
          <p:cNvGrpSpPr/>
          <p:nvPr/>
        </p:nvGrpSpPr>
        <p:grpSpPr>
          <a:xfrm>
            <a:off x="9448800" y="3974924"/>
            <a:ext cx="6734533" cy="1763772"/>
            <a:chOff x="9448800" y="3974924"/>
            <a:chExt cx="6734533" cy="1763772"/>
          </a:xfrm>
        </p:grpSpPr>
        <p:sp>
          <p:nvSpPr>
            <p:cNvPr id="13" name="TextBox 12">
              <a:extLst>
                <a:ext uri="{FF2B5EF4-FFF2-40B4-BE49-F238E27FC236}">
                  <a16:creationId xmlns:a16="http://schemas.microsoft.com/office/drawing/2014/main" id="{2398F7B6-D1B4-652F-D048-8ACBBFBCC041}"/>
                </a:ext>
              </a:extLst>
            </p:cNvPr>
            <p:cNvSpPr txBox="1"/>
            <p:nvPr/>
          </p:nvSpPr>
          <p:spPr>
            <a:xfrm>
              <a:off x="9448800" y="3974924"/>
              <a:ext cx="6734533" cy="830997"/>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Defines what data exists on the device.</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It is based on Client-Server architecture.</a:t>
              </a:r>
            </a:p>
          </p:txBody>
        </p:sp>
        <p:sp>
          <p:nvSpPr>
            <p:cNvPr id="20" name="Arrow: Up 19">
              <a:extLst>
                <a:ext uri="{FF2B5EF4-FFF2-40B4-BE49-F238E27FC236}">
                  <a16:creationId xmlns:a16="http://schemas.microsoft.com/office/drawing/2014/main" id="{5F928553-D7D9-92CD-80EC-4E040C1D3982}"/>
                </a:ext>
              </a:extLst>
            </p:cNvPr>
            <p:cNvSpPr/>
            <p:nvPr/>
          </p:nvSpPr>
          <p:spPr>
            <a:xfrm>
              <a:off x="11016307" y="5047347"/>
              <a:ext cx="162846" cy="691349"/>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dirty="0"/>
            </a:p>
          </p:txBody>
        </p:sp>
      </p:grpSp>
      <p:grpSp>
        <p:nvGrpSpPr>
          <p:cNvPr id="35" name="Group 34">
            <a:extLst>
              <a:ext uri="{FF2B5EF4-FFF2-40B4-BE49-F238E27FC236}">
                <a16:creationId xmlns:a16="http://schemas.microsoft.com/office/drawing/2014/main" id="{FD6909A1-83FB-9AC6-1EB3-FC027EC47D7D}"/>
              </a:ext>
            </a:extLst>
          </p:cNvPr>
          <p:cNvGrpSpPr/>
          <p:nvPr/>
        </p:nvGrpSpPr>
        <p:grpSpPr>
          <a:xfrm>
            <a:off x="1295400" y="3695700"/>
            <a:ext cx="7652385" cy="2057400"/>
            <a:chOff x="1295400" y="3695700"/>
            <a:chExt cx="7652385" cy="2057400"/>
          </a:xfrm>
        </p:grpSpPr>
        <p:sp>
          <p:nvSpPr>
            <p:cNvPr id="17" name="TextBox 16">
              <a:extLst>
                <a:ext uri="{FF2B5EF4-FFF2-40B4-BE49-F238E27FC236}">
                  <a16:creationId xmlns:a16="http://schemas.microsoft.com/office/drawing/2014/main" id="{D620F8BB-CA6B-4D29-AF9B-09B5AB9BEA3C}"/>
                </a:ext>
              </a:extLst>
            </p:cNvPr>
            <p:cNvSpPr txBox="1"/>
            <p:nvPr/>
          </p:nvSpPr>
          <p:spPr>
            <a:xfrm>
              <a:off x="1295400" y="3695700"/>
              <a:ext cx="7652385" cy="1200329"/>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Manages device connections and advertising.</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Defines the roles of devices in Bluetooth communication. ( central/ peripheral).</a:t>
              </a:r>
            </a:p>
          </p:txBody>
        </p:sp>
        <p:sp>
          <p:nvSpPr>
            <p:cNvPr id="23" name="Arrow: Up 22">
              <a:extLst>
                <a:ext uri="{FF2B5EF4-FFF2-40B4-BE49-F238E27FC236}">
                  <a16:creationId xmlns:a16="http://schemas.microsoft.com/office/drawing/2014/main" id="{48406576-E32D-BE64-FECF-B846D3F0B806}"/>
                </a:ext>
              </a:extLst>
            </p:cNvPr>
            <p:cNvSpPr/>
            <p:nvPr/>
          </p:nvSpPr>
          <p:spPr>
            <a:xfrm>
              <a:off x="6954486" y="5061750"/>
              <a:ext cx="162846" cy="691350"/>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dirty="0"/>
            </a:p>
          </p:txBody>
        </p:sp>
      </p:grpSp>
      <p:grpSp>
        <p:nvGrpSpPr>
          <p:cNvPr id="34" name="Group 33">
            <a:extLst>
              <a:ext uri="{FF2B5EF4-FFF2-40B4-BE49-F238E27FC236}">
                <a16:creationId xmlns:a16="http://schemas.microsoft.com/office/drawing/2014/main" id="{25BD4FD8-D873-3848-AB34-4DA7D9A45D41}"/>
              </a:ext>
            </a:extLst>
          </p:cNvPr>
          <p:cNvGrpSpPr/>
          <p:nvPr/>
        </p:nvGrpSpPr>
        <p:grpSpPr>
          <a:xfrm>
            <a:off x="368618" y="6349968"/>
            <a:ext cx="4965382" cy="1200329"/>
            <a:chOff x="368618" y="6349968"/>
            <a:chExt cx="4965382" cy="1200329"/>
          </a:xfrm>
        </p:grpSpPr>
        <p:sp>
          <p:nvSpPr>
            <p:cNvPr id="9" name="TextBox 8">
              <a:extLst>
                <a:ext uri="{FF2B5EF4-FFF2-40B4-BE49-F238E27FC236}">
                  <a16:creationId xmlns:a16="http://schemas.microsoft.com/office/drawing/2014/main" id="{ADC2C885-661E-1441-01EF-9EB3A644CFFE}"/>
                </a:ext>
              </a:extLst>
            </p:cNvPr>
            <p:cNvSpPr txBox="1"/>
            <p:nvPr/>
          </p:nvSpPr>
          <p:spPr>
            <a:xfrm>
              <a:off x="368618" y="6349968"/>
              <a:ext cx="4495800" cy="1200329"/>
            </a:xfrm>
            <a:prstGeom prst="rect">
              <a:avLst/>
            </a:prstGeom>
            <a:noFill/>
          </p:spPr>
          <p:txBody>
            <a:bodyPr wrap="square">
              <a:spAutoFit/>
            </a:bodyPr>
            <a:lstStyle/>
            <a:p>
              <a:r>
                <a:rPr lang="en-US" sz="2400" dirty="0">
                  <a:solidFill>
                    <a:srgbClr val="303642"/>
                  </a:solidFill>
                  <a:latin typeface="Poppins" panose="00000500000000000000" pitchFamily="2" charset="0"/>
                  <a:cs typeface="Poppins" panose="00000500000000000000" pitchFamily="2" charset="0"/>
                </a:rPr>
                <a:t>provides a secure connection and exchange between 2 devices</a:t>
              </a:r>
              <a:r>
                <a:rPr lang="en-US" sz="1200" dirty="0">
                  <a:effectLst/>
                  <a:latin typeface="Aptos" panose="020B0004020202020204" pitchFamily="34" charset="0"/>
                  <a:ea typeface="Aptos" panose="020B0004020202020204" pitchFamily="34" charset="0"/>
                  <a:cs typeface="Times New Roman" panose="02020603050405020304" pitchFamily="18" charset="0"/>
                </a:rPr>
                <a:t>.</a:t>
              </a:r>
              <a:endParaRPr lang="en-DE" dirty="0"/>
            </a:p>
          </p:txBody>
        </p:sp>
        <p:sp>
          <p:nvSpPr>
            <p:cNvPr id="28" name="Arrow: Up 27">
              <a:extLst>
                <a:ext uri="{FF2B5EF4-FFF2-40B4-BE49-F238E27FC236}">
                  <a16:creationId xmlns:a16="http://schemas.microsoft.com/office/drawing/2014/main" id="{0D31F53D-4B6F-1211-BB00-41B177A4DBA4}"/>
                </a:ext>
              </a:extLst>
            </p:cNvPr>
            <p:cNvSpPr/>
            <p:nvPr/>
          </p:nvSpPr>
          <p:spPr>
            <a:xfrm rot="16200000">
              <a:off x="4833477" y="6449609"/>
              <a:ext cx="162846" cy="838200"/>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dirty="0"/>
            </a:p>
          </p:txBody>
        </p:sp>
      </p:grpSp>
      <p:grpSp>
        <p:nvGrpSpPr>
          <p:cNvPr id="33" name="Group 32">
            <a:extLst>
              <a:ext uri="{FF2B5EF4-FFF2-40B4-BE49-F238E27FC236}">
                <a16:creationId xmlns:a16="http://schemas.microsoft.com/office/drawing/2014/main" id="{088C9D86-B27E-31A0-70BC-C4C9FD0059B2}"/>
              </a:ext>
            </a:extLst>
          </p:cNvPr>
          <p:cNvGrpSpPr/>
          <p:nvPr/>
        </p:nvGrpSpPr>
        <p:grpSpPr>
          <a:xfrm>
            <a:off x="4495800" y="7886700"/>
            <a:ext cx="9296400" cy="2025707"/>
            <a:chOff x="4495800" y="7886700"/>
            <a:chExt cx="9296400" cy="2025707"/>
          </a:xfrm>
        </p:grpSpPr>
        <p:sp>
          <p:nvSpPr>
            <p:cNvPr id="7" name="TextBox 6">
              <a:extLst>
                <a:ext uri="{FF2B5EF4-FFF2-40B4-BE49-F238E27FC236}">
                  <a16:creationId xmlns:a16="http://schemas.microsoft.com/office/drawing/2014/main" id="{23771857-DF62-79D6-8C69-973D6768776C}"/>
                </a:ext>
              </a:extLst>
            </p:cNvPr>
            <p:cNvSpPr txBox="1"/>
            <p:nvPr/>
          </p:nvSpPr>
          <p:spPr>
            <a:xfrm>
              <a:off x="4495800" y="8342747"/>
              <a:ext cx="9296400" cy="1569660"/>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Provides data encapsulation services. </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Ensures data integrity. </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Handles packet retransmission, in case it didn’t reach the destination. </a:t>
              </a:r>
              <a:endParaRPr lang="en-DE" sz="2400" dirty="0">
                <a:solidFill>
                  <a:srgbClr val="303642"/>
                </a:solidFill>
                <a:latin typeface="Poppins" panose="00000500000000000000" pitchFamily="2" charset="0"/>
                <a:cs typeface="Poppins" panose="00000500000000000000" pitchFamily="2" charset="0"/>
              </a:endParaRPr>
            </a:p>
          </p:txBody>
        </p:sp>
        <p:sp>
          <p:nvSpPr>
            <p:cNvPr id="30" name="Arrow: Up 29">
              <a:extLst>
                <a:ext uri="{FF2B5EF4-FFF2-40B4-BE49-F238E27FC236}">
                  <a16:creationId xmlns:a16="http://schemas.microsoft.com/office/drawing/2014/main" id="{60B37616-7633-945D-2FC3-84471DDED733}"/>
                </a:ext>
              </a:extLst>
            </p:cNvPr>
            <p:cNvSpPr/>
            <p:nvPr/>
          </p:nvSpPr>
          <p:spPr>
            <a:xfrm rot="10800000">
              <a:off x="9220200" y="7886700"/>
              <a:ext cx="162846" cy="510570"/>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dirty="0"/>
            </a:p>
          </p:txBody>
        </p:sp>
      </p:grpSp>
      <p:grpSp>
        <p:nvGrpSpPr>
          <p:cNvPr id="37" name="Group 36">
            <a:extLst>
              <a:ext uri="{FF2B5EF4-FFF2-40B4-BE49-F238E27FC236}">
                <a16:creationId xmlns:a16="http://schemas.microsoft.com/office/drawing/2014/main" id="{7131FBD1-9276-8952-E1EC-184F50576EAE}"/>
              </a:ext>
            </a:extLst>
          </p:cNvPr>
          <p:cNvGrpSpPr/>
          <p:nvPr/>
        </p:nvGrpSpPr>
        <p:grpSpPr>
          <a:xfrm>
            <a:off x="12344399" y="6254115"/>
            <a:ext cx="5853113" cy="1569660"/>
            <a:chOff x="12344399" y="6254115"/>
            <a:chExt cx="5853113" cy="1569660"/>
          </a:xfrm>
        </p:grpSpPr>
        <p:sp>
          <p:nvSpPr>
            <p:cNvPr id="11" name="TextBox 10">
              <a:extLst>
                <a:ext uri="{FF2B5EF4-FFF2-40B4-BE49-F238E27FC236}">
                  <a16:creationId xmlns:a16="http://schemas.microsoft.com/office/drawing/2014/main" id="{96157AAD-5E7C-419C-D390-52749453C7A6}"/>
                </a:ext>
              </a:extLst>
            </p:cNvPr>
            <p:cNvSpPr txBox="1"/>
            <p:nvPr/>
          </p:nvSpPr>
          <p:spPr>
            <a:xfrm>
              <a:off x="13015912" y="6254115"/>
              <a:ext cx="5181600" cy="1569660"/>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Defines a basic data structure.</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Defines Data access methods based on the server/client architecture.</a:t>
              </a:r>
              <a:endParaRPr lang="en-DE" dirty="0"/>
            </a:p>
          </p:txBody>
        </p:sp>
        <p:sp>
          <p:nvSpPr>
            <p:cNvPr id="32" name="Arrow: Up 31">
              <a:extLst>
                <a:ext uri="{FF2B5EF4-FFF2-40B4-BE49-F238E27FC236}">
                  <a16:creationId xmlns:a16="http://schemas.microsoft.com/office/drawing/2014/main" id="{DB4815A5-4B0E-47C3-4C3A-7AE58E831B2B}"/>
                </a:ext>
              </a:extLst>
            </p:cNvPr>
            <p:cNvSpPr/>
            <p:nvPr/>
          </p:nvSpPr>
          <p:spPr>
            <a:xfrm rot="5400000">
              <a:off x="12636417" y="6527883"/>
              <a:ext cx="162846" cy="746881"/>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dirty="0"/>
            </a:p>
          </p:txBody>
        </p:sp>
      </p:grpSp>
      <p:sp>
        <p:nvSpPr>
          <p:cNvPr id="5" name="Slide Number Placeholder 4">
            <a:extLst>
              <a:ext uri="{FF2B5EF4-FFF2-40B4-BE49-F238E27FC236}">
                <a16:creationId xmlns:a16="http://schemas.microsoft.com/office/drawing/2014/main" id="{B21321EC-FD83-5ED9-CB62-3D6059FAD4E0}"/>
              </a:ext>
            </a:extLst>
          </p:cNvPr>
          <p:cNvSpPr>
            <a:spLocks noGrp="1"/>
          </p:cNvSpPr>
          <p:nvPr>
            <p:ph type="sldNum" sz="quarter" idx="12"/>
          </p:nvPr>
        </p:nvSpPr>
        <p:spPr/>
        <p:txBody>
          <a:bodyPr/>
          <a:lstStyle/>
          <a:p>
            <a:fld id="{B6F15528-21DE-4FAA-801E-634DDDAF4B2B}" type="slidenum">
              <a:rPr lang="en-US" smtClean="0"/>
              <a:pPr/>
              <a:t>11</a:t>
            </a:fld>
            <a:endParaRPr lang="en-US" sz="1800"/>
          </a:p>
        </p:txBody>
      </p:sp>
    </p:spTree>
    <p:extLst>
      <p:ext uri="{BB962C8B-B14F-4D97-AF65-F5344CB8AC3E}">
        <p14:creationId xmlns:p14="http://schemas.microsoft.com/office/powerpoint/2010/main" val="2587461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E5AA4-B91C-E5C3-0B53-3C83D1584845}"/>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39C46599-B339-7AA1-0E94-182B648AB112}"/>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12839DE8-D12E-50E9-27AB-DDC7342B3448}"/>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54010F8D-42D8-3D3A-AD1A-AF37718DBEA3}"/>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7834D201-6D21-06DC-813A-9ABEC10282A0}"/>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78FE5BB8-F8F1-2B35-D90F-C7EFE064E321}"/>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6029D783-8B1E-32AD-C9CA-007C2ED4F284}"/>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16" name="TextBox 15">
            <a:extLst>
              <a:ext uri="{FF2B5EF4-FFF2-40B4-BE49-F238E27FC236}">
                <a16:creationId xmlns:a16="http://schemas.microsoft.com/office/drawing/2014/main" id="{EB1B3213-4D1E-0D14-9CCA-05A9A23DABC0}"/>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Host Layer’s Sub-layers Communication</a:t>
            </a:r>
          </a:p>
        </p:txBody>
      </p:sp>
      <p:sp>
        <p:nvSpPr>
          <p:cNvPr id="9" name="Slide Number Placeholder 8">
            <a:extLst>
              <a:ext uri="{FF2B5EF4-FFF2-40B4-BE49-F238E27FC236}">
                <a16:creationId xmlns:a16="http://schemas.microsoft.com/office/drawing/2014/main" id="{0984B0BB-6B12-AD68-D9A0-6D3EA8DFF47A}"/>
              </a:ext>
            </a:extLst>
          </p:cNvPr>
          <p:cNvSpPr>
            <a:spLocks noGrp="1"/>
          </p:cNvSpPr>
          <p:nvPr>
            <p:ph type="sldNum" sz="quarter" idx="12"/>
          </p:nvPr>
        </p:nvSpPr>
        <p:spPr/>
        <p:txBody>
          <a:bodyPr/>
          <a:lstStyle/>
          <a:p>
            <a:fld id="{B6F15528-21DE-4FAA-801E-634DDDAF4B2B}" type="slidenum">
              <a:rPr lang="en-US" smtClean="0"/>
              <a:pPr/>
              <a:t>12</a:t>
            </a:fld>
            <a:endParaRPr lang="en-US" sz="1800"/>
          </a:p>
        </p:txBody>
      </p:sp>
      <p:sp>
        <p:nvSpPr>
          <p:cNvPr id="11" name="TextBox 10">
            <a:extLst>
              <a:ext uri="{FF2B5EF4-FFF2-40B4-BE49-F238E27FC236}">
                <a16:creationId xmlns:a16="http://schemas.microsoft.com/office/drawing/2014/main" id="{30316B05-553C-24E5-1B2D-7F9A663B2459}"/>
              </a:ext>
            </a:extLst>
          </p:cNvPr>
          <p:cNvSpPr txBox="1"/>
          <p:nvPr/>
        </p:nvSpPr>
        <p:spPr>
          <a:xfrm>
            <a:off x="533400" y="4257873"/>
            <a:ext cx="5943600" cy="2195986"/>
          </a:xfrm>
          <a:prstGeom prst="rect">
            <a:avLst/>
          </a:prstGeom>
          <a:noFill/>
        </p:spPr>
        <p:txBody>
          <a:bodyPr wrap="square">
            <a:spAutoFit/>
          </a:bodyPr>
          <a:lstStyle/>
          <a:p>
            <a:pPr>
              <a:lnSpc>
                <a:spcPct val="115000"/>
              </a:lnSpc>
              <a:spcAft>
                <a:spcPts val="800"/>
              </a:spcAft>
            </a:pPr>
            <a:r>
              <a:rPr lang="en-US" sz="2400" dirty="0">
                <a:solidFill>
                  <a:srgbClr val="303642"/>
                </a:solidFill>
                <a:latin typeface="Poppins" panose="00000500000000000000" pitchFamily="2" charset="0"/>
                <a:cs typeface="Poppins" panose="00000500000000000000" pitchFamily="2" charset="0"/>
              </a:rPr>
              <a:t>Everything routes through </a:t>
            </a:r>
            <a:r>
              <a:rPr lang="en-US" sz="2400" b="1" dirty="0">
                <a:solidFill>
                  <a:srgbClr val="303642"/>
                </a:solidFill>
                <a:latin typeface="Poppins" panose="00000500000000000000" pitchFamily="2" charset="0"/>
                <a:cs typeface="Poppins" panose="00000500000000000000" pitchFamily="2" charset="0"/>
              </a:rPr>
              <a:t>L2CAP</a:t>
            </a:r>
            <a:r>
              <a:rPr lang="en-US" sz="2400" dirty="0">
                <a:solidFill>
                  <a:srgbClr val="303642"/>
                </a:solidFill>
                <a:latin typeface="Poppins" panose="00000500000000000000" pitchFamily="2" charset="0"/>
                <a:cs typeface="Poppins" panose="00000500000000000000" pitchFamily="2" charset="0"/>
              </a:rPr>
              <a:t>: acts as an internal "messaging service" by assigning </a:t>
            </a:r>
            <a:r>
              <a:rPr lang="en-US" sz="2400" b="1" dirty="0">
                <a:solidFill>
                  <a:srgbClr val="303642"/>
                </a:solidFill>
                <a:latin typeface="Poppins" panose="00000500000000000000" pitchFamily="2" charset="0"/>
                <a:cs typeface="Poppins" panose="00000500000000000000" pitchFamily="2" charset="0"/>
              </a:rPr>
              <a:t>unique Channel </a:t>
            </a:r>
            <a:r>
              <a:rPr lang="en-US" sz="2400" b="1" dirty="0" err="1">
                <a:solidFill>
                  <a:srgbClr val="303642"/>
                </a:solidFill>
                <a:latin typeface="Poppins" panose="00000500000000000000" pitchFamily="2" charset="0"/>
                <a:cs typeface="Poppins" panose="00000500000000000000" pitchFamily="2" charset="0"/>
              </a:rPr>
              <a:t>IDentifiers</a:t>
            </a:r>
            <a:r>
              <a:rPr lang="en-US" sz="2400" b="1" dirty="0">
                <a:solidFill>
                  <a:srgbClr val="303642"/>
                </a:solidFill>
                <a:latin typeface="Poppins" panose="00000500000000000000" pitchFamily="2" charset="0"/>
                <a:cs typeface="Poppins" panose="00000500000000000000" pitchFamily="2" charset="0"/>
              </a:rPr>
              <a:t> (CIDs) </a:t>
            </a:r>
            <a:r>
              <a:rPr lang="en-US" sz="2400" dirty="0">
                <a:solidFill>
                  <a:srgbClr val="303642"/>
                </a:solidFill>
                <a:latin typeface="Poppins" panose="00000500000000000000" pitchFamily="2" charset="0"/>
                <a:cs typeface="Poppins" panose="00000500000000000000" pitchFamily="2" charset="0"/>
              </a:rPr>
              <a:t>for each sub-layer</a:t>
            </a:r>
            <a:r>
              <a:rPr lang="en-US" sz="2400" b="1" dirty="0">
                <a:solidFill>
                  <a:srgbClr val="303642"/>
                </a:solidFill>
                <a:latin typeface="Poppins" panose="00000500000000000000" pitchFamily="2" charset="0"/>
                <a:cs typeface="Poppins" panose="00000500000000000000" pitchFamily="2" charset="0"/>
              </a:rPr>
              <a:t>.</a:t>
            </a:r>
            <a:endParaRPr lang="en-DE" sz="2400" b="1" dirty="0">
              <a:solidFill>
                <a:srgbClr val="303642"/>
              </a:solidFill>
              <a:latin typeface="Poppins" panose="00000500000000000000" pitchFamily="2" charset="0"/>
              <a:cs typeface="Poppins" panose="00000500000000000000" pitchFamily="2" charset="0"/>
            </a:endParaRPr>
          </a:p>
        </p:txBody>
      </p:sp>
      <p:grpSp>
        <p:nvGrpSpPr>
          <p:cNvPr id="18" name="Group 17">
            <a:extLst>
              <a:ext uri="{FF2B5EF4-FFF2-40B4-BE49-F238E27FC236}">
                <a16:creationId xmlns:a16="http://schemas.microsoft.com/office/drawing/2014/main" id="{EA432DA3-540A-3FBE-CFFB-B9DBA972AFDC}"/>
              </a:ext>
            </a:extLst>
          </p:cNvPr>
          <p:cNvGrpSpPr/>
          <p:nvPr/>
        </p:nvGrpSpPr>
        <p:grpSpPr>
          <a:xfrm>
            <a:off x="7235510" y="2382798"/>
            <a:ext cx="10900090" cy="6469611"/>
            <a:chOff x="7235510" y="2382798"/>
            <a:chExt cx="10900090" cy="6469611"/>
          </a:xfrm>
        </p:grpSpPr>
        <p:pic>
          <p:nvPicPr>
            <p:cNvPr id="10" name="Picture 9">
              <a:extLst>
                <a:ext uri="{FF2B5EF4-FFF2-40B4-BE49-F238E27FC236}">
                  <a16:creationId xmlns:a16="http://schemas.microsoft.com/office/drawing/2014/main" id="{9620C5B8-4EEC-CECD-32D4-C66205EB42B4}"/>
                </a:ext>
              </a:extLst>
            </p:cNvPr>
            <p:cNvPicPr>
              <a:picLocks noChangeAspect="1"/>
            </p:cNvPicPr>
            <p:nvPr/>
          </p:nvPicPr>
          <p:blipFill>
            <a:blip r:embed="rId3"/>
            <a:stretch>
              <a:fillRect/>
            </a:stretch>
          </p:blipFill>
          <p:spPr>
            <a:xfrm>
              <a:off x="7235510" y="2382798"/>
              <a:ext cx="10900090" cy="6469611"/>
            </a:xfrm>
            <a:prstGeom prst="rect">
              <a:avLst/>
            </a:prstGeom>
          </p:spPr>
        </p:pic>
        <p:sp>
          <p:nvSpPr>
            <p:cNvPr id="13" name="TextBox 12">
              <a:extLst>
                <a:ext uri="{FF2B5EF4-FFF2-40B4-BE49-F238E27FC236}">
                  <a16:creationId xmlns:a16="http://schemas.microsoft.com/office/drawing/2014/main" id="{C3C62F6B-E457-FB02-6AC8-92B1C563C272}"/>
                </a:ext>
              </a:extLst>
            </p:cNvPr>
            <p:cNvSpPr txBox="1"/>
            <p:nvPr/>
          </p:nvSpPr>
          <p:spPr>
            <a:xfrm>
              <a:off x="14900590" y="7581549"/>
              <a:ext cx="3009900" cy="645305"/>
            </a:xfrm>
            <a:prstGeom prst="rect">
              <a:avLst/>
            </a:prstGeom>
            <a:noFill/>
          </p:spPr>
          <p:txBody>
            <a:bodyPr wrap="square">
              <a:spAutoFit/>
            </a:bodyPr>
            <a:lstStyle/>
            <a:p>
              <a:pPr>
                <a:lnSpc>
                  <a:spcPct val="115000"/>
                </a:lnSpc>
                <a:spcAft>
                  <a:spcPts val="800"/>
                </a:spcAft>
                <a:buNone/>
              </a:pPr>
              <a:r>
                <a:rPr lang="en-US" sz="1600" b="1" dirty="0">
                  <a:solidFill>
                    <a:srgbClr val="303642"/>
                  </a:solidFill>
                  <a:latin typeface="Poppins" panose="00000500000000000000" pitchFamily="2" charset="0"/>
                  <a:cs typeface="Poppins" panose="00000500000000000000" pitchFamily="2" charset="0"/>
                </a:rPr>
                <a:t>SDUs: </a:t>
              </a:r>
              <a:r>
                <a:rPr lang="en-US" sz="1600" dirty="0">
                  <a:solidFill>
                    <a:srgbClr val="303642"/>
                  </a:solidFill>
                  <a:latin typeface="Poppins" panose="00000500000000000000" pitchFamily="2" charset="0"/>
                  <a:cs typeface="Poppins" panose="00000500000000000000" pitchFamily="2" charset="0"/>
                </a:rPr>
                <a:t>Service Data Units</a:t>
              </a:r>
              <a:br>
                <a:rPr lang="en-US" sz="1600" dirty="0">
                  <a:solidFill>
                    <a:srgbClr val="303642"/>
                  </a:solidFill>
                  <a:latin typeface="Poppins" panose="00000500000000000000" pitchFamily="2" charset="0"/>
                  <a:cs typeface="Poppins" panose="00000500000000000000" pitchFamily="2" charset="0"/>
                </a:rPr>
              </a:br>
              <a:r>
                <a:rPr lang="en-US" sz="1600" b="1" dirty="0">
                  <a:solidFill>
                    <a:srgbClr val="303642"/>
                  </a:solidFill>
                  <a:latin typeface="Poppins" panose="00000500000000000000" pitchFamily="2" charset="0"/>
                  <a:cs typeface="Poppins" panose="00000500000000000000" pitchFamily="2" charset="0"/>
                </a:rPr>
                <a:t>PDUs : </a:t>
              </a:r>
              <a:r>
                <a:rPr lang="en-US" sz="1600" dirty="0">
                  <a:solidFill>
                    <a:srgbClr val="303642"/>
                  </a:solidFill>
                  <a:latin typeface="Poppins" panose="00000500000000000000" pitchFamily="2" charset="0"/>
                  <a:cs typeface="Poppins" panose="00000500000000000000" pitchFamily="2" charset="0"/>
                </a:rPr>
                <a:t>Protocol Data Units</a:t>
              </a:r>
              <a:endParaRPr lang="en-DE" sz="1600" dirty="0">
                <a:solidFill>
                  <a:srgbClr val="303642"/>
                </a:solidFill>
                <a:latin typeface="Poppins" panose="00000500000000000000" pitchFamily="2" charset="0"/>
                <a:cs typeface="Poppins" panose="00000500000000000000" pitchFamily="2" charset="0"/>
              </a:endParaRPr>
            </a:p>
          </p:txBody>
        </p:sp>
      </p:grpSp>
    </p:spTree>
    <p:extLst>
      <p:ext uri="{BB962C8B-B14F-4D97-AF65-F5344CB8AC3E}">
        <p14:creationId xmlns:p14="http://schemas.microsoft.com/office/powerpoint/2010/main" val="3131301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878A2-8856-B6E7-F715-203BF690C512}"/>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78D6237F-096E-79D5-02C7-9ABA21603619}"/>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A63F56BA-9893-BF7A-0679-C2D7DA119B14}"/>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B07E3934-C7DA-5782-88AA-02C4A4247815}"/>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67DDD764-B6B1-25B0-E00E-AF618C561BC8}"/>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4956FE85-75AF-B514-E257-04CBBA257BD9}"/>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D176F70D-BF30-36E4-587A-03F48AE76C0C}"/>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16" name="TextBox 15">
            <a:extLst>
              <a:ext uri="{FF2B5EF4-FFF2-40B4-BE49-F238E27FC236}">
                <a16:creationId xmlns:a16="http://schemas.microsoft.com/office/drawing/2014/main" id="{D849A704-2053-A8E9-F079-B468072F51E7}"/>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Host Layer’s Sub-layers Communication</a:t>
            </a:r>
          </a:p>
        </p:txBody>
      </p:sp>
      <p:sp>
        <p:nvSpPr>
          <p:cNvPr id="9" name="Slide Number Placeholder 8">
            <a:extLst>
              <a:ext uri="{FF2B5EF4-FFF2-40B4-BE49-F238E27FC236}">
                <a16:creationId xmlns:a16="http://schemas.microsoft.com/office/drawing/2014/main" id="{1834EC77-3542-F7CC-A1E7-211FC35590F6}"/>
              </a:ext>
            </a:extLst>
          </p:cNvPr>
          <p:cNvSpPr>
            <a:spLocks noGrp="1"/>
          </p:cNvSpPr>
          <p:nvPr>
            <p:ph type="sldNum" sz="quarter" idx="12"/>
          </p:nvPr>
        </p:nvSpPr>
        <p:spPr/>
        <p:txBody>
          <a:bodyPr/>
          <a:lstStyle/>
          <a:p>
            <a:fld id="{B6F15528-21DE-4FAA-801E-634DDDAF4B2B}" type="slidenum">
              <a:rPr lang="en-US" smtClean="0"/>
              <a:pPr/>
              <a:t>13</a:t>
            </a:fld>
            <a:endParaRPr lang="en-US" sz="1800"/>
          </a:p>
        </p:txBody>
      </p:sp>
      <p:sp>
        <p:nvSpPr>
          <p:cNvPr id="6" name="TextBox 5">
            <a:extLst>
              <a:ext uri="{FF2B5EF4-FFF2-40B4-BE49-F238E27FC236}">
                <a16:creationId xmlns:a16="http://schemas.microsoft.com/office/drawing/2014/main" id="{0C12CE99-4651-FE1E-367E-EEB565F5B40E}"/>
              </a:ext>
            </a:extLst>
          </p:cNvPr>
          <p:cNvSpPr txBox="1"/>
          <p:nvPr/>
        </p:nvSpPr>
        <p:spPr>
          <a:xfrm>
            <a:off x="975002" y="2095500"/>
            <a:ext cx="15026998" cy="511679"/>
          </a:xfrm>
          <a:prstGeom prst="rect">
            <a:avLst/>
          </a:prstGeom>
        </p:spPr>
        <p:txBody>
          <a:bodyPr wrap="square" lIns="0" tIns="0" rIns="0" bIns="0" rtlCol="0" anchor="t">
            <a:spAutoFit/>
          </a:bodyPr>
          <a:lstStyle/>
          <a:p>
            <a:pPr>
              <a:lnSpc>
                <a:spcPts val="4200"/>
              </a:lnSpc>
              <a:spcBef>
                <a:spcPct val="0"/>
              </a:spcBef>
            </a:pPr>
            <a:r>
              <a:rPr lang="en-US" sz="3000" dirty="0">
                <a:solidFill>
                  <a:schemeClr val="tx2"/>
                </a:solidFill>
                <a:latin typeface="Poppins Bold"/>
                <a:ea typeface="Poppins Bold"/>
                <a:cs typeface="Poppins Bold"/>
                <a:sym typeface="Poppins Bold"/>
              </a:rPr>
              <a:t>L2CAP operations</a:t>
            </a:r>
          </a:p>
        </p:txBody>
      </p:sp>
      <p:sp>
        <p:nvSpPr>
          <p:cNvPr id="7" name="TextBox 6">
            <a:extLst>
              <a:ext uri="{FF2B5EF4-FFF2-40B4-BE49-F238E27FC236}">
                <a16:creationId xmlns:a16="http://schemas.microsoft.com/office/drawing/2014/main" id="{4C9E6761-A46D-DD97-9EE9-DE19CA8F5EDC}"/>
              </a:ext>
            </a:extLst>
          </p:cNvPr>
          <p:cNvSpPr txBox="1"/>
          <p:nvPr/>
        </p:nvSpPr>
        <p:spPr>
          <a:xfrm>
            <a:off x="975003" y="3771900"/>
            <a:ext cx="9159597" cy="4154984"/>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Segmentation: </a:t>
            </a:r>
            <a:r>
              <a:rPr lang="en-US" sz="2400" dirty="0">
                <a:solidFill>
                  <a:srgbClr val="303642"/>
                </a:solidFill>
                <a:latin typeface="Poppins" panose="00000500000000000000" pitchFamily="2" charset="0"/>
                <a:cs typeface="Poppins" panose="00000500000000000000" pitchFamily="2" charset="0"/>
              </a:rPr>
              <a:t>The process of breaking a single L2CAP SDU up multiple L2CAP packets called SDU segments.</a:t>
            </a:r>
          </a:p>
          <a:p>
            <a:pPr marL="342900" indent="-342900">
              <a:buFont typeface="Arial" panose="020B0604020202020204" pitchFamily="34" charset="0"/>
              <a:buChar char="•"/>
            </a:pPr>
            <a:endParaRPr lang="en-US" sz="2400" dirty="0">
              <a:solidFill>
                <a:srgbClr val="303642"/>
              </a:solidFill>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Encapsulation: </a:t>
            </a:r>
            <a:r>
              <a:rPr lang="en-US" sz="2400" dirty="0">
                <a:solidFill>
                  <a:srgbClr val="303642"/>
                </a:solidFill>
                <a:latin typeface="Poppins" panose="00000500000000000000" pitchFamily="2" charset="0"/>
                <a:cs typeface="Poppins" panose="00000500000000000000" pitchFamily="2" charset="0"/>
              </a:rPr>
              <a:t>The process of encapsulating each SDU segment in a proper L2CAP header (PDU length + CID).</a:t>
            </a:r>
          </a:p>
          <a:p>
            <a:pPr marL="342900" indent="-342900">
              <a:buFont typeface="Arial" panose="020B0604020202020204" pitchFamily="34" charset="0"/>
              <a:buChar char="•"/>
            </a:pPr>
            <a:endParaRPr lang="en-US" sz="2400" dirty="0">
              <a:solidFill>
                <a:srgbClr val="303642"/>
              </a:solidFill>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Recombination: </a:t>
            </a:r>
            <a:r>
              <a:rPr lang="en-US" sz="2400" dirty="0">
                <a:solidFill>
                  <a:srgbClr val="303642"/>
                </a:solidFill>
                <a:latin typeface="Poppins" panose="00000500000000000000" pitchFamily="2" charset="0"/>
                <a:cs typeface="Poppins" panose="00000500000000000000" pitchFamily="2" charset="0"/>
              </a:rPr>
              <a:t>The process of the controller reassembling fragments into complete L2CAP PDUs.</a:t>
            </a:r>
          </a:p>
          <a:p>
            <a:pPr marL="342900" indent="-342900">
              <a:buFont typeface="Arial" panose="020B0604020202020204" pitchFamily="34" charset="0"/>
              <a:buChar char="•"/>
            </a:pPr>
            <a:endParaRPr lang="en-US" sz="2400" dirty="0">
              <a:solidFill>
                <a:srgbClr val="303642"/>
              </a:solidFill>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Fragmentation: </a:t>
            </a:r>
            <a:r>
              <a:rPr lang="en-US" sz="2400" dirty="0">
                <a:solidFill>
                  <a:srgbClr val="303642"/>
                </a:solidFill>
                <a:latin typeface="Poppins" panose="00000500000000000000" pitchFamily="2" charset="0"/>
                <a:cs typeface="Poppins" panose="00000500000000000000" pitchFamily="2" charset="0"/>
              </a:rPr>
              <a:t>The process of breaking down L2CAP PDUs into smaller pieces for the controller to send out.</a:t>
            </a:r>
          </a:p>
        </p:txBody>
      </p:sp>
      <p:pic>
        <p:nvPicPr>
          <p:cNvPr id="20" name="Picture 19">
            <a:extLst>
              <a:ext uri="{FF2B5EF4-FFF2-40B4-BE49-F238E27FC236}">
                <a16:creationId xmlns:a16="http://schemas.microsoft.com/office/drawing/2014/main" id="{3F0B2044-D4E0-E7B5-99F2-589D78D68A37}"/>
              </a:ext>
            </a:extLst>
          </p:cNvPr>
          <p:cNvPicPr>
            <a:picLocks noChangeAspect="1"/>
          </p:cNvPicPr>
          <p:nvPr/>
        </p:nvPicPr>
        <p:blipFill>
          <a:blip r:embed="rId3"/>
          <a:stretch>
            <a:fillRect/>
          </a:stretch>
        </p:blipFill>
        <p:spPr>
          <a:xfrm>
            <a:off x="10287717" y="2933700"/>
            <a:ext cx="8059275" cy="5077534"/>
          </a:xfrm>
          <a:prstGeom prst="rect">
            <a:avLst/>
          </a:prstGeom>
        </p:spPr>
      </p:pic>
    </p:spTree>
    <p:extLst>
      <p:ext uri="{BB962C8B-B14F-4D97-AF65-F5344CB8AC3E}">
        <p14:creationId xmlns:p14="http://schemas.microsoft.com/office/powerpoint/2010/main" val="182914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6FB31-84A4-6D17-6156-FDB19DE8C37D}"/>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3F34C06E-4FD4-51D8-EF2D-D347FAC709EB}"/>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6C7E4DCD-EBFC-4753-6437-4D6C7339803F}"/>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4B0B4E14-F8F2-EC25-D47C-A706F995DA78}"/>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17D2B1A6-E406-3F2F-CA3F-01CFB4DC5BEE}"/>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11155185-C174-29B7-82A0-E3FC274745CD}"/>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E915EC43-2477-31BE-671E-4990DFCCBB1F}"/>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16" name="TextBox 15">
            <a:extLst>
              <a:ext uri="{FF2B5EF4-FFF2-40B4-BE49-F238E27FC236}">
                <a16:creationId xmlns:a16="http://schemas.microsoft.com/office/drawing/2014/main" id="{9DA167AB-5996-359E-6442-D80AC6D5542D}"/>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Host Layer’s Sub-layers Communication</a:t>
            </a:r>
          </a:p>
        </p:txBody>
      </p:sp>
      <p:sp>
        <p:nvSpPr>
          <p:cNvPr id="9" name="Slide Number Placeholder 8">
            <a:extLst>
              <a:ext uri="{FF2B5EF4-FFF2-40B4-BE49-F238E27FC236}">
                <a16:creationId xmlns:a16="http://schemas.microsoft.com/office/drawing/2014/main" id="{71EA9F75-95E2-158D-5F44-159397CDAFD0}"/>
              </a:ext>
            </a:extLst>
          </p:cNvPr>
          <p:cNvSpPr>
            <a:spLocks noGrp="1"/>
          </p:cNvSpPr>
          <p:nvPr>
            <p:ph type="sldNum" sz="quarter" idx="12"/>
          </p:nvPr>
        </p:nvSpPr>
        <p:spPr/>
        <p:txBody>
          <a:bodyPr/>
          <a:lstStyle/>
          <a:p>
            <a:fld id="{B6F15528-21DE-4FAA-801E-634DDDAF4B2B}" type="slidenum">
              <a:rPr lang="en-US" smtClean="0"/>
              <a:pPr/>
              <a:t>14</a:t>
            </a:fld>
            <a:endParaRPr lang="en-US" sz="1800"/>
          </a:p>
        </p:txBody>
      </p:sp>
      <p:sp>
        <p:nvSpPr>
          <p:cNvPr id="6" name="TextBox 5">
            <a:extLst>
              <a:ext uri="{FF2B5EF4-FFF2-40B4-BE49-F238E27FC236}">
                <a16:creationId xmlns:a16="http://schemas.microsoft.com/office/drawing/2014/main" id="{3E430DB4-4DA2-7392-622E-55911EE9DBEF}"/>
              </a:ext>
            </a:extLst>
          </p:cNvPr>
          <p:cNvSpPr txBox="1"/>
          <p:nvPr/>
        </p:nvSpPr>
        <p:spPr>
          <a:xfrm>
            <a:off x="975002" y="2095500"/>
            <a:ext cx="15026998" cy="511679"/>
          </a:xfrm>
          <a:prstGeom prst="rect">
            <a:avLst/>
          </a:prstGeom>
        </p:spPr>
        <p:txBody>
          <a:bodyPr wrap="square" lIns="0" tIns="0" rIns="0" bIns="0" rtlCol="0" anchor="t">
            <a:spAutoFit/>
          </a:bodyPr>
          <a:lstStyle/>
          <a:p>
            <a:pPr>
              <a:lnSpc>
                <a:spcPts val="4200"/>
              </a:lnSpc>
              <a:spcBef>
                <a:spcPct val="0"/>
              </a:spcBef>
            </a:pPr>
            <a:r>
              <a:rPr lang="en-US" sz="3000" dirty="0">
                <a:solidFill>
                  <a:schemeClr val="tx2"/>
                </a:solidFill>
                <a:latin typeface="Poppins Bold"/>
                <a:ea typeface="Poppins Bold"/>
                <a:cs typeface="Poppins Bold"/>
                <a:sym typeface="Poppins Bold"/>
              </a:rPr>
              <a:t>Data packet format (L2CAP)</a:t>
            </a:r>
          </a:p>
        </p:txBody>
      </p:sp>
      <p:pic>
        <p:nvPicPr>
          <p:cNvPr id="8" name="Picture 7">
            <a:extLst>
              <a:ext uri="{FF2B5EF4-FFF2-40B4-BE49-F238E27FC236}">
                <a16:creationId xmlns:a16="http://schemas.microsoft.com/office/drawing/2014/main" id="{365E70B8-FA1C-A15F-1264-FBFEEF66C9AB}"/>
              </a:ext>
            </a:extLst>
          </p:cNvPr>
          <p:cNvPicPr>
            <a:picLocks noChangeAspect="1"/>
          </p:cNvPicPr>
          <p:nvPr/>
        </p:nvPicPr>
        <p:blipFill>
          <a:blip r:embed="rId3"/>
          <a:srcRect r="19984" b="76346"/>
          <a:stretch>
            <a:fillRect/>
          </a:stretch>
        </p:blipFill>
        <p:spPr>
          <a:xfrm>
            <a:off x="5029200" y="5094978"/>
            <a:ext cx="7895182" cy="1302604"/>
          </a:xfrm>
          <a:prstGeom prst="rect">
            <a:avLst/>
          </a:prstGeom>
        </p:spPr>
      </p:pic>
      <p:grpSp>
        <p:nvGrpSpPr>
          <p:cNvPr id="25" name="Group 24">
            <a:extLst>
              <a:ext uri="{FF2B5EF4-FFF2-40B4-BE49-F238E27FC236}">
                <a16:creationId xmlns:a16="http://schemas.microsoft.com/office/drawing/2014/main" id="{F42ABC13-7D25-DE92-CB78-007C1B320B44}"/>
              </a:ext>
            </a:extLst>
          </p:cNvPr>
          <p:cNvGrpSpPr/>
          <p:nvPr/>
        </p:nvGrpSpPr>
        <p:grpSpPr>
          <a:xfrm>
            <a:off x="5105400" y="6362700"/>
            <a:ext cx="5029200" cy="2621816"/>
            <a:chOff x="5105400" y="6362700"/>
            <a:chExt cx="5029200" cy="2621816"/>
          </a:xfrm>
        </p:grpSpPr>
        <p:sp>
          <p:nvSpPr>
            <p:cNvPr id="10" name="TextBox 9">
              <a:extLst>
                <a:ext uri="{FF2B5EF4-FFF2-40B4-BE49-F238E27FC236}">
                  <a16:creationId xmlns:a16="http://schemas.microsoft.com/office/drawing/2014/main" id="{780A87FA-0EE8-F30D-FCDE-A5724E159D11}"/>
                </a:ext>
              </a:extLst>
            </p:cNvPr>
            <p:cNvSpPr txBox="1"/>
            <p:nvPr/>
          </p:nvSpPr>
          <p:spPr>
            <a:xfrm>
              <a:off x="5105400" y="7353300"/>
              <a:ext cx="5029200" cy="1631216"/>
            </a:xfrm>
            <a:prstGeom prst="rect">
              <a:avLst/>
            </a:prstGeom>
            <a:noFill/>
          </p:spPr>
          <p:txBody>
            <a:bodyPr wrap="square">
              <a:spAutoFit/>
            </a:bodyPr>
            <a:lstStyle/>
            <a:p>
              <a:pPr algn="ctr"/>
              <a:r>
                <a:rPr lang="en-US" sz="2000" b="1" dirty="0">
                  <a:solidFill>
                    <a:srgbClr val="303642"/>
                  </a:solidFill>
                  <a:latin typeface="Poppins" panose="00000500000000000000" pitchFamily="2" charset="0"/>
                  <a:cs typeface="Poppins" panose="00000500000000000000" pitchFamily="2" charset="0"/>
                </a:rPr>
                <a:t>Unique ID for the communication channel:</a:t>
              </a:r>
            </a:p>
            <a:p>
              <a:pPr algn="ctr"/>
              <a:r>
                <a:rPr lang="en-US" sz="2000" dirty="0">
                  <a:solidFill>
                    <a:srgbClr val="303642"/>
                  </a:solidFill>
                  <a:latin typeface="Poppins" panose="00000500000000000000" pitchFamily="2" charset="0"/>
                  <a:cs typeface="Poppins" panose="00000500000000000000" pitchFamily="2" charset="0"/>
                </a:rPr>
                <a:t>Differentiates the specific connection, ensuring the receiver only listens to packets intended for it.</a:t>
              </a:r>
            </a:p>
          </p:txBody>
        </p:sp>
        <p:sp>
          <p:nvSpPr>
            <p:cNvPr id="13" name="Arrow: Up 12">
              <a:extLst>
                <a:ext uri="{FF2B5EF4-FFF2-40B4-BE49-F238E27FC236}">
                  <a16:creationId xmlns:a16="http://schemas.microsoft.com/office/drawing/2014/main" id="{8CBBBEA5-A2B5-3B3B-1D0F-2F25805B2E6C}"/>
                </a:ext>
              </a:extLst>
            </p:cNvPr>
            <p:cNvSpPr/>
            <p:nvPr/>
          </p:nvSpPr>
          <p:spPr>
            <a:xfrm rot="10800000">
              <a:off x="7533354" y="6362700"/>
              <a:ext cx="162846" cy="830997"/>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grpSp>
        <p:nvGrpSpPr>
          <p:cNvPr id="26" name="Group 25">
            <a:extLst>
              <a:ext uri="{FF2B5EF4-FFF2-40B4-BE49-F238E27FC236}">
                <a16:creationId xmlns:a16="http://schemas.microsoft.com/office/drawing/2014/main" id="{EB160C0F-E007-CD2B-1F92-875B622531B8}"/>
              </a:ext>
            </a:extLst>
          </p:cNvPr>
          <p:cNvGrpSpPr/>
          <p:nvPr/>
        </p:nvGrpSpPr>
        <p:grpSpPr>
          <a:xfrm>
            <a:off x="7696200" y="3365837"/>
            <a:ext cx="5029200" cy="2082463"/>
            <a:chOff x="7696200" y="3365837"/>
            <a:chExt cx="5029200" cy="2082463"/>
          </a:xfrm>
        </p:grpSpPr>
        <p:sp>
          <p:nvSpPr>
            <p:cNvPr id="11" name="TextBox 10">
              <a:extLst>
                <a:ext uri="{FF2B5EF4-FFF2-40B4-BE49-F238E27FC236}">
                  <a16:creationId xmlns:a16="http://schemas.microsoft.com/office/drawing/2014/main" id="{35782ADB-3857-5E7D-8337-41DBC2885A13}"/>
                </a:ext>
              </a:extLst>
            </p:cNvPr>
            <p:cNvSpPr txBox="1"/>
            <p:nvPr/>
          </p:nvSpPr>
          <p:spPr>
            <a:xfrm>
              <a:off x="7696200" y="3365837"/>
              <a:ext cx="5029200" cy="1015663"/>
            </a:xfrm>
            <a:prstGeom prst="rect">
              <a:avLst/>
            </a:prstGeom>
            <a:noFill/>
          </p:spPr>
          <p:txBody>
            <a:bodyPr wrap="square">
              <a:spAutoFit/>
            </a:bodyPr>
            <a:lstStyle/>
            <a:p>
              <a:pPr algn="ctr"/>
              <a:r>
                <a:rPr lang="en-US" sz="2000" b="1" dirty="0">
                  <a:solidFill>
                    <a:srgbClr val="303642"/>
                  </a:solidFill>
                  <a:latin typeface="Poppins" panose="00000500000000000000" pitchFamily="2" charset="0"/>
                  <a:cs typeface="Poppins" panose="00000500000000000000" pitchFamily="2" charset="0"/>
                </a:rPr>
                <a:t>The core container for the message:</a:t>
              </a:r>
              <a:br>
                <a:rPr lang="en-US" sz="2000" b="1" dirty="0">
                  <a:solidFill>
                    <a:srgbClr val="303642"/>
                  </a:solidFill>
                  <a:latin typeface="Poppins" panose="00000500000000000000" pitchFamily="2" charset="0"/>
                  <a:cs typeface="Poppins" panose="00000500000000000000" pitchFamily="2" charset="0"/>
                </a:rPr>
              </a:br>
              <a:r>
                <a:rPr lang="en-US" sz="2000" dirty="0">
                  <a:solidFill>
                    <a:srgbClr val="303642"/>
                  </a:solidFill>
                  <a:latin typeface="Poppins" panose="00000500000000000000" pitchFamily="2" charset="0"/>
                  <a:cs typeface="Poppins" panose="00000500000000000000" pitchFamily="2" charset="0"/>
                </a:rPr>
                <a:t>Carries the LL header, the application data and security information.</a:t>
              </a:r>
            </a:p>
          </p:txBody>
        </p:sp>
        <p:sp>
          <p:nvSpPr>
            <p:cNvPr id="19" name="Arrow: Up 18">
              <a:extLst>
                <a:ext uri="{FF2B5EF4-FFF2-40B4-BE49-F238E27FC236}">
                  <a16:creationId xmlns:a16="http://schemas.microsoft.com/office/drawing/2014/main" id="{E3B06046-AA5B-1C4F-0D37-570F1AF3B949}"/>
                </a:ext>
              </a:extLst>
            </p:cNvPr>
            <p:cNvSpPr/>
            <p:nvPr/>
          </p:nvSpPr>
          <p:spPr>
            <a:xfrm>
              <a:off x="10124154" y="4617303"/>
              <a:ext cx="162846" cy="830997"/>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grpSp>
        <p:nvGrpSpPr>
          <p:cNvPr id="27" name="Group 26">
            <a:extLst>
              <a:ext uri="{FF2B5EF4-FFF2-40B4-BE49-F238E27FC236}">
                <a16:creationId xmlns:a16="http://schemas.microsoft.com/office/drawing/2014/main" id="{B7A3436D-232B-4398-184F-D35A1F53F407}"/>
              </a:ext>
            </a:extLst>
          </p:cNvPr>
          <p:cNvGrpSpPr/>
          <p:nvPr/>
        </p:nvGrpSpPr>
        <p:grpSpPr>
          <a:xfrm>
            <a:off x="12801600" y="5372098"/>
            <a:ext cx="5334000" cy="1015663"/>
            <a:chOff x="12801600" y="5372098"/>
            <a:chExt cx="5334000" cy="1015663"/>
          </a:xfrm>
        </p:grpSpPr>
        <p:sp>
          <p:nvSpPr>
            <p:cNvPr id="12" name="TextBox 11">
              <a:extLst>
                <a:ext uri="{FF2B5EF4-FFF2-40B4-BE49-F238E27FC236}">
                  <a16:creationId xmlns:a16="http://schemas.microsoft.com/office/drawing/2014/main" id="{B848F987-02B7-5DC3-0421-F3B68B5C45E6}"/>
                </a:ext>
              </a:extLst>
            </p:cNvPr>
            <p:cNvSpPr txBox="1"/>
            <p:nvPr/>
          </p:nvSpPr>
          <p:spPr>
            <a:xfrm>
              <a:off x="13106400" y="5372098"/>
              <a:ext cx="5029200" cy="1015663"/>
            </a:xfrm>
            <a:prstGeom prst="rect">
              <a:avLst/>
            </a:prstGeom>
            <a:noFill/>
          </p:spPr>
          <p:txBody>
            <a:bodyPr wrap="square">
              <a:spAutoFit/>
            </a:bodyPr>
            <a:lstStyle/>
            <a:p>
              <a:pPr algn="ctr"/>
              <a:r>
                <a:rPr lang="en-US" sz="2000" b="1" dirty="0">
                  <a:solidFill>
                    <a:srgbClr val="303642"/>
                  </a:solidFill>
                  <a:latin typeface="Poppins" panose="00000500000000000000" pitchFamily="2" charset="0"/>
                  <a:cs typeface="Poppins" panose="00000500000000000000" pitchFamily="2" charset="0"/>
                </a:rPr>
                <a:t>Cyclic Redundancy Check:</a:t>
              </a:r>
              <a:br>
                <a:rPr lang="en-US" sz="2000" dirty="0">
                  <a:solidFill>
                    <a:srgbClr val="303642"/>
                  </a:solidFill>
                  <a:latin typeface="Poppins" panose="00000500000000000000" pitchFamily="2" charset="0"/>
                  <a:cs typeface="Poppins" panose="00000500000000000000" pitchFamily="2" charset="0"/>
                </a:rPr>
              </a:br>
              <a:r>
                <a:rPr lang="en-US" sz="2000" dirty="0">
                  <a:solidFill>
                    <a:srgbClr val="303642"/>
                  </a:solidFill>
                  <a:latin typeface="Poppins" panose="00000500000000000000" pitchFamily="2" charset="0"/>
                  <a:cs typeface="Poppins" panose="00000500000000000000" pitchFamily="2" charset="0"/>
                </a:rPr>
                <a:t>A mathematical error-detecting code to ensure data integrity.</a:t>
              </a:r>
            </a:p>
          </p:txBody>
        </p:sp>
        <p:sp>
          <p:nvSpPr>
            <p:cNvPr id="21" name="Arrow: Up 20">
              <a:extLst>
                <a:ext uri="{FF2B5EF4-FFF2-40B4-BE49-F238E27FC236}">
                  <a16:creationId xmlns:a16="http://schemas.microsoft.com/office/drawing/2014/main" id="{3B5CC05B-97A0-2B9A-74EB-B287C2B1383C}"/>
                </a:ext>
              </a:extLst>
            </p:cNvPr>
            <p:cNvSpPr/>
            <p:nvPr/>
          </p:nvSpPr>
          <p:spPr>
            <a:xfrm rot="5400000">
              <a:off x="13063077" y="5214314"/>
              <a:ext cx="162846" cy="685800"/>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grpSp>
        <p:nvGrpSpPr>
          <p:cNvPr id="24" name="Group 23">
            <a:extLst>
              <a:ext uri="{FF2B5EF4-FFF2-40B4-BE49-F238E27FC236}">
                <a16:creationId xmlns:a16="http://schemas.microsoft.com/office/drawing/2014/main" id="{0F243B13-1173-BC99-AE63-EDEA4C3BFE33}"/>
              </a:ext>
            </a:extLst>
          </p:cNvPr>
          <p:cNvGrpSpPr/>
          <p:nvPr/>
        </p:nvGrpSpPr>
        <p:grpSpPr>
          <a:xfrm>
            <a:off x="-76200" y="5218209"/>
            <a:ext cx="5337574" cy="1323439"/>
            <a:chOff x="-76200" y="5218209"/>
            <a:chExt cx="5337574" cy="1323439"/>
          </a:xfrm>
        </p:grpSpPr>
        <p:sp>
          <p:nvSpPr>
            <p:cNvPr id="7" name="TextBox 6">
              <a:extLst>
                <a:ext uri="{FF2B5EF4-FFF2-40B4-BE49-F238E27FC236}">
                  <a16:creationId xmlns:a16="http://schemas.microsoft.com/office/drawing/2014/main" id="{1C69D47F-CB37-25FF-A5DE-844D39E3DB0D}"/>
                </a:ext>
              </a:extLst>
            </p:cNvPr>
            <p:cNvSpPr txBox="1"/>
            <p:nvPr/>
          </p:nvSpPr>
          <p:spPr>
            <a:xfrm>
              <a:off x="-76200" y="5218209"/>
              <a:ext cx="5029200" cy="1323439"/>
            </a:xfrm>
            <a:prstGeom prst="rect">
              <a:avLst/>
            </a:prstGeom>
            <a:noFill/>
          </p:spPr>
          <p:txBody>
            <a:bodyPr wrap="square">
              <a:spAutoFit/>
            </a:bodyPr>
            <a:lstStyle/>
            <a:p>
              <a:pPr algn="ctr"/>
              <a:r>
                <a:rPr lang="en-US" sz="2000" b="1" dirty="0">
                  <a:solidFill>
                    <a:srgbClr val="303642"/>
                  </a:solidFill>
                  <a:latin typeface="Poppins" panose="00000500000000000000" pitchFamily="2" charset="0"/>
                  <a:cs typeface="Poppins" panose="00000500000000000000" pitchFamily="2" charset="0"/>
                </a:rPr>
                <a:t>Alternating sequence of 0s and 1s:</a:t>
              </a:r>
              <a:br>
                <a:rPr lang="en-US" sz="2000" dirty="0">
                  <a:solidFill>
                    <a:srgbClr val="303642"/>
                  </a:solidFill>
                  <a:latin typeface="Poppins" panose="00000500000000000000" pitchFamily="2" charset="0"/>
                  <a:cs typeface="Poppins" panose="00000500000000000000" pitchFamily="2" charset="0"/>
                </a:rPr>
              </a:br>
              <a:r>
                <a:rPr lang="en-US" sz="2000" dirty="0">
                  <a:solidFill>
                    <a:srgbClr val="303642"/>
                  </a:solidFill>
                  <a:latin typeface="Poppins" panose="00000500000000000000" pitchFamily="2" charset="0"/>
                  <a:cs typeface="Poppins" panose="00000500000000000000" pitchFamily="2" charset="0"/>
                </a:rPr>
                <a:t>Allows receiving radio to wake up, synchronize its timing before the signal data arrives.</a:t>
              </a:r>
            </a:p>
          </p:txBody>
        </p:sp>
        <p:sp>
          <p:nvSpPr>
            <p:cNvPr id="23" name="Arrow: Up 22">
              <a:extLst>
                <a:ext uri="{FF2B5EF4-FFF2-40B4-BE49-F238E27FC236}">
                  <a16:creationId xmlns:a16="http://schemas.microsoft.com/office/drawing/2014/main" id="{0CE2B95E-8FB8-8529-2A1F-13976F198BAA}"/>
                </a:ext>
              </a:extLst>
            </p:cNvPr>
            <p:cNvSpPr/>
            <p:nvPr/>
          </p:nvSpPr>
          <p:spPr>
            <a:xfrm rot="16200000">
              <a:off x="4873364" y="5476582"/>
              <a:ext cx="162846" cy="613175"/>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spTree>
    <p:extLst>
      <p:ext uri="{BB962C8B-B14F-4D97-AF65-F5344CB8AC3E}">
        <p14:creationId xmlns:p14="http://schemas.microsoft.com/office/powerpoint/2010/main" val="3759658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03A7C-20B2-DCE0-9520-68288DD22DD8}"/>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51844385-BF60-C8A1-5DC7-6727E8EE554D}"/>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AC8DDA5C-1237-27A8-3083-28CAD753A34C}"/>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2DE9A06B-6269-37E8-D959-E3E5155F21E9}"/>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828C3E66-5A65-4375-773D-210971DEC578}"/>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18519259-B7B8-F745-08F5-4770B9CEA1FB}"/>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28BB364F-659D-D4D0-0AB1-E7D669544D15}"/>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16" name="TextBox 15">
            <a:extLst>
              <a:ext uri="{FF2B5EF4-FFF2-40B4-BE49-F238E27FC236}">
                <a16:creationId xmlns:a16="http://schemas.microsoft.com/office/drawing/2014/main" id="{85D9905D-1A94-97F5-3921-308DC4FA73C6}"/>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Host Layer’s Sub-layers Communication</a:t>
            </a:r>
          </a:p>
        </p:txBody>
      </p:sp>
      <p:sp>
        <p:nvSpPr>
          <p:cNvPr id="9" name="Slide Number Placeholder 8">
            <a:extLst>
              <a:ext uri="{FF2B5EF4-FFF2-40B4-BE49-F238E27FC236}">
                <a16:creationId xmlns:a16="http://schemas.microsoft.com/office/drawing/2014/main" id="{E503C5D2-67EF-C1DA-7F93-4A38922939AE}"/>
              </a:ext>
            </a:extLst>
          </p:cNvPr>
          <p:cNvSpPr>
            <a:spLocks noGrp="1"/>
          </p:cNvSpPr>
          <p:nvPr>
            <p:ph type="sldNum" sz="quarter" idx="12"/>
          </p:nvPr>
        </p:nvSpPr>
        <p:spPr/>
        <p:txBody>
          <a:bodyPr/>
          <a:lstStyle/>
          <a:p>
            <a:fld id="{B6F15528-21DE-4FAA-801E-634DDDAF4B2B}" type="slidenum">
              <a:rPr lang="en-US" smtClean="0"/>
              <a:pPr/>
              <a:t>15</a:t>
            </a:fld>
            <a:endParaRPr lang="en-US" sz="1800"/>
          </a:p>
        </p:txBody>
      </p:sp>
      <p:sp>
        <p:nvSpPr>
          <p:cNvPr id="6" name="TextBox 5">
            <a:extLst>
              <a:ext uri="{FF2B5EF4-FFF2-40B4-BE49-F238E27FC236}">
                <a16:creationId xmlns:a16="http://schemas.microsoft.com/office/drawing/2014/main" id="{47BFBE61-1794-2EEE-E78A-4B20F3AABAE2}"/>
              </a:ext>
            </a:extLst>
          </p:cNvPr>
          <p:cNvSpPr txBox="1"/>
          <p:nvPr/>
        </p:nvSpPr>
        <p:spPr>
          <a:xfrm>
            <a:off x="975002" y="2095500"/>
            <a:ext cx="15026998" cy="511679"/>
          </a:xfrm>
          <a:prstGeom prst="rect">
            <a:avLst/>
          </a:prstGeom>
        </p:spPr>
        <p:txBody>
          <a:bodyPr wrap="square" lIns="0" tIns="0" rIns="0" bIns="0" rtlCol="0" anchor="t">
            <a:spAutoFit/>
          </a:bodyPr>
          <a:lstStyle/>
          <a:p>
            <a:pPr>
              <a:lnSpc>
                <a:spcPts val="4200"/>
              </a:lnSpc>
              <a:spcBef>
                <a:spcPct val="0"/>
              </a:spcBef>
            </a:pPr>
            <a:r>
              <a:rPr lang="en-US" sz="3000" dirty="0">
                <a:solidFill>
                  <a:schemeClr val="tx2"/>
                </a:solidFill>
                <a:latin typeface="Poppins Bold"/>
                <a:ea typeface="Poppins Bold"/>
                <a:cs typeface="Poppins Bold"/>
                <a:sym typeface="Poppins Bold"/>
              </a:rPr>
              <a:t>Data packet format (L2CAP)</a:t>
            </a:r>
          </a:p>
        </p:txBody>
      </p:sp>
      <p:pic>
        <p:nvPicPr>
          <p:cNvPr id="8" name="Picture 7">
            <a:extLst>
              <a:ext uri="{FF2B5EF4-FFF2-40B4-BE49-F238E27FC236}">
                <a16:creationId xmlns:a16="http://schemas.microsoft.com/office/drawing/2014/main" id="{72FB0A11-EE19-2E8D-3DA7-C1337198483D}"/>
              </a:ext>
            </a:extLst>
          </p:cNvPr>
          <p:cNvPicPr>
            <a:picLocks noChangeAspect="1"/>
          </p:cNvPicPr>
          <p:nvPr/>
        </p:nvPicPr>
        <p:blipFill>
          <a:blip r:embed="rId3"/>
          <a:srcRect b="38744"/>
          <a:stretch>
            <a:fillRect/>
          </a:stretch>
        </p:blipFill>
        <p:spPr>
          <a:xfrm>
            <a:off x="3533203" y="3352659"/>
            <a:ext cx="9192197" cy="3142602"/>
          </a:xfrm>
          <a:prstGeom prst="rect">
            <a:avLst/>
          </a:prstGeom>
        </p:spPr>
      </p:pic>
      <p:grpSp>
        <p:nvGrpSpPr>
          <p:cNvPr id="24" name="Group 23">
            <a:extLst>
              <a:ext uri="{FF2B5EF4-FFF2-40B4-BE49-F238E27FC236}">
                <a16:creationId xmlns:a16="http://schemas.microsoft.com/office/drawing/2014/main" id="{4DCFC787-51AE-B5E6-389B-AC97081C50AD}"/>
              </a:ext>
            </a:extLst>
          </p:cNvPr>
          <p:cNvGrpSpPr/>
          <p:nvPr/>
        </p:nvGrpSpPr>
        <p:grpSpPr>
          <a:xfrm>
            <a:off x="12512731" y="5502414"/>
            <a:ext cx="5422272" cy="1015663"/>
            <a:chOff x="12512731" y="5502414"/>
            <a:chExt cx="5422272" cy="1015663"/>
          </a:xfrm>
        </p:grpSpPr>
        <p:sp>
          <p:nvSpPr>
            <p:cNvPr id="11" name="TextBox 10">
              <a:extLst>
                <a:ext uri="{FF2B5EF4-FFF2-40B4-BE49-F238E27FC236}">
                  <a16:creationId xmlns:a16="http://schemas.microsoft.com/office/drawing/2014/main" id="{85235EFB-B76C-FA8B-5500-3ECAA41CC206}"/>
                </a:ext>
              </a:extLst>
            </p:cNvPr>
            <p:cNvSpPr txBox="1"/>
            <p:nvPr/>
          </p:nvSpPr>
          <p:spPr>
            <a:xfrm>
              <a:off x="13058203" y="5502414"/>
              <a:ext cx="4876800" cy="1015663"/>
            </a:xfrm>
            <a:prstGeom prst="rect">
              <a:avLst/>
            </a:prstGeom>
            <a:noFill/>
          </p:spPr>
          <p:txBody>
            <a:bodyPr wrap="square">
              <a:spAutoFit/>
            </a:bodyPr>
            <a:lstStyle/>
            <a:p>
              <a:pPr algn="ctr"/>
              <a:r>
                <a:rPr lang="en-US" sz="2000" b="1" dirty="0">
                  <a:solidFill>
                    <a:srgbClr val="303642"/>
                  </a:solidFill>
                  <a:latin typeface="Poppins" panose="00000500000000000000" pitchFamily="2" charset="0"/>
                  <a:cs typeface="Poppins" panose="00000500000000000000" pitchFamily="2" charset="0"/>
                </a:rPr>
                <a:t>Message Integrity Check:</a:t>
              </a:r>
              <a:br>
                <a:rPr lang="en-US" sz="2000" dirty="0">
                  <a:solidFill>
                    <a:srgbClr val="303642"/>
                  </a:solidFill>
                  <a:latin typeface="Poppins" panose="00000500000000000000" pitchFamily="2" charset="0"/>
                  <a:cs typeface="Poppins" panose="00000500000000000000" pitchFamily="2" charset="0"/>
                </a:rPr>
              </a:br>
              <a:r>
                <a:rPr lang="en-US" sz="2000" dirty="0">
                  <a:solidFill>
                    <a:srgbClr val="303642"/>
                  </a:solidFill>
                  <a:latin typeface="Poppins" panose="00000500000000000000" pitchFamily="2" charset="0"/>
                  <a:cs typeface="Poppins" panose="00000500000000000000" pitchFamily="2" charset="0"/>
                </a:rPr>
                <a:t>Authenticates the packet to ensure no tampering could happen.</a:t>
              </a:r>
            </a:p>
          </p:txBody>
        </p:sp>
        <p:sp>
          <p:nvSpPr>
            <p:cNvPr id="12" name="Arrow: Up 11">
              <a:extLst>
                <a:ext uri="{FF2B5EF4-FFF2-40B4-BE49-F238E27FC236}">
                  <a16:creationId xmlns:a16="http://schemas.microsoft.com/office/drawing/2014/main" id="{8470CEBD-ACED-9D7B-03F8-653716D7B0E7}"/>
                </a:ext>
              </a:extLst>
            </p:cNvPr>
            <p:cNvSpPr/>
            <p:nvPr/>
          </p:nvSpPr>
          <p:spPr>
            <a:xfrm rot="5400000">
              <a:off x="12774208" y="5644216"/>
              <a:ext cx="162846" cy="685800"/>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grpSp>
        <p:nvGrpSpPr>
          <p:cNvPr id="22" name="Group 21">
            <a:extLst>
              <a:ext uri="{FF2B5EF4-FFF2-40B4-BE49-F238E27FC236}">
                <a16:creationId xmlns:a16="http://schemas.microsoft.com/office/drawing/2014/main" id="{706458F8-7DA4-2A53-FBDC-9C9DC09A59A7}"/>
              </a:ext>
            </a:extLst>
          </p:cNvPr>
          <p:cNvGrpSpPr/>
          <p:nvPr/>
        </p:nvGrpSpPr>
        <p:grpSpPr>
          <a:xfrm>
            <a:off x="685800" y="5502414"/>
            <a:ext cx="5590603" cy="1015663"/>
            <a:chOff x="685800" y="5502414"/>
            <a:chExt cx="5590603" cy="1015663"/>
          </a:xfrm>
        </p:grpSpPr>
        <p:sp>
          <p:nvSpPr>
            <p:cNvPr id="2" name="TextBox 1">
              <a:extLst>
                <a:ext uri="{FF2B5EF4-FFF2-40B4-BE49-F238E27FC236}">
                  <a16:creationId xmlns:a16="http://schemas.microsoft.com/office/drawing/2014/main" id="{7B5339CD-2CC2-9D8F-2F8D-53CB8D0D00ED}"/>
                </a:ext>
              </a:extLst>
            </p:cNvPr>
            <p:cNvSpPr txBox="1"/>
            <p:nvPr/>
          </p:nvSpPr>
          <p:spPr>
            <a:xfrm>
              <a:off x="685800" y="5502414"/>
              <a:ext cx="5029200" cy="1015663"/>
            </a:xfrm>
            <a:prstGeom prst="rect">
              <a:avLst/>
            </a:prstGeom>
            <a:noFill/>
          </p:spPr>
          <p:txBody>
            <a:bodyPr wrap="square">
              <a:spAutoFit/>
            </a:bodyPr>
            <a:lstStyle/>
            <a:p>
              <a:pPr algn="ctr"/>
              <a:r>
                <a:rPr lang="en-US" sz="2000" b="1" dirty="0">
                  <a:solidFill>
                    <a:srgbClr val="303642"/>
                  </a:solidFill>
                  <a:latin typeface="Poppins" panose="00000500000000000000" pitchFamily="2" charset="0"/>
                  <a:cs typeface="Poppins" panose="00000500000000000000" pitchFamily="2" charset="0"/>
                </a:rPr>
                <a:t>Control information for the LL:</a:t>
              </a:r>
              <a:br>
                <a:rPr lang="en-US" sz="2000" dirty="0">
                  <a:solidFill>
                    <a:srgbClr val="303642"/>
                  </a:solidFill>
                  <a:latin typeface="Poppins" panose="00000500000000000000" pitchFamily="2" charset="0"/>
                  <a:cs typeface="Poppins" panose="00000500000000000000" pitchFamily="2" charset="0"/>
                </a:rPr>
              </a:br>
              <a:r>
                <a:rPr lang="en-US" sz="2000" dirty="0">
                  <a:solidFill>
                    <a:srgbClr val="303642"/>
                  </a:solidFill>
                  <a:latin typeface="Poppins" panose="00000500000000000000" pitchFamily="2" charset="0"/>
                  <a:cs typeface="Poppins" panose="00000500000000000000" pitchFamily="2" charset="0"/>
                </a:rPr>
                <a:t>How to process the payload and manages the flow of connections.</a:t>
              </a:r>
            </a:p>
          </p:txBody>
        </p:sp>
        <p:sp>
          <p:nvSpPr>
            <p:cNvPr id="18" name="Arrow: Up 17">
              <a:extLst>
                <a:ext uri="{FF2B5EF4-FFF2-40B4-BE49-F238E27FC236}">
                  <a16:creationId xmlns:a16="http://schemas.microsoft.com/office/drawing/2014/main" id="{94F426A1-3434-DC6E-F32E-01C9409FFBE6}"/>
                </a:ext>
              </a:extLst>
            </p:cNvPr>
            <p:cNvSpPr/>
            <p:nvPr/>
          </p:nvSpPr>
          <p:spPr>
            <a:xfrm rot="16200000">
              <a:off x="5852080" y="5621938"/>
              <a:ext cx="162846" cy="685800"/>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grpSp>
        <p:nvGrpSpPr>
          <p:cNvPr id="23" name="Group 22">
            <a:extLst>
              <a:ext uri="{FF2B5EF4-FFF2-40B4-BE49-F238E27FC236}">
                <a16:creationId xmlns:a16="http://schemas.microsoft.com/office/drawing/2014/main" id="{725C2160-0D69-70B5-FBFA-DDECA63E7E18}"/>
              </a:ext>
            </a:extLst>
          </p:cNvPr>
          <p:cNvGrpSpPr/>
          <p:nvPr/>
        </p:nvGrpSpPr>
        <p:grpSpPr>
          <a:xfrm>
            <a:off x="7483531" y="6340614"/>
            <a:ext cx="5029200" cy="1469886"/>
            <a:chOff x="7483531" y="6340614"/>
            <a:chExt cx="5029200" cy="1469886"/>
          </a:xfrm>
        </p:grpSpPr>
        <p:sp>
          <p:nvSpPr>
            <p:cNvPr id="10" name="TextBox 9">
              <a:extLst>
                <a:ext uri="{FF2B5EF4-FFF2-40B4-BE49-F238E27FC236}">
                  <a16:creationId xmlns:a16="http://schemas.microsoft.com/office/drawing/2014/main" id="{3D13F651-FC85-EF2F-F84C-224D3520FABA}"/>
                </a:ext>
              </a:extLst>
            </p:cNvPr>
            <p:cNvSpPr txBox="1"/>
            <p:nvPr/>
          </p:nvSpPr>
          <p:spPr>
            <a:xfrm>
              <a:off x="7483531" y="7102614"/>
              <a:ext cx="5029200" cy="707886"/>
            </a:xfrm>
            <a:prstGeom prst="rect">
              <a:avLst/>
            </a:prstGeom>
            <a:noFill/>
          </p:spPr>
          <p:txBody>
            <a:bodyPr wrap="square">
              <a:spAutoFit/>
            </a:bodyPr>
            <a:lstStyle/>
            <a:p>
              <a:pPr algn="ctr"/>
              <a:r>
                <a:rPr lang="en-US" sz="2000" b="1" dirty="0">
                  <a:solidFill>
                    <a:srgbClr val="303642"/>
                  </a:solidFill>
                  <a:latin typeface="Poppins" panose="00000500000000000000" pitchFamily="2" charset="0"/>
                  <a:cs typeface="Poppins" panose="00000500000000000000" pitchFamily="2" charset="0"/>
                </a:rPr>
                <a:t>The actual information:</a:t>
              </a:r>
              <a:br>
                <a:rPr lang="en-US" sz="2000" dirty="0">
                  <a:solidFill>
                    <a:srgbClr val="303642"/>
                  </a:solidFill>
                  <a:latin typeface="Poppins" panose="00000500000000000000" pitchFamily="2" charset="0"/>
                  <a:cs typeface="Poppins" panose="00000500000000000000" pitchFamily="2" charset="0"/>
                </a:rPr>
              </a:br>
              <a:r>
                <a:rPr lang="en-US" sz="2000" dirty="0">
                  <a:solidFill>
                    <a:srgbClr val="303642"/>
                  </a:solidFill>
                  <a:latin typeface="Poppins" panose="00000500000000000000" pitchFamily="2" charset="0"/>
                  <a:cs typeface="Poppins" panose="00000500000000000000" pitchFamily="2" charset="0"/>
                </a:rPr>
                <a:t>Carries the user application data.</a:t>
              </a:r>
            </a:p>
          </p:txBody>
        </p:sp>
        <p:sp>
          <p:nvSpPr>
            <p:cNvPr id="20" name="Arrow: Up 19">
              <a:extLst>
                <a:ext uri="{FF2B5EF4-FFF2-40B4-BE49-F238E27FC236}">
                  <a16:creationId xmlns:a16="http://schemas.microsoft.com/office/drawing/2014/main" id="{0096B006-21D3-4E1E-C232-9E290342203B}"/>
                </a:ext>
              </a:extLst>
            </p:cNvPr>
            <p:cNvSpPr/>
            <p:nvPr/>
          </p:nvSpPr>
          <p:spPr>
            <a:xfrm rot="10800000">
              <a:off x="9916708" y="6340614"/>
              <a:ext cx="162846" cy="685800"/>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spTree>
    <p:extLst>
      <p:ext uri="{BB962C8B-B14F-4D97-AF65-F5344CB8AC3E}">
        <p14:creationId xmlns:p14="http://schemas.microsoft.com/office/powerpoint/2010/main" val="69666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790EA-7C46-55E1-8F34-BE4164D539C3}"/>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30C3160C-CBEF-E80A-FA2B-F9B598EC0035}"/>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12D5EEA1-8317-A898-385A-FAC5815BD6AE}"/>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E034DBCA-4410-F0AE-125A-D2E1A86D0CEB}"/>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51FA960C-8A15-7FC2-E1BA-BB0D524B5AB4}"/>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216BE025-BD4F-BB9E-3EA8-9838FC42DB22}"/>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E4F809A7-9CF8-ED7F-0905-AD702B7AAB90}"/>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16" name="TextBox 15">
            <a:extLst>
              <a:ext uri="{FF2B5EF4-FFF2-40B4-BE49-F238E27FC236}">
                <a16:creationId xmlns:a16="http://schemas.microsoft.com/office/drawing/2014/main" id="{DA2F7C41-FC98-FF99-712A-0EF3C24306A7}"/>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Host Layer’s Sub-layers Communication</a:t>
            </a:r>
          </a:p>
        </p:txBody>
      </p:sp>
      <p:sp>
        <p:nvSpPr>
          <p:cNvPr id="9" name="Slide Number Placeholder 8">
            <a:extLst>
              <a:ext uri="{FF2B5EF4-FFF2-40B4-BE49-F238E27FC236}">
                <a16:creationId xmlns:a16="http://schemas.microsoft.com/office/drawing/2014/main" id="{C0CA31BF-3FC8-F22B-EC20-67FDBC73D8B1}"/>
              </a:ext>
            </a:extLst>
          </p:cNvPr>
          <p:cNvSpPr>
            <a:spLocks noGrp="1"/>
          </p:cNvSpPr>
          <p:nvPr>
            <p:ph type="sldNum" sz="quarter" idx="12"/>
          </p:nvPr>
        </p:nvSpPr>
        <p:spPr/>
        <p:txBody>
          <a:bodyPr/>
          <a:lstStyle/>
          <a:p>
            <a:fld id="{B6F15528-21DE-4FAA-801E-634DDDAF4B2B}" type="slidenum">
              <a:rPr lang="en-US" smtClean="0"/>
              <a:pPr/>
              <a:t>16</a:t>
            </a:fld>
            <a:endParaRPr lang="en-US" sz="1800"/>
          </a:p>
        </p:txBody>
      </p:sp>
      <p:sp>
        <p:nvSpPr>
          <p:cNvPr id="6" name="TextBox 5">
            <a:extLst>
              <a:ext uri="{FF2B5EF4-FFF2-40B4-BE49-F238E27FC236}">
                <a16:creationId xmlns:a16="http://schemas.microsoft.com/office/drawing/2014/main" id="{F6CC7396-A438-12C7-019D-20A06B7C42CF}"/>
              </a:ext>
            </a:extLst>
          </p:cNvPr>
          <p:cNvSpPr txBox="1"/>
          <p:nvPr/>
        </p:nvSpPr>
        <p:spPr>
          <a:xfrm>
            <a:off x="975002" y="2095500"/>
            <a:ext cx="15026998" cy="511679"/>
          </a:xfrm>
          <a:prstGeom prst="rect">
            <a:avLst/>
          </a:prstGeom>
        </p:spPr>
        <p:txBody>
          <a:bodyPr wrap="square" lIns="0" tIns="0" rIns="0" bIns="0" rtlCol="0" anchor="t">
            <a:spAutoFit/>
          </a:bodyPr>
          <a:lstStyle/>
          <a:p>
            <a:pPr>
              <a:lnSpc>
                <a:spcPts val="4200"/>
              </a:lnSpc>
              <a:spcBef>
                <a:spcPct val="0"/>
              </a:spcBef>
            </a:pPr>
            <a:r>
              <a:rPr lang="en-US" sz="3000" dirty="0">
                <a:solidFill>
                  <a:schemeClr val="tx2"/>
                </a:solidFill>
                <a:latin typeface="Poppins Bold"/>
                <a:ea typeface="Poppins Bold"/>
                <a:cs typeface="Poppins Bold"/>
                <a:sym typeface="Poppins Bold"/>
              </a:rPr>
              <a:t>Data packet format (L2CAP)</a:t>
            </a:r>
          </a:p>
        </p:txBody>
      </p:sp>
      <p:pic>
        <p:nvPicPr>
          <p:cNvPr id="8" name="Picture 7">
            <a:extLst>
              <a:ext uri="{FF2B5EF4-FFF2-40B4-BE49-F238E27FC236}">
                <a16:creationId xmlns:a16="http://schemas.microsoft.com/office/drawing/2014/main" id="{1C45EF25-FF9F-ED21-DF1F-338F6F7517E5}"/>
              </a:ext>
            </a:extLst>
          </p:cNvPr>
          <p:cNvPicPr>
            <a:picLocks noChangeAspect="1"/>
          </p:cNvPicPr>
          <p:nvPr/>
        </p:nvPicPr>
        <p:blipFill>
          <a:blip r:embed="rId3"/>
          <a:srcRect l="20579" t="43380" r="-843" b="524"/>
          <a:stretch>
            <a:fillRect/>
          </a:stretch>
        </p:blipFill>
        <p:spPr>
          <a:xfrm>
            <a:off x="4495800" y="2933700"/>
            <a:ext cx="11506199" cy="3368469"/>
          </a:xfrm>
          <a:prstGeom prst="rect">
            <a:avLst/>
          </a:prstGeom>
        </p:spPr>
      </p:pic>
      <p:grpSp>
        <p:nvGrpSpPr>
          <p:cNvPr id="31" name="Group 30">
            <a:extLst>
              <a:ext uri="{FF2B5EF4-FFF2-40B4-BE49-F238E27FC236}">
                <a16:creationId xmlns:a16="http://schemas.microsoft.com/office/drawing/2014/main" id="{62D2FD27-8739-A87E-D2ED-E18876B0005B}"/>
              </a:ext>
            </a:extLst>
          </p:cNvPr>
          <p:cNvGrpSpPr/>
          <p:nvPr/>
        </p:nvGrpSpPr>
        <p:grpSpPr>
          <a:xfrm>
            <a:off x="-76200" y="3956214"/>
            <a:ext cx="5029200" cy="1846352"/>
            <a:chOff x="-76200" y="3956214"/>
            <a:chExt cx="5029200" cy="1846352"/>
          </a:xfrm>
        </p:grpSpPr>
        <p:sp>
          <p:nvSpPr>
            <p:cNvPr id="2" name="TextBox 1">
              <a:extLst>
                <a:ext uri="{FF2B5EF4-FFF2-40B4-BE49-F238E27FC236}">
                  <a16:creationId xmlns:a16="http://schemas.microsoft.com/office/drawing/2014/main" id="{8032997D-0721-6F2E-A8C5-E16974BA63E4}"/>
                </a:ext>
              </a:extLst>
            </p:cNvPr>
            <p:cNvSpPr txBox="1"/>
            <p:nvPr/>
          </p:nvSpPr>
          <p:spPr>
            <a:xfrm>
              <a:off x="-76200" y="3956214"/>
              <a:ext cx="5029200" cy="1323439"/>
            </a:xfrm>
            <a:prstGeom prst="rect">
              <a:avLst/>
            </a:prstGeom>
            <a:noFill/>
          </p:spPr>
          <p:txBody>
            <a:bodyPr wrap="square">
              <a:spAutoFit/>
            </a:bodyPr>
            <a:lstStyle/>
            <a:p>
              <a:pPr algn="ctr"/>
              <a:r>
                <a:rPr lang="en-US" sz="2000" b="1" dirty="0">
                  <a:solidFill>
                    <a:srgbClr val="303642"/>
                  </a:solidFill>
                  <a:latin typeface="Poppins" panose="00000500000000000000" pitchFamily="2" charset="0"/>
                  <a:cs typeface="Poppins" panose="00000500000000000000" pitchFamily="2" charset="0"/>
                </a:rPr>
                <a:t>Logical Link </a:t>
              </a:r>
              <a:r>
                <a:rPr lang="en-US" sz="2000" b="1" dirty="0" err="1">
                  <a:solidFill>
                    <a:srgbClr val="303642"/>
                  </a:solidFill>
                  <a:latin typeface="Poppins" panose="00000500000000000000" pitchFamily="2" charset="0"/>
                  <a:cs typeface="Poppins" panose="00000500000000000000" pitchFamily="2" charset="0"/>
                </a:rPr>
                <a:t>IDentifier</a:t>
              </a:r>
              <a:r>
                <a:rPr lang="en-US" sz="2000" b="1" dirty="0">
                  <a:solidFill>
                    <a:srgbClr val="303642"/>
                  </a:solidFill>
                  <a:latin typeface="Poppins" panose="00000500000000000000" pitchFamily="2" charset="0"/>
                  <a:cs typeface="Poppins" panose="00000500000000000000" pitchFamily="2" charset="0"/>
                </a:rPr>
                <a:t>:</a:t>
              </a:r>
              <a:br>
                <a:rPr lang="en-US" sz="2000" dirty="0">
                  <a:solidFill>
                    <a:srgbClr val="303642"/>
                  </a:solidFill>
                  <a:latin typeface="Poppins" panose="00000500000000000000" pitchFamily="2" charset="0"/>
                  <a:cs typeface="Poppins" panose="00000500000000000000" pitchFamily="2" charset="0"/>
                </a:rPr>
              </a:br>
              <a:r>
                <a:rPr lang="en-US" sz="2000" dirty="0">
                  <a:solidFill>
                    <a:srgbClr val="303642"/>
                  </a:solidFill>
                  <a:latin typeface="Poppins" panose="00000500000000000000" pitchFamily="2" charset="0"/>
                  <a:cs typeface="Poppins" panose="00000500000000000000" pitchFamily="2" charset="0"/>
                </a:rPr>
                <a:t>Indicates the type of data contained in the payload (standard application data / LL control command).</a:t>
              </a:r>
            </a:p>
          </p:txBody>
        </p:sp>
        <p:sp>
          <p:nvSpPr>
            <p:cNvPr id="20" name="Arrow: Up 19">
              <a:extLst>
                <a:ext uri="{FF2B5EF4-FFF2-40B4-BE49-F238E27FC236}">
                  <a16:creationId xmlns:a16="http://schemas.microsoft.com/office/drawing/2014/main" id="{5D817370-4401-F527-8C54-791D19A8EADC}"/>
                </a:ext>
              </a:extLst>
            </p:cNvPr>
            <p:cNvSpPr/>
            <p:nvPr/>
          </p:nvSpPr>
          <p:spPr>
            <a:xfrm rot="19225216">
              <a:off x="4363577" y="5116766"/>
              <a:ext cx="162846" cy="685800"/>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grpSp>
        <p:nvGrpSpPr>
          <p:cNvPr id="32" name="Group 31">
            <a:extLst>
              <a:ext uri="{FF2B5EF4-FFF2-40B4-BE49-F238E27FC236}">
                <a16:creationId xmlns:a16="http://schemas.microsoft.com/office/drawing/2014/main" id="{8B0D5D66-CB74-0D27-91B4-E6260415A693}"/>
              </a:ext>
            </a:extLst>
          </p:cNvPr>
          <p:cNvGrpSpPr/>
          <p:nvPr/>
        </p:nvGrpSpPr>
        <p:grpSpPr>
          <a:xfrm>
            <a:off x="979918" y="6238298"/>
            <a:ext cx="5558826" cy="1263047"/>
            <a:chOff x="979918" y="6238298"/>
            <a:chExt cx="5558826" cy="1263047"/>
          </a:xfrm>
        </p:grpSpPr>
        <p:sp>
          <p:nvSpPr>
            <p:cNvPr id="10" name="TextBox 9">
              <a:extLst>
                <a:ext uri="{FF2B5EF4-FFF2-40B4-BE49-F238E27FC236}">
                  <a16:creationId xmlns:a16="http://schemas.microsoft.com/office/drawing/2014/main" id="{390080CB-1ED2-C301-64E0-F0B64E6822A6}"/>
                </a:ext>
              </a:extLst>
            </p:cNvPr>
            <p:cNvSpPr txBox="1"/>
            <p:nvPr/>
          </p:nvSpPr>
          <p:spPr>
            <a:xfrm>
              <a:off x="979918" y="6485682"/>
              <a:ext cx="5029200" cy="1015663"/>
            </a:xfrm>
            <a:prstGeom prst="rect">
              <a:avLst/>
            </a:prstGeom>
            <a:noFill/>
          </p:spPr>
          <p:txBody>
            <a:bodyPr wrap="square">
              <a:spAutoFit/>
            </a:bodyPr>
            <a:lstStyle/>
            <a:p>
              <a:pPr algn="ctr"/>
              <a:r>
                <a:rPr lang="en-US" sz="2000" b="1" dirty="0">
                  <a:solidFill>
                    <a:srgbClr val="303642"/>
                  </a:solidFill>
                  <a:latin typeface="Poppins" panose="00000500000000000000" pitchFamily="2" charset="0"/>
                  <a:cs typeface="Poppins" panose="00000500000000000000" pitchFamily="2" charset="0"/>
                </a:rPr>
                <a:t>Next Expected Sequence Number:</a:t>
              </a:r>
              <a:br>
                <a:rPr lang="en-US" sz="2000" dirty="0">
                  <a:solidFill>
                    <a:srgbClr val="303642"/>
                  </a:solidFill>
                  <a:latin typeface="Poppins" panose="00000500000000000000" pitchFamily="2" charset="0"/>
                  <a:cs typeface="Poppins" panose="00000500000000000000" pitchFamily="2" charset="0"/>
                </a:rPr>
              </a:br>
              <a:r>
                <a:rPr lang="en-US" sz="2000" dirty="0">
                  <a:solidFill>
                    <a:srgbClr val="303642"/>
                  </a:solidFill>
                  <a:latin typeface="Poppins" panose="00000500000000000000" pitchFamily="2" charset="0"/>
                  <a:cs typeface="Poppins" panose="00000500000000000000" pitchFamily="2" charset="0"/>
                </a:rPr>
                <a:t>Tells the other device which packet SN it expects to receive.</a:t>
              </a:r>
            </a:p>
          </p:txBody>
        </p:sp>
        <p:sp>
          <p:nvSpPr>
            <p:cNvPr id="22" name="Arrow: Up 21">
              <a:extLst>
                <a:ext uri="{FF2B5EF4-FFF2-40B4-BE49-F238E27FC236}">
                  <a16:creationId xmlns:a16="http://schemas.microsoft.com/office/drawing/2014/main" id="{81581B78-B6DD-2C99-B7ED-F8BF2801C8B7}"/>
                </a:ext>
              </a:extLst>
            </p:cNvPr>
            <p:cNvSpPr/>
            <p:nvPr/>
          </p:nvSpPr>
          <p:spPr>
            <a:xfrm rot="14122764">
              <a:off x="6114421" y="5976821"/>
              <a:ext cx="162846" cy="685800"/>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grpSp>
        <p:nvGrpSpPr>
          <p:cNvPr id="33" name="Group 32">
            <a:extLst>
              <a:ext uri="{FF2B5EF4-FFF2-40B4-BE49-F238E27FC236}">
                <a16:creationId xmlns:a16="http://schemas.microsoft.com/office/drawing/2014/main" id="{C7F2F3DE-A7B7-4FDC-8362-249F55BA93D6}"/>
              </a:ext>
            </a:extLst>
          </p:cNvPr>
          <p:cNvGrpSpPr/>
          <p:nvPr/>
        </p:nvGrpSpPr>
        <p:grpSpPr>
          <a:xfrm>
            <a:off x="6248400" y="6098956"/>
            <a:ext cx="3276600" cy="1559144"/>
            <a:chOff x="6248400" y="6098956"/>
            <a:chExt cx="3276600" cy="1559144"/>
          </a:xfrm>
        </p:grpSpPr>
        <p:sp>
          <p:nvSpPr>
            <p:cNvPr id="11" name="TextBox 10">
              <a:extLst>
                <a:ext uri="{FF2B5EF4-FFF2-40B4-BE49-F238E27FC236}">
                  <a16:creationId xmlns:a16="http://schemas.microsoft.com/office/drawing/2014/main" id="{716CEE00-C71E-D797-FBD9-E8C609B7DE76}"/>
                </a:ext>
              </a:extLst>
            </p:cNvPr>
            <p:cNvSpPr txBox="1"/>
            <p:nvPr/>
          </p:nvSpPr>
          <p:spPr>
            <a:xfrm>
              <a:off x="6248400" y="6642437"/>
              <a:ext cx="3276600" cy="1015663"/>
            </a:xfrm>
            <a:prstGeom prst="rect">
              <a:avLst/>
            </a:prstGeom>
            <a:noFill/>
          </p:spPr>
          <p:txBody>
            <a:bodyPr wrap="square">
              <a:spAutoFit/>
            </a:bodyPr>
            <a:lstStyle/>
            <a:p>
              <a:pPr algn="ctr"/>
              <a:r>
                <a:rPr lang="en-US" sz="2000" b="1" dirty="0">
                  <a:solidFill>
                    <a:srgbClr val="303642"/>
                  </a:solidFill>
                  <a:latin typeface="Poppins" panose="00000500000000000000" pitchFamily="2" charset="0"/>
                  <a:cs typeface="Poppins" panose="00000500000000000000" pitchFamily="2" charset="0"/>
                </a:rPr>
                <a:t>Sequence Number:</a:t>
              </a:r>
              <a:br>
                <a:rPr lang="en-US" sz="2000" dirty="0">
                  <a:solidFill>
                    <a:srgbClr val="303642"/>
                  </a:solidFill>
                  <a:latin typeface="Poppins" panose="00000500000000000000" pitchFamily="2" charset="0"/>
                  <a:cs typeface="Poppins" panose="00000500000000000000" pitchFamily="2" charset="0"/>
                </a:rPr>
              </a:br>
              <a:r>
                <a:rPr lang="en-US" sz="2000" dirty="0">
                  <a:solidFill>
                    <a:srgbClr val="303642"/>
                  </a:solidFill>
                  <a:latin typeface="Poppins" panose="00000500000000000000" pitchFamily="2" charset="0"/>
                  <a:cs typeface="Poppins" panose="00000500000000000000" pitchFamily="2" charset="0"/>
                </a:rPr>
                <a:t>Identifies the current packet.</a:t>
              </a:r>
            </a:p>
          </p:txBody>
        </p:sp>
        <p:sp>
          <p:nvSpPr>
            <p:cNvPr id="24" name="Arrow: Up 23">
              <a:extLst>
                <a:ext uri="{FF2B5EF4-FFF2-40B4-BE49-F238E27FC236}">
                  <a16:creationId xmlns:a16="http://schemas.microsoft.com/office/drawing/2014/main" id="{4244F4F6-C0AB-9794-2943-5D534EF0E432}"/>
                </a:ext>
              </a:extLst>
            </p:cNvPr>
            <p:cNvSpPr/>
            <p:nvPr/>
          </p:nvSpPr>
          <p:spPr>
            <a:xfrm rot="10800000">
              <a:off x="7865877" y="6098956"/>
              <a:ext cx="162846" cy="416144"/>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grpSp>
        <p:nvGrpSpPr>
          <p:cNvPr id="34" name="Group 33">
            <a:extLst>
              <a:ext uri="{FF2B5EF4-FFF2-40B4-BE49-F238E27FC236}">
                <a16:creationId xmlns:a16="http://schemas.microsoft.com/office/drawing/2014/main" id="{DA61FABD-B79D-10BD-1DFE-878BC3A7F0FB}"/>
              </a:ext>
            </a:extLst>
          </p:cNvPr>
          <p:cNvGrpSpPr/>
          <p:nvPr/>
        </p:nvGrpSpPr>
        <p:grpSpPr>
          <a:xfrm>
            <a:off x="8488501" y="6094951"/>
            <a:ext cx="3828437" cy="2406578"/>
            <a:chOff x="8488501" y="6094951"/>
            <a:chExt cx="3828437" cy="2406578"/>
          </a:xfrm>
        </p:grpSpPr>
        <p:sp>
          <p:nvSpPr>
            <p:cNvPr id="12" name="TextBox 11">
              <a:extLst>
                <a:ext uri="{FF2B5EF4-FFF2-40B4-BE49-F238E27FC236}">
                  <a16:creationId xmlns:a16="http://schemas.microsoft.com/office/drawing/2014/main" id="{79194A2F-32F8-5307-1FA9-DEFCE7EBCA8C}"/>
                </a:ext>
              </a:extLst>
            </p:cNvPr>
            <p:cNvSpPr txBox="1"/>
            <p:nvPr/>
          </p:nvSpPr>
          <p:spPr>
            <a:xfrm>
              <a:off x="8488501" y="7178090"/>
              <a:ext cx="3828437" cy="1323439"/>
            </a:xfrm>
            <a:prstGeom prst="rect">
              <a:avLst/>
            </a:prstGeom>
            <a:noFill/>
          </p:spPr>
          <p:txBody>
            <a:bodyPr wrap="square">
              <a:spAutoFit/>
            </a:bodyPr>
            <a:lstStyle/>
            <a:p>
              <a:pPr algn="ctr"/>
              <a:r>
                <a:rPr lang="en-US" sz="2000" b="1" dirty="0">
                  <a:solidFill>
                    <a:srgbClr val="303642"/>
                  </a:solidFill>
                  <a:latin typeface="Poppins" panose="00000500000000000000" pitchFamily="2" charset="0"/>
                  <a:cs typeface="Poppins" panose="00000500000000000000" pitchFamily="2" charset="0"/>
                </a:rPr>
                <a:t>More Data:</a:t>
              </a:r>
              <a:br>
                <a:rPr lang="en-US" sz="2000" dirty="0">
                  <a:solidFill>
                    <a:srgbClr val="303642"/>
                  </a:solidFill>
                  <a:latin typeface="Poppins" panose="00000500000000000000" pitchFamily="2" charset="0"/>
                  <a:cs typeface="Poppins" panose="00000500000000000000" pitchFamily="2" charset="0"/>
                </a:rPr>
              </a:br>
              <a:r>
                <a:rPr lang="en-US" sz="2000" dirty="0">
                  <a:solidFill>
                    <a:srgbClr val="303642"/>
                  </a:solidFill>
                  <a:latin typeface="Poppins" panose="00000500000000000000" pitchFamily="2" charset="0"/>
                  <a:cs typeface="Poppins" panose="00000500000000000000" pitchFamily="2" charset="0"/>
                </a:rPr>
                <a:t>Tells the receiving device that the sender has more packets queued.</a:t>
              </a:r>
            </a:p>
          </p:txBody>
        </p:sp>
        <p:sp>
          <p:nvSpPr>
            <p:cNvPr id="26" name="Arrow: Up 25">
              <a:extLst>
                <a:ext uri="{FF2B5EF4-FFF2-40B4-BE49-F238E27FC236}">
                  <a16:creationId xmlns:a16="http://schemas.microsoft.com/office/drawing/2014/main" id="{8CFBB426-EA65-BD9F-085D-E89E1255BA45}"/>
                </a:ext>
              </a:extLst>
            </p:cNvPr>
            <p:cNvSpPr/>
            <p:nvPr/>
          </p:nvSpPr>
          <p:spPr>
            <a:xfrm rot="9597232">
              <a:off x="9698431" y="6094951"/>
              <a:ext cx="162846" cy="982268"/>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grpSp>
        <p:nvGrpSpPr>
          <p:cNvPr id="35" name="Group 34">
            <a:extLst>
              <a:ext uri="{FF2B5EF4-FFF2-40B4-BE49-F238E27FC236}">
                <a16:creationId xmlns:a16="http://schemas.microsoft.com/office/drawing/2014/main" id="{EDF9FBF0-18D8-A8D7-468E-26C4A1956CDA}"/>
              </a:ext>
            </a:extLst>
          </p:cNvPr>
          <p:cNvGrpSpPr/>
          <p:nvPr/>
        </p:nvGrpSpPr>
        <p:grpSpPr>
          <a:xfrm>
            <a:off x="11128069" y="6269576"/>
            <a:ext cx="4450800" cy="1553485"/>
            <a:chOff x="11128069" y="6269576"/>
            <a:chExt cx="4450800" cy="1553485"/>
          </a:xfrm>
        </p:grpSpPr>
        <p:sp>
          <p:nvSpPr>
            <p:cNvPr id="13" name="TextBox 12">
              <a:extLst>
                <a:ext uri="{FF2B5EF4-FFF2-40B4-BE49-F238E27FC236}">
                  <a16:creationId xmlns:a16="http://schemas.microsoft.com/office/drawing/2014/main" id="{FA279094-29D3-5456-5644-8A5D83141425}"/>
                </a:ext>
              </a:extLst>
            </p:cNvPr>
            <p:cNvSpPr txBox="1"/>
            <p:nvPr/>
          </p:nvSpPr>
          <p:spPr>
            <a:xfrm>
              <a:off x="11467857" y="6499622"/>
              <a:ext cx="4111012" cy="1323439"/>
            </a:xfrm>
            <a:prstGeom prst="rect">
              <a:avLst/>
            </a:prstGeom>
            <a:noFill/>
          </p:spPr>
          <p:txBody>
            <a:bodyPr wrap="square">
              <a:spAutoFit/>
            </a:bodyPr>
            <a:lstStyle/>
            <a:p>
              <a:pPr algn="ctr"/>
              <a:r>
                <a:rPr lang="en-US" sz="2000" b="1" dirty="0">
                  <a:solidFill>
                    <a:srgbClr val="303642"/>
                  </a:solidFill>
                  <a:latin typeface="Poppins" panose="00000500000000000000" pitchFamily="2" charset="0"/>
                  <a:cs typeface="Poppins" panose="00000500000000000000" pitchFamily="2" charset="0"/>
                </a:rPr>
                <a:t>Reserved for future Use:</a:t>
              </a:r>
              <a:br>
                <a:rPr lang="en-US" sz="2000" dirty="0">
                  <a:solidFill>
                    <a:srgbClr val="303642"/>
                  </a:solidFill>
                  <a:latin typeface="Poppins" panose="00000500000000000000" pitchFamily="2" charset="0"/>
                  <a:cs typeface="Poppins" panose="00000500000000000000" pitchFamily="2" charset="0"/>
                </a:rPr>
              </a:br>
              <a:r>
                <a:rPr lang="en-US" sz="2000" dirty="0">
                  <a:solidFill>
                    <a:srgbClr val="303642"/>
                  </a:solidFill>
                  <a:latin typeface="Poppins" panose="00000500000000000000" pitchFamily="2" charset="0"/>
                  <a:cs typeface="Poppins" panose="00000500000000000000" pitchFamily="2" charset="0"/>
                </a:rPr>
                <a:t>Placeholder for future Bluetooth specification updates.</a:t>
              </a:r>
            </a:p>
          </p:txBody>
        </p:sp>
        <p:sp>
          <p:nvSpPr>
            <p:cNvPr id="28" name="Arrow: Up 27">
              <a:extLst>
                <a:ext uri="{FF2B5EF4-FFF2-40B4-BE49-F238E27FC236}">
                  <a16:creationId xmlns:a16="http://schemas.microsoft.com/office/drawing/2014/main" id="{979D50D9-5CCF-FB9A-44A8-8492E04F4310}"/>
                </a:ext>
              </a:extLst>
            </p:cNvPr>
            <p:cNvSpPr/>
            <p:nvPr/>
          </p:nvSpPr>
          <p:spPr>
            <a:xfrm rot="7510806">
              <a:off x="11480476" y="5917169"/>
              <a:ext cx="162846" cy="867659"/>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grpSp>
        <p:nvGrpSpPr>
          <p:cNvPr id="36" name="Group 35">
            <a:extLst>
              <a:ext uri="{FF2B5EF4-FFF2-40B4-BE49-F238E27FC236}">
                <a16:creationId xmlns:a16="http://schemas.microsoft.com/office/drawing/2014/main" id="{FE58E604-2EEA-85DE-5162-1B8C45CAEF2F}"/>
              </a:ext>
            </a:extLst>
          </p:cNvPr>
          <p:cNvGrpSpPr/>
          <p:nvPr/>
        </p:nvGrpSpPr>
        <p:grpSpPr>
          <a:xfrm>
            <a:off x="14574674" y="5115461"/>
            <a:ext cx="4018126" cy="1323439"/>
            <a:chOff x="14574674" y="5115461"/>
            <a:chExt cx="4018126" cy="1323439"/>
          </a:xfrm>
        </p:grpSpPr>
        <p:sp>
          <p:nvSpPr>
            <p:cNvPr id="18" name="TextBox 17">
              <a:extLst>
                <a:ext uri="{FF2B5EF4-FFF2-40B4-BE49-F238E27FC236}">
                  <a16:creationId xmlns:a16="http://schemas.microsoft.com/office/drawing/2014/main" id="{BD5B08F8-DFD3-5C5E-CA75-E3F261C1899A}"/>
                </a:ext>
              </a:extLst>
            </p:cNvPr>
            <p:cNvSpPr txBox="1"/>
            <p:nvPr/>
          </p:nvSpPr>
          <p:spPr>
            <a:xfrm>
              <a:off x="14839538" y="5115461"/>
              <a:ext cx="3753262" cy="1323439"/>
            </a:xfrm>
            <a:prstGeom prst="rect">
              <a:avLst/>
            </a:prstGeom>
            <a:noFill/>
          </p:spPr>
          <p:txBody>
            <a:bodyPr wrap="square">
              <a:spAutoFit/>
            </a:bodyPr>
            <a:lstStyle/>
            <a:p>
              <a:pPr algn="ctr"/>
              <a:r>
                <a:rPr lang="en-US" sz="2000" b="1" dirty="0">
                  <a:solidFill>
                    <a:srgbClr val="303642"/>
                  </a:solidFill>
                  <a:latin typeface="Poppins" panose="00000500000000000000" pitchFamily="2" charset="0"/>
                  <a:cs typeface="Poppins" panose="00000500000000000000" pitchFamily="2" charset="0"/>
                </a:rPr>
                <a:t>Length:</a:t>
              </a:r>
              <a:br>
                <a:rPr lang="en-US" sz="2000" dirty="0">
                  <a:solidFill>
                    <a:srgbClr val="303642"/>
                  </a:solidFill>
                  <a:latin typeface="Poppins" panose="00000500000000000000" pitchFamily="2" charset="0"/>
                  <a:cs typeface="Poppins" panose="00000500000000000000" pitchFamily="2" charset="0"/>
                </a:rPr>
              </a:br>
              <a:r>
                <a:rPr lang="en-US" sz="2000" dirty="0">
                  <a:solidFill>
                    <a:srgbClr val="303642"/>
                  </a:solidFill>
                  <a:latin typeface="Poppins" panose="00000500000000000000" pitchFamily="2" charset="0"/>
                  <a:cs typeface="Poppins" panose="00000500000000000000" pitchFamily="2" charset="0"/>
                </a:rPr>
                <a:t>Defines the size of the payload and the MIC combined.</a:t>
              </a:r>
            </a:p>
          </p:txBody>
        </p:sp>
        <p:sp>
          <p:nvSpPr>
            <p:cNvPr id="30" name="Arrow: Up 29">
              <a:extLst>
                <a:ext uri="{FF2B5EF4-FFF2-40B4-BE49-F238E27FC236}">
                  <a16:creationId xmlns:a16="http://schemas.microsoft.com/office/drawing/2014/main" id="{D861D8FD-CB8C-9843-364F-249E58356A6D}"/>
                </a:ext>
              </a:extLst>
            </p:cNvPr>
            <p:cNvSpPr/>
            <p:nvPr/>
          </p:nvSpPr>
          <p:spPr>
            <a:xfrm rot="4695442">
              <a:off x="14836151" y="5331105"/>
              <a:ext cx="162846" cy="685800"/>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grpSp>
        <p:nvGrpSpPr>
          <p:cNvPr id="41" name="Group 40">
            <a:extLst>
              <a:ext uri="{FF2B5EF4-FFF2-40B4-BE49-F238E27FC236}">
                <a16:creationId xmlns:a16="http://schemas.microsoft.com/office/drawing/2014/main" id="{E1A6146A-497B-AB01-64BC-D280EE592391}"/>
              </a:ext>
            </a:extLst>
          </p:cNvPr>
          <p:cNvGrpSpPr/>
          <p:nvPr/>
        </p:nvGrpSpPr>
        <p:grpSpPr>
          <a:xfrm>
            <a:off x="2286000" y="7513973"/>
            <a:ext cx="5930183" cy="2197941"/>
            <a:chOff x="2286000" y="7513973"/>
            <a:chExt cx="5930183" cy="2197941"/>
          </a:xfrm>
        </p:grpSpPr>
        <p:sp>
          <p:nvSpPr>
            <p:cNvPr id="19" name="TextBox 18">
              <a:extLst>
                <a:ext uri="{FF2B5EF4-FFF2-40B4-BE49-F238E27FC236}">
                  <a16:creationId xmlns:a16="http://schemas.microsoft.com/office/drawing/2014/main" id="{B6DB4E95-4FC7-1B94-CA1B-6ACB0B771C2D}"/>
                </a:ext>
              </a:extLst>
            </p:cNvPr>
            <p:cNvSpPr txBox="1"/>
            <p:nvPr/>
          </p:nvSpPr>
          <p:spPr>
            <a:xfrm>
              <a:off x="2286000" y="8696251"/>
              <a:ext cx="5930183" cy="1015663"/>
            </a:xfrm>
            <a:prstGeom prst="rect">
              <a:avLst/>
            </a:prstGeom>
            <a:noFill/>
          </p:spPr>
          <p:txBody>
            <a:bodyPr wrap="square">
              <a:spAutoFit/>
            </a:bodyPr>
            <a:lstStyle/>
            <a:p>
              <a:pPr algn="ctr"/>
              <a:r>
                <a:rPr lang="en-US" sz="2000" b="1" dirty="0">
                  <a:solidFill>
                    <a:srgbClr val="303642"/>
                  </a:solidFill>
                  <a:latin typeface="Poppins" panose="00000500000000000000" pitchFamily="2" charset="0"/>
                  <a:cs typeface="Poppins" panose="00000500000000000000" pitchFamily="2" charset="0"/>
                </a:rPr>
                <a:t>ARQ (Automatic Repeat </a:t>
              </a:r>
              <a:r>
                <a:rPr lang="en-US" sz="2000" b="1" dirty="0" err="1">
                  <a:solidFill>
                    <a:srgbClr val="303642"/>
                  </a:solidFill>
                  <a:latin typeface="Poppins" panose="00000500000000000000" pitchFamily="2" charset="0"/>
                  <a:cs typeface="Poppins" panose="00000500000000000000" pitchFamily="2" charset="0"/>
                </a:rPr>
                <a:t>reQuest</a:t>
              </a:r>
              <a:r>
                <a:rPr lang="en-US" sz="2000" b="1" dirty="0">
                  <a:solidFill>
                    <a:srgbClr val="303642"/>
                  </a:solidFill>
                  <a:latin typeface="Poppins" panose="00000500000000000000" pitchFamily="2" charset="0"/>
                  <a:cs typeface="Poppins" panose="00000500000000000000" pitchFamily="2" charset="0"/>
                </a:rPr>
                <a:t>) system:</a:t>
              </a:r>
              <a:br>
                <a:rPr lang="en-US" sz="2000" dirty="0">
                  <a:solidFill>
                    <a:srgbClr val="303642"/>
                  </a:solidFill>
                  <a:latin typeface="Poppins" panose="00000500000000000000" pitchFamily="2" charset="0"/>
                  <a:cs typeface="Poppins" panose="00000500000000000000" pitchFamily="2" charset="0"/>
                </a:rPr>
              </a:br>
              <a:r>
                <a:rPr lang="en-US" sz="2000" dirty="0">
                  <a:solidFill>
                    <a:srgbClr val="303642"/>
                  </a:solidFill>
                  <a:latin typeface="Poppins" panose="00000500000000000000" pitchFamily="2" charset="0"/>
                  <a:cs typeface="Poppins" panose="00000500000000000000" pitchFamily="2" charset="0"/>
                </a:rPr>
                <a:t>Track packets and trigger retransmissions if a packet is lost.</a:t>
              </a:r>
            </a:p>
          </p:txBody>
        </p:sp>
        <p:sp>
          <p:nvSpPr>
            <p:cNvPr id="38" name="Arrow: Up 37">
              <a:extLst>
                <a:ext uri="{FF2B5EF4-FFF2-40B4-BE49-F238E27FC236}">
                  <a16:creationId xmlns:a16="http://schemas.microsoft.com/office/drawing/2014/main" id="{C7EF7343-297B-8F15-BBF2-115CBE5EFEC7}"/>
                </a:ext>
              </a:extLst>
            </p:cNvPr>
            <p:cNvSpPr/>
            <p:nvPr/>
          </p:nvSpPr>
          <p:spPr>
            <a:xfrm rot="9597232">
              <a:off x="4730193" y="7513973"/>
              <a:ext cx="162846" cy="982268"/>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sp>
          <p:nvSpPr>
            <p:cNvPr id="40" name="Arrow: Up 39">
              <a:extLst>
                <a:ext uri="{FF2B5EF4-FFF2-40B4-BE49-F238E27FC236}">
                  <a16:creationId xmlns:a16="http://schemas.microsoft.com/office/drawing/2014/main" id="{ADF03D50-EAAA-ED90-01F2-833C00610ACC}"/>
                </a:ext>
              </a:extLst>
            </p:cNvPr>
            <p:cNvSpPr/>
            <p:nvPr/>
          </p:nvSpPr>
          <p:spPr>
            <a:xfrm rot="13238515">
              <a:off x="6129530" y="7534984"/>
              <a:ext cx="162846" cy="982268"/>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grpSp>
    </p:spTree>
    <p:extLst>
      <p:ext uri="{BB962C8B-B14F-4D97-AF65-F5344CB8AC3E}">
        <p14:creationId xmlns:p14="http://schemas.microsoft.com/office/powerpoint/2010/main" val="2511706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8D499-D17F-A956-99A7-39A0CB410C6A}"/>
            </a:ext>
          </a:extLst>
        </p:cNvPr>
        <p:cNvGrpSpPr/>
        <p:nvPr/>
      </p:nvGrpSpPr>
      <p:grpSpPr>
        <a:xfrm>
          <a:off x="0" y="0"/>
          <a:ext cx="0" cy="0"/>
          <a:chOff x="0" y="0"/>
          <a:chExt cx="0" cy="0"/>
        </a:xfrm>
      </p:grpSpPr>
      <p:grpSp>
        <p:nvGrpSpPr>
          <p:cNvPr id="14" name="Group 3">
            <a:extLst>
              <a:ext uri="{FF2B5EF4-FFF2-40B4-BE49-F238E27FC236}">
                <a16:creationId xmlns:a16="http://schemas.microsoft.com/office/drawing/2014/main" id="{C2274CB5-F887-8779-F7D5-3815CE8D50E6}"/>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4FE2E309-CB67-6264-2D99-988592A8E537}"/>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0F296415-0A1E-6986-B9EB-D0162FB664AF}"/>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16" name="TextBox 15">
            <a:extLst>
              <a:ext uri="{FF2B5EF4-FFF2-40B4-BE49-F238E27FC236}">
                <a16:creationId xmlns:a16="http://schemas.microsoft.com/office/drawing/2014/main" id="{A89D63E5-1851-3EA7-D842-C15DC9C84FE3}"/>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Host Layer’s Sub-layers Communication</a:t>
            </a:r>
          </a:p>
        </p:txBody>
      </p:sp>
      <p:sp>
        <p:nvSpPr>
          <p:cNvPr id="9" name="Slide Number Placeholder 8">
            <a:extLst>
              <a:ext uri="{FF2B5EF4-FFF2-40B4-BE49-F238E27FC236}">
                <a16:creationId xmlns:a16="http://schemas.microsoft.com/office/drawing/2014/main" id="{7A9D97DA-7867-8DA4-F709-C04479D152DD}"/>
              </a:ext>
            </a:extLst>
          </p:cNvPr>
          <p:cNvSpPr>
            <a:spLocks noGrp="1"/>
          </p:cNvSpPr>
          <p:nvPr>
            <p:ph type="sldNum" sz="quarter" idx="12"/>
          </p:nvPr>
        </p:nvSpPr>
        <p:spPr/>
        <p:txBody>
          <a:bodyPr/>
          <a:lstStyle/>
          <a:p>
            <a:fld id="{B6F15528-21DE-4FAA-801E-634DDDAF4B2B}" type="slidenum">
              <a:rPr lang="en-US" smtClean="0"/>
              <a:pPr/>
              <a:t>17</a:t>
            </a:fld>
            <a:endParaRPr lang="en-US" sz="1800"/>
          </a:p>
        </p:txBody>
      </p:sp>
      <p:sp>
        <p:nvSpPr>
          <p:cNvPr id="6" name="TextBox 5">
            <a:extLst>
              <a:ext uri="{FF2B5EF4-FFF2-40B4-BE49-F238E27FC236}">
                <a16:creationId xmlns:a16="http://schemas.microsoft.com/office/drawing/2014/main" id="{B87A2DFD-C4CE-023B-B1E4-61E8C36547DA}"/>
              </a:ext>
            </a:extLst>
          </p:cNvPr>
          <p:cNvSpPr txBox="1"/>
          <p:nvPr/>
        </p:nvSpPr>
        <p:spPr>
          <a:xfrm>
            <a:off x="975002" y="2095500"/>
            <a:ext cx="15026998" cy="511679"/>
          </a:xfrm>
          <a:prstGeom prst="rect">
            <a:avLst/>
          </a:prstGeom>
        </p:spPr>
        <p:txBody>
          <a:bodyPr wrap="square" lIns="0" tIns="0" rIns="0" bIns="0" rtlCol="0" anchor="t">
            <a:spAutoFit/>
          </a:bodyPr>
          <a:lstStyle/>
          <a:p>
            <a:pPr>
              <a:lnSpc>
                <a:spcPts val="4200"/>
              </a:lnSpc>
              <a:spcBef>
                <a:spcPct val="0"/>
              </a:spcBef>
            </a:pPr>
            <a:r>
              <a:rPr lang="en-US" sz="3000" dirty="0">
                <a:solidFill>
                  <a:schemeClr val="tx2"/>
                </a:solidFill>
                <a:latin typeface="Poppins Bold"/>
                <a:ea typeface="Poppins Bold"/>
                <a:cs typeface="Poppins Bold"/>
                <a:sym typeface="Poppins Bold"/>
              </a:rPr>
              <a:t>Data packet format (L2CAP)</a:t>
            </a:r>
          </a:p>
        </p:txBody>
      </p:sp>
      <p:pic>
        <p:nvPicPr>
          <p:cNvPr id="8" name="Picture 7">
            <a:extLst>
              <a:ext uri="{FF2B5EF4-FFF2-40B4-BE49-F238E27FC236}">
                <a16:creationId xmlns:a16="http://schemas.microsoft.com/office/drawing/2014/main" id="{C1B23851-DED2-87A6-2CA7-9F9158FD6336}"/>
              </a:ext>
            </a:extLst>
          </p:cNvPr>
          <p:cNvPicPr>
            <a:picLocks noChangeAspect="1"/>
          </p:cNvPicPr>
          <p:nvPr/>
        </p:nvPicPr>
        <p:blipFill rotWithShape="1">
          <a:blip r:embed="rId3"/>
          <a:srcRect t="4" b="-305"/>
          <a:stretch>
            <a:fillRect/>
          </a:stretch>
        </p:blipFill>
        <p:spPr>
          <a:xfrm>
            <a:off x="3106796" y="2910397"/>
            <a:ext cx="12074407" cy="6759065"/>
          </a:xfrm>
          <a:prstGeom prst="rect">
            <a:avLst/>
          </a:prstGeom>
        </p:spPr>
      </p:pic>
      <p:grpSp>
        <p:nvGrpSpPr>
          <p:cNvPr id="3" name="Group 3">
            <a:extLst>
              <a:ext uri="{FF2B5EF4-FFF2-40B4-BE49-F238E27FC236}">
                <a16:creationId xmlns:a16="http://schemas.microsoft.com/office/drawing/2014/main" id="{0950538A-64C9-B7E1-5AE3-13098CA6E1B0}"/>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CBC3594B-E05C-EDED-A93E-2FFF1ED8F691}"/>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E99174EF-0276-3280-A99F-1091CB58640A}"/>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2974623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19158-FB81-485D-5526-820ED1521450}"/>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6B9561B1-28AB-E5E8-15A1-F0C7BAD6D5B1}"/>
              </a:ext>
            </a:extLst>
          </p:cNvPr>
          <p:cNvSpPr txBox="1"/>
          <p:nvPr/>
        </p:nvSpPr>
        <p:spPr>
          <a:xfrm>
            <a:off x="975002" y="1159423"/>
            <a:ext cx="14798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Host Layer’s Sub-layers Communication</a:t>
            </a:r>
          </a:p>
        </p:txBody>
      </p:sp>
      <p:grpSp>
        <p:nvGrpSpPr>
          <p:cNvPr id="15" name="Group 3">
            <a:extLst>
              <a:ext uri="{FF2B5EF4-FFF2-40B4-BE49-F238E27FC236}">
                <a16:creationId xmlns:a16="http://schemas.microsoft.com/office/drawing/2014/main" id="{CC7D23ED-31C4-9FA6-2034-A5B544F9207B}"/>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5D95F757-9FBF-B341-5CD0-0EAD56978D6E}"/>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E99FF984-B64F-71A1-3F42-8F02E50E0713}"/>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BAE75140-E05F-B73D-ACCC-9BAACA464C21}"/>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B6481B04-17BE-E5F2-FCCA-F0EEB1E5F260}"/>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B0C4F09F-DA30-D026-9886-26F9CC30DB43}"/>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7" name="Slide Number Placeholder 6">
            <a:extLst>
              <a:ext uri="{FF2B5EF4-FFF2-40B4-BE49-F238E27FC236}">
                <a16:creationId xmlns:a16="http://schemas.microsoft.com/office/drawing/2014/main" id="{8ED8785F-64DD-7301-F12F-053E7BD437AF}"/>
              </a:ext>
            </a:extLst>
          </p:cNvPr>
          <p:cNvSpPr>
            <a:spLocks noGrp="1"/>
          </p:cNvSpPr>
          <p:nvPr>
            <p:ph type="sldNum" sz="quarter" idx="12"/>
          </p:nvPr>
        </p:nvSpPr>
        <p:spPr/>
        <p:txBody>
          <a:bodyPr/>
          <a:lstStyle/>
          <a:p>
            <a:fld id="{B6F15528-21DE-4FAA-801E-634DDDAF4B2B}" type="slidenum">
              <a:rPr lang="en-US" smtClean="0"/>
              <a:pPr/>
              <a:t>18</a:t>
            </a:fld>
            <a:endParaRPr lang="en-US" sz="1800"/>
          </a:p>
        </p:txBody>
      </p:sp>
      <p:sp>
        <p:nvSpPr>
          <p:cNvPr id="3" name="TextBox 2">
            <a:extLst>
              <a:ext uri="{FF2B5EF4-FFF2-40B4-BE49-F238E27FC236}">
                <a16:creationId xmlns:a16="http://schemas.microsoft.com/office/drawing/2014/main" id="{4DE50D7A-59DF-0170-22E9-24A54A047577}"/>
              </a:ext>
            </a:extLst>
          </p:cNvPr>
          <p:cNvSpPr txBox="1"/>
          <p:nvPr/>
        </p:nvSpPr>
        <p:spPr>
          <a:xfrm>
            <a:off x="975002" y="2095500"/>
            <a:ext cx="15026998" cy="461665"/>
          </a:xfrm>
          <a:prstGeom prst="rect">
            <a:avLst/>
          </a:prstGeom>
        </p:spPr>
        <p:txBody>
          <a:bodyPr wrap="square" lIns="0" tIns="0" rIns="0" bIns="0" rtlCol="0" anchor="t">
            <a:spAutoFit/>
          </a:bodyPr>
          <a:lstStyle/>
          <a:p>
            <a:pPr>
              <a:lnSpc>
                <a:spcPct val="100000"/>
              </a:lnSpc>
              <a:spcBef>
                <a:spcPct val="0"/>
              </a:spcBef>
            </a:pPr>
            <a:r>
              <a:rPr lang="en-US" sz="3000" dirty="0">
                <a:solidFill>
                  <a:schemeClr val="tx2"/>
                </a:solidFill>
                <a:latin typeface="Poppins Bold"/>
                <a:ea typeface="Poppins Bold"/>
                <a:cs typeface="Poppins Bold"/>
                <a:sym typeface="Poppins Bold"/>
              </a:rPr>
              <a:t>Data packet format (ATT Protocol PDU)</a:t>
            </a:r>
          </a:p>
        </p:txBody>
      </p:sp>
      <p:pic>
        <p:nvPicPr>
          <p:cNvPr id="5" name="Picture 4">
            <a:extLst>
              <a:ext uri="{FF2B5EF4-FFF2-40B4-BE49-F238E27FC236}">
                <a16:creationId xmlns:a16="http://schemas.microsoft.com/office/drawing/2014/main" id="{A832E9F3-007D-1DC3-2DE3-A84EF52015D6}"/>
              </a:ext>
            </a:extLst>
          </p:cNvPr>
          <p:cNvPicPr>
            <a:picLocks noChangeAspect="1"/>
          </p:cNvPicPr>
          <p:nvPr/>
        </p:nvPicPr>
        <p:blipFill>
          <a:blip r:embed="rId3">
            <a:extLst>
              <a:ext uri="{28A0092B-C50C-407E-A947-70E740481C1C}">
                <a14:useLocalDpi xmlns:a14="http://schemas.microsoft.com/office/drawing/2010/main" val="0"/>
              </a:ext>
            </a:extLst>
          </a:blip>
          <a:srcRect t="1147"/>
          <a:stretch>
            <a:fillRect/>
          </a:stretch>
        </p:blipFill>
        <p:spPr>
          <a:xfrm>
            <a:off x="4209981" y="3747264"/>
            <a:ext cx="9868038" cy="4444236"/>
          </a:xfrm>
          <a:prstGeom prst="rect">
            <a:avLst/>
          </a:prstGeom>
        </p:spPr>
      </p:pic>
    </p:spTree>
    <p:extLst>
      <p:ext uri="{BB962C8B-B14F-4D97-AF65-F5344CB8AC3E}">
        <p14:creationId xmlns:p14="http://schemas.microsoft.com/office/powerpoint/2010/main" val="520030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64FC8-E70B-9F56-A7CE-93DB30F675C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A60F3878-C310-ECE0-47A8-FC8A7A758BFD}"/>
              </a:ext>
            </a:extLst>
          </p:cNvPr>
          <p:cNvSpPr txBox="1"/>
          <p:nvPr/>
        </p:nvSpPr>
        <p:spPr>
          <a:xfrm>
            <a:off x="975002" y="1159423"/>
            <a:ext cx="14798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The Application Layer</a:t>
            </a:r>
          </a:p>
        </p:txBody>
      </p:sp>
      <p:grpSp>
        <p:nvGrpSpPr>
          <p:cNvPr id="15" name="Group 3">
            <a:extLst>
              <a:ext uri="{FF2B5EF4-FFF2-40B4-BE49-F238E27FC236}">
                <a16:creationId xmlns:a16="http://schemas.microsoft.com/office/drawing/2014/main" id="{57355AFE-1FAD-C756-C5A6-8D4B97DF2753}"/>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F171ED0E-9637-C556-9B43-C1AD23F6C1C5}"/>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C9146ED8-CE3C-DBC6-147A-D6DE33DAF157}"/>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93567B9D-B8C8-8F9B-1B4C-3D58B41B2360}"/>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6D5FF674-0E61-9FCC-3171-CFF04E525360}"/>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92AFC4C4-6F42-DFEB-B189-06C70BC740BF}"/>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7" name="Slide Number Placeholder 6">
            <a:extLst>
              <a:ext uri="{FF2B5EF4-FFF2-40B4-BE49-F238E27FC236}">
                <a16:creationId xmlns:a16="http://schemas.microsoft.com/office/drawing/2014/main" id="{8C2D3B39-41EC-5A8A-EA6D-DF66CA9B0F58}"/>
              </a:ext>
            </a:extLst>
          </p:cNvPr>
          <p:cNvSpPr>
            <a:spLocks noGrp="1"/>
          </p:cNvSpPr>
          <p:nvPr>
            <p:ph type="sldNum" sz="quarter" idx="12"/>
          </p:nvPr>
        </p:nvSpPr>
        <p:spPr/>
        <p:txBody>
          <a:bodyPr/>
          <a:lstStyle/>
          <a:p>
            <a:fld id="{B6F15528-21DE-4FAA-801E-634DDDAF4B2B}" type="slidenum">
              <a:rPr lang="en-US" smtClean="0"/>
              <a:pPr/>
              <a:t>19</a:t>
            </a:fld>
            <a:endParaRPr lang="en-US" sz="1800"/>
          </a:p>
        </p:txBody>
      </p:sp>
      <p:grpSp>
        <p:nvGrpSpPr>
          <p:cNvPr id="12" name="Group 11">
            <a:extLst>
              <a:ext uri="{FF2B5EF4-FFF2-40B4-BE49-F238E27FC236}">
                <a16:creationId xmlns:a16="http://schemas.microsoft.com/office/drawing/2014/main" id="{BDD52F2C-90C8-0C83-A2A7-5D206C890070}"/>
              </a:ext>
            </a:extLst>
          </p:cNvPr>
          <p:cNvGrpSpPr/>
          <p:nvPr/>
        </p:nvGrpSpPr>
        <p:grpSpPr>
          <a:xfrm>
            <a:off x="5181600" y="3144774"/>
            <a:ext cx="7924800" cy="5230705"/>
            <a:chOff x="5181600" y="3182814"/>
            <a:chExt cx="7924800" cy="5230705"/>
          </a:xfrm>
        </p:grpSpPr>
        <p:pic>
          <p:nvPicPr>
            <p:cNvPr id="13" name="Picture 12">
              <a:extLst>
                <a:ext uri="{FF2B5EF4-FFF2-40B4-BE49-F238E27FC236}">
                  <a16:creationId xmlns:a16="http://schemas.microsoft.com/office/drawing/2014/main" id="{ACA1B3E0-73A3-05BF-30EC-FFECEA41E74F}"/>
                </a:ext>
              </a:extLst>
            </p:cNvPr>
            <p:cNvPicPr>
              <a:picLocks noChangeAspect="1"/>
            </p:cNvPicPr>
            <p:nvPr/>
          </p:nvPicPr>
          <p:blipFill>
            <a:blip r:embed="rId3">
              <a:extLst>
                <a:ext uri="{28A0092B-C50C-407E-A947-70E740481C1C}">
                  <a14:useLocalDpi xmlns:a14="http://schemas.microsoft.com/office/drawing/2010/main" val="0"/>
                </a:ext>
              </a:extLst>
            </a:blip>
            <a:srcRect t="-984" r="18740" b="83546"/>
            <a:stretch>
              <a:fillRect/>
            </a:stretch>
          </p:blipFill>
          <p:spPr>
            <a:xfrm>
              <a:off x="5181600" y="3182814"/>
              <a:ext cx="7924800" cy="1059599"/>
            </a:xfrm>
            <a:prstGeom prst="rect">
              <a:avLst/>
            </a:prstGeom>
          </p:spPr>
        </p:pic>
        <p:sp>
          <p:nvSpPr>
            <p:cNvPr id="14" name="Arrow: Up 13">
              <a:extLst>
                <a:ext uri="{FF2B5EF4-FFF2-40B4-BE49-F238E27FC236}">
                  <a16:creationId xmlns:a16="http://schemas.microsoft.com/office/drawing/2014/main" id="{C69729ED-5B7B-61D3-F595-B4710F9C7935}"/>
                </a:ext>
              </a:extLst>
            </p:cNvPr>
            <p:cNvSpPr/>
            <p:nvPr/>
          </p:nvSpPr>
          <p:spPr>
            <a:xfrm rot="10800000">
              <a:off x="9057354" y="4728001"/>
              <a:ext cx="162846" cy="830997"/>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a:p>
          </p:txBody>
        </p:sp>
        <p:sp>
          <p:nvSpPr>
            <p:cNvPr id="17" name="TextBox 16">
              <a:extLst>
                <a:ext uri="{FF2B5EF4-FFF2-40B4-BE49-F238E27FC236}">
                  <a16:creationId xmlns:a16="http://schemas.microsoft.com/office/drawing/2014/main" id="{5EDB29B7-B120-8649-AC51-14E24FED2FE2}"/>
                </a:ext>
              </a:extLst>
            </p:cNvPr>
            <p:cNvSpPr txBox="1"/>
            <p:nvPr/>
          </p:nvSpPr>
          <p:spPr>
            <a:xfrm>
              <a:off x="5257800" y="6012349"/>
              <a:ext cx="7761954" cy="2401170"/>
            </a:xfrm>
            <a:prstGeom prst="rect">
              <a:avLst/>
            </a:prstGeom>
            <a:noFill/>
          </p:spPr>
          <p:txBody>
            <a:bodyPr wrap="square">
              <a:spAutoFit/>
            </a:bodyPr>
            <a:lstStyle/>
            <a:p>
              <a:pPr algn="ctr">
                <a:lnSpc>
                  <a:spcPct val="115000"/>
                </a:lnSpc>
                <a:spcAft>
                  <a:spcPts val="800"/>
                </a:spcAft>
              </a:pPr>
              <a:r>
                <a:rPr lang="en-US" sz="2400" dirty="0">
                  <a:solidFill>
                    <a:srgbClr val="303642"/>
                  </a:solidFill>
                  <a:latin typeface="Poppins" panose="00000500000000000000" pitchFamily="2" charset="0"/>
                  <a:cs typeface="Poppins" panose="00000500000000000000" pitchFamily="2" charset="0"/>
                </a:rPr>
                <a:t>Application logic :</a:t>
              </a:r>
            </a:p>
            <a:p>
              <a:pPr algn="ctr">
                <a:lnSpc>
                  <a:spcPct val="115000"/>
                </a:lnSpc>
                <a:spcAft>
                  <a:spcPts val="800"/>
                </a:spcAft>
              </a:pPr>
              <a:br>
                <a:rPr lang="en-US" sz="2400" dirty="0">
                  <a:solidFill>
                    <a:srgbClr val="303642"/>
                  </a:solidFill>
                  <a:latin typeface="Poppins" panose="00000500000000000000" pitchFamily="2" charset="0"/>
                  <a:cs typeface="Poppins" panose="00000500000000000000" pitchFamily="2" charset="0"/>
                </a:rPr>
              </a:br>
              <a:r>
                <a:rPr lang="en-US" sz="2400" dirty="0">
                  <a:solidFill>
                    <a:srgbClr val="303642"/>
                  </a:solidFill>
                  <a:latin typeface="Poppins" panose="00000500000000000000" pitchFamily="2" charset="0"/>
                  <a:cs typeface="Poppins" panose="00000500000000000000" pitchFamily="2" charset="0"/>
                </a:rPr>
                <a:t>- What data to send.</a:t>
              </a:r>
              <a:br>
                <a:rPr lang="en-US" sz="2400" dirty="0">
                  <a:solidFill>
                    <a:srgbClr val="303642"/>
                  </a:solidFill>
                  <a:latin typeface="Poppins" panose="00000500000000000000" pitchFamily="2" charset="0"/>
                  <a:cs typeface="Poppins" panose="00000500000000000000" pitchFamily="2" charset="0"/>
                </a:rPr>
              </a:br>
              <a:r>
                <a:rPr lang="en-US" sz="2400" dirty="0">
                  <a:solidFill>
                    <a:srgbClr val="303642"/>
                  </a:solidFill>
                  <a:latin typeface="Poppins" panose="00000500000000000000" pitchFamily="2" charset="0"/>
                  <a:cs typeface="Poppins" panose="00000500000000000000" pitchFamily="2" charset="0"/>
                </a:rPr>
                <a:t>- How to process it.</a:t>
              </a:r>
            </a:p>
            <a:p>
              <a:pPr algn="ctr">
                <a:lnSpc>
                  <a:spcPct val="115000"/>
                </a:lnSpc>
                <a:spcAft>
                  <a:spcPts val="800"/>
                </a:spcAft>
              </a:pPr>
              <a:r>
                <a:rPr lang="en-US" sz="2400" dirty="0">
                  <a:solidFill>
                    <a:srgbClr val="303642"/>
                  </a:solidFill>
                  <a:latin typeface="Poppins" panose="00000500000000000000" pitchFamily="2" charset="0"/>
                  <a:cs typeface="Poppins" panose="00000500000000000000" pitchFamily="2" charset="0"/>
                </a:rPr>
                <a:t>- How to react to received data.</a:t>
              </a:r>
              <a:endParaRPr lang="en-DE" sz="2400" dirty="0">
                <a:solidFill>
                  <a:srgbClr val="303642"/>
                </a:solidFill>
                <a:latin typeface="Poppins" panose="00000500000000000000" pitchFamily="2" charset="0"/>
                <a:cs typeface="Poppins" panose="00000500000000000000" pitchFamily="2" charset="0"/>
              </a:endParaRPr>
            </a:p>
          </p:txBody>
        </p:sp>
      </p:grpSp>
    </p:spTree>
    <p:extLst>
      <p:ext uri="{BB962C8B-B14F-4D97-AF65-F5344CB8AC3E}">
        <p14:creationId xmlns:p14="http://schemas.microsoft.com/office/powerpoint/2010/main" val="212396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44FC4-6078-DF66-8C6C-74263ABF8FDB}"/>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FB811B1B-3984-B64F-82C5-6BB545F22CD5}"/>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Can Developers Control BLE Sub-Layers?</a:t>
            </a:r>
          </a:p>
        </p:txBody>
      </p:sp>
      <p:grpSp>
        <p:nvGrpSpPr>
          <p:cNvPr id="3" name="Group 3">
            <a:extLst>
              <a:ext uri="{FF2B5EF4-FFF2-40B4-BE49-F238E27FC236}">
                <a16:creationId xmlns:a16="http://schemas.microsoft.com/office/drawing/2014/main" id="{CBE29ECD-8D9E-5291-A66D-CDD2924EDBB5}"/>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3D1EEB2C-22D7-EB29-CE8A-613D8A6F62DD}"/>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A471FD2E-2C3D-DEA4-B49B-7D0C9A7CC8C5}"/>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DD8F2987-A6CF-6FD2-4633-956A8D6D403E}"/>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8324B76A-4A79-3008-6098-167F3FE453E9}"/>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90526D41-BF4E-1954-15DF-85273D39093A}"/>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8" name="Slide Number Placeholder 7">
            <a:extLst>
              <a:ext uri="{FF2B5EF4-FFF2-40B4-BE49-F238E27FC236}">
                <a16:creationId xmlns:a16="http://schemas.microsoft.com/office/drawing/2014/main" id="{C8EBBDED-7202-B3AC-CB1E-757AA8C3FBC4}"/>
              </a:ext>
            </a:extLst>
          </p:cNvPr>
          <p:cNvSpPr>
            <a:spLocks noGrp="1"/>
          </p:cNvSpPr>
          <p:nvPr>
            <p:ph type="sldNum" sz="quarter" idx="12"/>
          </p:nvPr>
        </p:nvSpPr>
        <p:spPr/>
        <p:txBody>
          <a:bodyPr/>
          <a:lstStyle/>
          <a:p>
            <a:fld id="{B6F15528-21DE-4FAA-801E-634DDDAF4B2B}" type="slidenum">
              <a:rPr lang="en-US" smtClean="0"/>
              <a:pPr/>
              <a:t>20</a:t>
            </a:fld>
            <a:endParaRPr lang="en-US" sz="1800"/>
          </a:p>
        </p:txBody>
      </p:sp>
      <p:sp>
        <p:nvSpPr>
          <p:cNvPr id="2" name="TextBox 1">
            <a:extLst>
              <a:ext uri="{FF2B5EF4-FFF2-40B4-BE49-F238E27FC236}">
                <a16:creationId xmlns:a16="http://schemas.microsoft.com/office/drawing/2014/main" id="{5867B585-3D3E-0CB8-697A-85285BFE7959}"/>
              </a:ext>
            </a:extLst>
          </p:cNvPr>
          <p:cNvSpPr txBox="1"/>
          <p:nvPr/>
        </p:nvSpPr>
        <p:spPr>
          <a:xfrm>
            <a:off x="4572000" y="3730549"/>
            <a:ext cx="9144000" cy="2825902"/>
          </a:xfrm>
          <a:prstGeom prst="rect">
            <a:avLst/>
          </a:prstGeom>
          <a:noFill/>
        </p:spPr>
        <p:txBody>
          <a:bodyPr wrap="square">
            <a:spAutoFit/>
          </a:bodyPr>
          <a:lstStyle/>
          <a:p>
            <a:pPr marL="342900" indent="-342900">
              <a:lnSpc>
                <a:spcPct val="115000"/>
              </a:lnSpc>
              <a:spcAft>
                <a:spcPts val="800"/>
              </a:spcAft>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Developers configure the system entirely through APIs exposed to the Application layer by GATT.</a:t>
            </a:r>
          </a:p>
          <a:p>
            <a:pPr>
              <a:lnSpc>
                <a:spcPct val="115000"/>
              </a:lnSpc>
              <a:spcAft>
                <a:spcPts val="800"/>
              </a:spcAft>
            </a:pPr>
            <a:endParaRPr lang="en-US" sz="2400" dirty="0">
              <a:solidFill>
                <a:srgbClr val="303642"/>
              </a:solidFill>
              <a:latin typeface="Poppins" panose="00000500000000000000" pitchFamily="2" charset="0"/>
              <a:cs typeface="Poppins" panose="00000500000000000000" pitchFamily="2" charset="0"/>
            </a:endParaRPr>
          </a:p>
          <a:p>
            <a:pPr marL="342900" indent="-342900">
              <a:lnSpc>
                <a:spcPct val="115000"/>
              </a:lnSpc>
              <a:spcAft>
                <a:spcPts val="800"/>
              </a:spcAft>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Most of the Host's sub-layers (L2CAP, ATT) are not meant to be touched directly. They are handled automatically by the stack.</a:t>
            </a:r>
            <a:endParaRPr lang="en-DE" sz="2400" b="1" dirty="0">
              <a:solidFill>
                <a:srgbClr val="303642"/>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724177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87414-6B1B-7F2A-7592-18C8846BF036}"/>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0237C6A2-AA21-9526-9838-A2A5CCA4521B}"/>
              </a:ext>
            </a:extLst>
          </p:cNvPr>
          <p:cNvSpPr txBox="1"/>
          <p:nvPr/>
        </p:nvSpPr>
        <p:spPr>
          <a:xfrm>
            <a:off x="975002" y="1159423"/>
            <a:ext cx="14102003"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Can Developers Control BLE Sub-Layers?</a:t>
            </a:r>
          </a:p>
        </p:txBody>
      </p:sp>
      <p:grpSp>
        <p:nvGrpSpPr>
          <p:cNvPr id="15" name="Group 3">
            <a:extLst>
              <a:ext uri="{FF2B5EF4-FFF2-40B4-BE49-F238E27FC236}">
                <a16:creationId xmlns:a16="http://schemas.microsoft.com/office/drawing/2014/main" id="{660DE6BB-6ED4-6A10-2F7E-019067D391B4}"/>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890C603A-2EE8-8FE0-8951-557FF55E6C60}"/>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7F83A305-3D0C-2969-7A96-1CCCC410961D}"/>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F79A83C8-729B-5654-0B1C-0CCCA8FE67D4}"/>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905C462C-11F4-BD35-80B6-E40CB9D3DC13}"/>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CD6492F3-0459-6FF9-749A-3E46F2B14CF3}"/>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44" name="Group 43">
            <a:extLst>
              <a:ext uri="{FF2B5EF4-FFF2-40B4-BE49-F238E27FC236}">
                <a16:creationId xmlns:a16="http://schemas.microsoft.com/office/drawing/2014/main" id="{D6E25F81-2CAC-57A8-35E0-48EF666317CC}"/>
              </a:ext>
            </a:extLst>
          </p:cNvPr>
          <p:cNvGrpSpPr/>
          <p:nvPr/>
        </p:nvGrpSpPr>
        <p:grpSpPr>
          <a:xfrm>
            <a:off x="647700" y="2933700"/>
            <a:ext cx="8264874" cy="6287394"/>
            <a:chOff x="1371600" y="2928699"/>
            <a:chExt cx="5486400" cy="4429602"/>
          </a:xfrm>
        </p:grpSpPr>
        <p:sp>
          <p:nvSpPr>
            <p:cNvPr id="28" name="Rectangle 27">
              <a:extLst>
                <a:ext uri="{FF2B5EF4-FFF2-40B4-BE49-F238E27FC236}">
                  <a16:creationId xmlns:a16="http://schemas.microsoft.com/office/drawing/2014/main" id="{EF960FF8-96B7-DA7B-6502-C38DBB8DAEA5}"/>
                </a:ext>
              </a:extLst>
            </p:cNvPr>
            <p:cNvSpPr/>
            <p:nvPr/>
          </p:nvSpPr>
          <p:spPr>
            <a:xfrm>
              <a:off x="1371600" y="2928699"/>
              <a:ext cx="5486400" cy="1262475"/>
            </a:xfrm>
            <a:prstGeom prst="rect">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2"/>
                  </a:solidFill>
                  <a:latin typeface="Poppins Bold"/>
                  <a:cs typeface="Poppins Bold"/>
                  <a:sym typeface="League Spartan"/>
                </a:rPr>
                <a:t>What developers can configure through the Application layer's APIs</a:t>
              </a:r>
              <a:endParaRPr lang="en-US" sz="3000" b="1" dirty="0">
                <a:solidFill>
                  <a:schemeClr val="tx2"/>
                </a:solidFill>
                <a:latin typeface="Poppins Bold"/>
                <a:cs typeface="Poppins Bold"/>
              </a:endParaRPr>
            </a:p>
          </p:txBody>
        </p:sp>
        <p:sp>
          <p:nvSpPr>
            <p:cNvPr id="30" name="Rectangle 29">
              <a:extLst>
                <a:ext uri="{FF2B5EF4-FFF2-40B4-BE49-F238E27FC236}">
                  <a16:creationId xmlns:a16="http://schemas.microsoft.com/office/drawing/2014/main" id="{E3B0FC44-BFF7-DC96-6BC7-9FE74342C583}"/>
                </a:ext>
              </a:extLst>
            </p:cNvPr>
            <p:cNvSpPr/>
            <p:nvPr/>
          </p:nvSpPr>
          <p:spPr>
            <a:xfrm>
              <a:off x="1371600" y="4191174"/>
              <a:ext cx="5486400" cy="3167127"/>
            </a:xfrm>
            <a:prstGeom prst="rect">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150" indent="-342900">
                <a:lnSpc>
                  <a:spcPct val="150000"/>
                </a:lnSpc>
                <a:spcBef>
                  <a:spcPct val="0"/>
                </a:spcBef>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GAP: </a:t>
              </a:r>
              <a:r>
                <a:rPr lang="en-US" sz="2400" dirty="0">
                  <a:solidFill>
                    <a:srgbClr val="303642"/>
                  </a:solidFill>
                  <a:latin typeface="Poppins" panose="00000500000000000000" pitchFamily="2" charset="0"/>
                  <a:cs typeface="Poppins" panose="00000500000000000000" pitchFamily="2" charset="0"/>
                </a:rPr>
                <a:t>device name, advertising data, connection parameters, scanning behavior.</a:t>
              </a:r>
            </a:p>
            <a:p>
              <a:pPr marL="57150" indent="-342900">
                <a:lnSpc>
                  <a:spcPct val="150000"/>
                </a:lnSpc>
                <a:spcBef>
                  <a:spcPct val="0"/>
                </a:spcBef>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GATT: </a:t>
              </a:r>
              <a:r>
                <a:rPr lang="en-US" sz="2400" dirty="0">
                  <a:solidFill>
                    <a:srgbClr val="303642"/>
                  </a:solidFill>
                  <a:latin typeface="Poppins" panose="00000500000000000000" pitchFamily="2" charset="0"/>
                  <a:cs typeface="Poppins" panose="00000500000000000000" pitchFamily="2" charset="0"/>
                </a:rPr>
                <a:t>custom Services and Characteristics (UUIDs, properties, values). </a:t>
              </a:r>
            </a:p>
            <a:p>
              <a:pPr marL="57150" indent="-342900">
                <a:lnSpc>
                  <a:spcPct val="150000"/>
                </a:lnSpc>
                <a:spcBef>
                  <a:spcPct val="0"/>
                </a:spcBef>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SM: </a:t>
              </a:r>
              <a:r>
                <a:rPr lang="en-US" sz="2400" dirty="0">
                  <a:solidFill>
                    <a:srgbClr val="303642"/>
                  </a:solidFill>
                  <a:latin typeface="Poppins" panose="00000500000000000000" pitchFamily="2" charset="0"/>
                  <a:cs typeface="Poppins" panose="00000500000000000000" pitchFamily="2" charset="0"/>
                </a:rPr>
                <a:t>security policy; whether to require bonding, MITM protection, passkey entry, etc.</a:t>
              </a:r>
            </a:p>
          </p:txBody>
        </p:sp>
      </p:grpSp>
      <p:grpSp>
        <p:nvGrpSpPr>
          <p:cNvPr id="45" name="Group 44">
            <a:extLst>
              <a:ext uri="{FF2B5EF4-FFF2-40B4-BE49-F238E27FC236}">
                <a16:creationId xmlns:a16="http://schemas.microsoft.com/office/drawing/2014/main" id="{5CC0245E-242F-9D22-B680-EE164C2E3976}"/>
              </a:ext>
            </a:extLst>
          </p:cNvPr>
          <p:cNvGrpSpPr/>
          <p:nvPr/>
        </p:nvGrpSpPr>
        <p:grpSpPr>
          <a:xfrm>
            <a:off x="9375427" y="2933700"/>
            <a:ext cx="7848600" cy="6266524"/>
            <a:chOff x="1371600" y="2928699"/>
            <a:chExt cx="5486400" cy="4429602"/>
          </a:xfrm>
        </p:grpSpPr>
        <p:sp>
          <p:nvSpPr>
            <p:cNvPr id="46" name="Rectangle 45">
              <a:extLst>
                <a:ext uri="{FF2B5EF4-FFF2-40B4-BE49-F238E27FC236}">
                  <a16:creationId xmlns:a16="http://schemas.microsoft.com/office/drawing/2014/main" id="{CFF8FA2D-CE2C-22EC-CBC2-A173E79AC7DC}"/>
                </a:ext>
              </a:extLst>
            </p:cNvPr>
            <p:cNvSpPr/>
            <p:nvPr/>
          </p:nvSpPr>
          <p:spPr>
            <a:xfrm>
              <a:off x="1371600" y="2928699"/>
              <a:ext cx="5486400" cy="1262475"/>
            </a:xfrm>
            <a:prstGeom prst="rect">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2"/>
                  </a:solidFill>
                  <a:latin typeface="Poppins Bold"/>
                  <a:cs typeface="Poppins Bold"/>
                  <a:sym typeface="League Spartan"/>
                </a:rPr>
                <a:t>What developers cannot directly manipulate</a:t>
              </a:r>
              <a:endParaRPr lang="en-US" sz="3000" b="1" dirty="0">
                <a:solidFill>
                  <a:schemeClr val="tx2"/>
                </a:solidFill>
                <a:latin typeface="Poppins Bold"/>
                <a:cs typeface="Poppins Bold"/>
              </a:endParaRPr>
            </a:p>
          </p:txBody>
        </p:sp>
        <p:sp>
          <p:nvSpPr>
            <p:cNvPr id="47" name="Rectangle 46">
              <a:extLst>
                <a:ext uri="{FF2B5EF4-FFF2-40B4-BE49-F238E27FC236}">
                  <a16:creationId xmlns:a16="http://schemas.microsoft.com/office/drawing/2014/main" id="{2E7637DB-AA45-6868-0D84-B50AEF7AF795}"/>
                </a:ext>
              </a:extLst>
            </p:cNvPr>
            <p:cNvSpPr/>
            <p:nvPr/>
          </p:nvSpPr>
          <p:spPr>
            <a:xfrm>
              <a:off x="1371600" y="4191174"/>
              <a:ext cx="5486400" cy="3167127"/>
            </a:xfrm>
            <a:prstGeom prst="rect">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The raw ATT protocol frames.</a:t>
              </a:r>
            </a:p>
            <a:p>
              <a:pPr marL="342900" indent="-342900">
                <a:lnSpc>
                  <a:spcPct val="150000"/>
                </a:lnSpc>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L2CAP packet framing/segmentation. </a:t>
              </a:r>
            </a:p>
            <a:p>
              <a:pPr marL="342900" indent="-342900">
                <a:lnSpc>
                  <a:spcPct val="150000"/>
                </a:lnSpc>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Internal SMP key-exchange messages.</a:t>
              </a:r>
              <a:endParaRPr lang="en-US" dirty="0"/>
            </a:p>
          </p:txBody>
        </p:sp>
      </p:grpSp>
      <p:sp>
        <p:nvSpPr>
          <p:cNvPr id="8" name="Slide Number Placeholder 7">
            <a:extLst>
              <a:ext uri="{FF2B5EF4-FFF2-40B4-BE49-F238E27FC236}">
                <a16:creationId xmlns:a16="http://schemas.microsoft.com/office/drawing/2014/main" id="{9E69555A-7A33-6AAD-5DAF-9907DEA4F4B8}"/>
              </a:ext>
            </a:extLst>
          </p:cNvPr>
          <p:cNvSpPr>
            <a:spLocks noGrp="1"/>
          </p:cNvSpPr>
          <p:nvPr>
            <p:ph type="sldNum" sz="quarter" idx="12"/>
          </p:nvPr>
        </p:nvSpPr>
        <p:spPr/>
        <p:txBody>
          <a:bodyPr/>
          <a:lstStyle/>
          <a:p>
            <a:fld id="{B6F15528-21DE-4FAA-801E-634DDDAF4B2B}" type="slidenum">
              <a:rPr lang="en-US" smtClean="0"/>
              <a:pPr/>
              <a:t>21</a:t>
            </a:fld>
            <a:endParaRPr lang="en-US" sz="1800"/>
          </a:p>
        </p:txBody>
      </p:sp>
    </p:spTree>
    <p:extLst>
      <p:ext uri="{BB962C8B-B14F-4D97-AF65-F5344CB8AC3E}">
        <p14:creationId xmlns:p14="http://schemas.microsoft.com/office/powerpoint/2010/main" val="1410564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E6546-36AF-A671-3DAF-1E837D23226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4710337-3B34-EBFE-235B-32B2C6D1EB8B}"/>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BLE Stack Architecture</a:t>
            </a:r>
          </a:p>
        </p:txBody>
      </p:sp>
      <p:grpSp>
        <p:nvGrpSpPr>
          <p:cNvPr id="3" name="Group 3">
            <a:extLst>
              <a:ext uri="{FF2B5EF4-FFF2-40B4-BE49-F238E27FC236}">
                <a16:creationId xmlns:a16="http://schemas.microsoft.com/office/drawing/2014/main" id="{283FF8F2-D4CC-A061-5A13-ECF8E490B225}"/>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3C685771-508A-1322-049A-A2D84EF9DC9E}"/>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A1AB9324-13A4-21FC-496A-56759349C98E}"/>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062991B0-9506-0786-9D33-08BF48A8AB51}"/>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16A7DCC1-91FF-A783-77E8-6A3910AF6AA5}"/>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4E0C36BF-61E3-C8F2-EFCE-3E805ED3A78C}"/>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pic>
        <p:nvPicPr>
          <p:cNvPr id="7" name="Picture 6">
            <a:extLst>
              <a:ext uri="{FF2B5EF4-FFF2-40B4-BE49-F238E27FC236}">
                <a16:creationId xmlns:a16="http://schemas.microsoft.com/office/drawing/2014/main" id="{6503FBFE-4FB2-4C9A-033D-849D6B217FAD}"/>
              </a:ext>
            </a:extLst>
          </p:cNvPr>
          <p:cNvPicPr>
            <a:picLocks noChangeAspect="1"/>
          </p:cNvPicPr>
          <p:nvPr/>
        </p:nvPicPr>
        <p:blipFill>
          <a:blip r:embed="rId2">
            <a:extLst>
              <a:ext uri="{28A0092B-C50C-407E-A947-70E740481C1C}">
                <a14:useLocalDpi xmlns:a14="http://schemas.microsoft.com/office/drawing/2010/main" val="0"/>
              </a:ext>
            </a:extLst>
          </a:blip>
          <a:srcRect t="-985" r="-3137" b="3793"/>
          <a:stretch>
            <a:fillRect/>
          </a:stretch>
        </p:blipFill>
        <p:spPr>
          <a:xfrm>
            <a:off x="5105400" y="2852765"/>
            <a:ext cx="10058400" cy="5905500"/>
          </a:xfrm>
          <a:prstGeom prst="rect">
            <a:avLst/>
          </a:prstGeom>
        </p:spPr>
      </p:pic>
      <p:sp>
        <p:nvSpPr>
          <p:cNvPr id="8" name="Slide Number Placeholder 7">
            <a:extLst>
              <a:ext uri="{FF2B5EF4-FFF2-40B4-BE49-F238E27FC236}">
                <a16:creationId xmlns:a16="http://schemas.microsoft.com/office/drawing/2014/main" id="{09081775-CAA9-2F61-8FF3-70FE29E51E5D}"/>
              </a:ext>
            </a:extLst>
          </p:cNvPr>
          <p:cNvSpPr>
            <a:spLocks noGrp="1"/>
          </p:cNvSpPr>
          <p:nvPr>
            <p:ph type="sldNum" sz="quarter" idx="12"/>
          </p:nvPr>
        </p:nvSpPr>
        <p:spPr/>
        <p:txBody>
          <a:bodyPr/>
          <a:lstStyle/>
          <a:p>
            <a:fld id="{B6F15528-21DE-4FAA-801E-634DDDAF4B2B}" type="slidenum">
              <a:rPr lang="en-US" smtClean="0"/>
              <a:pPr/>
              <a:t>22</a:t>
            </a:fld>
            <a:endParaRPr lang="en-US" sz="1800"/>
          </a:p>
        </p:txBody>
      </p:sp>
    </p:spTree>
    <p:extLst>
      <p:ext uri="{BB962C8B-B14F-4D97-AF65-F5344CB8AC3E}">
        <p14:creationId xmlns:p14="http://schemas.microsoft.com/office/powerpoint/2010/main" val="1249433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6FBB6-7405-D5D8-22AA-098A11B851E5}"/>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59F1D23-DD83-A68F-D0CA-098622514D60}"/>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Server-Client Architecture</a:t>
            </a:r>
          </a:p>
        </p:txBody>
      </p:sp>
      <p:sp>
        <p:nvSpPr>
          <p:cNvPr id="5" name="TextBox 4">
            <a:extLst>
              <a:ext uri="{FF2B5EF4-FFF2-40B4-BE49-F238E27FC236}">
                <a16:creationId xmlns:a16="http://schemas.microsoft.com/office/drawing/2014/main" id="{97B080A9-E5CC-069E-A642-C68B2AFA2864}"/>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07EECBF7-EE6F-9A80-9A69-A4410F443CF9}"/>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803A1F27-D6C4-1E16-E49E-F5EEAAB59642}"/>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6C7AC562-2E3C-5E6B-F962-4CD7B5589274}"/>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543F610B-28DF-B216-A66D-C945A2E69451}"/>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3D42C8DA-41F5-88F0-3FFA-E61F25976357}"/>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303E604E-E46F-010F-0B66-5A3F12A7ED6A}"/>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pic>
        <p:nvPicPr>
          <p:cNvPr id="28" name="Picture 27">
            <a:extLst>
              <a:ext uri="{FF2B5EF4-FFF2-40B4-BE49-F238E27FC236}">
                <a16:creationId xmlns:a16="http://schemas.microsoft.com/office/drawing/2014/main" id="{0D0A6433-D268-16C7-FADD-A5B6907801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7406" y="3695700"/>
            <a:ext cx="8305800" cy="3410915"/>
          </a:xfrm>
          <a:prstGeom prst="rect">
            <a:avLst/>
          </a:prstGeom>
        </p:spPr>
      </p:pic>
      <p:grpSp>
        <p:nvGrpSpPr>
          <p:cNvPr id="2" name="Group 1">
            <a:extLst>
              <a:ext uri="{FF2B5EF4-FFF2-40B4-BE49-F238E27FC236}">
                <a16:creationId xmlns:a16="http://schemas.microsoft.com/office/drawing/2014/main" id="{90B2C0FE-BA62-B9F3-519D-89E67EB455A3}"/>
              </a:ext>
            </a:extLst>
          </p:cNvPr>
          <p:cNvGrpSpPr/>
          <p:nvPr/>
        </p:nvGrpSpPr>
        <p:grpSpPr>
          <a:xfrm>
            <a:off x="190501" y="5219700"/>
            <a:ext cx="4800600" cy="830997"/>
            <a:chOff x="190501" y="5219700"/>
            <a:chExt cx="4800600" cy="830997"/>
          </a:xfrm>
        </p:grpSpPr>
        <p:sp>
          <p:nvSpPr>
            <p:cNvPr id="29" name="TextBox 28">
              <a:extLst>
                <a:ext uri="{FF2B5EF4-FFF2-40B4-BE49-F238E27FC236}">
                  <a16:creationId xmlns:a16="http://schemas.microsoft.com/office/drawing/2014/main" id="{A1438B4B-82BA-60A1-20E5-93AB289E6B0A}"/>
                </a:ext>
              </a:extLst>
            </p:cNvPr>
            <p:cNvSpPr txBox="1"/>
            <p:nvPr/>
          </p:nvSpPr>
          <p:spPr>
            <a:xfrm>
              <a:off x="190501" y="5219700"/>
              <a:ext cx="4495800" cy="830997"/>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Receives requests. </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Sends back responses. </a:t>
              </a:r>
              <a:endParaRPr lang="en-DE" dirty="0"/>
            </a:p>
          </p:txBody>
        </p:sp>
        <p:sp>
          <p:nvSpPr>
            <p:cNvPr id="30" name="Arrow: Up 29">
              <a:extLst>
                <a:ext uri="{FF2B5EF4-FFF2-40B4-BE49-F238E27FC236}">
                  <a16:creationId xmlns:a16="http://schemas.microsoft.com/office/drawing/2014/main" id="{5BDF24D2-DCC0-FB23-6389-CBD95A60ACA5}"/>
                </a:ext>
              </a:extLst>
            </p:cNvPr>
            <p:cNvSpPr/>
            <p:nvPr/>
          </p:nvSpPr>
          <p:spPr>
            <a:xfrm rot="16200000">
              <a:off x="4490578" y="5216100"/>
              <a:ext cx="162846" cy="838200"/>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dirty="0"/>
            </a:p>
          </p:txBody>
        </p:sp>
      </p:grpSp>
      <p:grpSp>
        <p:nvGrpSpPr>
          <p:cNvPr id="3" name="Group 2">
            <a:extLst>
              <a:ext uri="{FF2B5EF4-FFF2-40B4-BE49-F238E27FC236}">
                <a16:creationId xmlns:a16="http://schemas.microsoft.com/office/drawing/2014/main" id="{4FE2298C-6DDE-2A07-FF9A-CCD74EAEFDB9}"/>
              </a:ext>
            </a:extLst>
          </p:cNvPr>
          <p:cNvGrpSpPr/>
          <p:nvPr/>
        </p:nvGrpSpPr>
        <p:grpSpPr>
          <a:xfrm>
            <a:off x="13109228" y="5301122"/>
            <a:ext cx="5483572" cy="830997"/>
            <a:chOff x="13109228" y="5301122"/>
            <a:chExt cx="5483572" cy="830997"/>
          </a:xfrm>
        </p:grpSpPr>
        <p:sp>
          <p:nvSpPr>
            <p:cNvPr id="31" name="TextBox 30">
              <a:extLst>
                <a:ext uri="{FF2B5EF4-FFF2-40B4-BE49-F238E27FC236}">
                  <a16:creationId xmlns:a16="http://schemas.microsoft.com/office/drawing/2014/main" id="{9138AE69-31F3-ACE3-E29B-629E8CC82D26}"/>
                </a:ext>
              </a:extLst>
            </p:cNvPr>
            <p:cNvSpPr txBox="1"/>
            <p:nvPr/>
          </p:nvSpPr>
          <p:spPr>
            <a:xfrm>
              <a:off x="14097000" y="5301122"/>
              <a:ext cx="4495800" cy="830997"/>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Initiates requests. </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Receives responses. </a:t>
              </a:r>
              <a:endParaRPr lang="en-DE" dirty="0"/>
            </a:p>
          </p:txBody>
        </p:sp>
        <p:sp>
          <p:nvSpPr>
            <p:cNvPr id="32" name="Arrow: Up 31">
              <a:extLst>
                <a:ext uri="{FF2B5EF4-FFF2-40B4-BE49-F238E27FC236}">
                  <a16:creationId xmlns:a16="http://schemas.microsoft.com/office/drawing/2014/main" id="{18CEC737-3B47-2BE6-5B34-1B8408752638}"/>
                </a:ext>
              </a:extLst>
            </p:cNvPr>
            <p:cNvSpPr/>
            <p:nvPr/>
          </p:nvSpPr>
          <p:spPr>
            <a:xfrm rot="5400000">
              <a:off x="13446905" y="5216098"/>
              <a:ext cx="162846" cy="838200"/>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dirty="0"/>
            </a:p>
          </p:txBody>
        </p:sp>
      </p:grpSp>
      <p:sp>
        <p:nvSpPr>
          <p:cNvPr id="7" name="Slide Number Placeholder 6">
            <a:extLst>
              <a:ext uri="{FF2B5EF4-FFF2-40B4-BE49-F238E27FC236}">
                <a16:creationId xmlns:a16="http://schemas.microsoft.com/office/drawing/2014/main" id="{A98142C8-0D89-F1D8-DFA7-6753EB9C6642}"/>
              </a:ext>
            </a:extLst>
          </p:cNvPr>
          <p:cNvSpPr>
            <a:spLocks noGrp="1"/>
          </p:cNvSpPr>
          <p:nvPr>
            <p:ph type="sldNum" sz="quarter" idx="12"/>
          </p:nvPr>
        </p:nvSpPr>
        <p:spPr/>
        <p:txBody>
          <a:bodyPr/>
          <a:lstStyle/>
          <a:p>
            <a:fld id="{B6F15528-21DE-4FAA-801E-634DDDAF4B2B}" type="slidenum">
              <a:rPr lang="en-US" smtClean="0"/>
              <a:pPr/>
              <a:t>23</a:t>
            </a:fld>
            <a:endParaRPr lang="en-US" sz="1800"/>
          </a:p>
        </p:txBody>
      </p:sp>
    </p:spTree>
    <p:extLst>
      <p:ext uri="{BB962C8B-B14F-4D97-AF65-F5344CB8AC3E}">
        <p14:creationId xmlns:p14="http://schemas.microsoft.com/office/powerpoint/2010/main" val="1777692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DEF6B-8010-41B1-C1AF-64D48EB86DA1}"/>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A19C6433-729B-B8CE-DFAE-B568E2FD9A34}"/>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41008184-81B1-429A-8E30-05168058B63E}"/>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624975AB-7F91-8CC7-2B47-AA8E3E4BE305}"/>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564E438D-AFCA-1636-688C-638589C0F406}"/>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D99F521C-B4E8-0501-A49E-30D0316B73AE}"/>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BA74923E-A94B-FAC6-6A26-13E8A68F3E1B}"/>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2" name="Group 21">
            <a:extLst>
              <a:ext uri="{FF2B5EF4-FFF2-40B4-BE49-F238E27FC236}">
                <a16:creationId xmlns:a16="http://schemas.microsoft.com/office/drawing/2014/main" id="{1EC8B1E0-FB3D-0FC0-8E8A-00D084253ED7}"/>
              </a:ext>
            </a:extLst>
          </p:cNvPr>
          <p:cNvGrpSpPr/>
          <p:nvPr/>
        </p:nvGrpSpPr>
        <p:grpSpPr>
          <a:xfrm>
            <a:off x="4419600" y="1320933"/>
            <a:ext cx="13694251" cy="8348529"/>
            <a:chOff x="4441349" y="1900371"/>
            <a:chExt cx="13694251" cy="8348529"/>
          </a:xfrm>
        </p:grpSpPr>
        <p:pic>
          <p:nvPicPr>
            <p:cNvPr id="8" name="Picture 7">
              <a:extLst>
                <a:ext uri="{FF2B5EF4-FFF2-40B4-BE49-F238E27FC236}">
                  <a16:creationId xmlns:a16="http://schemas.microsoft.com/office/drawing/2014/main" id="{AE33B507-68C2-B036-35E6-EA5B76124D12}"/>
                </a:ext>
              </a:extLst>
            </p:cNvPr>
            <p:cNvPicPr>
              <a:picLocks noChangeAspect="1"/>
            </p:cNvPicPr>
            <p:nvPr/>
          </p:nvPicPr>
          <p:blipFill>
            <a:blip r:embed="rId2"/>
            <a:stretch>
              <a:fillRect/>
            </a:stretch>
          </p:blipFill>
          <p:spPr>
            <a:xfrm>
              <a:off x="9656691" y="1900371"/>
              <a:ext cx="8478909" cy="8348529"/>
            </a:xfrm>
            <a:prstGeom prst="rect">
              <a:avLst/>
            </a:prstGeom>
          </p:spPr>
        </p:pic>
        <p:grpSp>
          <p:nvGrpSpPr>
            <p:cNvPr id="10" name="Group 9">
              <a:extLst>
                <a:ext uri="{FF2B5EF4-FFF2-40B4-BE49-F238E27FC236}">
                  <a16:creationId xmlns:a16="http://schemas.microsoft.com/office/drawing/2014/main" id="{709BBC79-BB6F-F229-E898-4848A275B811}"/>
                </a:ext>
              </a:extLst>
            </p:cNvPr>
            <p:cNvGrpSpPr/>
            <p:nvPr/>
          </p:nvGrpSpPr>
          <p:grpSpPr>
            <a:xfrm>
              <a:off x="4441349" y="3434604"/>
              <a:ext cx="5801208" cy="1200329"/>
              <a:chOff x="4441349" y="3434604"/>
              <a:chExt cx="5801208" cy="1200329"/>
            </a:xfrm>
          </p:grpSpPr>
          <p:sp>
            <p:nvSpPr>
              <p:cNvPr id="9" name="TextBox 8">
                <a:extLst>
                  <a:ext uri="{FF2B5EF4-FFF2-40B4-BE49-F238E27FC236}">
                    <a16:creationId xmlns:a16="http://schemas.microsoft.com/office/drawing/2014/main" id="{84D78045-FDFE-AC7C-2271-F7BCBCFF12CD}"/>
                  </a:ext>
                </a:extLst>
              </p:cNvPr>
              <p:cNvSpPr txBox="1"/>
              <p:nvPr/>
            </p:nvSpPr>
            <p:spPr>
              <a:xfrm>
                <a:off x="4441349" y="3434604"/>
                <a:ext cx="4495800" cy="1200329"/>
              </a:xfrm>
              <a:prstGeom prst="rect">
                <a:avLst/>
              </a:prstGeom>
              <a:noFill/>
            </p:spPr>
            <p:txBody>
              <a:bodyPr wrap="square">
                <a:spAutoFit/>
              </a:bodyPr>
              <a:lstStyle/>
              <a:p>
                <a:r>
                  <a:rPr lang="en-US" sz="2400" dirty="0">
                    <a:solidFill>
                      <a:srgbClr val="303642"/>
                    </a:solidFill>
                    <a:latin typeface="Poppins" panose="00000500000000000000" pitchFamily="2" charset="0"/>
                    <a:cs typeface="Poppins" panose="00000500000000000000" pitchFamily="2" charset="0"/>
                  </a:rPr>
                  <a:t>Describes how two devices connect and communicate with each other.</a:t>
                </a:r>
                <a:endParaRPr lang="en-DE" dirty="0"/>
              </a:p>
            </p:txBody>
          </p:sp>
          <p:sp>
            <p:nvSpPr>
              <p:cNvPr id="13" name="Arrow: Up 12">
                <a:extLst>
                  <a:ext uri="{FF2B5EF4-FFF2-40B4-BE49-F238E27FC236}">
                    <a16:creationId xmlns:a16="http://schemas.microsoft.com/office/drawing/2014/main" id="{4DB8A863-D56A-8DE0-C202-31CE2AAC5BF5}"/>
                  </a:ext>
                </a:extLst>
              </p:cNvPr>
              <p:cNvSpPr/>
              <p:nvPr/>
            </p:nvSpPr>
            <p:spPr>
              <a:xfrm rot="16200000">
                <a:off x="9584630" y="3713899"/>
                <a:ext cx="162846" cy="1153008"/>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dirty="0"/>
              </a:p>
            </p:txBody>
          </p:sp>
        </p:grpSp>
      </p:grpSp>
      <p:grpSp>
        <p:nvGrpSpPr>
          <p:cNvPr id="12" name="Group 11">
            <a:extLst>
              <a:ext uri="{FF2B5EF4-FFF2-40B4-BE49-F238E27FC236}">
                <a16:creationId xmlns:a16="http://schemas.microsoft.com/office/drawing/2014/main" id="{7C1F7A4E-B493-622E-3B4B-D3C4175AB64C}"/>
              </a:ext>
            </a:extLst>
          </p:cNvPr>
          <p:cNvGrpSpPr/>
          <p:nvPr/>
        </p:nvGrpSpPr>
        <p:grpSpPr>
          <a:xfrm>
            <a:off x="2960925" y="5205351"/>
            <a:ext cx="7413149" cy="1200329"/>
            <a:chOff x="2971800" y="5762297"/>
            <a:chExt cx="7413149" cy="1200329"/>
          </a:xfrm>
        </p:grpSpPr>
        <p:sp>
          <p:nvSpPr>
            <p:cNvPr id="21" name="TextBox 20">
              <a:extLst>
                <a:ext uri="{FF2B5EF4-FFF2-40B4-BE49-F238E27FC236}">
                  <a16:creationId xmlns:a16="http://schemas.microsoft.com/office/drawing/2014/main" id="{DA683109-1C9D-37C3-5ADA-4B1A107D19C8}"/>
                </a:ext>
              </a:extLst>
            </p:cNvPr>
            <p:cNvSpPr txBox="1"/>
            <p:nvPr/>
          </p:nvSpPr>
          <p:spPr>
            <a:xfrm>
              <a:off x="2971800" y="5762297"/>
              <a:ext cx="6133665" cy="1200329"/>
            </a:xfrm>
            <a:prstGeom prst="rect">
              <a:avLst/>
            </a:prstGeom>
            <a:noFill/>
          </p:spPr>
          <p:txBody>
            <a:bodyPr wrap="square">
              <a:spAutoFit/>
            </a:bodyPr>
            <a:lstStyle/>
            <a:p>
              <a:pPr algn="r"/>
              <a:r>
                <a:rPr lang="en-US" sz="2400" dirty="0">
                  <a:solidFill>
                    <a:srgbClr val="303642"/>
                  </a:solidFill>
                  <a:latin typeface="Poppins" panose="00000500000000000000" pitchFamily="2" charset="0"/>
                  <a:cs typeface="Poppins" panose="00000500000000000000" pitchFamily="2" charset="0"/>
                </a:rPr>
                <a:t>Collection of related characteristics that work together to perform a particular function.</a:t>
              </a:r>
              <a:endParaRPr lang="en-DE" dirty="0"/>
            </a:p>
          </p:txBody>
        </p:sp>
        <p:sp>
          <p:nvSpPr>
            <p:cNvPr id="11" name="Arrow: Up 10">
              <a:extLst>
                <a:ext uri="{FF2B5EF4-FFF2-40B4-BE49-F238E27FC236}">
                  <a16:creationId xmlns:a16="http://schemas.microsoft.com/office/drawing/2014/main" id="{02975587-1421-2CCF-3590-8B4D154C849E}"/>
                </a:ext>
              </a:extLst>
            </p:cNvPr>
            <p:cNvSpPr/>
            <p:nvPr/>
          </p:nvSpPr>
          <p:spPr>
            <a:xfrm rot="16200000">
              <a:off x="9727022" y="5744018"/>
              <a:ext cx="162846" cy="1153008"/>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dirty="0"/>
            </a:p>
          </p:txBody>
        </p:sp>
      </p:grpSp>
      <p:sp>
        <p:nvSpPr>
          <p:cNvPr id="16" name="Slide Number Placeholder 15">
            <a:extLst>
              <a:ext uri="{FF2B5EF4-FFF2-40B4-BE49-F238E27FC236}">
                <a16:creationId xmlns:a16="http://schemas.microsoft.com/office/drawing/2014/main" id="{869342E4-CAD7-FB10-CB92-5276F279A840}"/>
              </a:ext>
            </a:extLst>
          </p:cNvPr>
          <p:cNvSpPr>
            <a:spLocks noGrp="1"/>
          </p:cNvSpPr>
          <p:nvPr>
            <p:ph type="sldNum" sz="quarter" idx="12"/>
          </p:nvPr>
        </p:nvSpPr>
        <p:spPr/>
        <p:txBody>
          <a:bodyPr/>
          <a:lstStyle/>
          <a:p>
            <a:fld id="{B6F15528-21DE-4FAA-801E-634DDDAF4B2B}" type="slidenum">
              <a:rPr lang="en-US" smtClean="0"/>
              <a:pPr/>
              <a:t>24</a:t>
            </a:fld>
            <a:endParaRPr lang="en-US" sz="1800"/>
          </a:p>
        </p:txBody>
      </p:sp>
      <p:sp>
        <p:nvSpPr>
          <p:cNvPr id="2" name="TextBox 1">
            <a:extLst>
              <a:ext uri="{FF2B5EF4-FFF2-40B4-BE49-F238E27FC236}">
                <a16:creationId xmlns:a16="http://schemas.microsoft.com/office/drawing/2014/main" id="{05938A6E-F74C-6D1D-3B5D-BBF96FF2C6B9}"/>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Server-Client Architecture</a:t>
            </a:r>
          </a:p>
        </p:txBody>
      </p:sp>
    </p:spTree>
    <p:extLst>
      <p:ext uri="{BB962C8B-B14F-4D97-AF65-F5344CB8AC3E}">
        <p14:creationId xmlns:p14="http://schemas.microsoft.com/office/powerpoint/2010/main" val="297780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C6A06-AA00-3B7F-7FEC-550A77F4DD77}"/>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D298795E-A4FC-B9AD-0296-49FBFC11E672}"/>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76BAA8B3-9B57-0CAA-5802-AAF58B232BC1}"/>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1F16122C-E308-C713-53FF-9D72F8870DBF}"/>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B29D7BE2-D74A-8D13-3AFF-DFDEA59AAE2E}"/>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9F27DAFA-BEEF-BF39-1FA9-9C1EEF24262B}"/>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4A0A930E-7F0C-0E11-92DD-0DECFDB5916F}"/>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pic>
        <p:nvPicPr>
          <p:cNvPr id="8" name="Picture 7">
            <a:extLst>
              <a:ext uri="{FF2B5EF4-FFF2-40B4-BE49-F238E27FC236}">
                <a16:creationId xmlns:a16="http://schemas.microsoft.com/office/drawing/2014/main" id="{CF6102F5-D756-7780-3D90-07CD9F0767A7}"/>
              </a:ext>
            </a:extLst>
          </p:cNvPr>
          <p:cNvPicPr>
            <a:picLocks noChangeAspect="1"/>
          </p:cNvPicPr>
          <p:nvPr/>
        </p:nvPicPr>
        <p:blipFill>
          <a:blip r:embed="rId2"/>
          <a:srcRect l="6909" t="74328" r="64450" b="3767"/>
          <a:stretch>
            <a:fillRect/>
          </a:stretch>
        </p:blipFill>
        <p:spPr>
          <a:xfrm>
            <a:off x="5890447" y="2495371"/>
            <a:ext cx="5742373" cy="4324529"/>
          </a:xfrm>
          <a:prstGeom prst="rect">
            <a:avLst/>
          </a:prstGeom>
        </p:spPr>
      </p:pic>
      <p:grpSp>
        <p:nvGrpSpPr>
          <p:cNvPr id="26" name="Group 25">
            <a:extLst>
              <a:ext uri="{FF2B5EF4-FFF2-40B4-BE49-F238E27FC236}">
                <a16:creationId xmlns:a16="http://schemas.microsoft.com/office/drawing/2014/main" id="{6C0E9864-0E98-617A-21C5-54C2285D54C9}"/>
              </a:ext>
            </a:extLst>
          </p:cNvPr>
          <p:cNvGrpSpPr/>
          <p:nvPr/>
        </p:nvGrpSpPr>
        <p:grpSpPr>
          <a:xfrm>
            <a:off x="107628" y="3314700"/>
            <a:ext cx="7081834" cy="1200329"/>
            <a:chOff x="665743" y="4203566"/>
            <a:chExt cx="6620399" cy="1200329"/>
          </a:xfrm>
        </p:grpSpPr>
        <p:sp>
          <p:nvSpPr>
            <p:cNvPr id="21" name="TextBox 20">
              <a:extLst>
                <a:ext uri="{FF2B5EF4-FFF2-40B4-BE49-F238E27FC236}">
                  <a16:creationId xmlns:a16="http://schemas.microsoft.com/office/drawing/2014/main" id="{30C32391-4513-91C9-1A8B-0C6D72CEE776}"/>
                </a:ext>
              </a:extLst>
            </p:cNvPr>
            <p:cNvSpPr txBox="1"/>
            <p:nvPr/>
          </p:nvSpPr>
          <p:spPr>
            <a:xfrm>
              <a:off x="665743" y="4203566"/>
              <a:ext cx="5245100" cy="1200329"/>
            </a:xfrm>
            <a:prstGeom prst="rect">
              <a:avLst/>
            </a:prstGeom>
            <a:noFill/>
          </p:spPr>
          <p:txBody>
            <a:bodyPr wrap="square">
              <a:spAutoFit/>
            </a:bodyPr>
            <a:lstStyle/>
            <a:p>
              <a:r>
                <a:rPr lang="en-US" sz="2400" dirty="0">
                  <a:solidFill>
                    <a:srgbClr val="303642"/>
                  </a:solidFill>
                  <a:latin typeface="Poppins" panose="00000500000000000000" pitchFamily="2" charset="0"/>
                  <a:cs typeface="Poppins" panose="00000500000000000000" pitchFamily="2" charset="0"/>
                </a:rPr>
                <a:t>Define the operations a client can perform on the "Value“.(</a:t>
              </a:r>
              <a:r>
                <a:rPr lang="en-US" sz="2400" dirty="0" err="1">
                  <a:solidFill>
                    <a:srgbClr val="303642"/>
                  </a:solidFill>
                  <a:latin typeface="Poppins" panose="00000500000000000000" pitchFamily="2" charset="0"/>
                  <a:cs typeface="Poppins" panose="00000500000000000000" pitchFamily="2" charset="0"/>
                </a:rPr>
                <a:t>e.g</a:t>
              </a:r>
              <a:r>
                <a:rPr lang="en-US" sz="2400" dirty="0">
                  <a:solidFill>
                    <a:srgbClr val="303642"/>
                  </a:solidFill>
                  <a:latin typeface="Poppins" panose="00000500000000000000" pitchFamily="2" charset="0"/>
                  <a:cs typeface="Poppins" panose="00000500000000000000" pitchFamily="2" charset="0"/>
                </a:rPr>
                <a:t>: read, write,..)</a:t>
              </a:r>
              <a:endParaRPr lang="en-DE" dirty="0"/>
            </a:p>
          </p:txBody>
        </p:sp>
        <p:sp>
          <p:nvSpPr>
            <p:cNvPr id="11" name="Arrow: Up 10">
              <a:extLst>
                <a:ext uri="{FF2B5EF4-FFF2-40B4-BE49-F238E27FC236}">
                  <a16:creationId xmlns:a16="http://schemas.microsoft.com/office/drawing/2014/main" id="{BA273183-9A9B-9128-0AB4-2F6EC2AD8EBE}"/>
                </a:ext>
              </a:extLst>
            </p:cNvPr>
            <p:cNvSpPr/>
            <p:nvPr/>
          </p:nvSpPr>
          <p:spPr>
            <a:xfrm rot="16200000">
              <a:off x="6423362" y="3954039"/>
              <a:ext cx="162846" cy="1562715"/>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dirty="0"/>
            </a:p>
          </p:txBody>
        </p:sp>
      </p:grpSp>
      <p:grpSp>
        <p:nvGrpSpPr>
          <p:cNvPr id="10" name="Group 9">
            <a:extLst>
              <a:ext uri="{FF2B5EF4-FFF2-40B4-BE49-F238E27FC236}">
                <a16:creationId xmlns:a16="http://schemas.microsoft.com/office/drawing/2014/main" id="{E9119E05-17D5-D9FC-BF38-68CD5634B081}"/>
              </a:ext>
            </a:extLst>
          </p:cNvPr>
          <p:cNvGrpSpPr/>
          <p:nvPr/>
        </p:nvGrpSpPr>
        <p:grpSpPr>
          <a:xfrm>
            <a:off x="10750386" y="2483232"/>
            <a:ext cx="7187076" cy="1200329"/>
            <a:chOff x="10750386" y="2483232"/>
            <a:chExt cx="7187076" cy="1200329"/>
          </a:xfrm>
        </p:grpSpPr>
        <p:sp>
          <p:nvSpPr>
            <p:cNvPr id="9" name="TextBox 8">
              <a:extLst>
                <a:ext uri="{FF2B5EF4-FFF2-40B4-BE49-F238E27FC236}">
                  <a16:creationId xmlns:a16="http://schemas.microsoft.com/office/drawing/2014/main" id="{FEB26F71-F62D-C80E-51CC-29A058935E22}"/>
                </a:ext>
              </a:extLst>
            </p:cNvPr>
            <p:cNvSpPr txBox="1"/>
            <p:nvPr/>
          </p:nvSpPr>
          <p:spPr>
            <a:xfrm>
              <a:off x="12146262" y="2483232"/>
              <a:ext cx="5791200" cy="1200329"/>
            </a:xfrm>
            <a:prstGeom prst="rect">
              <a:avLst/>
            </a:prstGeom>
            <a:noFill/>
          </p:spPr>
          <p:txBody>
            <a:bodyPr wrap="square">
              <a:spAutoFit/>
            </a:bodyPr>
            <a:lstStyle/>
            <a:p>
              <a:r>
                <a:rPr lang="en-US" sz="2400" dirty="0">
                  <a:solidFill>
                    <a:srgbClr val="303642"/>
                  </a:solidFill>
                  <a:latin typeface="Poppins" panose="00000500000000000000" pitchFamily="2" charset="0"/>
                  <a:cs typeface="Poppins" panose="00000500000000000000" pitchFamily="2" charset="0"/>
                </a:rPr>
                <a:t>The basic unit of data exchange, encapsulating a specific data value.</a:t>
              </a:r>
            </a:p>
            <a:p>
              <a:r>
                <a:rPr lang="en-US" sz="2400" dirty="0">
                  <a:solidFill>
                    <a:srgbClr val="303642"/>
                  </a:solidFill>
                  <a:latin typeface="Poppins" panose="00000500000000000000" pitchFamily="2" charset="0"/>
                  <a:cs typeface="Poppins" panose="00000500000000000000" pitchFamily="2" charset="0"/>
                </a:rPr>
                <a:t>(</a:t>
              </a:r>
              <a:r>
                <a:rPr lang="en-US" sz="2400" dirty="0" err="1">
                  <a:solidFill>
                    <a:srgbClr val="303642"/>
                  </a:solidFill>
                  <a:latin typeface="Poppins" panose="00000500000000000000" pitchFamily="2" charset="0"/>
                  <a:cs typeface="Poppins" panose="00000500000000000000" pitchFamily="2" charset="0"/>
                </a:rPr>
                <a:t>e.g</a:t>
              </a:r>
              <a:r>
                <a:rPr lang="en-US" sz="2400" dirty="0">
                  <a:solidFill>
                    <a:srgbClr val="303642"/>
                  </a:solidFill>
                  <a:latin typeface="Poppins" panose="00000500000000000000" pitchFamily="2" charset="0"/>
                  <a:cs typeface="Poppins" panose="00000500000000000000" pitchFamily="2" charset="0"/>
                </a:rPr>
                <a:t>: Temperature value)</a:t>
              </a:r>
              <a:endParaRPr lang="en-DE" dirty="0"/>
            </a:p>
          </p:txBody>
        </p:sp>
        <p:sp>
          <p:nvSpPr>
            <p:cNvPr id="13" name="Arrow: Up 12">
              <a:extLst>
                <a:ext uri="{FF2B5EF4-FFF2-40B4-BE49-F238E27FC236}">
                  <a16:creationId xmlns:a16="http://schemas.microsoft.com/office/drawing/2014/main" id="{18BF2AC3-D476-BC33-A26F-EC839CC6B4A9}"/>
                </a:ext>
              </a:extLst>
            </p:cNvPr>
            <p:cNvSpPr/>
            <p:nvPr/>
          </p:nvSpPr>
          <p:spPr>
            <a:xfrm rot="5400000">
              <a:off x="11366901" y="2386195"/>
              <a:ext cx="162846" cy="1395876"/>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dirty="0"/>
            </a:p>
          </p:txBody>
        </p:sp>
      </p:grpSp>
      <p:grpSp>
        <p:nvGrpSpPr>
          <p:cNvPr id="18" name="Group 17">
            <a:extLst>
              <a:ext uri="{FF2B5EF4-FFF2-40B4-BE49-F238E27FC236}">
                <a16:creationId xmlns:a16="http://schemas.microsoft.com/office/drawing/2014/main" id="{90EE6521-EDB5-9836-C50E-7CC9990D4E5C}"/>
              </a:ext>
            </a:extLst>
          </p:cNvPr>
          <p:cNvGrpSpPr/>
          <p:nvPr/>
        </p:nvGrpSpPr>
        <p:grpSpPr>
          <a:xfrm>
            <a:off x="4956856" y="5981700"/>
            <a:ext cx="7772400" cy="2878594"/>
            <a:chOff x="5573422" y="6653625"/>
            <a:chExt cx="7772400" cy="2878594"/>
          </a:xfrm>
        </p:grpSpPr>
        <p:sp>
          <p:nvSpPr>
            <p:cNvPr id="16" name="Arrow: Up 15">
              <a:extLst>
                <a:ext uri="{FF2B5EF4-FFF2-40B4-BE49-F238E27FC236}">
                  <a16:creationId xmlns:a16="http://schemas.microsoft.com/office/drawing/2014/main" id="{075E2A0A-8493-F47B-1660-BD6945B351C3}"/>
                </a:ext>
              </a:extLst>
            </p:cNvPr>
            <p:cNvSpPr/>
            <p:nvPr/>
          </p:nvSpPr>
          <p:spPr>
            <a:xfrm rot="10800000">
              <a:off x="9296776" y="6653625"/>
              <a:ext cx="162846" cy="1454654"/>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dirty="0"/>
            </a:p>
          </p:txBody>
        </p:sp>
        <p:sp>
          <p:nvSpPr>
            <p:cNvPr id="22" name="TextBox 21">
              <a:extLst>
                <a:ext uri="{FF2B5EF4-FFF2-40B4-BE49-F238E27FC236}">
                  <a16:creationId xmlns:a16="http://schemas.microsoft.com/office/drawing/2014/main" id="{81633B7D-C563-C386-6F78-B3A10C7DDA2F}"/>
                </a:ext>
              </a:extLst>
            </p:cNvPr>
            <p:cNvSpPr txBox="1"/>
            <p:nvPr/>
          </p:nvSpPr>
          <p:spPr>
            <a:xfrm>
              <a:off x="5573422" y="8331890"/>
              <a:ext cx="7772400" cy="1200329"/>
            </a:xfrm>
            <a:prstGeom prst="rect">
              <a:avLst/>
            </a:prstGeom>
            <a:noFill/>
          </p:spPr>
          <p:txBody>
            <a:bodyPr wrap="square">
              <a:spAutoFit/>
            </a:bodyPr>
            <a:lstStyle/>
            <a:p>
              <a:pPr algn="ctr"/>
              <a:r>
                <a:rPr lang="en-US" sz="2400" dirty="0">
                  <a:solidFill>
                    <a:srgbClr val="303642"/>
                  </a:solidFill>
                  <a:latin typeface="Poppins" panose="00000500000000000000" pitchFamily="2" charset="0"/>
                  <a:cs typeface="Poppins" panose="00000500000000000000" pitchFamily="2" charset="0"/>
                </a:rPr>
                <a:t>Optional parameter attached to a characteristic that provides extra information about it.</a:t>
              </a:r>
              <a:br>
                <a:rPr lang="en-US" sz="2400" dirty="0">
                  <a:solidFill>
                    <a:srgbClr val="303642"/>
                  </a:solidFill>
                  <a:latin typeface="Poppins" panose="00000500000000000000" pitchFamily="2" charset="0"/>
                  <a:cs typeface="Poppins" panose="00000500000000000000" pitchFamily="2" charset="0"/>
                </a:rPr>
              </a:br>
              <a:r>
                <a:rPr lang="en-US" sz="2400" dirty="0">
                  <a:solidFill>
                    <a:srgbClr val="303642"/>
                  </a:solidFill>
                  <a:latin typeface="Poppins" panose="00000500000000000000" pitchFamily="2" charset="0"/>
                  <a:cs typeface="Poppins" panose="00000500000000000000" pitchFamily="2" charset="0"/>
                </a:rPr>
                <a:t>(</a:t>
              </a:r>
              <a:r>
                <a:rPr lang="en-US" sz="2400" dirty="0" err="1">
                  <a:solidFill>
                    <a:srgbClr val="303642"/>
                  </a:solidFill>
                  <a:latin typeface="Poppins" panose="00000500000000000000" pitchFamily="2" charset="0"/>
                  <a:cs typeface="Poppins" panose="00000500000000000000" pitchFamily="2" charset="0"/>
                </a:rPr>
                <a:t>e.g</a:t>
              </a:r>
              <a:r>
                <a:rPr lang="en-US" sz="2400" dirty="0">
                  <a:solidFill>
                    <a:srgbClr val="303642"/>
                  </a:solidFill>
                  <a:latin typeface="Poppins" panose="00000500000000000000" pitchFamily="2" charset="0"/>
                  <a:cs typeface="Poppins" panose="00000500000000000000" pitchFamily="2" charset="0"/>
                </a:rPr>
                <a:t>: enable/ disable notifications.)</a:t>
              </a:r>
              <a:endParaRPr lang="en-DE" dirty="0"/>
            </a:p>
          </p:txBody>
        </p:sp>
      </p:grpSp>
      <p:sp>
        <p:nvSpPr>
          <p:cNvPr id="23" name="Slide Number Placeholder 22">
            <a:extLst>
              <a:ext uri="{FF2B5EF4-FFF2-40B4-BE49-F238E27FC236}">
                <a16:creationId xmlns:a16="http://schemas.microsoft.com/office/drawing/2014/main" id="{DF472258-20B8-FDD5-5E18-299A1A99625C}"/>
              </a:ext>
            </a:extLst>
          </p:cNvPr>
          <p:cNvSpPr>
            <a:spLocks noGrp="1"/>
          </p:cNvSpPr>
          <p:nvPr>
            <p:ph type="sldNum" sz="quarter" idx="12"/>
          </p:nvPr>
        </p:nvSpPr>
        <p:spPr/>
        <p:txBody>
          <a:bodyPr/>
          <a:lstStyle/>
          <a:p>
            <a:fld id="{B6F15528-21DE-4FAA-801E-634DDDAF4B2B}" type="slidenum">
              <a:rPr lang="en-US" smtClean="0"/>
              <a:pPr/>
              <a:t>25</a:t>
            </a:fld>
            <a:endParaRPr lang="en-US" sz="1800"/>
          </a:p>
        </p:txBody>
      </p:sp>
      <p:sp>
        <p:nvSpPr>
          <p:cNvPr id="20" name="TextBox 19">
            <a:extLst>
              <a:ext uri="{FF2B5EF4-FFF2-40B4-BE49-F238E27FC236}">
                <a16:creationId xmlns:a16="http://schemas.microsoft.com/office/drawing/2014/main" id="{B0867412-23CD-DB3E-D3E7-264E372E3BF5}"/>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Server-Client Architecture</a:t>
            </a:r>
          </a:p>
        </p:txBody>
      </p:sp>
      <p:grpSp>
        <p:nvGrpSpPr>
          <p:cNvPr id="12" name="Group 11">
            <a:extLst>
              <a:ext uri="{FF2B5EF4-FFF2-40B4-BE49-F238E27FC236}">
                <a16:creationId xmlns:a16="http://schemas.microsoft.com/office/drawing/2014/main" id="{6907CA15-E567-4D70-2437-6AB2EEA717CA}"/>
              </a:ext>
            </a:extLst>
          </p:cNvPr>
          <p:cNvGrpSpPr/>
          <p:nvPr/>
        </p:nvGrpSpPr>
        <p:grpSpPr>
          <a:xfrm>
            <a:off x="10668000" y="4594804"/>
            <a:ext cx="6734248" cy="461665"/>
            <a:chOff x="10668000" y="4594804"/>
            <a:chExt cx="6734248" cy="461665"/>
          </a:xfrm>
        </p:grpSpPr>
        <p:sp>
          <p:nvSpPr>
            <p:cNvPr id="6" name="TextBox 5">
              <a:extLst>
                <a:ext uri="{FF2B5EF4-FFF2-40B4-BE49-F238E27FC236}">
                  <a16:creationId xmlns:a16="http://schemas.microsoft.com/office/drawing/2014/main" id="{14DDAD17-BA65-1A5A-5DBA-A63142BB6102}"/>
                </a:ext>
              </a:extLst>
            </p:cNvPr>
            <p:cNvSpPr txBox="1"/>
            <p:nvPr/>
          </p:nvSpPr>
          <p:spPr>
            <a:xfrm>
              <a:off x="12157148" y="4594804"/>
              <a:ext cx="5245100" cy="461665"/>
            </a:xfrm>
            <a:prstGeom prst="rect">
              <a:avLst/>
            </a:prstGeom>
            <a:noFill/>
          </p:spPr>
          <p:txBody>
            <a:bodyPr wrap="square">
              <a:spAutoFit/>
            </a:bodyPr>
            <a:lstStyle/>
            <a:p>
              <a:r>
                <a:rPr lang="en-US" sz="2400" dirty="0">
                  <a:solidFill>
                    <a:srgbClr val="303642"/>
                  </a:solidFill>
                  <a:latin typeface="Poppins" panose="00000500000000000000" pitchFamily="2" charset="0"/>
                  <a:cs typeface="Poppins" panose="00000500000000000000" pitchFamily="2" charset="0"/>
                </a:rPr>
                <a:t>The actual stored data.</a:t>
              </a:r>
              <a:endParaRPr lang="en-DE" dirty="0"/>
            </a:p>
          </p:txBody>
        </p:sp>
        <p:sp>
          <p:nvSpPr>
            <p:cNvPr id="7" name="Arrow: Up 6">
              <a:extLst>
                <a:ext uri="{FF2B5EF4-FFF2-40B4-BE49-F238E27FC236}">
                  <a16:creationId xmlns:a16="http://schemas.microsoft.com/office/drawing/2014/main" id="{03DAC183-7921-E324-2711-423A0EE26F01}"/>
                </a:ext>
              </a:extLst>
            </p:cNvPr>
            <p:cNvSpPr/>
            <p:nvPr/>
          </p:nvSpPr>
          <p:spPr>
            <a:xfrm rot="5400000">
              <a:off x="11284515" y="4135539"/>
              <a:ext cx="162846" cy="1395876"/>
            </a:xfrm>
            <a:prstGeom prst="up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DE" dirty="0"/>
            </a:p>
          </p:txBody>
        </p:sp>
      </p:grpSp>
    </p:spTree>
    <p:extLst>
      <p:ext uri="{BB962C8B-B14F-4D97-AF65-F5344CB8AC3E}">
        <p14:creationId xmlns:p14="http://schemas.microsoft.com/office/powerpoint/2010/main" val="126329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E1B67-9D11-3BD2-20A6-6F8EFFDFFB07}"/>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C4F5E899-13F1-9F93-208C-84FDC868F9CB}"/>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2B3A1015-4B7E-D0BB-1EA1-E09C98216D89}"/>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DCA56B33-6B39-2CEC-5DED-39181DE8016E}"/>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9B332BA9-8428-AA27-54E8-6B7015F9F99F}"/>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6AA31A27-8FD8-E5CC-B7BF-A9683E38B714}"/>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4E9C23E5-AB35-BF0D-D83B-2213280B110C}"/>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pic>
        <p:nvPicPr>
          <p:cNvPr id="8" name="Picture 7">
            <a:extLst>
              <a:ext uri="{FF2B5EF4-FFF2-40B4-BE49-F238E27FC236}">
                <a16:creationId xmlns:a16="http://schemas.microsoft.com/office/drawing/2014/main" id="{0D4294C6-A604-795C-6D79-64BAEAAD7D57}"/>
              </a:ext>
            </a:extLst>
          </p:cNvPr>
          <p:cNvPicPr>
            <a:picLocks noChangeAspect="1"/>
          </p:cNvPicPr>
          <p:nvPr/>
        </p:nvPicPr>
        <p:blipFill>
          <a:blip r:embed="rId2"/>
          <a:stretch>
            <a:fillRect/>
          </a:stretch>
        </p:blipFill>
        <p:spPr>
          <a:xfrm>
            <a:off x="9395346" y="1328871"/>
            <a:ext cx="8130654" cy="8005629"/>
          </a:xfrm>
          <a:prstGeom prst="rect">
            <a:avLst/>
          </a:prstGeom>
        </p:spPr>
      </p:pic>
      <p:sp>
        <p:nvSpPr>
          <p:cNvPr id="27" name="TextBox 26">
            <a:extLst>
              <a:ext uri="{FF2B5EF4-FFF2-40B4-BE49-F238E27FC236}">
                <a16:creationId xmlns:a16="http://schemas.microsoft.com/office/drawing/2014/main" id="{8CB58C15-AACE-F4F1-2D6B-B0E50512050F}"/>
              </a:ext>
            </a:extLst>
          </p:cNvPr>
          <p:cNvSpPr txBox="1"/>
          <p:nvPr/>
        </p:nvSpPr>
        <p:spPr>
          <a:xfrm>
            <a:off x="1600200" y="5202704"/>
            <a:ext cx="5326770" cy="1938992"/>
          </a:xfrm>
          <a:prstGeom prst="rect">
            <a:avLst/>
          </a:prstGeom>
          <a:noFill/>
        </p:spPr>
        <p:txBody>
          <a:bodyPr wrap="square">
            <a:spAutoFit/>
          </a:bodyPr>
          <a:lstStyle/>
          <a:p>
            <a:r>
              <a:rPr lang="en-US" sz="2400" dirty="0">
                <a:solidFill>
                  <a:srgbClr val="303642"/>
                </a:solidFill>
                <a:latin typeface="Poppins" panose="00000500000000000000" pitchFamily="2" charset="0"/>
                <a:cs typeface="Poppins" panose="00000500000000000000" pitchFamily="2" charset="0"/>
              </a:rPr>
              <a:t>Services, characteristics, and descriptors are identified by a UUID, so devices know exactly what data they're reading or writing.</a:t>
            </a:r>
            <a:endParaRPr lang="en-DE" dirty="0"/>
          </a:p>
        </p:txBody>
      </p:sp>
      <p:sp>
        <p:nvSpPr>
          <p:cNvPr id="7" name="Slide Number Placeholder 6">
            <a:extLst>
              <a:ext uri="{FF2B5EF4-FFF2-40B4-BE49-F238E27FC236}">
                <a16:creationId xmlns:a16="http://schemas.microsoft.com/office/drawing/2014/main" id="{F0CB7F5F-6A17-E9A4-872C-097F3D18F149}"/>
              </a:ext>
            </a:extLst>
          </p:cNvPr>
          <p:cNvSpPr>
            <a:spLocks noGrp="1"/>
          </p:cNvSpPr>
          <p:nvPr>
            <p:ph type="sldNum" sz="quarter" idx="12"/>
          </p:nvPr>
        </p:nvSpPr>
        <p:spPr/>
        <p:txBody>
          <a:bodyPr/>
          <a:lstStyle/>
          <a:p>
            <a:fld id="{B6F15528-21DE-4FAA-801E-634DDDAF4B2B}" type="slidenum">
              <a:rPr lang="en-US" smtClean="0"/>
              <a:pPr/>
              <a:t>26</a:t>
            </a:fld>
            <a:endParaRPr lang="en-US" sz="1800"/>
          </a:p>
        </p:txBody>
      </p:sp>
      <p:sp>
        <p:nvSpPr>
          <p:cNvPr id="2" name="TextBox 1">
            <a:extLst>
              <a:ext uri="{FF2B5EF4-FFF2-40B4-BE49-F238E27FC236}">
                <a16:creationId xmlns:a16="http://schemas.microsoft.com/office/drawing/2014/main" id="{64A9B4EA-31BD-4D8D-88E9-4F2713FA68BC}"/>
              </a:ext>
            </a:extLst>
          </p:cNvPr>
          <p:cNvSpPr txBox="1"/>
          <p:nvPr/>
        </p:nvSpPr>
        <p:spPr>
          <a:xfrm>
            <a:off x="975003" y="1159423"/>
            <a:ext cx="9159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Server-Client Architecture</a:t>
            </a:r>
          </a:p>
        </p:txBody>
      </p:sp>
      <p:pic>
        <p:nvPicPr>
          <p:cNvPr id="10" name="Graphic 9" descr="Warning with solid fill">
            <a:extLst>
              <a:ext uri="{FF2B5EF4-FFF2-40B4-BE49-F238E27FC236}">
                <a16:creationId xmlns:a16="http://schemas.microsoft.com/office/drawing/2014/main" id="{68D4009B-0F43-C7FB-2195-C3E8F18462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80941" y="4000500"/>
            <a:ext cx="842318" cy="914400"/>
          </a:xfrm>
          <a:prstGeom prst="rect">
            <a:avLst/>
          </a:prstGeom>
        </p:spPr>
      </p:pic>
    </p:spTree>
    <p:extLst>
      <p:ext uri="{BB962C8B-B14F-4D97-AF65-F5344CB8AC3E}">
        <p14:creationId xmlns:p14="http://schemas.microsoft.com/office/powerpoint/2010/main" val="955611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0BA5C-2B30-8E93-C63D-DBEAD89462E9}"/>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146110C8-7EA4-DC45-E67B-08A4EE05E56D}"/>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UUID (Universally Unique </a:t>
            </a:r>
            <a:r>
              <a:rPr lang="en-US" sz="4800" b="1" dirty="0" err="1">
                <a:solidFill>
                  <a:srgbClr val="004AAD"/>
                </a:solidFill>
                <a:latin typeface="League Spartan"/>
                <a:ea typeface="League Spartan"/>
                <a:cs typeface="League Spartan"/>
                <a:sym typeface="League Spartan"/>
              </a:rPr>
              <a:t>IDentifier</a:t>
            </a:r>
            <a:r>
              <a:rPr lang="en-US" sz="4800" b="1" dirty="0">
                <a:solidFill>
                  <a:srgbClr val="004AAD"/>
                </a:solidFill>
                <a:latin typeface="League Spartan"/>
                <a:ea typeface="League Spartan"/>
                <a:cs typeface="League Spartan"/>
                <a:sym typeface="League Spartan"/>
              </a:rPr>
              <a:t>)</a:t>
            </a:r>
          </a:p>
        </p:txBody>
      </p:sp>
      <p:grpSp>
        <p:nvGrpSpPr>
          <p:cNvPr id="15" name="Group 3">
            <a:extLst>
              <a:ext uri="{FF2B5EF4-FFF2-40B4-BE49-F238E27FC236}">
                <a16:creationId xmlns:a16="http://schemas.microsoft.com/office/drawing/2014/main" id="{90743412-25B0-7C4C-9515-0BCE5788032B}"/>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A5860F68-3DB7-1185-DBA3-084E6702C747}"/>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8D2CE076-8555-CA0F-102E-28452D96C12F}"/>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9CA65B02-DEEB-5804-B4AC-AE4FCBC7D27F}"/>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3B48E73C-19AB-C857-921A-6052A41572C8}"/>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9FDDDCC7-F404-05EE-7780-ECB4876F85E1}"/>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Slide Number Placeholder 8">
            <a:extLst>
              <a:ext uri="{FF2B5EF4-FFF2-40B4-BE49-F238E27FC236}">
                <a16:creationId xmlns:a16="http://schemas.microsoft.com/office/drawing/2014/main" id="{144C3AA7-9516-ED83-1F37-2304D7979794}"/>
              </a:ext>
            </a:extLst>
          </p:cNvPr>
          <p:cNvSpPr>
            <a:spLocks noGrp="1"/>
          </p:cNvSpPr>
          <p:nvPr>
            <p:ph type="sldNum" sz="quarter" idx="12"/>
          </p:nvPr>
        </p:nvSpPr>
        <p:spPr/>
        <p:txBody>
          <a:bodyPr/>
          <a:lstStyle/>
          <a:p>
            <a:fld id="{B6F15528-21DE-4FAA-801E-634DDDAF4B2B}" type="slidenum">
              <a:rPr lang="en-US" smtClean="0"/>
              <a:pPr/>
              <a:t>27</a:t>
            </a:fld>
            <a:endParaRPr lang="en-US" sz="1800"/>
          </a:p>
        </p:txBody>
      </p:sp>
      <p:sp>
        <p:nvSpPr>
          <p:cNvPr id="2" name="TextBox 1">
            <a:extLst>
              <a:ext uri="{FF2B5EF4-FFF2-40B4-BE49-F238E27FC236}">
                <a16:creationId xmlns:a16="http://schemas.microsoft.com/office/drawing/2014/main" id="{058E9CD7-D17D-7E9B-0A51-19D0E6843993}"/>
              </a:ext>
            </a:extLst>
          </p:cNvPr>
          <p:cNvSpPr txBox="1"/>
          <p:nvPr/>
        </p:nvSpPr>
        <p:spPr>
          <a:xfrm>
            <a:off x="975003" y="2331303"/>
            <a:ext cx="15636597" cy="830997"/>
          </a:xfrm>
          <a:prstGeom prst="rect">
            <a:avLst/>
          </a:prstGeom>
          <a:noFill/>
        </p:spPr>
        <p:txBody>
          <a:bodyPr wrap="square">
            <a:spAutoFit/>
          </a:bodyPr>
          <a:lstStyle/>
          <a:p>
            <a:r>
              <a:rPr lang="en-US" sz="2400" dirty="0">
                <a:solidFill>
                  <a:srgbClr val="303642"/>
                </a:solidFill>
                <a:latin typeface="Poppins" panose="00000500000000000000" pitchFamily="2" charset="0"/>
                <a:cs typeface="Poppins" panose="00000500000000000000" pitchFamily="2" charset="0"/>
              </a:rPr>
              <a:t>It defines how Bluetooth devices organize and exchange data between devices such as smartphones, gateways, embedded systems, and IoT controllers.</a:t>
            </a:r>
            <a:endParaRPr lang="en-DE" sz="2400" dirty="0">
              <a:solidFill>
                <a:srgbClr val="303642"/>
              </a:solidFill>
              <a:latin typeface="Poppins" panose="00000500000000000000" pitchFamily="2" charset="0"/>
              <a:cs typeface="Poppins" panose="00000500000000000000" pitchFamily="2" charset="0"/>
            </a:endParaRPr>
          </a:p>
        </p:txBody>
      </p:sp>
      <p:sp>
        <p:nvSpPr>
          <p:cNvPr id="50" name="TextBox 49">
            <a:extLst>
              <a:ext uri="{FF2B5EF4-FFF2-40B4-BE49-F238E27FC236}">
                <a16:creationId xmlns:a16="http://schemas.microsoft.com/office/drawing/2014/main" id="{4B88A164-EA44-6FFD-1FA6-0087E4D6B983}"/>
              </a:ext>
            </a:extLst>
          </p:cNvPr>
          <p:cNvSpPr txBox="1"/>
          <p:nvPr/>
        </p:nvSpPr>
        <p:spPr>
          <a:xfrm>
            <a:off x="4648199" y="3974214"/>
            <a:ext cx="2433637" cy="604012"/>
          </a:xfrm>
          <a:prstGeom prst="rect">
            <a:avLst/>
          </a:prstGeom>
          <a:noFill/>
        </p:spPr>
        <p:txBody>
          <a:bodyPr wrap="square">
            <a:spAutoFit/>
          </a:bodyPr>
          <a:lstStyle/>
          <a:p>
            <a:pPr algn="ctr">
              <a:lnSpc>
                <a:spcPts val="4200"/>
              </a:lnSpc>
              <a:spcBef>
                <a:spcPct val="0"/>
              </a:spcBef>
            </a:pPr>
            <a:r>
              <a:rPr lang="en-DE" sz="3000" b="1" dirty="0">
                <a:solidFill>
                  <a:schemeClr val="tx2"/>
                </a:solidFill>
                <a:latin typeface="Poppins Bold"/>
                <a:cs typeface="Poppins Bold"/>
              </a:rPr>
              <a:t>16-bit UUID</a:t>
            </a:r>
          </a:p>
        </p:txBody>
      </p:sp>
      <p:grpSp>
        <p:nvGrpSpPr>
          <p:cNvPr id="5" name="Group 4">
            <a:extLst>
              <a:ext uri="{FF2B5EF4-FFF2-40B4-BE49-F238E27FC236}">
                <a16:creationId xmlns:a16="http://schemas.microsoft.com/office/drawing/2014/main" id="{6068B1DB-F574-D046-9CBD-E96454F085D0}"/>
              </a:ext>
            </a:extLst>
          </p:cNvPr>
          <p:cNvGrpSpPr/>
          <p:nvPr/>
        </p:nvGrpSpPr>
        <p:grpSpPr>
          <a:xfrm>
            <a:off x="8153400" y="3952876"/>
            <a:ext cx="4114800" cy="4543424"/>
            <a:chOff x="8153400" y="3952876"/>
            <a:chExt cx="4114800" cy="4543424"/>
          </a:xfrm>
        </p:grpSpPr>
        <p:grpSp>
          <p:nvGrpSpPr>
            <p:cNvPr id="46" name="Group 45">
              <a:extLst>
                <a:ext uri="{FF2B5EF4-FFF2-40B4-BE49-F238E27FC236}">
                  <a16:creationId xmlns:a16="http://schemas.microsoft.com/office/drawing/2014/main" id="{B86CD5EE-53DE-F666-874C-1AD003347FCE}"/>
                </a:ext>
              </a:extLst>
            </p:cNvPr>
            <p:cNvGrpSpPr/>
            <p:nvPr/>
          </p:nvGrpSpPr>
          <p:grpSpPr>
            <a:xfrm>
              <a:off x="8153400" y="4723865"/>
              <a:ext cx="4114800" cy="2096035"/>
              <a:chOff x="8153400" y="4076700"/>
              <a:chExt cx="3810000" cy="2438400"/>
            </a:xfrm>
          </p:grpSpPr>
          <p:sp>
            <p:nvSpPr>
              <p:cNvPr id="28" name="Rectangle: Rounded Corners 27">
                <a:extLst>
                  <a:ext uri="{FF2B5EF4-FFF2-40B4-BE49-F238E27FC236}">
                    <a16:creationId xmlns:a16="http://schemas.microsoft.com/office/drawing/2014/main" id="{D2CBE104-3DB5-26A8-7109-F54549E33747}"/>
                  </a:ext>
                </a:extLst>
              </p:cNvPr>
              <p:cNvSpPr/>
              <p:nvPr/>
            </p:nvSpPr>
            <p:spPr>
              <a:xfrm>
                <a:off x="8153400" y="4076700"/>
                <a:ext cx="3810000" cy="2438400"/>
              </a:xfrm>
              <a:prstGeom prst="roundRect">
                <a:avLst/>
              </a:prstGeom>
              <a:no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3" name="TextBox 32">
                <a:extLst>
                  <a:ext uri="{FF2B5EF4-FFF2-40B4-BE49-F238E27FC236}">
                    <a16:creationId xmlns:a16="http://schemas.microsoft.com/office/drawing/2014/main" id="{F8517B0A-1F7F-6626-313F-45ADD9431907}"/>
                  </a:ext>
                </a:extLst>
              </p:cNvPr>
              <p:cNvSpPr txBox="1"/>
              <p:nvPr/>
            </p:nvSpPr>
            <p:spPr>
              <a:xfrm>
                <a:off x="8528050" y="4339292"/>
                <a:ext cx="3060700" cy="1938992"/>
              </a:xfrm>
              <a:prstGeom prst="rect">
                <a:avLst/>
              </a:prstGeom>
              <a:noFill/>
            </p:spPr>
            <p:txBody>
              <a:bodyPr wrap="square" rtlCol="0">
                <a:spAutoFit/>
              </a:bodyPr>
              <a:lstStyle/>
              <a:p>
                <a:r>
                  <a:rPr lang="en-US" sz="2000" dirty="0">
                    <a:solidFill>
                      <a:srgbClr val="303642"/>
                    </a:solidFill>
                    <a:latin typeface="Poppins" panose="00000500000000000000" pitchFamily="2" charset="0"/>
                    <a:cs typeface="Poppins" panose="00000500000000000000" pitchFamily="2" charset="0"/>
                  </a:rPr>
                  <a:t>provide extended identification space and are less commonly used compared to 16-bit and 128-bit UUIDs.</a:t>
                </a:r>
                <a:endParaRPr lang="en-DE" sz="2000" dirty="0">
                  <a:solidFill>
                    <a:srgbClr val="303642"/>
                  </a:solidFill>
                  <a:latin typeface="Poppins" panose="00000500000000000000" pitchFamily="2" charset="0"/>
                  <a:cs typeface="Poppins" panose="00000500000000000000" pitchFamily="2" charset="0"/>
                </a:endParaRPr>
              </a:p>
            </p:txBody>
          </p:sp>
        </p:grpSp>
        <p:grpSp>
          <p:nvGrpSpPr>
            <p:cNvPr id="40" name="Group 39">
              <a:extLst>
                <a:ext uri="{FF2B5EF4-FFF2-40B4-BE49-F238E27FC236}">
                  <a16:creationId xmlns:a16="http://schemas.microsoft.com/office/drawing/2014/main" id="{52D6D5EA-5364-D462-FCA0-777877662AD9}"/>
                </a:ext>
              </a:extLst>
            </p:cNvPr>
            <p:cNvGrpSpPr/>
            <p:nvPr/>
          </p:nvGrpSpPr>
          <p:grpSpPr>
            <a:xfrm>
              <a:off x="8153400" y="7200900"/>
              <a:ext cx="4114800" cy="1295400"/>
              <a:chOff x="4038600" y="7200900"/>
              <a:chExt cx="3810000" cy="1295400"/>
            </a:xfrm>
          </p:grpSpPr>
          <p:sp>
            <p:nvSpPr>
              <p:cNvPr id="41" name="Rectangle: Rounded Corners 40">
                <a:extLst>
                  <a:ext uri="{FF2B5EF4-FFF2-40B4-BE49-F238E27FC236}">
                    <a16:creationId xmlns:a16="http://schemas.microsoft.com/office/drawing/2014/main" id="{80AC3A5B-76C5-DB14-5783-A4CE824ED20D}"/>
                  </a:ext>
                </a:extLst>
              </p:cNvPr>
              <p:cNvSpPr/>
              <p:nvPr/>
            </p:nvSpPr>
            <p:spPr>
              <a:xfrm>
                <a:off x="4038600" y="7200900"/>
                <a:ext cx="3810000" cy="1295400"/>
              </a:xfrm>
              <a:prstGeom prst="roundRect">
                <a:avLst/>
              </a:prstGeom>
              <a:no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2" name="TextBox 41">
                <a:extLst>
                  <a:ext uri="{FF2B5EF4-FFF2-40B4-BE49-F238E27FC236}">
                    <a16:creationId xmlns:a16="http://schemas.microsoft.com/office/drawing/2014/main" id="{91B04576-FEFB-607A-0C2C-D6DAF64C7EC6}"/>
                  </a:ext>
                </a:extLst>
              </p:cNvPr>
              <p:cNvSpPr txBox="1"/>
              <p:nvPr/>
            </p:nvSpPr>
            <p:spPr>
              <a:xfrm>
                <a:off x="5110162" y="7648545"/>
                <a:ext cx="1676400" cy="400110"/>
              </a:xfrm>
              <a:prstGeom prst="rect">
                <a:avLst/>
              </a:prstGeom>
              <a:noFill/>
            </p:spPr>
            <p:txBody>
              <a:bodyPr wrap="square" rtlCol="0">
                <a:spAutoFit/>
              </a:bodyPr>
              <a:lstStyle/>
              <a:p>
                <a:r>
                  <a:rPr lang="en-US" sz="2000" dirty="0">
                    <a:solidFill>
                      <a:srgbClr val="303642"/>
                    </a:solidFill>
                    <a:latin typeface="Poppins" panose="00000500000000000000" pitchFamily="2" charset="0"/>
                    <a:cs typeface="Poppins" panose="00000500000000000000" pitchFamily="2" charset="0"/>
                  </a:rPr>
                  <a:t>0x12345678</a:t>
                </a:r>
                <a:endParaRPr lang="en-DE" sz="2000" dirty="0">
                  <a:solidFill>
                    <a:srgbClr val="303642"/>
                  </a:solidFill>
                  <a:latin typeface="Poppins" panose="00000500000000000000" pitchFamily="2" charset="0"/>
                  <a:cs typeface="Poppins" panose="00000500000000000000" pitchFamily="2" charset="0"/>
                </a:endParaRPr>
              </a:p>
            </p:txBody>
          </p:sp>
        </p:grpSp>
        <p:sp>
          <p:nvSpPr>
            <p:cNvPr id="52" name="TextBox 51">
              <a:extLst>
                <a:ext uri="{FF2B5EF4-FFF2-40B4-BE49-F238E27FC236}">
                  <a16:creationId xmlns:a16="http://schemas.microsoft.com/office/drawing/2014/main" id="{3F798B6B-0009-AD95-D0A7-8352891585C0}"/>
                </a:ext>
              </a:extLst>
            </p:cNvPr>
            <p:cNvSpPr txBox="1"/>
            <p:nvPr/>
          </p:nvSpPr>
          <p:spPr>
            <a:xfrm>
              <a:off x="9067800" y="3952876"/>
              <a:ext cx="2433637" cy="604012"/>
            </a:xfrm>
            <a:prstGeom prst="rect">
              <a:avLst/>
            </a:prstGeom>
            <a:noFill/>
          </p:spPr>
          <p:txBody>
            <a:bodyPr wrap="square">
              <a:spAutoFit/>
            </a:bodyPr>
            <a:lstStyle/>
            <a:p>
              <a:pPr algn="ctr">
                <a:lnSpc>
                  <a:spcPts val="4200"/>
                </a:lnSpc>
                <a:spcBef>
                  <a:spcPct val="0"/>
                </a:spcBef>
              </a:pPr>
              <a:r>
                <a:rPr lang="en-US" sz="3000" b="1" dirty="0">
                  <a:solidFill>
                    <a:schemeClr val="tx2"/>
                  </a:solidFill>
                  <a:latin typeface="Poppins Bold"/>
                  <a:cs typeface="Poppins Bold"/>
                </a:rPr>
                <a:t>32</a:t>
              </a:r>
              <a:r>
                <a:rPr lang="en-DE" sz="3000" b="1" dirty="0">
                  <a:solidFill>
                    <a:schemeClr val="tx2"/>
                  </a:solidFill>
                  <a:latin typeface="Poppins Bold"/>
                  <a:cs typeface="Poppins Bold"/>
                </a:rPr>
                <a:t>-bit UUID</a:t>
              </a:r>
            </a:p>
          </p:txBody>
        </p:sp>
      </p:grpSp>
      <p:grpSp>
        <p:nvGrpSpPr>
          <p:cNvPr id="7" name="Group 6">
            <a:extLst>
              <a:ext uri="{FF2B5EF4-FFF2-40B4-BE49-F238E27FC236}">
                <a16:creationId xmlns:a16="http://schemas.microsoft.com/office/drawing/2014/main" id="{FE1593EF-556A-2AF7-0606-540F150F7CB1}"/>
              </a:ext>
            </a:extLst>
          </p:cNvPr>
          <p:cNvGrpSpPr/>
          <p:nvPr/>
        </p:nvGrpSpPr>
        <p:grpSpPr>
          <a:xfrm>
            <a:off x="12496800" y="3952876"/>
            <a:ext cx="4114800" cy="4543424"/>
            <a:chOff x="12496800" y="3952876"/>
            <a:chExt cx="4114800" cy="4543424"/>
          </a:xfrm>
        </p:grpSpPr>
        <p:grpSp>
          <p:nvGrpSpPr>
            <p:cNvPr id="47" name="Group 46">
              <a:extLst>
                <a:ext uri="{FF2B5EF4-FFF2-40B4-BE49-F238E27FC236}">
                  <a16:creationId xmlns:a16="http://schemas.microsoft.com/office/drawing/2014/main" id="{F4ED85E1-3641-FFBB-1ACD-B643C7A23DBB}"/>
                </a:ext>
              </a:extLst>
            </p:cNvPr>
            <p:cNvGrpSpPr/>
            <p:nvPr/>
          </p:nvGrpSpPr>
          <p:grpSpPr>
            <a:xfrm>
              <a:off x="12496800" y="4723865"/>
              <a:ext cx="4114800" cy="2096035"/>
              <a:chOff x="12496800" y="4076700"/>
              <a:chExt cx="3810000" cy="2438400"/>
            </a:xfrm>
          </p:grpSpPr>
          <p:sp>
            <p:nvSpPr>
              <p:cNvPr id="30" name="Rectangle: Rounded Corners 29">
                <a:extLst>
                  <a:ext uri="{FF2B5EF4-FFF2-40B4-BE49-F238E27FC236}">
                    <a16:creationId xmlns:a16="http://schemas.microsoft.com/office/drawing/2014/main" id="{522E3616-B8CC-A1EE-DE20-F97402B1B097}"/>
                  </a:ext>
                </a:extLst>
              </p:cNvPr>
              <p:cNvSpPr/>
              <p:nvPr/>
            </p:nvSpPr>
            <p:spPr>
              <a:xfrm>
                <a:off x="12496800" y="4076700"/>
                <a:ext cx="3810000" cy="2438400"/>
              </a:xfrm>
              <a:prstGeom prst="roundRect">
                <a:avLst/>
              </a:prstGeom>
              <a:no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5" name="TextBox 34">
                <a:extLst>
                  <a:ext uri="{FF2B5EF4-FFF2-40B4-BE49-F238E27FC236}">
                    <a16:creationId xmlns:a16="http://schemas.microsoft.com/office/drawing/2014/main" id="{E9218919-DBB1-D318-5F3B-46FF1211C2F4}"/>
                  </a:ext>
                </a:extLst>
              </p:cNvPr>
              <p:cNvSpPr txBox="1"/>
              <p:nvPr/>
            </p:nvSpPr>
            <p:spPr>
              <a:xfrm>
                <a:off x="12871450" y="4326404"/>
                <a:ext cx="3060700" cy="1938992"/>
              </a:xfrm>
              <a:prstGeom prst="rect">
                <a:avLst/>
              </a:prstGeom>
              <a:noFill/>
            </p:spPr>
            <p:txBody>
              <a:bodyPr wrap="square" rtlCol="0">
                <a:spAutoFit/>
              </a:bodyPr>
              <a:lstStyle/>
              <a:p>
                <a:r>
                  <a:rPr lang="en-US" sz="2000" dirty="0">
                    <a:solidFill>
                      <a:srgbClr val="303642"/>
                    </a:solidFill>
                    <a:latin typeface="Poppins" panose="00000500000000000000" pitchFamily="2" charset="0"/>
                    <a:cs typeface="Poppins" panose="00000500000000000000" pitchFamily="2" charset="0"/>
                  </a:rPr>
                  <a:t>custom UUIDs generally used by manufacturers, industrial systems, and private BLE applications.</a:t>
                </a:r>
                <a:endParaRPr lang="en-DE" sz="2000" dirty="0">
                  <a:solidFill>
                    <a:srgbClr val="303642"/>
                  </a:solidFill>
                  <a:latin typeface="Poppins" panose="00000500000000000000" pitchFamily="2" charset="0"/>
                  <a:cs typeface="Poppins" panose="00000500000000000000" pitchFamily="2" charset="0"/>
                </a:endParaRPr>
              </a:p>
            </p:txBody>
          </p:sp>
        </p:grpSp>
        <p:grpSp>
          <p:nvGrpSpPr>
            <p:cNvPr id="43" name="Group 42">
              <a:extLst>
                <a:ext uri="{FF2B5EF4-FFF2-40B4-BE49-F238E27FC236}">
                  <a16:creationId xmlns:a16="http://schemas.microsoft.com/office/drawing/2014/main" id="{8F3DB850-2052-5DAA-48EF-AE5628AB4CCF}"/>
                </a:ext>
              </a:extLst>
            </p:cNvPr>
            <p:cNvGrpSpPr/>
            <p:nvPr/>
          </p:nvGrpSpPr>
          <p:grpSpPr>
            <a:xfrm>
              <a:off x="12496800" y="7200900"/>
              <a:ext cx="4114800" cy="1295400"/>
              <a:chOff x="4038600" y="7200900"/>
              <a:chExt cx="3810000" cy="1295400"/>
            </a:xfrm>
          </p:grpSpPr>
          <p:sp>
            <p:nvSpPr>
              <p:cNvPr id="44" name="Rectangle: Rounded Corners 43">
                <a:extLst>
                  <a:ext uri="{FF2B5EF4-FFF2-40B4-BE49-F238E27FC236}">
                    <a16:creationId xmlns:a16="http://schemas.microsoft.com/office/drawing/2014/main" id="{FE8C264D-2F45-F291-967C-D8FE88F28904}"/>
                  </a:ext>
                </a:extLst>
              </p:cNvPr>
              <p:cNvSpPr/>
              <p:nvPr/>
            </p:nvSpPr>
            <p:spPr>
              <a:xfrm>
                <a:off x="4038600" y="7200900"/>
                <a:ext cx="3810000" cy="1295400"/>
              </a:xfrm>
              <a:prstGeom prst="roundRect">
                <a:avLst/>
              </a:prstGeom>
              <a:no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5" name="TextBox 44">
                <a:extLst>
                  <a:ext uri="{FF2B5EF4-FFF2-40B4-BE49-F238E27FC236}">
                    <a16:creationId xmlns:a16="http://schemas.microsoft.com/office/drawing/2014/main" id="{12887BED-302E-D287-F220-4C4D5D112702}"/>
                  </a:ext>
                </a:extLst>
              </p:cNvPr>
              <p:cNvSpPr txBox="1"/>
              <p:nvPr/>
            </p:nvSpPr>
            <p:spPr>
              <a:xfrm>
                <a:off x="4176712" y="7537955"/>
                <a:ext cx="3533775" cy="707886"/>
              </a:xfrm>
              <a:prstGeom prst="rect">
                <a:avLst/>
              </a:prstGeom>
              <a:noFill/>
            </p:spPr>
            <p:txBody>
              <a:bodyPr wrap="square" rtlCol="0">
                <a:spAutoFit/>
              </a:bodyPr>
              <a:lstStyle/>
              <a:p>
                <a:r>
                  <a:rPr lang="en-US" sz="2000" dirty="0">
                    <a:solidFill>
                      <a:srgbClr val="303642"/>
                    </a:solidFill>
                    <a:latin typeface="Poppins" panose="00000500000000000000" pitchFamily="2" charset="0"/>
                    <a:cs typeface="Poppins" panose="00000500000000000000" pitchFamily="2" charset="0"/>
                  </a:rPr>
                  <a:t>550e8400-e29b-41d4-a716-446655440000</a:t>
                </a:r>
                <a:endParaRPr lang="en-DE" sz="2000" dirty="0">
                  <a:solidFill>
                    <a:srgbClr val="303642"/>
                  </a:solidFill>
                  <a:latin typeface="Poppins" panose="00000500000000000000" pitchFamily="2" charset="0"/>
                  <a:cs typeface="Poppins" panose="00000500000000000000" pitchFamily="2" charset="0"/>
                </a:endParaRPr>
              </a:p>
            </p:txBody>
          </p:sp>
        </p:grpSp>
        <p:sp>
          <p:nvSpPr>
            <p:cNvPr id="54" name="TextBox 53">
              <a:extLst>
                <a:ext uri="{FF2B5EF4-FFF2-40B4-BE49-F238E27FC236}">
                  <a16:creationId xmlns:a16="http://schemas.microsoft.com/office/drawing/2014/main" id="{8B6CF289-12DC-7550-3655-2117238F677A}"/>
                </a:ext>
              </a:extLst>
            </p:cNvPr>
            <p:cNvSpPr txBox="1"/>
            <p:nvPr/>
          </p:nvSpPr>
          <p:spPr>
            <a:xfrm>
              <a:off x="13299728" y="3952876"/>
              <a:ext cx="2545110" cy="604012"/>
            </a:xfrm>
            <a:prstGeom prst="rect">
              <a:avLst/>
            </a:prstGeom>
            <a:noFill/>
          </p:spPr>
          <p:txBody>
            <a:bodyPr wrap="square">
              <a:spAutoFit/>
            </a:bodyPr>
            <a:lstStyle/>
            <a:p>
              <a:pPr algn="ctr">
                <a:lnSpc>
                  <a:spcPts val="4200"/>
                </a:lnSpc>
                <a:spcBef>
                  <a:spcPct val="0"/>
                </a:spcBef>
              </a:pPr>
              <a:r>
                <a:rPr lang="en-US" sz="3000" b="1" dirty="0">
                  <a:solidFill>
                    <a:schemeClr val="tx2"/>
                  </a:solidFill>
                  <a:latin typeface="Poppins Bold"/>
                  <a:cs typeface="Poppins Bold"/>
                </a:rPr>
                <a:t>128</a:t>
              </a:r>
              <a:r>
                <a:rPr lang="en-DE" sz="3000" b="1" dirty="0">
                  <a:solidFill>
                    <a:schemeClr val="tx2"/>
                  </a:solidFill>
                  <a:latin typeface="Poppins Bold"/>
                  <a:cs typeface="Poppins Bold"/>
                </a:rPr>
                <a:t>-bit UUID</a:t>
              </a:r>
            </a:p>
          </p:txBody>
        </p:sp>
      </p:grpSp>
      <p:grpSp>
        <p:nvGrpSpPr>
          <p:cNvPr id="4" name="Group 3">
            <a:extLst>
              <a:ext uri="{FF2B5EF4-FFF2-40B4-BE49-F238E27FC236}">
                <a16:creationId xmlns:a16="http://schemas.microsoft.com/office/drawing/2014/main" id="{83CEA0F5-14F4-33D8-3FE6-9A5D8B601211}"/>
              </a:ext>
            </a:extLst>
          </p:cNvPr>
          <p:cNvGrpSpPr/>
          <p:nvPr/>
        </p:nvGrpSpPr>
        <p:grpSpPr>
          <a:xfrm>
            <a:off x="1143000" y="4723865"/>
            <a:ext cx="6705600" cy="3772435"/>
            <a:chOff x="1143000" y="4723865"/>
            <a:chExt cx="6705600" cy="3772435"/>
          </a:xfrm>
        </p:grpSpPr>
        <p:grpSp>
          <p:nvGrpSpPr>
            <p:cNvPr id="39" name="Group 38">
              <a:extLst>
                <a:ext uri="{FF2B5EF4-FFF2-40B4-BE49-F238E27FC236}">
                  <a16:creationId xmlns:a16="http://schemas.microsoft.com/office/drawing/2014/main" id="{A52AEAD0-5870-7F3C-4D1C-92BADE70F9A9}"/>
                </a:ext>
              </a:extLst>
            </p:cNvPr>
            <p:cNvGrpSpPr/>
            <p:nvPr/>
          </p:nvGrpSpPr>
          <p:grpSpPr>
            <a:xfrm>
              <a:off x="3886200" y="7200900"/>
              <a:ext cx="3962400" cy="1295400"/>
              <a:chOff x="4038600" y="7200900"/>
              <a:chExt cx="3810000" cy="1295400"/>
            </a:xfrm>
          </p:grpSpPr>
          <p:sp>
            <p:nvSpPr>
              <p:cNvPr id="36" name="Rectangle: Rounded Corners 35">
                <a:extLst>
                  <a:ext uri="{FF2B5EF4-FFF2-40B4-BE49-F238E27FC236}">
                    <a16:creationId xmlns:a16="http://schemas.microsoft.com/office/drawing/2014/main" id="{2CED5F52-1746-0C45-BC15-BDE17E9F58D4}"/>
                  </a:ext>
                </a:extLst>
              </p:cNvPr>
              <p:cNvSpPr/>
              <p:nvPr/>
            </p:nvSpPr>
            <p:spPr>
              <a:xfrm>
                <a:off x="4038600" y="7200900"/>
                <a:ext cx="3810000" cy="1295400"/>
              </a:xfrm>
              <a:prstGeom prst="roundRect">
                <a:avLst/>
              </a:prstGeom>
              <a:no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8" name="TextBox 37">
                <a:extLst>
                  <a:ext uri="{FF2B5EF4-FFF2-40B4-BE49-F238E27FC236}">
                    <a16:creationId xmlns:a16="http://schemas.microsoft.com/office/drawing/2014/main" id="{4B97D6A3-12AE-7E6F-E7AE-15065EED28D8}"/>
                  </a:ext>
                </a:extLst>
              </p:cNvPr>
              <p:cNvSpPr txBox="1"/>
              <p:nvPr/>
            </p:nvSpPr>
            <p:spPr>
              <a:xfrm>
                <a:off x="5438775" y="7648545"/>
                <a:ext cx="1009650" cy="400110"/>
              </a:xfrm>
              <a:prstGeom prst="rect">
                <a:avLst/>
              </a:prstGeom>
              <a:noFill/>
            </p:spPr>
            <p:txBody>
              <a:bodyPr wrap="square" rtlCol="0">
                <a:spAutoFit/>
              </a:bodyPr>
              <a:lstStyle/>
              <a:p>
                <a:r>
                  <a:rPr lang="en-US" sz="2000" dirty="0">
                    <a:solidFill>
                      <a:srgbClr val="303642"/>
                    </a:solidFill>
                    <a:latin typeface="Poppins" panose="00000500000000000000" pitchFamily="2" charset="0"/>
                    <a:cs typeface="Poppins" panose="00000500000000000000" pitchFamily="2" charset="0"/>
                  </a:rPr>
                  <a:t>0x180F</a:t>
                </a:r>
                <a:endParaRPr lang="en-DE" sz="2000" dirty="0">
                  <a:solidFill>
                    <a:srgbClr val="303642"/>
                  </a:solidFill>
                  <a:latin typeface="Poppins" panose="00000500000000000000" pitchFamily="2" charset="0"/>
                  <a:cs typeface="Poppins" panose="00000500000000000000" pitchFamily="2" charset="0"/>
                </a:endParaRPr>
              </a:p>
            </p:txBody>
          </p:sp>
        </p:grpSp>
        <p:grpSp>
          <p:nvGrpSpPr>
            <p:cNvPr id="3" name="Group 2">
              <a:extLst>
                <a:ext uri="{FF2B5EF4-FFF2-40B4-BE49-F238E27FC236}">
                  <a16:creationId xmlns:a16="http://schemas.microsoft.com/office/drawing/2014/main" id="{A4FEE5F4-C689-73CF-ED71-7DB7AA798AA1}"/>
                </a:ext>
              </a:extLst>
            </p:cNvPr>
            <p:cNvGrpSpPr/>
            <p:nvPr/>
          </p:nvGrpSpPr>
          <p:grpSpPr>
            <a:xfrm>
              <a:off x="1143000" y="4723865"/>
              <a:ext cx="6705600" cy="2096035"/>
              <a:chOff x="1143000" y="4723865"/>
              <a:chExt cx="6705600" cy="2096035"/>
            </a:xfrm>
          </p:grpSpPr>
          <p:grpSp>
            <p:nvGrpSpPr>
              <p:cNvPr id="48" name="Group 47">
                <a:extLst>
                  <a:ext uri="{FF2B5EF4-FFF2-40B4-BE49-F238E27FC236}">
                    <a16:creationId xmlns:a16="http://schemas.microsoft.com/office/drawing/2014/main" id="{4C74939F-C8CB-BFEB-E09C-3D5A990492A1}"/>
                  </a:ext>
                </a:extLst>
              </p:cNvPr>
              <p:cNvGrpSpPr/>
              <p:nvPr/>
            </p:nvGrpSpPr>
            <p:grpSpPr>
              <a:xfrm>
                <a:off x="3886200" y="4723865"/>
                <a:ext cx="3962400" cy="2096035"/>
                <a:chOff x="3886200" y="4076700"/>
                <a:chExt cx="3962400" cy="2096035"/>
              </a:xfrm>
            </p:grpSpPr>
            <p:sp>
              <p:nvSpPr>
                <p:cNvPr id="6" name="Rectangle: Rounded Corners 5">
                  <a:extLst>
                    <a:ext uri="{FF2B5EF4-FFF2-40B4-BE49-F238E27FC236}">
                      <a16:creationId xmlns:a16="http://schemas.microsoft.com/office/drawing/2014/main" id="{990FBA07-1CFA-B30F-3674-68E92ABB7B3D}"/>
                    </a:ext>
                  </a:extLst>
                </p:cNvPr>
                <p:cNvSpPr/>
                <p:nvPr/>
              </p:nvSpPr>
              <p:spPr>
                <a:xfrm>
                  <a:off x="3886200" y="4076700"/>
                  <a:ext cx="3962400" cy="2096035"/>
                </a:xfrm>
                <a:prstGeom prst="roundRect">
                  <a:avLst/>
                </a:prstGeom>
                <a:no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1" name="TextBox 30">
                  <a:extLst>
                    <a:ext uri="{FF2B5EF4-FFF2-40B4-BE49-F238E27FC236}">
                      <a16:creationId xmlns:a16="http://schemas.microsoft.com/office/drawing/2014/main" id="{4BF8FADF-0B8E-DF26-0C6F-EACC4D5E9678}"/>
                    </a:ext>
                  </a:extLst>
                </p:cNvPr>
                <p:cNvSpPr txBox="1"/>
                <p:nvPr/>
              </p:nvSpPr>
              <p:spPr>
                <a:xfrm>
                  <a:off x="4267200" y="4339292"/>
                  <a:ext cx="3195637" cy="1631216"/>
                </a:xfrm>
                <a:prstGeom prst="rect">
                  <a:avLst/>
                </a:prstGeom>
                <a:noFill/>
              </p:spPr>
              <p:txBody>
                <a:bodyPr wrap="square" rtlCol="0">
                  <a:spAutoFit/>
                </a:bodyPr>
                <a:lstStyle/>
                <a:p>
                  <a:r>
                    <a:rPr lang="en-US" sz="2000" dirty="0">
                      <a:solidFill>
                        <a:srgbClr val="303642"/>
                      </a:solidFill>
                      <a:latin typeface="Poppins" panose="00000500000000000000" pitchFamily="2" charset="0"/>
                      <a:cs typeface="Poppins" panose="00000500000000000000" pitchFamily="2" charset="0"/>
                    </a:rPr>
                    <a:t>Standardized Bluetooth SIG assigned identifiers commonly used for official BLE services and characteristics.</a:t>
                  </a:r>
                  <a:endParaRPr lang="en-DE" sz="2000" dirty="0">
                    <a:solidFill>
                      <a:srgbClr val="303642"/>
                    </a:solidFill>
                    <a:latin typeface="Poppins" panose="00000500000000000000" pitchFamily="2" charset="0"/>
                    <a:cs typeface="Poppins" panose="00000500000000000000" pitchFamily="2" charset="0"/>
                  </a:endParaRPr>
                </a:p>
              </p:txBody>
            </p:sp>
          </p:grpSp>
          <p:sp>
            <p:nvSpPr>
              <p:cNvPr id="56" name="TextBox 55">
                <a:extLst>
                  <a:ext uri="{FF2B5EF4-FFF2-40B4-BE49-F238E27FC236}">
                    <a16:creationId xmlns:a16="http://schemas.microsoft.com/office/drawing/2014/main" id="{0AC4E084-6A6D-2248-46AC-AED143AB3E1A}"/>
                  </a:ext>
                </a:extLst>
              </p:cNvPr>
              <p:cNvSpPr txBox="1"/>
              <p:nvPr/>
            </p:nvSpPr>
            <p:spPr>
              <a:xfrm>
                <a:off x="1143000" y="5371772"/>
                <a:ext cx="2057400" cy="461665"/>
              </a:xfrm>
              <a:prstGeom prst="rect">
                <a:avLst/>
              </a:prstGeom>
              <a:noFill/>
            </p:spPr>
            <p:txBody>
              <a:bodyPr wrap="square" rtlCol="0">
                <a:spAutoFit/>
              </a:bodyPr>
              <a:lstStyle/>
              <a:p>
                <a:r>
                  <a:rPr lang="en-US" sz="2400" dirty="0">
                    <a:solidFill>
                      <a:srgbClr val="303642"/>
                    </a:solidFill>
                    <a:latin typeface="Poppins" panose="00000500000000000000" pitchFamily="2" charset="0"/>
                    <a:cs typeface="Poppins" panose="00000500000000000000" pitchFamily="2" charset="0"/>
                  </a:rPr>
                  <a:t>Description</a:t>
                </a:r>
                <a:endParaRPr lang="en-DE" sz="2400" dirty="0">
                  <a:solidFill>
                    <a:srgbClr val="303642"/>
                  </a:solidFill>
                  <a:latin typeface="Poppins" panose="00000500000000000000" pitchFamily="2" charset="0"/>
                  <a:cs typeface="Poppins" panose="00000500000000000000" pitchFamily="2" charset="0"/>
                </a:endParaRPr>
              </a:p>
            </p:txBody>
          </p:sp>
        </p:grpSp>
        <p:sp>
          <p:nvSpPr>
            <p:cNvPr id="58" name="TextBox 57">
              <a:extLst>
                <a:ext uri="{FF2B5EF4-FFF2-40B4-BE49-F238E27FC236}">
                  <a16:creationId xmlns:a16="http://schemas.microsoft.com/office/drawing/2014/main" id="{673B5BCE-C4A3-5A1F-1C46-6E0A714DF270}"/>
                </a:ext>
              </a:extLst>
            </p:cNvPr>
            <p:cNvSpPr txBox="1"/>
            <p:nvPr/>
          </p:nvSpPr>
          <p:spPr>
            <a:xfrm>
              <a:off x="1152520" y="7581900"/>
              <a:ext cx="2057400" cy="461665"/>
            </a:xfrm>
            <a:prstGeom prst="rect">
              <a:avLst/>
            </a:prstGeom>
            <a:noFill/>
          </p:spPr>
          <p:txBody>
            <a:bodyPr wrap="square" rtlCol="0">
              <a:spAutoFit/>
            </a:bodyPr>
            <a:lstStyle/>
            <a:p>
              <a:r>
                <a:rPr lang="en-US" sz="2400" dirty="0">
                  <a:solidFill>
                    <a:srgbClr val="303642"/>
                  </a:solidFill>
                  <a:latin typeface="Poppins" panose="00000500000000000000" pitchFamily="2" charset="0"/>
                  <a:cs typeface="Poppins" panose="00000500000000000000" pitchFamily="2" charset="0"/>
                </a:rPr>
                <a:t>Example</a:t>
              </a:r>
              <a:endParaRPr lang="en-DE" sz="2400" dirty="0">
                <a:solidFill>
                  <a:srgbClr val="303642"/>
                </a:solidFill>
                <a:latin typeface="Poppins" panose="00000500000000000000" pitchFamily="2" charset="0"/>
                <a:cs typeface="Poppins" panose="00000500000000000000" pitchFamily="2" charset="0"/>
              </a:endParaRPr>
            </a:p>
          </p:txBody>
        </p:sp>
      </p:grpSp>
    </p:spTree>
    <p:extLst>
      <p:ext uri="{BB962C8B-B14F-4D97-AF65-F5344CB8AC3E}">
        <p14:creationId xmlns:p14="http://schemas.microsoft.com/office/powerpoint/2010/main" val="4081978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P spid="5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F0BD9-1E6B-0D8B-6ADD-C3FD2E7F5E00}"/>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E3B6010D-5DF0-52DE-7A4D-AF2BCF7C4BB7}"/>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F0F3BB1D-8D19-C0DC-87A1-AB7FE1564939}"/>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42F1BBA2-5C9B-CE1B-8345-F1C909F86CC0}"/>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A512D626-04AC-6927-F1CD-921F2D98498F}"/>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ACB1199D-7AC1-15BE-1F09-13FE46FED306}"/>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5E8E8B9E-6595-6BDC-A348-856F6C9CAFDB}"/>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7" name="Slide Number Placeholder 6">
            <a:extLst>
              <a:ext uri="{FF2B5EF4-FFF2-40B4-BE49-F238E27FC236}">
                <a16:creationId xmlns:a16="http://schemas.microsoft.com/office/drawing/2014/main" id="{BF7D5879-5542-309B-F17B-8E4FD5BF5A5E}"/>
              </a:ext>
            </a:extLst>
          </p:cNvPr>
          <p:cNvSpPr>
            <a:spLocks noGrp="1"/>
          </p:cNvSpPr>
          <p:nvPr>
            <p:ph type="sldNum" sz="quarter" idx="12"/>
          </p:nvPr>
        </p:nvSpPr>
        <p:spPr/>
        <p:txBody>
          <a:bodyPr/>
          <a:lstStyle/>
          <a:p>
            <a:fld id="{B6F15528-21DE-4FAA-801E-634DDDAF4B2B}" type="slidenum">
              <a:rPr lang="en-US" smtClean="0"/>
              <a:pPr/>
              <a:t>28</a:t>
            </a:fld>
            <a:endParaRPr lang="en-US" sz="1800"/>
          </a:p>
        </p:txBody>
      </p:sp>
      <p:sp>
        <p:nvSpPr>
          <p:cNvPr id="2" name="TextBox 1">
            <a:extLst>
              <a:ext uri="{FF2B5EF4-FFF2-40B4-BE49-F238E27FC236}">
                <a16:creationId xmlns:a16="http://schemas.microsoft.com/office/drawing/2014/main" id="{718E5946-A6A6-480C-B971-3287BBB80885}"/>
              </a:ext>
            </a:extLst>
          </p:cNvPr>
          <p:cNvSpPr txBox="1"/>
          <p:nvPr/>
        </p:nvSpPr>
        <p:spPr>
          <a:xfrm>
            <a:off x="975003" y="1159423"/>
            <a:ext cx="9159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Handle</a:t>
            </a:r>
          </a:p>
        </p:txBody>
      </p:sp>
      <p:grpSp>
        <p:nvGrpSpPr>
          <p:cNvPr id="16" name="Group 15">
            <a:extLst>
              <a:ext uri="{FF2B5EF4-FFF2-40B4-BE49-F238E27FC236}">
                <a16:creationId xmlns:a16="http://schemas.microsoft.com/office/drawing/2014/main" id="{FF0592C5-77E9-4239-5BE2-C0FF717113DB}"/>
              </a:ext>
            </a:extLst>
          </p:cNvPr>
          <p:cNvGrpSpPr/>
          <p:nvPr/>
        </p:nvGrpSpPr>
        <p:grpSpPr>
          <a:xfrm>
            <a:off x="975003" y="2899708"/>
            <a:ext cx="15636597" cy="1938992"/>
            <a:chOff x="975003" y="2331303"/>
            <a:chExt cx="15636597" cy="1938992"/>
          </a:xfrm>
        </p:grpSpPr>
        <p:sp>
          <p:nvSpPr>
            <p:cNvPr id="6" name="TextBox 5">
              <a:extLst>
                <a:ext uri="{FF2B5EF4-FFF2-40B4-BE49-F238E27FC236}">
                  <a16:creationId xmlns:a16="http://schemas.microsoft.com/office/drawing/2014/main" id="{EEE73276-A6BF-64F2-4663-A964103D9F1B}"/>
                </a:ext>
              </a:extLst>
            </p:cNvPr>
            <p:cNvSpPr txBox="1"/>
            <p:nvPr/>
          </p:nvSpPr>
          <p:spPr>
            <a:xfrm>
              <a:off x="975003" y="2331303"/>
              <a:ext cx="15636597" cy="1938992"/>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Unique 16-bit address assigned to an attribute within the Generic Attribute Profile (GATT) database (exposed during GATT discovery).</a:t>
              </a:r>
            </a:p>
            <a:p>
              <a:pPr marL="342900" indent="-342900">
                <a:buFont typeface="Arial" panose="020B0604020202020204" pitchFamily="34" charset="0"/>
                <a:buChar char="•"/>
              </a:pPr>
              <a:endParaRPr lang="en-US" sz="2400" dirty="0">
                <a:solidFill>
                  <a:srgbClr val="303642"/>
                </a:solidFill>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It lets client and server devices directly target specific characteristic values or descriptors without constantly referencing long UUIDs. 	M</a:t>
              </a:r>
              <a:r>
                <a:rPr lang="en-DE" sz="2400" dirty="0">
                  <a:solidFill>
                    <a:srgbClr val="303642"/>
                  </a:solidFill>
                  <a:latin typeface="Poppins" panose="00000500000000000000" pitchFamily="2" charset="0"/>
                  <a:cs typeface="Poppins" panose="00000500000000000000" pitchFamily="2" charset="0"/>
                </a:rPr>
                <a:t>ore efficient, faster, and simpler</a:t>
              </a:r>
              <a:r>
                <a:rPr lang="en-US" sz="2400" dirty="0">
                  <a:solidFill>
                    <a:srgbClr val="303642"/>
                  </a:solidFill>
                  <a:latin typeface="Poppins" panose="00000500000000000000" pitchFamily="2" charset="0"/>
                  <a:cs typeface="Poppins" panose="00000500000000000000" pitchFamily="2" charset="0"/>
                </a:rPr>
                <a:t> communication.</a:t>
              </a:r>
              <a:endParaRPr lang="en-DE" sz="2400" dirty="0">
                <a:solidFill>
                  <a:srgbClr val="303642"/>
                </a:solidFill>
                <a:latin typeface="Poppins" panose="00000500000000000000" pitchFamily="2" charset="0"/>
                <a:cs typeface="Poppins" panose="00000500000000000000" pitchFamily="2" charset="0"/>
              </a:endParaRPr>
            </a:p>
          </p:txBody>
        </p:sp>
        <p:sp>
          <p:nvSpPr>
            <p:cNvPr id="11" name="Arrow: Right 10">
              <a:extLst>
                <a:ext uri="{FF2B5EF4-FFF2-40B4-BE49-F238E27FC236}">
                  <a16:creationId xmlns:a16="http://schemas.microsoft.com/office/drawing/2014/main" id="{D12145EA-4A0E-2AA4-55FE-2CB10C6423F6}"/>
                </a:ext>
              </a:extLst>
            </p:cNvPr>
            <p:cNvSpPr/>
            <p:nvPr/>
          </p:nvSpPr>
          <p:spPr>
            <a:xfrm>
              <a:off x="6758354" y="3921652"/>
              <a:ext cx="609600" cy="179614"/>
            </a:xfrm>
            <a:prstGeom prst="right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pSp>
      <p:pic>
        <p:nvPicPr>
          <p:cNvPr id="13" name="Picture 12">
            <a:extLst>
              <a:ext uri="{FF2B5EF4-FFF2-40B4-BE49-F238E27FC236}">
                <a16:creationId xmlns:a16="http://schemas.microsoft.com/office/drawing/2014/main" id="{22FED9D3-4FCB-960D-5D49-3A314FEA5F46}"/>
              </a:ext>
            </a:extLst>
          </p:cNvPr>
          <p:cNvPicPr>
            <a:picLocks noChangeAspect="1"/>
          </p:cNvPicPr>
          <p:nvPr/>
        </p:nvPicPr>
        <p:blipFill>
          <a:blip r:embed="rId2"/>
          <a:stretch>
            <a:fillRect/>
          </a:stretch>
        </p:blipFill>
        <p:spPr>
          <a:xfrm>
            <a:off x="98704" y="6000729"/>
            <a:ext cx="18059400" cy="1986772"/>
          </a:xfrm>
          <a:prstGeom prst="rect">
            <a:avLst/>
          </a:prstGeom>
        </p:spPr>
      </p:pic>
    </p:spTree>
    <p:extLst>
      <p:ext uri="{BB962C8B-B14F-4D97-AF65-F5344CB8AC3E}">
        <p14:creationId xmlns:p14="http://schemas.microsoft.com/office/powerpoint/2010/main" val="570252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4B945-AD35-A5C3-13E3-6C7D3731FFA1}"/>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0316C5B0-FE79-4E97-0AEF-A7712606E199}"/>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GAP Roles</a:t>
            </a:r>
          </a:p>
        </p:txBody>
      </p:sp>
      <p:grpSp>
        <p:nvGrpSpPr>
          <p:cNvPr id="23" name="Group 22">
            <a:extLst>
              <a:ext uri="{FF2B5EF4-FFF2-40B4-BE49-F238E27FC236}">
                <a16:creationId xmlns:a16="http://schemas.microsoft.com/office/drawing/2014/main" id="{73F83BAF-BD54-0651-3909-02BD3CD6849D}"/>
              </a:ext>
            </a:extLst>
          </p:cNvPr>
          <p:cNvGrpSpPr/>
          <p:nvPr/>
        </p:nvGrpSpPr>
        <p:grpSpPr>
          <a:xfrm>
            <a:off x="3577934" y="2559869"/>
            <a:ext cx="5334000" cy="6010782"/>
            <a:chOff x="3577934" y="2740367"/>
            <a:chExt cx="5334000" cy="6010782"/>
          </a:xfrm>
        </p:grpSpPr>
        <p:sp>
          <p:nvSpPr>
            <p:cNvPr id="3" name="Freeform 3">
              <a:extLst>
                <a:ext uri="{FF2B5EF4-FFF2-40B4-BE49-F238E27FC236}">
                  <a16:creationId xmlns:a16="http://schemas.microsoft.com/office/drawing/2014/main" id="{B8D807FD-07AA-CAEE-E4EA-2DE18F2E3E90}"/>
                </a:ext>
              </a:extLst>
            </p:cNvPr>
            <p:cNvSpPr/>
            <p:nvPr/>
          </p:nvSpPr>
          <p:spPr>
            <a:xfrm>
              <a:off x="5604845" y="2740367"/>
              <a:ext cx="1280178" cy="1666540"/>
            </a:xfrm>
            <a:custGeom>
              <a:avLst/>
              <a:gdLst/>
              <a:ahLst/>
              <a:cxnLst/>
              <a:rect l="l" t="t" r="r" b="b"/>
              <a:pathLst>
                <a:path w="2534769" h="3299772">
                  <a:moveTo>
                    <a:pt x="0" y="0"/>
                  </a:moveTo>
                  <a:lnTo>
                    <a:pt x="2534769" y="0"/>
                  </a:lnTo>
                  <a:lnTo>
                    <a:pt x="2534769" y="3299772"/>
                  </a:lnTo>
                  <a:lnTo>
                    <a:pt x="0" y="3299772"/>
                  </a:lnTo>
                  <a:lnTo>
                    <a:pt x="0" y="0"/>
                  </a:lnTo>
                  <a:close/>
                </a:path>
              </a:pathLst>
            </a:custGeom>
            <a:blipFill>
              <a:blip r:embed="rId3"/>
              <a:stretch>
                <a:fillRect l="-58717" t="-39595" r="-234004" b="-195444"/>
              </a:stretch>
            </a:blipFill>
          </p:spPr>
          <p:txBody>
            <a:bodyPr/>
            <a:lstStyle/>
            <a:p>
              <a:endParaRPr lang="en-DE"/>
            </a:p>
          </p:txBody>
        </p:sp>
        <p:sp>
          <p:nvSpPr>
            <p:cNvPr id="7" name="TextBox 7">
              <a:extLst>
                <a:ext uri="{FF2B5EF4-FFF2-40B4-BE49-F238E27FC236}">
                  <a16:creationId xmlns:a16="http://schemas.microsoft.com/office/drawing/2014/main" id="{0CE9F325-1389-B609-8C05-CA62082136AC}"/>
                </a:ext>
              </a:extLst>
            </p:cNvPr>
            <p:cNvSpPr txBox="1"/>
            <p:nvPr/>
          </p:nvSpPr>
          <p:spPr>
            <a:xfrm>
              <a:off x="5187010" y="4444960"/>
              <a:ext cx="1522865" cy="511679"/>
            </a:xfrm>
            <a:prstGeom prst="rect">
              <a:avLst/>
            </a:prstGeom>
          </p:spPr>
          <p:txBody>
            <a:bodyPr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Central</a:t>
              </a:r>
            </a:p>
          </p:txBody>
        </p:sp>
        <p:sp>
          <p:nvSpPr>
            <p:cNvPr id="11" name="TextBox 11">
              <a:extLst>
                <a:ext uri="{FF2B5EF4-FFF2-40B4-BE49-F238E27FC236}">
                  <a16:creationId xmlns:a16="http://schemas.microsoft.com/office/drawing/2014/main" id="{562D9A73-B223-1630-D7E6-331FEFEB4CCF}"/>
                </a:ext>
              </a:extLst>
            </p:cNvPr>
            <p:cNvSpPr txBox="1"/>
            <p:nvPr/>
          </p:nvSpPr>
          <p:spPr>
            <a:xfrm>
              <a:off x="3577934" y="8012485"/>
              <a:ext cx="5334000" cy="738664"/>
            </a:xfrm>
            <a:prstGeom prst="rect">
              <a:avLst/>
            </a:prstGeom>
          </p:spPr>
          <p:txBody>
            <a:bodyPr wrap="square" lIns="0" tIns="0" rIns="0" bIns="0" rtlCol="0" anchor="t">
              <a:spAutoFit/>
            </a:bodyPr>
            <a:lstStyle/>
            <a:p>
              <a:pPr marL="342900" indent="-342900">
                <a:spcBef>
                  <a:spcPct val="0"/>
                </a:spcBef>
                <a:buFont typeface="Arial" panose="020B0604020202020204" pitchFamily="34" charset="0"/>
                <a:buChar char="•"/>
              </a:pPr>
              <a:r>
                <a:rPr lang="en-US" sz="2400" dirty="0">
                  <a:solidFill>
                    <a:srgbClr val="303642"/>
                  </a:solidFill>
                  <a:latin typeface="Poppins" panose="00000500000000000000" pitchFamily="2" charset="0"/>
                  <a:ea typeface="Poppins Bold"/>
                  <a:cs typeface="Poppins" panose="00000500000000000000" pitchFamily="2" charset="0"/>
                  <a:sym typeface="Poppins Bold"/>
                </a:rPr>
                <a:t>Initiates connection (scanning).</a:t>
              </a:r>
            </a:p>
            <a:p>
              <a:pPr marL="342900" indent="-342900">
                <a:spcBef>
                  <a:spcPct val="0"/>
                </a:spcBef>
                <a:buFont typeface="Arial" panose="020B0604020202020204" pitchFamily="34" charset="0"/>
                <a:buChar char="•"/>
              </a:pPr>
              <a:r>
                <a:rPr lang="en-US" sz="2400" dirty="0">
                  <a:solidFill>
                    <a:srgbClr val="303642"/>
                  </a:solidFill>
                  <a:latin typeface="Poppins" panose="00000500000000000000" pitchFamily="2" charset="0"/>
                  <a:ea typeface="Poppins Bold"/>
                  <a:cs typeface="Poppins" panose="00000500000000000000" pitchFamily="2" charset="0"/>
                  <a:sym typeface="Poppins Bold"/>
                </a:rPr>
                <a:t>Processes data.</a:t>
              </a:r>
            </a:p>
          </p:txBody>
        </p:sp>
        <p:sp>
          <p:nvSpPr>
            <p:cNvPr id="12" name="TextBox 12">
              <a:extLst>
                <a:ext uri="{FF2B5EF4-FFF2-40B4-BE49-F238E27FC236}">
                  <a16:creationId xmlns:a16="http://schemas.microsoft.com/office/drawing/2014/main" id="{8D0E864C-24B2-1E5B-C10D-E33A28C3D187}"/>
                </a:ext>
              </a:extLst>
            </p:cNvPr>
            <p:cNvSpPr txBox="1"/>
            <p:nvPr/>
          </p:nvSpPr>
          <p:spPr>
            <a:xfrm>
              <a:off x="5046200" y="4901724"/>
              <a:ext cx="1804484" cy="511679"/>
            </a:xfrm>
            <a:prstGeom prst="rect">
              <a:avLst/>
            </a:prstGeom>
          </p:spPr>
          <p:txBody>
            <a:bodyPr lIns="0" tIns="0" rIns="0" bIns="0" rtlCol="0" anchor="t">
              <a:spAutoFit/>
            </a:bodyPr>
            <a:lstStyle/>
            <a:p>
              <a:pPr algn="ctr">
                <a:lnSpc>
                  <a:spcPts val="4200"/>
                </a:lnSpc>
                <a:spcBef>
                  <a:spcPct val="0"/>
                </a:spcBef>
              </a:pPr>
              <a:r>
                <a:rPr lang="en-US" sz="3000" b="1" dirty="0">
                  <a:solidFill>
                    <a:srgbClr val="303642"/>
                  </a:solidFill>
                  <a:latin typeface="Poppins Bold"/>
                  <a:ea typeface="Poppins Bold"/>
                  <a:cs typeface="Poppins Bold"/>
                  <a:sym typeface="Poppins Bold"/>
                </a:rPr>
                <a:t>“</a:t>
              </a:r>
              <a:r>
                <a:rPr lang="en-US" sz="3000" b="1" dirty="0">
                  <a:solidFill>
                    <a:srgbClr val="303642"/>
                  </a:solidFill>
                  <a:latin typeface="Poppins Bold"/>
                  <a:cs typeface="Poppins Bold"/>
                  <a:sym typeface="Poppins Bold"/>
                </a:rPr>
                <a:t>Master</a:t>
              </a:r>
              <a:r>
                <a:rPr lang="en-US" sz="3000" b="1" dirty="0">
                  <a:solidFill>
                    <a:srgbClr val="303642"/>
                  </a:solidFill>
                  <a:latin typeface="Poppins Bold"/>
                  <a:ea typeface="Poppins Bold"/>
                  <a:cs typeface="Poppins Bold"/>
                  <a:sym typeface="Poppins Bold"/>
                </a:rPr>
                <a:t>”</a:t>
              </a:r>
            </a:p>
          </p:txBody>
        </p:sp>
        <p:sp>
          <p:nvSpPr>
            <p:cNvPr id="17" name="Rectangle: Rounded Corners 16">
              <a:extLst>
                <a:ext uri="{FF2B5EF4-FFF2-40B4-BE49-F238E27FC236}">
                  <a16:creationId xmlns:a16="http://schemas.microsoft.com/office/drawing/2014/main" id="{A43DD50A-2CD3-B8EB-C663-D6004D84FE49}"/>
                </a:ext>
              </a:extLst>
            </p:cNvPr>
            <p:cNvSpPr/>
            <p:nvPr/>
          </p:nvSpPr>
          <p:spPr>
            <a:xfrm>
              <a:off x="4331613" y="5693358"/>
              <a:ext cx="3233658" cy="1169776"/>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Poppins" panose="00000500000000000000" pitchFamily="2" charset="0"/>
                  <a:ea typeface="Poppins Bold"/>
                  <a:cs typeface="Poppins" panose="00000500000000000000" pitchFamily="2" charset="0"/>
                  <a:sym typeface="Poppins Bold"/>
                </a:rPr>
                <a:t>POWERFUL AND RICH RESSOURCES</a:t>
              </a:r>
            </a:p>
          </p:txBody>
        </p:sp>
        <p:sp>
          <p:nvSpPr>
            <p:cNvPr id="20" name="Arrow: Down 19">
              <a:extLst>
                <a:ext uri="{FF2B5EF4-FFF2-40B4-BE49-F238E27FC236}">
                  <a16:creationId xmlns:a16="http://schemas.microsoft.com/office/drawing/2014/main" id="{3E403E1D-E7E8-37C9-8FEE-9F0C3EDE6E96}"/>
                </a:ext>
              </a:extLst>
            </p:cNvPr>
            <p:cNvSpPr/>
            <p:nvPr/>
          </p:nvSpPr>
          <p:spPr>
            <a:xfrm>
              <a:off x="5791200" y="7035324"/>
              <a:ext cx="381000" cy="738664"/>
            </a:xfrm>
            <a:prstGeom prst="down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DE"/>
            </a:p>
          </p:txBody>
        </p:sp>
      </p:grpSp>
      <p:grpSp>
        <p:nvGrpSpPr>
          <p:cNvPr id="24" name="Group 23">
            <a:extLst>
              <a:ext uri="{FF2B5EF4-FFF2-40B4-BE49-F238E27FC236}">
                <a16:creationId xmlns:a16="http://schemas.microsoft.com/office/drawing/2014/main" id="{DF94076F-2DFC-0EBB-2EA0-DBF28370EDA9}"/>
              </a:ext>
            </a:extLst>
          </p:cNvPr>
          <p:cNvGrpSpPr/>
          <p:nvPr/>
        </p:nvGrpSpPr>
        <p:grpSpPr>
          <a:xfrm>
            <a:off x="9906000" y="2476985"/>
            <a:ext cx="4149081" cy="6093666"/>
            <a:chOff x="9826978" y="2656998"/>
            <a:chExt cx="4149081" cy="6093666"/>
          </a:xfrm>
        </p:grpSpPr>
        <p:sp>
          <p:nvSpPr>
            <p:cNvPr id="4" name="Freeform 4">
              <a:extLst>
                <a:ext uri="{FF2B5EF4-FFF2-40B4-BE49-F238E27FC236}">
                  <a16:creationId xmlns:a16="http://schemas.microsoft.com/office/drawing/2014/main" id="{A0FF38A7-5C3C-5179-F40D-53B6B2FD3B35}"/>
                </a:ext>
              </a:extLst>
            </p:cNvPr>
            <p:cNvSpPr/>
            <p:nvPr/>
          </p:nvSpPr>
          <p:spPr>
            <a:xfrm>
              <a:off x="10827514" y="2656998"/>
              <a:ext cx="1219608" cy="1651652"/>
            </a:xfrm>
            <a:custGeom>
              <a:avLst/>
              <a:gdLst/>
              <a:ahLst/>
              <a:cxnLst/>
              <a:rect l="l" t="t" r="r" b="b"/>
              <a:pathLst>
                <a:path w="2436608" h="3299772">
                  <a:moveTo>
                    <a:pt x="0" y="0"/>
                  </a:moveTo>
                  <a:lnTo>
                    <a:pt x="2436608" y="0"/>
                  </a:lnTo>
                  <a:lnTo>
                    <a:pt x="2436608" y="3299772"/>
                  </a:lnTo>
                  <a:lnTo>
                    <a:pt x="0" y="3299772"/>
                  </a:lnTo>
                  <a:lnTo>
                    <a:pt x="0" y="0"/>
                  </a:lnTo>
                  <a:close/>
                </a:path>
              </a:pathLst>
            </a:custGeom>
            <a:blipFill>
              <a:blip r:embed="rId4"/>
              <a:stretch>
                <a:fillRect l="-244765" t="-39595" r="-63777" b="-195444"/>
              </a:stretch>
            </a:blipFill>
          </p:spPr>
          <p:txBody>
            <a:bodyPr/>
            <a:lstStyle/>
            <a:p>
              <a:endParaRPr lang="en-DE"/>
            </a:p>
          </p:txBody>
        </p:sp>
        <p:sp>
          <p:nvSpPr>
            <p:cNvPr id="8" name="TextBox 8">
              <a:extLst>
                <a:ext uri="{FF2B5EF4-FFF2-40B4-BE49-F238E27FC236}">
                  <a16:creationId xmlns:a16="http://schemas.microsoft.com/office/drawing/2014/main" id="{5A7062D6-CBBB-AC6B-03BA-03FCF20354C4}"/>
                </a:ext>
              </a:extLst>
            </p:cNvPr>
            <p:cNvSpPr txBox="1"/>
            <p:nvPr/>
          </p:nvSpPr>
          <p:spPr>
            <a:xfrm>
              <a:off x="10615079" y="4430259"/>
              <a:ext cx="2157599" cy="511679"/>
            </a:xfrm>
            <a:prstGeom prst="rect">
              <a:avLst/>
            </a:prstGeom>
          </p:spPr>
          <p:txBody>
            <a:bodyPr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Peripheral</a:t>
              </a:r>
            </a:p>
          </p:txBody>
        </p:sp>
        <p:sp>
          <p:nvSpPr>
            <p:cNvPr id="13" name="TextBox 13">
              <a:extLst>
                <a:ext uri="{FF2B5EF4-FFF2-40B4-BE49-F238E27FC236}">
                  <a16:creationId xmlns:a16="http://schemas.microsoft.com/office/drawing/2014/main" id="{4183D6FA-EC30-8F9B-A587-C3BCF4DA5D13}"/>
                </a:ext>
              </a:extLst>
            </p:cNvPr>
            <p:cNvSpPr txBox="1"/>
            <p:nvPr/>
          </p:nvSpPr>
          <p:spPr>
            <a:xfrm>
              <a:off x="10921502" y="4901724"/>
              <a:ext cx="1544752" cy="511679"/>
            </a:xfrm>
            <a:prstGeom prst="rect">
              <a:avLst/>
            </a:prstGeom>
          </p:spPr>
          <p:txBody>
            <a:bodyPr lIns="0" tIns="0" rIns="0" bIns="0" rtlCol="0" anchor="t">
              <a:spAutoFit/>
            </a:bodyPr>
            <a:lstStyle/>
            <a:p>
              <a:pPr algn="ctr">
                <a:lnSpc>
                  <a:spcPts val="4200"/>
                </a:lnSpc>
                <a:spcBef>
                  <a:spcPct val="0"/>
                </a:spcBef>
              </a:pPr>
              <a:r>
                <a:rPr lang="en-US" sz="3000" b="1" dirty="0">
                  <a:solidFill>
                    <a:srgbClr val="303642"/>
                  </a:solidFill>
                  <a:latin typeface="Poppins Bold"/>
                  <a:cs typeface="Poppins Bold"/>
                  <a:sym typeface="Poppins Bold"/>
                </a:rPr>
                <a:t>“Slave”</a:t>
              </a:r>
            </a:p>
          </p:txBody>
        </p:sp>
        <p:sp>
          <p:nvSpPr>
            <p:cNvPr id="14" name="TextBox 14">
              <a:extLst>
                <a:ext uri="{FF2B5EF4-FFF2-40B4-BE49-F238E27FC236}">
                  <a16:creationId xmlns:a16="http://schemas.microsoft.com/office/drawing/2014/main" id="{C6FCF9B2-B0D2-87EA-DBD5-295432A96284}"/>
                </a:ext>
              </a:extLst>
            </p:cNvPr>
            <p:cNvSpPr txBox="1"/>
            <p:nvPr/>
          </p:nvSpPr>
          <p:spPr>
            <a:xfrm>
              <a:off x="9826978" y="8012000"/>
              <a:ext cx="4149081" cy="738664"/>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marL="342900" indent="-342900" algn="l">
                <a:buFont typeface="Arial" panose="020B0604020202020204" pitchFamily="34" charset="0"/>
                <a:buChar char="•"/>
              </a:pPr>
              <a:r>
                <a:rPr lang="en-US" dirty="0">
                  <a:sym typeface="Poppins Bold"/>
                </a:rPr>
                <a:t>Advertises its presence.</a:t>
              </a:r>
            </a:p>
            <a:p>
              <a:pPr marL="342900" indent="-342900" algn="l">
                <a:buFont typeface="Arial" panose="020B0604020202020204" pitchFamily="34" charset="0"/>
                <a:buChar char="•"/>
              </a:pPr>
              <a:r>
                <a:rPr lang="en-US" dirty="0">
                  <a:sym typeface="Poppins Bold"/>
                </a:rPr>
                <a:t>Accepts connection</a:t>
              </a:r>
            </a:p>
          </p:txBody>
        </p:sp>
        <p:sp>
          <p:nvSpPr>
            <p:cNvPr id="19" name="Rectangle: Rounded Corners 18">
              <a:extLst>
                <a:ext uri="{FF2B5EF4-FFF2-40B4-BE49-F238E27FC236}">
                  <a16:creationId xmlns:a16="http://schemas.microsoft.com/office/drawing/2014/main" id="{E7FE67CB-41C0-2ECE-FB1A-84E3E26BB65C}"/>
                </a:ext>
              </a:extLst>
            </p:cNvPr>
            <p:cNvSpPr/>
            <p:nvPr/>
          </p:nvSpPr>
          <p:spPr>
            <a:xfrm>
              <a:off x="10017478" y="5674363"/>
              <a:ext cx="3733800" cy="1169776"/>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Poppins" panose="00000500000000000000" pitchFamily="2" charset="0"/>
                  <a:ea typeface="Poppins Bold"/>
                  <a:cs typeface="Poppins" panose="00000500000000000000" pitchFamily="2" charset="0"/>
                  <a:sym typeface="Poppins Bold"/>
                </a:rPr>
                <a:t>LOW-POWER, PROVIDES DATA</a:t>
              </a:r>
            </a:p>
          </p:txBody>
        </p:sp>
        <p:sp>
          <p:nvSpPr>
            <p:cNvPr id="22" name="Arrow: Down 21">
              <a:extLst>
                <a:ext uri="{FF2B5EF4-FFF2-40B4-BE49-F238E27FC236}">
                  <a16:creationId xmlns:a16="http://schemas.microsoft.com/office/drawing/2014/main" id="{1F3FDED5-2D3F-9E22-8FDC-C263FC68D96B}"/>
                </a:ext>
              </a:extLst>
            </p:cNvPr>
            <p:cNvSpPr/>
            <p:nvPr/>
          </p:nvSpPr>
          <p:spPr>
            <a:xfrm>
              <a:off x="11503378" y="7035324"/>
              <a:ext cx="381000" cy="738664"/>
            </a:xfrm>
            <a:prstGeom prst="down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DE"/>
            </a:p>
          </p:txBody>
        </p:sp>
      </p:grpSp>
      <p:grpSp>
        <p:nvGrpSpPr>
          <p:cNvPr id="15" name="Group 3">
            <a:extLst>
              <a:ext uri="{FF2B5EF4-FFF2-40B4-BE49-F238E27FC236}">
                <a16:creationId xmlns:a16="http://schemas.microsoft.com/office/drawing/2014/main" id="{10CA688E-B52C-3469-F708-DC74328D5DDE}"/>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6DA760B3-40C8-D477-EEB3-25837CBF6C91}"/>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5B4FC537-9C08-0158-5220-0A1493DBDFEB}"/>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B81DEA8C-4610-AFDD-C6CD-91F45F72C8E3}"/>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36013C7C-B122-3EC2-3E98-5E4A027B1E4F}"/>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9365E342-4E5C-4422-8C73-2335098CB10D}"/>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Slide Number Placeholder 8">
            <a:extLst>
              <a:ext uri="{FF2B5EF4-FFF2-40B4-BE49-F238E27FC236}">
                <a16:creationId xmlns:a16="http://schemas.microsoft.com/office/drawing/2014/main" id="{65BD78EC-8F6A-D8A6-8A23-543240E3CF9F}"/>
              </a:ext>
            </a:extLst>
          </p:cNvPr>
          <p:cNvSpPr>
            <a:spLocks noGrp="1"/>
          </p:cNvSpPr>
          <p:nvPr>
            <p:ph type="sldNum" sz="quarter" idx="12"/>
          </p:nvPr>
        </p:nvSpPr>
        <p:spPr/>
        <p:txBody>
          <a:bodyPr/>
          <a:lstStyle/>
          <a:p>
            <a:fld id="{B6F15528-21DE-4FAA-801E-634DDDAF4B2B}" type="slidenum">
              <a:rPr lang="en-US" smtClean="0"/>
              <a:pPr/>
              <a:t>29</a:t>
            </a:fld>
            <a:endParaRPr lang="en-US" sz="1800"/>
          </a:p>
        </p:txBody>
      </p:sp>
    </p:spTree>
    <p:extLst>
      <p:ext uri="{BB962C8B-B14F-4D97-AF65-F5344CB8AC3E}">
        <p14:creationId xmlns:p14="http://schemas.microsoft.com/office/powerpoint/2010/main" val="2095166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220B-A9AC-F070-15A8-C6A1C580B792}"/>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C772CDE0-36B4-6CCA-D704-672CD3471613}"/>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How to choose master and slave BLE modules ?</a:t>
            </a:r>
          </a:p>
        </p:txBody>
      </p:sp>
      <p:pic>
        <p:nvPicPr>
          <p:cNvPr id="2" name="Picture 1">
            <a:extLst>
              <a:ext uri="{FF2B5EF4-FFF2-40B4-BE49-F238E27FC236}">
                <a16:creationId xmlns:a16="http://schemas.microsoft.com/office/drawing/2014/main" id="{DC38D338-4E9A-833A-EF60-D951AF50FCB0}"/>
              </a:ext>
            </a:extLst>
          </p:cNvPr>
          <p:cNvPicPr>
            <a:picLocks noChangeAspect="1"/>
          </p:cNvPicPr>
          <p:nvPr/>
        </p:nvPicPr>
        <p:blipFill>
          <a:blip r:embed="rId2"/>
          <a:srcRect l="8838" t="20990" r="54312" b="10678"/>
          <a:stretch>
            <a:fillRect/>
          </a:stretch>
        </p:blipFill>
        <p:spPr>
          <a:xfrm>
            <a:off x="1066800" y="3238064"/>
            <a:ext cx="6222345" cy="5095436"/>
          </a:xfrm>
          <a:prstGeom prst="rect">
            <a:avLst/>
          </a:prstGeom>
        </p:spPr>
      </p:pic>
      <p:grpSp>
        <p:nvGrpSpPr>
          <p:cNvPr id="3" name="Group 3">
            <a:extLst>
              <a:ext uri="{FF2B5EF4-FFF2-40B4-BE49-F238E27FC236}">
                <a16:creationId xmlns:a16="http://schemas.microsoft.com/office/drawing/2014/main" id="{53E562E4-9792-B93E-107F-D1FBA7399772}"/>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4784138F-BCF1-4056-AB74-7DC6344561FA}"/>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5CEC3EE7-0BC1-1E1D-D3F9-22878F04FA0D}"/>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6" name="Group 5">
            <a:extLst>
              <a:ext uri="{FF2B5EF4-FFF2-40B4-BE49-F238E27FC236}">
                <a16:creationId xmlns:a16="http://schemas.microsoft.com/office/drawing/2014/main" id="{E4803D4E-B5E1-17DE-2E9E-83AE03471669}"/>
              </a:ext>
            </a:extLst>
          </p:cNvPr>
          <p:cNvGrpSpPr/>
          <p:nvPr/>
        </p:nvGrpSpPr>
        <p:grpSpPr>
          <a:xfrm>
            <a:off x="7199867" y="4916374"/>
            <a:ext cx="10535745" cy="1730216"/>
            <a:chOff x="7748812" y="4903211"/>
            <a:chExt cx="10535745" cy="1730216"/>
          </a:xfrm>
        </p:grpSpPr>
        <p:grpSp>
          <p:nvGrpSpPr>
            <p:cNvPr id="27" name="Group 26">
              <a:extLst>
                <a:ext uri="{FF2B5EF4-FFF2-40B4-BE49-F238E27FC236}">
                  <a16:creationId xmlns:a16="http://schemas.microsoft.com/office/drawing/2014/main" id="{8BB032E5-BDBA-CA35-BE84-88A8C885E013}"/>
                </a:ext>
              </a:extLst>
            </p:cNvPr>
            <p:cNvGrpSpPr/>
            <p:nvPr/>
          </p:nvGrpSpPr>
          <p:grpSpPr>
            <a:xfrm>
              <a:off x="8794281" y="4903211"/>
              <a:ext cx="9490276" cy="1730216"/>
              <a:chOff x="9348419" y="2898675"/>
              <a:chExt cx="9490276" cy="1730216"/>
            </a:xfrm>
          </p:grpSpPr>
          <p:sp>
            <p:nvSpPr>
              <p:cNvPr id="28" name="TextBox 13">
                <a:extLst>
                  <a:ext uri="{FF2B5EF4-FFF2-40B4-BE49-F238E27FC236}">
                    <a16:creationId xmlns:a16="http://schemas.microsoft.com/office/drawing/2014/main" id="{FDE919DD-B6A8-8277-9B5D-A1AB7EDFF61C}"/>
                  </a:ext>
                </a:extLst>
              </p:cNvPr>
              <p:cNvSpPr txBox="1"/>
              <p:nvPr/>
            </p:nvSpPr>
            <p:spPr>
              <a:xfrm>
                <a:off x="10970126" y="2898675"/>
                <a:ext cx="432801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Data</a:t>
                </a:r>
                <a:r>
                  <a:rPr lang="en-US" sz="3000" b="1" dirty="0">
                    <a:solidFill>
                      <a:srgbClr val="303642"/>
                    </a:solidFill>
                    <a:latin typeface="Poppins Bold"/>
                    <a:ea typeface="Poppins Bold"/>
                    <a:cs typeface="Poppins Bold"/>
                    <a:sym typeface="Poppins Bold"/>
                  </a:rPr>
                  <a:t> </a:t>
                </a:r>
                <a:r>
                  <a:rPr lang="en-US" sz="3000" b="1" dirty="0">
                    <a:solidFill>
                      <a:schemeClr val="tx2"/>
                    </a:solidFill>
                    <a:latin typeface="Poppins Bold"/>
                    <a:ea typeface="Poppins Bold"/>
                    <a:cs typeface="Poppins Bold"/>
                    <a:sym typeface="Poppins Bold"/>
                  </a:rPr>
                  <a:t>Role</a:t>
                </a:r>
              </a:p>
            </p:txBody>
          </p:sp>
          <p:sp>
            <p:nvSpPr>
              <p:cNvPr id="29" name="TextBox 14">
                <a:extLst>
                  <a:ext uri="{FF2B5EF4-FFF2-40B4-BE49-F238E27FC236}">
                    <a16:creationId xmlns:a16="http://schemas.microsoft.com/office/drawing/2014/main" id="{634F81CB-C83B-9320-F728-AF841D52E84C}"/>
                  </a:ext>
                </a:extLst>
              </p:cNvPr>
              <p:cNvSpPr txBox="1"/>
              <p:nvPr/>
            </p:nvSpPr>
            <p:spPr>
              <a:xfrm>
                <a:off x="9348419" y="3520895"/>
                <a:ext cx="9490276" cy="1107996"/>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dirty="0"/>
                  <a:t>Device primarily generates data for consumption by other devices (slave) or needs to collect and process data from peripherals (master).</a:t>
                </a:r>
                <a:endParaRPr lang="en-DE" dirty="0"/>
              </a:p>
            </p:txBody>
          </p:sp>
        </p:grpSp>
        <p:pic>
          <p:nvPicPr>
            <p:cNvPr id="9" name="Picture 8">
              <a:extLst>
                <a:ext uri="{FF2B5EF4-FFF2-40B4-BE49-F238E27FC236}">
                  <a16:creationId xmlns:a16="http://schemas.microsoft.com/office/drawing/2014/main" id="{32328F63-CD78-B32F-930A-6CD681FF8557}"/>
                </a:ext>
              </a:extLst>
            </p:cNvPr>
            <p:cNvPicPr>
              <a:picLocks noChangeAspect="1"/>
            </p:cNvPicPr>
            <p:nvPr/>
          </p:nvPicPr>
          <p:blipFill>
            <a:blip r:embed="rId2"/>
            <a:srcRect l="46036" t="44787" r="48907" b="38863"/>
            <a:stretch>
              <a:fillRect/>
            </a:stretch>
          </p:blipFill>
          <p:spPr>
            <a:xfrm>
              <a:off x="7748812" y="4920991"/>
              <a:ext cx="853936" cy="1219200"/>
            </a:xfrm>
            <a:prstGeom prst="rect">
              <a:avLst/>
            </a:prstGeom>
          </p:spPr>
        </p:pic>
      </p:grpSp>
      <p:grpSp>
        <p:nvGrpSpPr>
          <p:cNvPr id="14" name="Group 3">
            <a:extLst>
              <a:ext uri="{FF2B5EF4-FFF2-40B4-BE49-F238E27FC236}">
                <a16:creationId xmlns:a16="http://schemas.microsoft.com/office/drawing/2014/main" id="{58E8DB70-D493-780B-A742-2A79FDDBA2BD}"/>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D1158FF2-A999-EE38-BB1C-27EB44E8DD25}"/>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E78E2535-647F-2037-5C3C-7E2134F2D0E1}"/>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8" name="Group 7">
            <a:extLst>
              <a:ext uri="{FF2B5EF4-FFF2-40B4-BE49-F238E27FC236}">
                <a16:creationId xmlns:a16="http://schemas.microsoft.com/office/drawing/2014/main" id="{1FF7FC40-C70A-404F-2480-E87BCF8133E8}"/>
              </a:ext>
            </a:extLst>
          </p:cNvPr>
          <p:cNvGrpSpPr/>
          <p:nvPr/>
        </p:nvGrpSpPr>
        <p:grpSpPr>
          <a:xfrm>
            <a:off x="7161969" y="3063701"/>
            <a:ext cx="10687943" cy="1488977"/>
            <a:chOff x="7161969" y="3063701"/>
            <a:chExt cx="10687943" cy="1488977"/>
          </a:xfrm>
        </p:grpSpPr>
        <p:pic>
          <p:nvPicPr>
            <p:cNvPr id="7" name="Picture 6">
              <a:extLst>
                <a:ext uri="{FF2B5EF4-FFF2-40B4-BE49-F238E27FC236}">
                  <a16:creationId xmlns:a16="http://schemas.microsoft.com/office/drawing/2014/main" id="{C63F3970-7AEF-C754-5177-2ADCB244D46C}"/>
                </a:ext>
              </a:extLst>
            </p:cNvPr>
            <p:cNvPicPr>
              <a:picLocks noChangeAspect="1"/>
            </p:cNvPicPr>
            <p:nvPr/>
          </p:nvPicPr>
          <p:blipFill>
            <a:blip r:embed="rId2"/>
            <a:srcRect l="45689" t="21671" r="48444" b="59831"/>
            <a:stretch>
              <a:fillRect/>
            </a:stretch>
          </p:blipFill>
          <p:spPr>
            <a:xfrm>
              <a:off x="7161969" y="3153044"/>
              <a:ext cx="990600" cy="1379385"/>
            </a:xfrm>
            <a:prstGeom prst="rect">
              <a:avLst/>
            </a:prstGeom>
          </p:spPr>
        </p:pic>
        <p:grpSp>
          <p:nvGrpSpPr>
            <p:cNvPr id="26" name="Group 25">
              <a:extLst>
                <a:ext uri="{FF2B5EF4-FFF2-40B4-BE49-F238E27FC236}">
                  <a16:creationId xmlns:a16="http://schemas.microsoft.com/office/drawing/2014/main" id="{6354CB77-D1E7-E111-2545-41DF54A79EDE}"/>
                </a:ext>
              </a:extLst>
            </p:cNvPr>
            <p:cNvGrpSpPr/>
            <p:nvPr/>
          </p:nvGrpSpPr>
          <p:grpSpPr>
            <a:xfrm>
              <a:off x="8131036" y="3063701"/>
              <a:ext cx="9718876" cy="1018981"/>
              <a:chOff x="9351862" y="2898675"/>
              <a:chExt cx="9718876" cy="1018981"/>
            </a:xfrm>
          </p:grpSpPr>
          <p:sp>
            <p:nvSpPr>
              <p:cNvPr id="18" name="TextBox 13">
                <a:extLst>
                  <a:ext uri="{FF2B5EF4-FFF2-40B4-BE49-F238E27FC236}">
                    <a16:creationId xmlns:a16="http://schemas.microsoft.com/office/drawing/2014/main" id="{2704AD0D-5FEB-3FAF-94FD-0A29FA3B06E3}"/>
                  </a:ext>
                </a:extLst>
              </p:cNvPr>
              <p:cNvSpPr txBox="1"/>
              <p:nvPr/>
            </p:nvSpPr>
            <p:spPr>
              <a:xfrm>
                <a:off x="10970126" y="2898675"/>
                <a:ext cx="432801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Energy Efficiency</a:t>
                </a:r>
              </a:p>
            </p:txBody>
          </p:sp>
          <p:sp>
            <p:nvSpPr>
              <p:cNvPr id="25" name="TextBox 14">
                <a:extLst>
                  <a:ext uri="{FF2B5EF4-FFF2-40B4-BE49-F238E27FC236}">
                    <a16:creationId xmlns:a16="http://schemas.microsoft.com/office/drawing/2014/main" id="{4EBBCB0A-BCDF-8BEA-3EFC-BC4BDD0C14ED}"/>
                  </a:ext>
                </a:extLst>
              </p:cNvPr>
              <p:cNvSpPr txBox="1"/>
              <p:nvPr/>
            </p:nvSpPr>
            <p:spPr>
              <a:xfrm>
                <a:off x="9351862" y="3548324"/>
                <a:ext cx="9718876" cy="369332"/>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dirty="0"/>
                  <a:t>Determine if energy conservation is a top priority for our device.</a:t>
                </a:r>
              </a:p>
            </p:txBody>
          </p:sp>
        </p:grpSp>
        <p:grpSp>
          <p:nvGrpSpPr>
            <p:cNvPr id="36" name="Group 35">
              <a:extLst>
                <a:ext uri="{FF2B5EF4-FFF2-40B4-BE49-F238E27FC236}">
                  <a16:creationId xmlns:a16="http://schemas.microsoft.com/office/drawing/2014/main" id="{A185AF8B-43E3-287A-404E-41E93DEE8D04}"/>
                </a:ext>
              </a:extLst>
            </p:cNvPr>
            <p:cNvGrpSpPr/>
            <p:nvPr/>
          </p:nvGrpSpPr>
          <p:grpSpPr>
            <a:xfrm>
              <a:off x="10533384" y="4062803"/>
              <a:ext cx="3252484" cy="489875"/>
              <a:chOff x="10329488" y="4049209"/>
              <a:chExt cx="3252484" cy="489875"/>
            </a:xfrm>
          </p:grpSpPr>
          <p:pic>
            <p:nvPicPr>
              <p:cNvPr id="10" name="Graphic 9" descr="Checkmark with solid fill">
                <a:extLst>
                  <a:ext uri="{FF2B5EF4-FFF2-40B4-BE49-F238E27FC236}">
                    <a16:creationId xmlns:a16="http://schemas.microsoft.com/office/drawing/2014/main" id="{45AE1BE6-EB32-046D-21AA-46F1FF8B97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29488" y="4049209"/>
                <a:ext cx="489875" cy="489875"/>
              </a:xfrm>
              <a:prstGeom prst="rect">
                <a:avLst/>
              </a:prstGeom>
            </p:spPr>
          </p:pic>
          <p:sp>
            <p:nvSpPr>
              <p:cNvPr id="20" name="TextBox 14">
                <a:extLst>
                  <a:ext uri="{FF2B5EF4-FFF2-40B4-BE49-F238E27FC236}">
                    <a16:creationId xmlns:a16="http://schemas.microsoft.com/office/drawing/2014/main" id="{7C47FDC0-32C3-8D70-82C4-BB46C1A2F0C7}"/>
                  </a:ext>
                </a:extLst>
              </p:cNvPr>
              <p:cNvSpPr txBox="1"/>
              <p:nvPr/>
            </p:nvSpPr>
            <p:spPr>
              <a:xfrm>
                <a:off x="10819363" y="4226326"/>
                <a:ext cx="2762609" cy="276999"/>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sz="1800" dirty="0">
                    <a:sym typeface="Poppins Bold"/>
                  </a:rPr>
                  <a:t>Slave BLE-module</a:t>
                </a:r>
              </a:p>
            </p:txBody>
          </p:sp>
        </p:grpSp>
      </p:grpSp>
      <p:grpSp>
        <p:nvGrpSpPr>
          <p:cNvPr id="12" name="Group 11">
            <a:extLst>
              <a:ext uri="{FF2B5EF4-FFF2-40B4-BE49-F238E27FC236}">
                <a16:creationId xmlns:a16="http://schemas.microsoft.com/office/drawing/2014/main" id="{0971EEFE-263C-24DB-EA7B-AC6D5E278128}"/>
              </a:ext>
            </a:extLst>
          </p:cNvPr>
          <p:cNvGrpSpPr/>
          <p:nvPr/>
        </p:nvGrpSpPr>
        <p:grpSpPr>
          <a:xfrm>
            <a:off x="7298888" y="6762392"/>
            <a:ext cx="9236510" cy="1547686"/>
            <a:chOff x="7298888" y="6762392"/>
            <a:chExt cx="9236510" cy="1547686"/>
          </a:xfrm>
        </p:grpSpPr>
        <p:grpSp>
          <p:nvGrpSpPr>
            <p:cNvPr id="30" name="Group 29">
              <a:extLst>
                <a:ext uri="{FF2B5EF4-FFF2-40B4-BE49-F238E27FC236}">
                  <a16:creationId xmlns:a16="http://schemas.microsoft.com/office/drawing/2014/main" id="{82D3DC4F-3D1B-089E-F1A9-6C2B52EAD3A0}"/>
                </a:ext>
              </a:extLst>
            </p:cNvPr>
            <p:cNvGrpSpPr/>
            <p:nvPr/>
          </p:nvGrpSpPr>
          <p:grpSpPr>
            <a:xfrm>
              <a:off x="8245335" y="6834454"/>
              <a:ext cx="8290063" cy="1034772"/>
              <a:chOff x="9324101" y="2898675"/>
              <a:chExt cx="8290063" cy="1034772"/>
            </a:xfrm>
          </p:grpSpPr>
          <p:sp>
            <p:nvSpPr>
              <p:cNvPr id="31" name="TextBox 13">
                <a:extLst>
                  <a:ext uri="{FF2B5EF4-FFF2-40B4-BE49-F238E27FC236}">
                    <a16:creationId xmlns:a16="http://schemas.microsoft.com/office/drawing/2014/main" id="{B38381DD-53DA-0D68-4BEF-F45C9F51AA76}"/>
                  </a:ext>
                </a:extLst>
              </p:cNvPr>
              <p:cNvSpPr txBox="1"/>
              <p:nvPr/>
            </p:nvSpPr>
            <p:spPr>
              <a:xfrm>
                <a:off x="10970126" y="2898675"/>
                <a:ext cx="432801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Connectivity</a:t>
                </a:r>
              </a:p>
            </p:txBody>
          </p:sp>
          <p:sp>
            <p:nvSpPr>
              <p:cNvPr id="32" name="TextBox 14">
                <a:extLst>
                  <a:ext uri="{FF2B5EF4-FFF2-40B4-BE49-F238E27FC236}">
                    <a16:creationId xmlns:a16="http://schemas.microsoft.com/office/drawing/2014/main" id="{6C0E1B2E-6AC8-2BB2-D1E9-C30A83A93683}"/>
                  </a:ext>
                </a:extLst>
              </p:cNvPr>
              <p:cNvSpPr txBox="1"/>
              <p:nvPr/>
            </p:nvSpPr>
            <p:spPr>
              <a:xfrm>
                <a:off x="9324101" y="3564115"/>
                <a:ext cx="8290063" cy="369332"/>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dirty="0"/>
                  <a:t>device needs to connect with multiple other devices.</a:t>
                </a:r>
                <a:endParaRPr lang="en-US" dirty="0">
                  <a:sym typeface="Poppins Bold"/>
                </a:endParaRPr>
              </a:p>
            </p:txBody>
          </p:sp>
        </p:grpSp>
        <p:pic>
          <p:nvPicPr>
            <p:cNvPr id="11" name="Picture 10">
              <a:extLst>
                <a:ext uri="{FF2B5EF4-FFF2-40B4-BE49-F238E27FC236}">
                  <a16:creationId xmlns:a16="http://schemas.microsoft.com/office/drawing/2014/main" id="{885475CE-ACEB-5D1D-02F2-6AD4B3F4E0F7}"/>
                </a:ext>
              </a:extLst>
            </p:cNvPr>
            <p:cNvPicPr>
              <a:picLocks noChangeAspect="1"/>
            </p:cNvPicPr>
            <p:nvPr/>
          </p:nvPicPr>
          <p:blipFill>
            <a:blip r:embed="rId2"/>
            <a:srcRect l="46315" t="68884" r="48080" b="12082"/>
            <a:stretch>
              <a:fillRect/>
            </a:stretch>
          </p:blipFill>
          <p:spPr>
            <a:xfrm>
              <a:off x="7298888" y="6762392"/>
              <a:ext cx="946448" cy="1419374"/>
            </a:xfrm>
            <a:prstGeom prst="rect">
              <a:avLst/>
            </a:prstGeom>
          </p:spPr>
        </p:pic>
        <p:grpSp>
          <p:nvGrpSpPr>
            <p:cNvPr id="35" name="Group 34">
              <a:extLst>
                <a:ext uri="{FF2B5EF4-FFF2-40B4-BE49-F238E27FC236}">
                  <a16:creationId xmlns:a16="http://schemas.microsoft.com/office/drawing/2014/main" id="{FCF3BA16-EC76-9079-5785-F3F3D24E756A}"/>
                </a:ext>
              </a:extLst>
            </p:cNvPr>
            <p:cNvGrpSpPr/>
            <p:nvPr/>
          </p:nvGrpSpPr>
          <p:grpSpPr>
            <a:xfrm>
              <a:off x="11239563" y="7820203"/>
              <a:ext cx="1347484" cy="489875"/>
              <a:chOff x="10481888" y="4201609"/>
              <a:chExt cx="1339915" cy="489875"/>
            </a:xfrm>
          </p:grpSpPr>
          <p:pic>
            <p:nvPicPr>
              <p:cNvPr id="24" name="Graphic 23" descr="Checkmark with solid fill">
                <a:extLst>
                  <a:ext uri="{FF2B5EF4-FFF2-40B4-BE49-F238E27FC236}">
                    <a16:creationId xmlns:a16="http://schemas.microsoft.com/office/drawing/2014/main" id="{E70DF825-E936-463B-7F34-E200317ED3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81888" y="4201609"/>
                <a:ext cx="489875" cy="489875"/>
              </a:xfrm>
              <a:prstGeom prst="rect">
                <a:avLst/>
              </a:prstGeom>
            </p:spPr>
          </p:pic>
          <p:sp>
            <p:nvSpPr>
              <p:cNvPr id="34" name="TextBox 14">
                <a:extLst>
                  <a:ext uri="{FF2B5EF4-FFF2-40B4-BE49-F238E27FC236}">
                    <a16:creationId xmlns:a16="http://schemas.microsoft.com/office/drawing/2014/main" id="{9E88E85F-AAB8-E05E-A4BA-4660AC8F5604}"/>
                  </a:ext>
                </a:extLst>
              </p:cNvPr>
              <p:cNvSpPr txBox="1"/>
              <p:nvPr/>
            </p:nvSpPr>
            <p:spPr>
              <a:xfrm>
                <a:off x="10971763" y="4378726"/>
                <a:ext cx="850040" cy="276999"/>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sz="1800" dirty="0">
                    <a:sym typeface="Poppins Bold"/>
                  </a:rPr>
                  <a:t>Master</a:t>
                </a:r>
              </a:p>
            </p:txBody>
          </p:sp>
        </p:grpSp>
      </p:grpSp>
      <p:sp>
        <p:nvSpPr>
          <p:cNvPr id="21" name="Slide Number Placeholder 20">
            <a:extLst>
              <a:ext uri="{FF2B5EF4-FFF2-40B4-BE49-F238E27FC236}">
                <a16:creationId xmlns:a16="http://schemas.microsoft.com/office/drawing/2014/main" id="{52590E08-999B-A57F-361C-3F273C9F80DB}"/>
              </a:ext>
            </a:extLst>
          </p:cNvPr>
          <p:cNvSpPr>
            <a:spLocks noGrp="1"/>
          </p:cNvSpPr>
          <p:nvPr>
            <p:ph type="sldNum" sz="quarter" idx="12"/>
          </p:nvPr>
        </p:nvSpPr>
        <p:spPr/>
        <p:txBody>
          <a:bodyPr/>
          <a:lstStyle/>
          <a:p>
            <a:fld id="{B6F15528-21DE-4FAA-801E-634DDDAF4B2B}" type="slidenum">
              <a:rPr lang="en-US" smtClean="0"/>
              <a:pPr/>
              <a:t>30</a:t>
            </a:fld>
            <a:endParaRPr lang="en-US" sz="1800"/>
          </a:p>
        </p:txBody>
      </p:sp>
    </p:spTree>
    <p:extLst>
      <p:ext uri="{BB962C8B-B14F-4D97-AF65-F5344CB8AC3E}">
        <p14:creationId xmlns:p14="http://schemas.microsoft.com/office/powerpoint/2010/main" val="988322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0EE4F-4CED-215D-DAAC-A34DE2B1DF20}"/>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50D0D40C-8C25-C7CE-E08A-B3B413CE9980}"/>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GAP Roles</a:t>
            </a:r>
          </a:p>
        </p:txBody>
      </p:sp>
      <p:grpSp>
        <p:nvGrpSpPr>
          <p:cNvPr id="15" name="Group 3">
            <a:extLst>
              <a:ext uri="{FF2B5EF4-FFF2-40B4-BE49-F238E27FC236}">
                <a16:creationId xmlns:a16="http://schemas.microsoft.com/office/drawing/2014/main" id="{F5B2444F-0C93-27D9-828C-FE2C072CDB9B}"/>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7D3CC0A1-8521-B4B9-1512-BC43FE23073F}"/>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640640EE-8458-FD8B-2219-6A0372BD7C97}"/>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BE2503A5-AE94-131E-AB24-34C688FF3552}"/>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5A7C22D8-C865-75CD-788E-82E7B3AD5DCA}"/>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244E0356-FF21-CC07-40D1-62147CAE6789}"/>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Slide Number Placeholder 8">
            <a:extLst>
              <a:ext uri="{FF2B5EF4-FFF2-40B4-BE49-F238E27FC236}">
                <a16:creationId xmlns:a16="http://schemas.microsoft.com/office/drawing/2014/main" id="{F3D64ADD-5A13-B605-970C-B0E1E1C15E20}"/>
              </a:ext>
            </a:extLst>
          </p:cNvPr>
          <p:cNvSpPr>
            <a:spLocks noGrp="1"/>
          </p:cNvSpPr>
          <p:nvPr>
            <p:ph type="sldNum" sz="quarter" idx="12"/>
          </p:nvPr>
        </p:nvSpPr>
        <p:spPr/>
        <p:txBody>
          <a:bodyPr/>
          <a:lstStyle/>
          <a:p>
            <a:fld id="{B6F15528-21DE-4FAA-801E-634DDDAF4B2B}" type="slidenum">
              <a:rPr lang="en-US" smtClean="0"/>
              <a:pPr/>
              <a:t>31</a:t>
            </a:fld>
            <a:endParaRPr lang="en-US" sz="1800"/>
          </a:p>
        </p:txBody>
      </p:sp>
      <p:grpSp>
        <p:nvGrpSpPr>
          <p:cNvPr id="3" name="Group 2">
            <a:extLst>
              <a:ext uri="{FF2B5EF4-FFF2-40B4-BE49-F238E27FC236}">
                <a16:creationId xmlns:a16="http://schemas.microsoft.com/office/drawing/2014/main" id="{6E4D4D18-5205-26F2-11DA-D073577F7FAE}"/>
              </a:ext>
            </a:extLst>
          </p:cNvPr>
          <p:cNvGrpSpPr/>
          <p:nvPr/>
        </p:nvGrpSpPr>
        <p:grpSpPr>
          <a:xfrm>
            <a:off x="9635067" y="2803877"/>
            <a:ext cx="4498622" cy="6628265"/>
            <a:chOff x="9635067" y="2803877"/>
            <a:chExt cx="4498622" cy="6628265"/>
          </a:xfrm>
        </p:grpSpPr>
        <p:grpSp>
          <p:nvGrpSpPr>
            <p:cNvPr id="24" name="Group 23">
              <a:extLst>
                <a:ext uri="{FF2B5EF4-FFF2-40B4-BE49-F238E27FC236}">
                  <a16:creationId xmlns:a16="http://schemas.microsoft.com/office/drawing/2014/main" id="{24DC6B06-2958-80C4-C8C1-1DDEB2FA476F}"/>
                </a:ext>
              </a:extLst>
            </p:cNvPr>
            <p:cNvGrpSpPr/>
            <p:nvPr/>
          </p:nvGrpSpPr>
          <p:grpSpPr>
            <a:xfrm>
              <a:off x="9635067" y="4430259"/>
              <a:ext cx="4498622" cy="5001883"/>
              <a:chOff x="9635067" y="4430259"/>
              <a:chExt cx="4498622" cy="5001883"/>
            </a:xfrm>
          </p:grpSpPr>
          <p:sp>
            <p:nvSpPr>
              <p:cNvPr id="8" name="TextBox 8">
                <a:extLst>
                  <a:ext uri="{FF2B5EF4-FFF2-40B4-BE49-F238E27FC236}">
                    <a16:creationId xmlns:a16="http://schemas.microsoft.com/office/drawing/2014/main" id="{A0B6DF7E-5E8E-A182-419C-5ADB0BE07772}"/>
                  </a:ext>
                </a:extLst>
              </p:cNvPr>
              <p:cNvSpPr txBox="1"/>
              <p:nvPr/>
            </p:nvSpPr>
            <p:spPr>
              <a:xfrm>
                <a:off x="10615079" y="4430259"/>
                <a:ext cx="2157599" cy="511679"/>
              </a:xfrm>
              <a:prstGeom prst="rect">
                <a:avLst/>
              </a:prstGeom>
            </p:spPr>
            <p:txBody>
              <a:bodyPr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Observer</a:t>
                </a:r>
              </a:p>
            </p:txBody>
          </p:sp>
          <p:sp>
            <p:nvSpPr>
              <p:cNvPr id="13" name="TextBox 13">
                <a:extLst>
                  <a:ext uri="{FF2B5EF4-FFF2-40B4-BE49-F238E27FC236}">
                    <a16:creationId xmlns:a16="http://schemas.microsoft.com/office/drawing/2014/main" id="{6C42F4D0-1107-58A0-2221-9BBB6CA1649A}"/>
                  </a:ext>
                </a:extLst>
              </p:cNvPr>
              <p:cNvSpPr txBox="1"/>
              <p:nvPr/>
            </p:nvSpPr>
            <p:spPr>
              <a:xfrm>
                <a:off x="9826978" y="5005334"/>
                <a:ext cx="373380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rgbClr val="303642"/>
                    </a:solidFill>
                    <a:latin typeface="Poppins Bold"/>
                    <a:ea typeface="Poppins Bold"/>
                    <a:cs typeface="Poppins Bold"/>
                    <a:sym typeface="Poppins Bold"/>
                  </a:rPr>
                  <a:t>Connection-less</a:t>
                </a:r>
              </a:p>
            </p:txBody>
          </p:sp>
          <p:sp>
            <p:nvSpPr>
              <p:cNvPr id="14" name="TextBox 14">
                <a:extLst>
                  <a:ext uri="{FF2B5EF4-FFF2-40B4-BE49-F238E27FC236}">
                    <a16:creationId xmlns:a16="http://schemas.microsoft.com/office/drawing/2014/main" id="{F1FFC30A-3AAB-AFF8-481C-FD7635898759}"/>
                  </a:ext>
                </a:extLst>
              </p:cNvPr>
              <p:cNvSpPr txBox="1"/>
              <p:nvPr/>
            </p:nvSpPr>
            <p:spPr>
              <a:xfrm>
                <a:off x="9635067" y="7954814"/>
                <a:ext cx="4498622" cy="1477328"/>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dirty="0"/>
                  <a:t>Smartphone app scans for beacons to detect nearby stores but does not connect to them.</a:t>
                </a:r>
                <a:endParaRPr lang="en-US" dirty="0">
                  <a:sym typeface="Poppins Bold"/>
                </a:endParaRPr>
              </a:p>
            </p:txBody>
          </p:sp>
          <p:sp>
            <p:nvSpPr>
              <p:cNvPr id="19" name="Rectangle: Rounded Corners 18">
                <a:extLst>
                  <a:ext uri="{FF2B5EF4-FFF2-40B4-BE49-F238E27FC236}">
                    <a16:creationId xmlns:a16="http://schemas.microsoft.com/office/drawing/2014/main" id="{D44C550A-4DA6-345F-3B6F-B136FD405145}"/>
                  </a:ext>
                </a:extLst>
              </p:cNvPr>
              <p:cNvSpPr/>
              <p:nvPr/>
            </p:nvSpPr>
            <p:spPr>
              <a:xfrm>
                <a:off x="9826978" y="5691885"/>
                <a:ext cx="3965222" cy="1169776"/>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latin typeface="Poppins" panose="00000500000000000000" pitchFamily="2" charset="0"/>
                    <a:ea typeface="Poppins Bold"/>
                    <a:cs typeface="Poppins" panose="00000500000000000000" pitchFamily="2" charset="0"/>
                    <a:sym typeface="Poppins Bold"/>
                  </a:rPr>
                  <a:t>Listens for Bluetooth advertisements but cannot connect to other devices.</a:t>
                </a:r>
              </a:p>
            </p:txBody>
          </p:sp>
          <p:sp>
            <p:nvSpPr>
              <p:cNvPr id="22" name="Arrow: Down 21">
                <a:extLst>
                  <a:ext uri="{FF2B5EF4-FFF2-40B4-BE49-F238E27FC236}">
                    <a16:creationId xmlns:a16="http://schemas.microsoft.com/office/drawing/2014/main" id="{B7ED61DD-8495-75F2-CC2C-1D469F8F3629}"/>
                  </a:ext>
                </a:extLst>
              </p:cNvPr>
              <p:cNvSpPr/>
              <p:nvPr/>
            </p:nvSpPr>
            <p:spPr>
              <a:xfrm>
                <a:off x="11503378" y="7035324"/>
                <a:ext cx="381000" cy="738664"/>
              </a:xfrm>
              <a:prstGeom prst="down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DE"/>
              </a:p>
            </p:txBody>
          </p:sp>
        </p:grpSp>
        <p:pic>
          <p:nvPicPr>
            <p:cNvPr id="28" name="Picture 27">
              <a:extLst>
                <a:ext uri="{FF2B5EF4-FFF2-40B4-BE49-F238E27FC236}">
                  <a16:creationId xmlns:a16="http://schemas.microsoft.com/office/drawing/2014/main" id="{054CB40E-64F9-F05D-5D37-8160A7DC8D64}"/>
                </a:ext>
              </a:extLst>
            </p:cNvPr>
            <p:cNvPicPr>
              <a:picLocks noChangeAspect="1"/>
            </p:cNvPicPr>
            <p:nvPr/>
          </p:nvPicPr>
          <p:blipFill>
            <a:blip r:embed="rId3"/>
            <a:stretch>
              <a:fillRect/>
            </a:stretch>
          </p:blipFill>
          <p:spPr>
            <a:xfrm>
              <a:off x="10999404" y="2803877"/>
              <a:ext cx="1390650" cy="1390650"/>
            </a:xfrm>
            <a:prstGeom prst="rect">
              <a:avLst/>
            </a:prstGeom>
          </p:spPr>
        </p:pic>
      </p:grpSp>
      <p:grpSp>
        <p:nvGrpSpPr>
          <p:cNvPr id="2" name="Group 1">
            <a:extLst>
              <a:ext uri="{FF2B5EF4-FFF2-40B4-BE49-F238E27FC236}">
                <a16:creationId xmlns:a16="http://schemas.microsoft.com/office/drawing/2014/main" id="{A336F2AF-9BE3-AE71-D892-5BD29D865671}"/>
              </a:ext>
            </a:extLst>
          </p:cNvPr>
          <p:cNvGrpSpPr/>
          <p:nvPr/>
        </p:nvGrpSpPr>
        <p:grpSpPr>
          <a:xfrm>
            <a:off x="3816059" y="2807301"/>
            <a:ext cx="5261266" cy="6312695"/>
            <a:chOff x="3816059" y="2807301"/>
            <a:chExt cx="5261266" cy="6312695"/>
          </a:xfrm>
        </p:grpSpPr>
        <p:grpSp>
          <p:nvGrpSpPr>
            <p:cNvPr id="23" name="Group 22">
              <a:extLst>
                <a:ext uri="{FF2B5EF4-FFF2-40B4-BE49-F238E27FC236}">
                  <a16:creationId xmlns:a16="http://schemas.microsoft.com/office/drawing/2014/main" id="{41D1439B-3AE9-C6A6-B6E8-65FC2E111BCF}"/>
                </a:ext>
              </a:extLst>
            </p:cNvPr>
            <p:cNvGrpSpPr/>
            <p:nvPr/>
          </p:nvGrpSpPr>
          <p:grpSpPr>
            <a:xfrm>
              <a:off x="3816059" y="4444960"/>
              <a:ext cx="5261266" cy="4675036"/>
              <a:chOff x="3816059" y="4444960"/>
              <a:chExt cx="5261266" cy="4675036"/>
            </a:xfrm>
          </p:grpSpPr>
          <p:sp>
            <p:nvSpPr>
              <p:cNvPr id="7" name="TextBox 7">
                <a:extLst>
                  <a:ext uri="{FF2B5EF4-FFF2-40B4-BE49-F238E27FC236}">
                    <a16:creationId xmlns:a16="http://schemas.microsoft.com/office/drawing/2014/main" id="{B4981CAC-2B97-A9A0-EBA9-B8B3063E94EC}"/>
                  </a:ext>
                </a:extLst>
              </p:cNvPr>
              <p:cNvSpPr txBox="1"/>
              <p:nvPr/>
            </p:nvSpPr>
            <p:spPr>
              <a:xfrm>
                <a:off x="4406900" y="4444960"/>
                <a:ext cx="313690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Broadcaster</a:t>
                </a:r>
              </a:p>
            </p:txBody>
          </p:sp>
          <p:sp>
            <p:nvSpPr>
              <p:cNvPr id="11" name="TextBox 11">
                <a:extLst>
                  <a:ext uri="{FF2B5EF4-FFF2-40B4-BE49-F238E27FC236}">
                    <a16:creationId xmlns:a16="http://schemas.microsoft.com/office/drawing/2014/main" id="{C84DC2AC-F3B9-66D7-5390-3DC11374FDBF}"/>
                  </a:ext>
                </a:extLst>
              </p:cNvPr>
              <p:cNvSpPr txBox="1"/>
              <p:nvPr/>
            </p:nvSpPr>
            <p:spPr>
              <a:xfrm>
                <a:off x="3816059" y="8012000"/>
                <a:ext cx="5261266" cy="1107996"/>
              </a:xfrm>
              <a:prstGeom prst="rect">
                <a:avLst/>
              </a:prstGeom>
            </p:spPr>
            <p:txBody>
              <a:bodyPr wrap="square" lIns="0" tIns="0" rIns="0" bIns="0" rtlCol="0" anchor="t">
                <a:spAutoFit/>
              </a:bodyPr>
              <a:lstStyle/>
              <a:p>
                <a:pPr>
                  <a:spcBef>
                    <a:spcPct val="0"/>
                  </a:spcBef>
                </a:pPr>
                <a:r>
                  <a:rPr lang="en-US" sz="2400" dirty="0">
                    <a:solidFill>
                      <a:srgbClr val="303642"/>
                    </a:solidFill>
                    <a:latin typeface="Poppins" panose="00000500000000000000" pitchFamily="2" charset="0"/>
                    <a:ea typeface="Poppins Bold"/>
                    <a:cs typeface="Poppins" panose="00000500000000000000" pitchFamily="2" charset="0"/>
                    <a:sym typeface="Poppins Bold"/>
                  </a:rPr>
                  <a:t>In a mall, phones can receive discount offers but cannot connect to the </a:t>
                </a:r>
                <a:r>
                  <a:rPr lang="en-US" sz="2400" b="1" dirty="0">
                    <a:solidFill>
                      <a:srgbClr val="303642"/>
                    </a:solidFill>
                    <a:latin typeface="Poppins" panose="00000500000000000000" pitchFamily="2" charset="0"/>
                    <a:ea typeface="Poppins Bold"/>
                    <a:cs typeface="Poppins" panose="00000500000000000000" pitchFamily="2" charset="0"/>
                    <a:sym typeface="Poppins Bold"/>
                  </a:rPr>
                  <a:t>beacon</a:t>
                </a:r>
                <a:r>
                  <a:rPr lang="en-US" sz="2400" dirty="0">
                    <a:solidFill>
                      <a:srgbClr val="303642"/>
                    </a:solidFill>
                    <a:latin typeface="Poppins" panose="00000500000000000000" pitchFamily="2" charset="0"/>
                    <a:ea typeface="Poppins Bold"/>
                    <a:cs typeface="Poppins" panose="00000500000000000000" pitchFamily="2" charset="0"/>
                    <a:sym typeface="Poppins Bold"/>
                  </a:rPr>
                  <a:t>.</a:t>
                </a:r>
              </a:p>
            </p:txBody>
          </p:sp>
          <p:sp>
            <p:nvSpPr>
              <p:cNvPr id="12" name="TextBox 12">
                <a:extLst>
                  <a:ext uri="{FF2B5EF4-FFF2-40B4-BE49-F238E27FC236}">
                    <a16:creationId xmlns:a16="http://schemas.microsoft.com/office/drawing/2014/main" id="{546CA1A9-9CA7-E7F7-B74F-33ABB73A5D4F}"/>
                  </a:ext>
                </a:extLst>
              </p:cNvPr>
              <p:cNvSpPr txBox="1"/>
              <p:nvPr/>
            </p:nvSpPr>
            <p:spPr>
              <a:xfrm>
                <a:off x="3916171" y="5005335"/>
                <a:ext cx="4064542"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rgbClr val="303642"/>
                    </a:solidFill>
                    <a:latin typeface="Poppins Bold"/>
                    <a:ea typeface="Poppins Bold"/>
                    <a:cs typeface="Poppins Bold"/>
                    <a:sym typeface="Poppins Bold"/>
                  </a:rPr>
                  <a:t>Connection-less</a:t>
                </a:r>
              </a:p>
            </p:txBody>
          </p:sp>
          <p:sp>
            <p:nvSpPr>
              <p:cNvPr id="17" name="Rectangle: Rounded Corners 16">
                <a:extLst>
                  <a:ext uri="{FF2B5EF4-FFF2-40B4-BE49-F238E27FC236}">
                    <a16:creationId xmlns:a16="http://schemas.microsoft.com/office/drawing/2014/main" id="{0266776F-58EC-50C5-B8BA-963468AB6591}"/>
                  </a:ext>
                </a:extLst>
              </p:cNvPr>
              <p:cNvSpPr/>
              <p:nvPr/>
            </p:nvSpPr>
            <p:spPr>
              <a:xfrm>
                <a:off x="4081542" y="5693780"/>
                <a:ext cx="3733800" cy="1169776"/>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latin typeface="Poppins" panose="00000500000000000000" pitchFamily="2" charset="0"/>
                    <a:ea typeface="Poppins Bold"/>
                    <a:cs typeface="Poppins" panose="00000500000000000000" pitchFamily="2" charset="0"/>
                    <a:sym typeface="Poppins Bold"/>
                  </a:rPr>
                  <a:t>Sends out information but can’t be connected to</a:t>
                </a:r>
              </a:p>
            </p:txBody>
          </p:sp>
          <p:sp>
            <p:nvSpPr>
              <p:cNvPr id="20" name="Arrow: Down 19">
                <a:extLst>
                  <a:ext uri="{FF2B5EF4-FFF2-40B4-BE49-F238E27FC236}">
                    <a16:creationId xmlns:a16="http://schemas.microsoft.com/office/drawing/2014/main" id="{237E942F-56C1-446A-2A58-7E5053C757B9}"/>
                  </a:ext>
                </a:extLst>
              </p:cNvPr>
              <p:cNvSpPr/>
              <p:nvPr/>
            </p:nvSpPr>
            <p:spPr>
              <a:xfrm>
                <a:off x="5791200" y="7035324"/>
                <a:ext cx="381000" cy="738664"/>
              </a:xfrm>
              <a:prstGeom prst="down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DE"/>
              </a:p>
            </p:txBody>
          </p:sp>
        </p:grpSp>
        <p:pic>
          <p:nvPicPr>
            <p:cNvPr id="29" name="Picture 28">
              <a:extLst>
                <a:ext uri="{FF2B5EF4-FFF2-40B4-BE49-F238E27FC236}">
                  <a16:creationId xmlns:a16="http://schemas.microsoft.com/office/drawing/2014/main" id="{AB6355DA-DAF2-6B0C-EE9D-46B4D4371E10}"/>
                </a:ext>
              </a:extLst>
            </p:cNvPr>
            <p:cNvPicPr>
              <a:picLocks noChangeAspect="1"/>
            </p:cNvPicPr>
            <p:nvPr/>
          </p:nvPicPr>
          <p:blipFill>
            <a:blip r:embed="rId4"/>
            <a:stretch>
              <a:fillRect/>
            </a:stretch>
          </p:blipFill>
          <p:spPr>
            <a:xfrm>
              <a:off x="5286375" y="2807301"/>
              <a:ext cx="1390650" cy="1390650"/>
            </a:xfrm>
            <a:prstGeom prst="rect">
              <a:avLst/>
            </a:prstGeom>
          </p:spPr>
        </p:pic>
      </p:grpSp>
      <p:sp>
        <p:nvSpPr>
          <p:cNvPr id="31" name="TextBox 14">
            <a:extLst>
              <a:ext uri="{FF2B5EF4-FFF2-40B4-BE49-F238E27FC236}">
                <a16:creationId xmlns:a16="http://schemas.microsoft.com/office/drawing/2014/main" id="{C8639A10-D3FD-90A3-96DD-848F707CF9E1}"/>
              </a:ext>
            </a:extLst>
          </p:cNvPr>
          <p:cNvSpPr txBox="1"/>
          <p:nvPr/>
        </p:nvSpPr>
        <p:spPr>
          <a:xfrm>
            <a:off x="13274327" y="797672"/>
            <a:ext cx="4149081" cy="1477328"/>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b="1" dirty="0"/>
              <a:t>Beacon</a:t>
            </a:r>
            <a:r>
              <a:rPr lang="en-US" dirty="0"/>
              <a:t>: small, wireless transmitter that uses BLE to broadcast small packets of data.</a:t>
            </a:r>
            <a:endParaRPr lang="en-US" dirty="0">
              <a:sym typeface="Poppins Bold"/>
            </a:endParaRPr>
          </a:p>
        </p:txBody>
      </p:sp>
    </p:spTree>
    <p:extLst>
      <p:ext uri="{BB962C8B-B14F-4D97-AF65-F5344CB8AC3E}">
        <p14:creationId xmlns:p14="http://schemas.microsoft.com/office/powerpoint/2010/main" val="619834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3E32C-605E-4BBE-3739-D11C40456DAB}"/>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B58C2CB9-8565-C44A-7533-5ABB43EE3078}"/>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Dual-Topology Connections</a:t>
            </a:r>
          </a:p>
        </p:txBody>
      </p:sp>
      <p:sp>
        <p:nvSpPr>
          <p:cNvPr id="5" name="TextBox 4">
            <a:extLst>
              <a:ext uri="{FF2B5EF4-FFF2-40B4-BE49-F238E27FC236}">
                <a16:creationId xmlns:a16="http://schemas.microsoft.com/office/drawing/2014/main" id="{B9FDE00D-745D-43BD-90EF-BDCE6FC985C2}"/>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DEF3CCBF-154F-3B47-EC61-A604A172F4B3}"/>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51C85A82-7BD6-1321-B409-7DB87177D027}"/>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C8ABF857-EE75-1D47-E3BF-E34991B8C555}"/>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545F6A10-1840-4DB5-8197-8CDF7CEA6339}"/>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CCF1304F-A07E-7AC6-0DD8-355474D542E0}"/>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5AA47185-0FB7-85D8-D94A-25C9E040BB6E}"/>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Slide Number Placeholder 8">
            <a:extLst>
              <a:ext uri="{FF2B5EF4-FFF2-40B4-BE49-F238E27FC236}">
                <a16:creationId xmlns:a16="http://schemas.microsoft.com/office/drawing/2014/main" id="{C23E3504-B327-1D5C-E923-033CC02CC12A}"/>
              </a:ext>
            </a:extLst>
          </p:cNvPr>
          <p:cNvSpPr>
            <a:spLocks noGrp="1"/>
          </p:cNvSpPr>
          <p:nvPr>
            <p:ph type="sldNum" sz="quarter" idx="12"/>
          </p:nvPr>
        </p:nvSpPr>
        <p:spPr/>
        <p:txBody>
          <a:bodyPr/>
          <a:lstStyle/>
          <a:p>
            <a:fld id="{B6F15528-21DE-4FAA-801E-634DDDAF4B2B}" type="slidenum">
              <a:rPr lang="en-US" smtClean="0"/>
              <a:pPr/>
              <a:t>32</a:t>
            </a:fld>
            <a:endParaRPr lang="en-US" sz="1800"/>
          </a:p>
        </p:txBody>
      </p:sp>
      <p:sp>
        <p:nvSpPr>
          <p:cNvPr id="2" name="TextBox 1">
            <a:extLst>
              <a:ext uri="{FF2B5EF4-FFF2-40B4-BE49-F238E27FC236}">
                <a16:creationId xmlns:a16="http://schemas.microsoft.com/office/drawing/2014/main" id="{FF2A862A-9BA8-AE1C-C1B2-7F5078A844FA}"/>
              </a:ext>
            </a:extLst>
          </p:cNvPr>
          <p:cNvSpPr txBox="1"/>
          <p:nvPr/>
        </p:nvSpPr>
        <p:spPr>
          <a:xfrm>
            <a:off x="975003" y="2187588"/>
            <a:ext cx="15636597" cy="461665"/>
          </a:xfrm>
          <a:prstGeom prst="rect">
            <a:avLst/>
          </a:prstGeom>
          <a:noFill/>
        </p:spPr>
        <p:txBody>
          <a:bodyPr wrap="square">
            <a:spAutoFit/>
          </a:bodyPr>
          <a:lstStyle/>
          <a:p>
            <a:r>
              <a:rPr lang="en-US" sz="2400" dirty="0">
                <a:solidFill>
                  <a:srgbClr val="303642"/>
                </a:solidFill>
                <a:latin typeface="Poppins" panose="00000500000000000000" pitchFamily="2" charset="0"/>
                <a:cs typeface="Poppins" panose="00000500000000000000" pitchFamily="2" charset="0"/>
              </a:rPr>
              <a:t>A device can be simultaneously in a central and a peripheral role.</a:t>
            </a:r>
            <a:endParaRPr lang="en-DE" sz="2400" dirty="0">
              <a:solidFill>
                <a:srgbClr val="303642"/>
              </a:solidFill>
              <a:latin typeface="Poppins" panose="00000500000000000000" pitchFamily="2" charset="0"/>
              <a:cs typeface="Poppins" panose="00000500000000000000" pitchFamily="2" charset="0"/>
            </a:endParaRPr>
          </a:p>
        </p:txBody>
      </p:sp>
      <p:pic>
        <p:nvPicPr>
          <p:cNvPr id="6" name="Picture 5">
            <a:extLst>
              <a:ext uri="{FF2B5EF4-FFF2-40B4-BE49-F238E27FC236}">
                <a16:creationId xmlns:a16="http://schemas.microsoft.com/office/drawing/2014/main" id="{B57C3113-F88E-5ADE-BEC3-5C826F5ED37C}"/>
              </a:ext>
            </a:extLst>
          </p:cNvPr>
          <p:cNvPicPr>
            <a:picLocks noChangeAspect="1"/>
          </p:cNvPicPr>
          <p:nvPr/>
        </p:nvPicPr>
        <p:blipFill>
          <a:blip r:embed="rId2"/>
          <a:stretch>
            <a:fillRect/>
          </a:stretch>
        </p:blipFill>
        <p:spPr>
          <a:xfrm>
            <a:off x="3017758" y="3167145"/>
            <a:ext cx="12252484" cy="2110859"/>
          </a:xfrm>
          <a:prstGeom prst="rect">
            <a:avLst/>
          </a:prstGeom>
        </p:spPr>
      </p:pic>
      <p:pic>
        <p:nvPicPr>
          <p:cNvPr id="10" name="Picture 9">
            <a:extLst>
              <a:ext uri="{FF2B5EF4-FFF2-40B4-BE49-F238E27FC236}">
                <a16:creationId xmlns:a16="http://schemas.microsoft.com/office/drawing/2014/main" id="{C1ED631D-88F9-7013-287F-0718E68F50F3}"/>
              </a:ext>
            </a:extLst>
          </p:cNvPr>
          <p:cNvPicPr>
            <a:picLocks noChangeAspect="1"/>
          </p:cNvPicPr>
          <p:nvPr/>
        </p:nvPicPr>
        <p:blipFill>
          <a:blip r:embed="rId3"/>
          <a:srcRect b="19738"/>
          <a:stretch>
            <a:fillRect/>
          </a:stretch>
        </p:blipFill>
        <p:spPr>
          <a:xfrm>
            <a:off x="4739322" y="5574983"/>
            <a:ext cx="8809356" cy="3396734"/>
          </a:xfrm>
          <a:prstGeom prst="rect">
            <a:avLst/>
          </a:prstGeom>
        </p:spPr>
      </p:pic>
    </p:spTree>
    <p:extLst>
      <p:ext uri="{BB962C8B-B14F-4D97-AF65-F5344CB8AC3E}">
        <p14:creationId xmlns:p14="http://schemas.microsoft.com/office/powerpoint/2010/main" val="2803742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196A3-37E6-46F5-7BAD-3154BE870E6E}"/>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B82AF933-2B9C-E0B9-C65E-E64A54352431}"/>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Multi-Central / Multi-Peripheral Topology</a:t>
            </a:r>
          </a:p>
        </p:txBody>
      </p:sp>
      <p:grpSp>
        <p:nvGrpSpPr>
          <p:cNvPr id="3" name="Group 3">
            <a:extLst>
              <a:ext uri="{FF2B5EF4-FFF2-40B4-BE49-F238E27FC236}">
                <a16:creationId xmlns:a16="http://schemas.microsoft.com/office/drawing/2014/main" id="{AE864D17-FC62-0014-6872-FF5D2E1ADDB6}"/>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570C4FD1-4BF9-4F20-0E70-7B1340DA5B49}"/>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9D3FEEC0-FEB6-3757-C1AA-975EF900EC61}"/>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F80672C3-1296-44E3-F3A2-F129DDE504EB}"/>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3CD1DB14-0BA8-9D75-06D3-5D7CCA8E1DB1}"/>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579ABF15-3A6C-45CA-4722-2F89AAE01D55}"/>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21" name="Slide Number Placeholder 20">
            <a:extLst>
              <a:ext uri="{FF2B5EF4-FFF2-40B4-BE49-F238E27FC236}">
                <a16:creationId xmlns:a16="http://schemas.microsoft.com/office/drawing/2014/main" id="{FED1D226-06ED-8936-6CFE-448CB63AB437}"/>
              </a:ext>
            </a:extLst>
          </p:cNvPr>
          <p:cNvSpPr>
            <a:spLocks noGrp="1"/>
          </p:cNvSpPr>
          <p:nvPr>
            <p:ph type="sldNum" sz="quarter" idx="12"/>
          </p:nvPr>
        </p:nvSpPr>
        <p:spPr/>
        <p:txBody>
          <a:bodyPr/>
          <a:lstStyle/>
          <a:p>
            <a:fld id="{B6F15528-21DE-4FAA-801E-634DDDAF4B2B}" type="slidenum">
              <a:rPr lang="en-US" smtClean="0"/>
              <a:pPr/>
              <a:t>33</a:t>
            </a:fld>
            <a:endParaRPr lang="en-US" sz="1800"/>
          </a:p>
        </p:txBody>
      </p:sp>
      <p:pic>
        <p:nvPicPr>
          <p:cNvPr id="23" name="Picture 22">
            <a:extLst>
              <a:ext uri="{FF2B5EF4-FFF2-40B4-BE49-F238E27FC236}">
                <a16:creationId xmlns:a16="http://schemas.microsoft.com/office/drawing/2014/main" id="{9CB008A9-48AA-C6B2-DD24-ABE516EEAF4F}"/>
              </a:ext>
            </a:extLst>
          </p:cNvPr>
          <p:cNvPicPr>
            <a:picLocks noChangeAspect="1"/>
          </p:cNvPicPr>
          <p:nvPr/>
        </p:nvPicPr>
        <p:blipFill>
          <a:blip r:embed="rId2"/>
          <a:srcRect t="1246"/>
          <a:stretch>
            <a:fillRect/>
          </a:stretch>
        </p:blipFill>
        <p:spPr>
          <a:xfrm>
            <a:off x="10744200" y="2705100"/>
            <a:ext cx="5758201" cy="3822990"/>
          </a:xfrm>
          <a:prstGeom prst="rect">
            <a:avLst/>
          </a:prstGeom>
        </p:spPr>
      </p:pic>
      <p:pic>
        <p:nvPicPr>
          <p:cNvPr id="39" name="Picture 38">
            <a:extLst>
              <a:ext uri="{FF2B5EF4-FFF2-40B4-BE49-F238E27FC236}">
                <a16:creationId xmlns:a16="http://schemas.microsoft.com/office/drawing/2014/main" id="{F3BE05ED-EF61-3C98-B2BD-A1030EFDA285}"/>
              </a:ext>
            </a:extLst>
          </p:cNvPr>
          <p:cNvPicPr>
            <a:picLocks noChangeAspect="1"/>
          </p:cNvPicPr>
          <p:nvPr/>
        </p:nvPicPr>
        <p:blipFill>
          <a:blip r:embed="rId3"/>
          <a:srcRect t="2145" b="-1"/>
          <a:stretch>
            <a:fillRect/>
          </a:stretch>
        </p:blipFill>
        <p:spPr>
          <a:xfrm>
            <a:off x="1397000" y="2844573"/>
            <a:ext cx="6591871" cy="3594390"/>
          </a:xfrm>
          <a:prstGeom prst="rect">
            <a:avLst/>
          </a:prstGeom>
        </p:spPr>
      </p:pic>
      <p:grpSp>
        <p:nvGrpSpPr>
          <p:cNvPr id="2" name="Group 1">
            <a:extLst>
              <a:ext uri="{FF2B5EF4-FFF2-40B4-BE49-F238E27FC236}">
                <a16:creationId xmlns:a16="http://schemas.microsoft.com/office/drawing/2014/main" id="{D45DBAFC-004E-6EEA-A355-54E16655116E}"/>
              </a:ext>
            </a:extLst>
          </p:cNvPr>
          <p:cNvGrpSpPr/>
          <p:nvPr/>
        </p:nvGrpSpPr>
        <p:grpSpPr>
          <a:xfrm>
            <a:off x="2286000" y="6881850"/>
            <a:ext cx="5105400" cy="1431169"/>
            <a:chOff x="2286000" y="6881850"/>
            <a:chExt cx="5105400" cy="1431169"/>
          </a:xfrm>
        </p:grpSpPr>
        <p:sp>
          <p:nvSpPr>
            <p:cNvPr id="41" name="TextBox 7">
              <a:extLst>
                <a:ext uri="{FF2B5EF4-FFF2-40B4-BE49-F238E27FC236}">
                  <a16:creationId xmlns:a16="http://schemas.microsoft.com/office/drawing/2014/main" id="{E5D003B6-11EA-F441-EBF6-A7BAB7C03C75}"/>
                </a:ext>
              </a:extLst>
            </p:cNvPr>
            <p:cNvSpPr txBox="1"/>
            <p:nvPr/>
          </p:nvSpPr>
          <p:spPr>
            <a:xfrm>
              <a:off x="2940335" y="6881850"/>
              <a:ext cx="350520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Multi-Central</a:t>
              </a:r>
            </a:p>
          </p:txBody>
        </p:sp>
        <p:sp>
          <p:nvSpPr>
            <p:cNvPr id="45" name="TextBox 11">
              <a:extLst>
                <a:ext uri="{FF2B5EF4-FFF2-40B4-BE49-F238E27FC236}">
                  <a16:creationId xmlns:a16="http://schemas.microsoft.com/office/drawing/2014/main" id="{44C9156C-A66D-9906-0B35-291D022D1949}"/>
                </a:ext>
              </a:extLst>
            </p:cNvPr>
            <p:cNvSpPr txBox="1"/>
            <p:nvPr/>
          </p:nvSpPr>
          <p:spPr>
            <a:xfrm>
              <a:off x="2286000" y="7574355"/>
              <a:ext cx="5105400" cy="738664"/>
            </a:xfrm>
            <a:prstGeom prst="rect">
              <a:avLst/>
            </a:prstGeom>
          </p:spPr>
          <p:txBody>
            <a:bodyPr wrap="square" lIns="0" tIns="0" rIns="0" bIns="0" rtlCol="0" anchor="t">
              <a:spAutoFit/>
            </a:bodyPr>
            <a:lstStyle/>
            <a:p>
              <a:pPr>
                <a:spcBef>
                  <a:spcPct val="0"/>
                </a:spcBef>
              </a:pPr>
              <a:r>
                <a:rPr lang="en-US" sz="2400" dirty="0">
                  <a:solidFill>
                    <a:srgbClr val="303642"/>
                  </a:solidFill>
                  <a:latin typeface="Poppins" panose="00000500000000000000" pitchFamily="2" charset="0"/>
                  <a:ea typeface="Poppins Bold"/>
                  <a:cs typeface="Poppins" panose="00000500000000000000" pitchFamily="2" charset="0"/>
                  <a:sym typeface="Poppins Bold"/>
                </a:rPr>
                <a:t>A peripheral device can connect to multiple centrals</a:t>
              </a:r>
            </a:p>
          </p:txBody>
        </p:sp>
      </p:grpSp>
      <p:grpSp>
        <p:nvGrpSpPr>
          <p:cNvPr id="6" name="Group 5">
            <a:extLst>
              <a:ext uri="{FF2B5EF4-FFF2-40B4-BE49-F238E27FC236}">
                <a16:creationId xmlns:a16="http://schemas.microsoft.com/office/drawing/2014/main" id="{E21E7215-2438-99B0-0E99-44C17F178730}"/>
              </a:ext>
            </a:extLst>
          </p:cNvPr>
          <p:cNvGrpSpPr/>
          <p:nvPr/>
        </p:nvGrpSpPr>
        <p:grpSpPr>
          <a:xfrm>
            <a:off x="11049000" y="6881850"/>
            <a:ext cx="5105400" cy="1443869"/>
            <a:chOff x="11049000" y="6881850"/>
            <a:chExt cx="5105400" cy="1443869"/>
          </a:xfrm>
        </p:grpSpPr>
        <p:sp>
          <p:nvSpPr>
            <p:cNvPr id="43" name="TextBox 7">
              <a:extLst>
                <a:ext uri="{FF2B5EF4-FFF2-40B4-BE49-F238E27FC236}">
                  <a16:creationId xmlns:a16="http://schemas.microsoft.com/office/drawing/2014/main" id="{9A8F2A6B-5F1E-0B71-90EF-AF6E4443B005}"/>
                </a:ext>
              </a:extLst>
            </p:cNvPr>
            <p:cNvSpPr txBox="1"/>
            <p:nvPr/>
          </p:nvSpPr>
          <p:spPr>
            <a:xfrm>
              <a:off x="11963400" y="6881850"/>
              <a:ext cx="350520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Multi-Peripheral</a:t>
              </a:r>
            </a:p>
          </p:txBody>
        </p:sp>
        <p:sp>
          <p:nvSpPr>
            <p:cNvPr id="47" name="TextBox 11">
              <a:extLst>
                <a:ext uri="{FF2B5EF4-FFF2-40B4-BE49-F238E27FC236}">
                  <a16:creationId xmlns:a16="http://schemas.microsoft.com/office/drawing/2014/main" id="{411F3FDE-0762-6AAA-310D-EAC81B4ED4E2}"/>
                </a:ext>
              </a:extLst>
            </p:cNvPr>
            <p:cNvSpPr txBox="1"/>
            <p:nvPr/>
          </p:nvSpPr>
          <p:spPr>
            <a:xfrm>
              <a:off x="11049000" y="7587055"/>
              <a:ext cx="5105400" cy="738664"/>
            </a:xfrm>
            <a:prstGeom prst="rect">
              <a:avLst/>
            </a:prstGeom>
          </p:spPr>
          <p:txBody>
            <a:bodyPr wrap="square" lIns="0" tIns="0" rIns="0" bIns="0" rtlCol="0" anchor="t">
              <a:spAutoFit/>
            </a:bodyPr>
            <a:lstStyle/>
            <a:p>
              <a:pPr>
                <a:spcBef>
                  <a:spcPct val="0"/>
                </a:spcBef>
              </a:pPr>
              <a:r>
                <a:rPr lang="en-US" sz="2400" dirty="0">
                  <a:solidFill>
                    <a:srgbClr val="303642"/>
                  </a:solidFill>
                  <a:latin typeface="Poppins" panose="00000500000000000000" pitchFamily="2" charset="0"/>
                  <a:ea typeface="Poppins Bold"/>
                  <a:cs typeface="Poppins" panose="00000500000000000000" pitchFamily="2" charset="0"/>
                  <a:sym typeface="Poppins Bold"/>
                </a:rPr>
                <a:t>A central device can connect to multiple peripherals</a:t>
              </a:r>
            </a:p>
          </p:txBody>
        </p:sp>
      </p:grpSp>
    </p:spTree>
    <p:extLst>
      <p:ext uri="{BB962C8B-B14F-4D97-AF65-F5344CB8AC3E}">
        <p14:creationId xmlns:p14="http://schemas.microsoft.com/office/powerpoint/2010/main" val="1808713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CBE1D-3F52-A13F-65AB-5CCF792CB0A8}"/>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40385B60-535B-BB22-32E2-D5F70E9F965E}"/>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Timing of Parallel Connections</a:t>
            </a:r>
          </a:p>
        </p:txBody>
      </p:sp>
      <p:grpSp>
        <p:nvGrpSpPr>
          <p:cNvPr id="15" name="Group 3">
            <a:extLst>
              <a:ext uri="{FF2B5EF4-FFF2-40B4-BE49-F238E27FC236}">
                <a16:creationId xmlns:a16="http://schemas.microsoft.com/office/drawing/2014/main" id="{9ACA34AC-2E76-9049-2493-5577DA60B526}"/>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2C500FFB-5EFA-89DD-7D2D-F30BB4E961FD}"/>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5A34F145-34AF-401C-32BF-F74FC29023E0}"/>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05BCC647-5982-B8F6-6344-C20893EE7662}"/>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FDB90CEA-1F78-210E-79B4-E08A4675F221}"/>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F770916D-04CB-24A2-3034-B9D847390189}"/>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Slide Number Placeholder 8">
            <a:extLst>
              <a:ext uri="{FF2B5EF4-FFF2-40B4-BE49-F238E27FC236}">
                <a16:creationId xmlns:a16="http://schemas.microsoft.com/office/drawing/2014/main" id="{E92C8185-7DE7-A461-636E-8B4DA0372A6C}"/>
              </a:ext>
            </a:extLst>
          </p:cNvPr>
          <p:cNvSpPr>
            <a:spLocks noGrp="1"/>
          </p:cNvSpPr>
          <p:nvPr>
            <p:ph type="sldNum" sz="quarter" idx="12"/>
          </p:nvPr>
        </p:nvSpPr>
        <p:spPr/>
        <p:txBody>
          <a:bodyPr/>
          <a:lstStyle/>
          <a:p>
            <a:fld id="{B6F15528-21DE-4FAA-801E-634DDDAF4B2B}" type="slidenum">
              <a:rPr lang="en-US" smtClean="0"/>
              <a:pPr/>
              <a:t>34</a:t>
            </a:fld>
            <a:endParaRPr lang="en-US" sz="1800"/>
          </a:p>
        </p:txBody>
      </p:sp>
      <p:sp>
        <p:nvSpPr>
          <p:cNvPr id="2" name="TextBox 1">
            <a:extLst>
              <a:ext uri="{FF2B5EF4-FFF2-40B4-BE49-F238E27FC236}">
                <a16:creationId xmlns:a16="http://schemas.microsoft.com/office/drawing/2014/main" id="{5959D647-754A-8748-EF44-EEF3FA0D429A}"/>
              </a:ext>
            </a:extLst>
          </p:cNvPr>
          <p:cNvSpPr txBox="1"/>
          <p:nvPr/>
        </p:nvSpPr>
        <p:spPr>
          <a:xfrm>
            <a:off x="975003" y="2187588"/>
            <a:ext cx="15636597" cy="1569660"/>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BLE connections use small connection windows to exchange data in every connection interval. </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At least an empty packet is sent in every connection interval, first by the central, then by the peripheral.</a:t>
            </a:r>
          </a:p>
          <a:p>
            <a:r>
              <a:rPr lang="en-US" sz="2400" dirty="0">
                <a:solidFill>
                  <a:srgbClr val="303642"/>
                </a:solidFill>
                <a:latin typeface="Poppins" panose="00000500000000000000" pitchFamily="2" charset="0"/>
                <a:cs typeface="Poppins" panose="00000500000000000000" pitchFamily="2" charset="0"/>
              </a:rPr>
              <a:t>=&gt; No continuous data receiving is needed.</a:t>
            </a:r>
            <a:endParaRPr lang="en-DE" sz="2400" dirty="0">
              <a:solidFill>
                <a:srgbClr val="303642"/>
              </a:solidFill>
              <a:latin typeface="Poppins" panose="00000500000000000000" pitchFamily="2" charset="0"/>
              <a:cs typeface="Poppins" panose="00000500000000000000" pitchFamily="2" charset="0"/>
            </a:endParaRPr>
          </a:p>
        </p:txBody>
      </p:sp>
      <p:pic>
        <p:nvPicPr>
          <p:cNvPr id="3" name="Picture 2">
            <a:extLst>
              <a:ext uri="{FF2B5EF4-FFF2-40B4-BE49-F238E27FC236}">
                <a16:creationId xmlns:a16="http://schemas.microsoft.com/office/drawing/2014/main" id="{40A35DA3-DCEF-F088-0979-D479DF4D8C44}"/>
              </a:ext>
            </a:extLst>
          </p:cNvPr>
          <p:cNvPicPr>
            <a:picLocks noChangeAspect="1"/>
          </p:cNvPicPr>
          <p:nvPr/>
        </p:nvPicPr>
        <p:blipFill>
          <a:blip r:embed="rId2"/>
          <a:srcRect b="12374"/>
          <a:stretch>
            <a:fillRect/>
          </a:stretch>
        </p:blipFill>
        <p:spPr>
          <a:xfrm>
            <a:off x="3454209" y="4179374"/>
            <a:ext cx="11379581" cy="4316926"/>
          </a:xfrm>
          <a:prstGeom prst="rect">
            <a:avLst/>
          </a:prstGeom>
        </p:spPr>
      </p:pic>
    </p:spTree>
    <p:extLst>
      <p:ext uri="{BB962C8B-B14F-4D97-AF65-F5344CB8AC3E}">
        <p14:creationId xmlns:p14="http://schemas.microsoft.com/office/powerpoint/2010/main" val="323404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80F78-A910-FAE3-EB6B-2027B0274267}"/>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5E22FABD-B074-EE00-BB46-694CE207CBCF}"/>
              </a:ext>
            </a:extLst>
          </p:cNvPr>
          <p:cNvGrpSpPr/>
          <p:nvPr/>
        </p:nvGrpSpPr>
        <p:grpSpPr>
          <a:xfrm>
            <a:off x="-1130300" y="4057750"/>
            <a:ext cx="3086100" cy="2171499"/>
            <a:chOff x="0" y="0"/>
            <a:chExt cx="812800" cy="571917"/>
          </a:xfrm>
        </p:grpSpPr>
        <p:sp>
          <p:nvSpPr>
            <p:cNvPr id="4" name="Freeform 4">
              <a:extLst>
                <a:ext uri="{FF2B5EF4-FFF2-40B4-BE49-F238E27FC236}">
                  <a16:creationId xmlns:a16="http://schemas.microsoft.com/office/drawing/2014/main" id="{936828FD-20CE-DE9B-31D6-9A9619AB2AFA}"/>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en-DE" dirty="0"/>
            </a:p>
          </p:txBody>
        </p:sp>
        <p:sp>
          <p:nvSpPr>
            <p:cNvPr id="5" name="TextBox 5">
              <a:extLst>
                <a:ext uri="{FF2B5EF4-FFF2-40B4-BE49-F238E27FC236}">
                  <a16:creationId xmlns:a16="http://schemas.microsoft.com/office/drawing/2014/main" id="{10FD8408-3573-5D78-2244-97A0A0CF0FC8}"/>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9B19118D-AB7A-8FE0-9359-E5F56FE414E8}"/>
              </a:ext>
            </a:extLst>
          </p:cNvPr>
          <p:cNvGrpSpPr/>
          <p:nvPr/>
        </p:nvGrpSpPr>
        <p:grpSpPr>
          <a:xfrm>
            <a:off x="16467343" y="4057750"/>
            <a:ext cx="3086100" cy="2171499"/>
            <a:chOff x="0" y="0"/>
            <a:chExt cx="812800" cy="571917"/>
          </a:xfrm>
        </p:grpSpPr>
        <p:sp>
          <p:nvSpPr>
            <p:cNvPr id="7" name="Freeform 7">
              <a:extLst>
                <a:ext uri="{FF2B5EF4-FFF2-40B4-BE49-F238E27FC236}">
                  <a16:creationId xmlns:a16="http://schemas.microsoft.com/office/drawing/2014/main" id="{B1A25199-9714-C3B8-5A44-C2CD4A4F8713}"/>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en-DE"/>
            </a:p>
          </p:txBody>
        </p:sp>
        <p:sp>
          <p:nvSpPr>
            <p:cNvPr id="8" name="TextBox 8">
              <a:extLst>
                <a:ext uri="{FF2B5EF4-FFF2-40B4-BE49-F238E27FC236}">
                  <a16:creationId xmlns:a16="http://schemas.microsoft.com/office/drawing/2014/main" id="{8A50B7EF-9C6C-FD80-0C26-AE37D9852401}"/>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9" name="Freeform 9">
            <a:extLst>
              <a:ext uri="{FF2B5EF4-FFF2-40B4-BE49-F238E27FC236}">
                <a16:creationId xmlns:a16="http://schemas.microsoft.com/office/drawing/2014/main" id="{DE12DFD0-9988-C486-0127-E9BC4514882A}"/>
              </a:ext>
            </a:extLst>
          </p:cNvPr>
          <p:cNvSpPr/>
          <p:nvPr/>
        </p:nvSpPr>
        <p:spPr>
          <a:xfrm>
            <a:off x="15129698" y="533489"/>
            <a:ext cx="2675289" cy="1342103"/>
          </a:xfrm>
          <a:custGeom>
            <a:avLst/>
            <a:gdLst/>
            <a:ahLst/>
            <a:cxnLst/>
            <a:rect l="l" t="t" r="r" b="b"/>
            <a:pathLst>
              <a:path w="4007554" h="2010456">
                <a:moveTo>
                  <a:pt x="0" y="0"/>
                </a:moveTo>
                <a:lnTo>
                  <a:pt x="4007554" y="0"/>
                </a:lnTo>
                <a:lnTo>
                  <a:pt x="4007554" y="2010456"/>
                </a:lnTo>
                <a:lnTo>
                  <a:pt x="0" y="2010456"/>
                </a:lnTo>
                <a:lnTo>
                  <a:pt x="0" y="0"/>
                </a:lnTo>
                <a:close/>
              </a:path>
            </a:pathLst>
          </a:custGeom>
          <a:blipFill>
            <a:blip r:embed="rId3"/>
            <a:stretch>
              <a:fillRect/>
            </a:stretch>
          </a:blipFill>
        </p:spPr>
        <p:txBody>
          <a:bodyPr/>
          <a:lstStyle/>
          <a:p>
            <a:endParaRPr lang="en-DE"/>
          </a:p>
        </p:txBody>
      </p:sp>
      <p:sp>
        <p:nvSpPr>
          <p:cNvPr id="10" name="TextBox 10">
            <a:extLst>
              <a:ext uri="{FF2B5EF4-FFF2-40B4-BE49-F238E27FC236}">
                <a16:creationId xmlns:a16="http://schemas.microsoft.com/office/drawing/2014/main" id="{E767C64C-BC74-BE4C-8B9F-4D0C1C5FDED9}"/>
              </a:ext>
            </a:extLst>
          </p:cNvPr>
          <p:cNvSpPr txBox="1"/>
          <p:nvPr/>
        </p:nvSpPr>
        <p:spPr>
          <a:xfrm>
            <a:off x="2769489" y="4533713"/>
            <a:ext cx="12997868" cy="1038746"/>
          </a:xfrm>
          <a:prstGeom prst="rect">
            <a:avLst/>
          </a:prstGeom>
        </p:spPr>
        <p:txBody>
          <a:bodyPr lIns="0" tIns="0" rIns="0" bIns="0" rtlCol="0" anchor="t">
            <a:spAutoFit/>
          </a:bodyPr>
          <a:lstStyle/>
          <a:p>
            <a:pPr algn="ctr">
              <a:lnSpc>
                <a:spcPts val="8400"/>
              </a:lnSpc>
            </a:pPr>
            <a:r>
              <a:rPr lang="en-US" sz="6000" b="1" dirty="0">
                <a:solidFill>
                  <a:srgbClr val="004AAD"/>
                </a:solidFill>
                <a:latin typeface="League Spartan"/>
                <a:ea typeface="League Spartan"/>
                <a:cs typeface="League Spartan"/>
                <a:sym typeface="League Spartan"/>
              </a:rPr>
              <a:t>BLE Operations</a:t>
            </a:r>
          </a:p>
        </p:txBody>
      </p:sp>
      <p:sp>
        <p:nvSpPr>
          <p:cNvPr id="14" name="Freeform 56">
            <a:extLst>
              <a:ext uri="{FF2B5EF4-FFF2-40B4-BE49-F238E27FC236}">
                <a16:creationId xmlns:a16="http://schemas.microsoft.com/office/drawing/2014/main" id="{74C9A90D-6001-2B8F-4AAA-9BC13E44E6F6}"/>
              </a:ext>
            </a:extLst>
          </p:cNvPr>
          <p:cNvSpPr/>
          <p:nvPr/>
        </p:nvSpPr>
        <p:spPr>
          <a:xfrm>
            <a:off x="8201623" y="1562100"/>
            <a:ext cx="1884754" cy="1938790"/>
          </a:xfrm>
          <a:custGeom>
            <a:avLst/>
            <a:gdLst/>
            <a:ahLst/>
            <a:cxnLst/>
            <a:rect l="l" t="t" r="r" b="b"/>
            <a:pathLst>
              <a:path w="859299" h="812800">
                <a:moveTo>
                  <a:pt x="429650" y="0"/>
                </a:moveTo>
                <a:cubicBezTo>
                  <a:pt x="192361" y="0"/>
                  <a:pt x="0" y="181951"/>
                  <a:pt x="0" y="406400"/>
                </a:cubicBezTo>
                <a:cubicBezTo>
                  <a:pt x="0" y="630849"/>
                  <a:pt x="192361" y="812800"/>
                  <a:pt x="429650" y="812800"/>
                </a:cubicBezTo>
                <a:cubicBezTo>
                  <a:pt x="666939" y="812800"/>
                  <a:pt x="859299" y="630849"/>
                  <a:pt x="859299" y="406400"/>
                </a:cubicBezTo>
                <a:cubicBezTo>
                  <a:pt x="859299" y="181951"/>
                  <a:pt x="666939" y="0"/>
                  <a:pt x="429650" y="0"/>
                </a:cubicBezTo>
                <a:close/>
              </a:path>
            </a:pathLst>
          </a:custGeom>
          <a:solidFill>
            <a:srgbClr val="004AAD"/>
          </a:solidFill>
        </p:spPr>
        <p:txBody>
          <a:bodyPr/>
          <a:lstStyle/>
          <a:p>
            <a:endParaRPr lang="en-DE" dirty="0"/>
          </a:p>
        </p:txBody>
      </p:sp>
      <p:sp>
        <p:nvSpPr>
          <p:cNvPr id="16" name="TextBox 58">
            <a:extLst>
              <a:ext uri="{FF2B5EF4-FFF2-40B4-BE49-F238E27FC236}">
                <a16:creationId xmlns:a16="http://schemas.microsoft.com/office/drawing/2014/main" id="{BB3F45F2-31E9-3C93-02CD-586649CBA9D8}"/>
              </a:ext>
            </a:extLst>
          </p:cNvPr>
          <p:cNvSpPr txBox="1"/>
          <p:nvPr/>
        </p:nvSpPr>
        <p:spPr>
          <a:xfrm>
            <a:off x="8201623" y="2400300"/>
            <a:ext cx="1884754" cy="686726"/>
          </a:xfrm>
          <a:prstGeom prst="rect">
            <a:avLst/>
          </a:prstGeom>
        </p:spPr>
        <p:txBody>
          <a:bodyPr wrap="square" lIns="0" tIns="0" rIns="0" bIns="0" rtlCol="0" anchor="t">
            <a:spAutoFit/>
          </a:bodyPr>
          <a:lstStyle/>
          <a:p>
            <a:pPr algn="ctr">
              <a:lnSpc>
                <a:spcPts val="4506"/>
              </a:lnSpc>
            </a:pPr>
            <a:r>
              <a:rPr lang="en-US" sz="6600" b="1" dirty="0">
                <a:solidFill>
                  <a:srgbClr val="FFFFFF"/>
                </a:solidFill>
                <a:latin typeface="League Spartan"/>
                <a:ea typeface="League Spartan"/>
                <a:cs typeface="League Spartan"/>
                <a:sym typeface="League Spartan"/>
              </a:rPr>
              <a:t>3</a:t>
            </a:r>
          </a:p>
        </p:txBody>
      </p:sp>
      <p:sp>
        <p:nvSpPr>
          <p:cNvPr id="12" name="Slide Number Placeholder 11">
            <a:extLst>
              <a:ext uri="{FF2B5EF4-FFF2-40B4-BE49-F238E27FC236}">
                <a16:creationId xmlns:a16="http://schemas.microsoft.com/office/drawing/2014/main" id="{84FEBFC3-EC05-07B3-5FED-50B5202FF8C0}"/>
              </a:ext>
            </a:extLst>
          </p:cNvPr>
          <p:cNvSpPr>
            <a:spLocks noGrp="1"/>
          </p:cNvSpPr>
          <p:nvPr>
            <p:ph type="sldNum" sz="quarter" idx="12"/>
          </p:nvPr>
        </p:nvSpPr>
        <p:spPr/>
        <p:txBody>
          <a:bodyPr/>
          <a:lstStyle/>
          <a:p>
            <a:fld id="{B6F15528-21DE-4FAA-801E-634DDDAF4B2B}" type="slidenum">
              <a:rPr lang="en-US" smtClean="0"/>
              <a:pPr/>
              <a:t>35</a:t>
            </a:fld>
            <a:endParaRPr lang="en-US" sz="1800"/>
          </a:p>
        </p:txBody>
      </p:sp>
    </p:spTree>
    <p:extLst>
      <p:ext uri="{BB962C8B-B14F-4D97-AF65-F5344CB8AC3E}">
        <p14:creationId xmlns:p14="http://schemas.microsoft.com/office/powerpoint/2010/main" val="1098741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EB807-8A8E-1EC7-CB86-EFE153946966}"/>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E47C5068-7957-E146-CC1B-A1DE60062DA9}"/>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BLE Operations</a:t>
            </a:r>
          </a:p>
        </p:txBody>
      </p:sp>
      <p:grpSp>
        <p:nvGrpSpPr>
          <p:cNvPr id="3" name="Group 3">
            <a:extLst>
              <a:ext uri="{FF2B5EF4-FFF2-40B4-BE49-F238E27FC236}">
                <a16:creationId xmlns:a16="http://schemas.microsoft.com/office/drawing/2014/main" id="{E5D99F2B-31E7-F4ED-CAE8-7D06A81E8496}"/>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10B36384-3522-AFFA-32DD-BC93C6BEAD8C}"/>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A7CF98AB-9374-D0B5-5212-0CDE2857A4D9}"/>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36736966-02C4-1A2A-0E5A-38142FB4BC94}"/>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32AEACB4-56BB-7AC2-E797-A70DF51CE718}"/>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6AF92F93-B417-8F72-7C6B-3B3E702B14AC}"/>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7" name="TextBox 13">
            <a:extLst>
              <a:ext uri="{FF2B5EF4-FFF2-40B4-BE49-F238E27FC236}">
                <a16:creationId xmlns:a16="http://schemas.microsoft.com/office/drawing/2014/main" id="{CA5F24F7-88EC-82C5-4181-090822A6350F}"/>
              </a:ext>
            </a:extLst>
          </p:cNvPr>
          <p:cNvSpPr txBox="1"/>
          <p:nvPr/>
        </p:nvSpPr>
        <p:spPr>
          <a:xfrm>
            <a:off x="1968827" y="3070524"/>
            <a:ext cx="183310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Read</a:t>
            </a:r>
          </a:p>
        </p:txBody>
      </p:sp>
      <p:sp>
        <p:nvSpPr>
          <p:cNvPr id="9" name="TextBox 13">
            <a:extLst>
              <a:ext uri="{FF2B5EF4-FFF2-40B4-BE49-F238E27FC236}">
                <a16:creationId xmlns:a16="http://schemas.microsoft.com/office/drawing/2014/main" id="{644636C8-1FA9-8C4F-779A-CC0DF761ED67}"/>
              </a:ext>
            </a:extLst>
          </p:cNvPr>
          <p:cNvSpPr txBox="1"/>
          <p:nvPr/>
        </p:nvSpPr>
        <p:spPr>
          <a:xfrm>
            <a:off x="1905000" y="4838700"/>
            <a:ext cx="183310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Write</a:t>
            </a:r>
          </a:p>
        </p:txBody>
      </p:sp>
      <p:sp>
        <p:nvSpPr>
          <p:cNvPr id="19" name="TextBox 14">
            <a:extLst>
              <a:ext uri="{FF2B5EF4-FFF2-40B4-BE49-F238E27FC236}">
                <a16:creationId xmlns:a16="http://schemas.microsoft.com/office/drawing/2014/main" id="{C9B98BEE-B104-1ABE-5CAC-6FC12300E5E7}"/>
              </a:ext>
            </a:extLst>
          </p:cNvPr>
          <p:cNvSpPr txBox="1"/>
          <p:nvPr/>
        </p:nvSpPr>
        <p:spPr>
          <a:xfrm>
            <a:off x="9753600" y="4885644"/>
            <a:ext cx="7239000" cy="829458"/>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nSpc>
                <a:spcPct val="115000"/>
              </a:lnSpc>
              <a:spcAft>
                <a:spcPts val="800"/>
              </a:spcAft>
              <a:buNone/>
            </a:pPr>
            <a:r>
              <a:rPr lang="en-US" dirty="0"/>
              <a:t>The core (GATT) operations used to exchange data between a client and a Server.</a:t>
            </a:r>
            <a:endParaRPr lang="en-DE" dirty="0"/>
          </a:p>
        </p:txBody>
      </p:sp>
      <p:grpSp>
        <p:nvGrpSpPr>
          <p:cNvPr id="10" name="Group 9">
            <a:extLst>
              <a:ext uri="{FF2B5EF4-FFF2-40B4-BE49-F238E27FC236}">
                <a16:creationId xmlns:a16="http://schemas.microsoft.com/office/drawing/2014/main" id="{5FAB99E7-F4A2-80A4-9F1A-F1F3A6250CFA}"/>
              </a:ext>
            </a:extLst>
          </p:cNvPr>
          <p:cNvGrpSpPr/>
          <p:nvPr/>
        </p:nvGrpSpPr>
        <p:grpSpPr>
          <a:xfrm>
            <a:off x="1371600" y="2595782"/>
            <a:ext cx="8153400" cy="5095436"/>
            <a:chOff x="1371600" y="2595782"/>
            <a:chExt cx="8153400" cy="5095436"/>
          </a:xfrm>
        </p:grpSpPr>
        <p:grpSp>
          <p:nvGrpSpPr>
            <p:cNvPr id="6" name="Group 5">
              <a:extLst>
                <a:ext uri="{FF2B5EF4-FFF2-40B4-BE49-F238E27FC236}">
                  <a16:creationId xmlns:a16="http://schemas.microsoft.com/office/drawing/2014/main" id="{24FBA0FE-D27F-9C6B-C5C9-AFA812857E3F}"/>
                </a:ext>
              </a:extLst>
            </p:cNvPr>
            <p:cNvGrpSpPr/>
            <p:nvPr/>
          </p:nvGrpSpPr>
          <p:grpSpPr>
            <a:xfrm>
              <a:off x="1371600" y="2595782"/>
              <a:ext cx="8153400" cy="5095436"/>
              <a:chOff x="1371600" y="2595782"/>
              <a:chExt cx="8153400" cy="5095436"/>
            </a:xfrm>
          </p:grpSpPr>
          <p:pic>
            <p:nvPicPr>
              <p:cNvPr id="2" name="Picture 1">
                <a:extLst>
                  <a:ext uri="{FF2B5EF4-FFF2-40B4-BE49-F238E27FC236}">
                    <a16:creationId xmlns:a16="http://schemas.microsoft.com/office/drawing/2014/main" id="{764639DA-2150-2E00-D760-CBD1973599DD}"/>
                  </a:ext>
                </a:extLst>
              </p:cNvPr>
              <p:cNvPicPr>
                <a:picLocks noChangeAspect="1"/>
              </p:cNvPicPr>
              <p:nvPr/>
            </p:nvPicPr>
            <p:blipFill>
              <a:blip r:embed="rId2"/>
              <a:srcRect l="18315" t="20990" r="54312" b="10678"/>
              <a:stretch>
                <a:fillRect/>
              </a:stretch>
            </p:blipFill>
            <p:spPr>
              <a:xfrm rot="10800000">
                <a:off x="4902855" y="2595782"/>
                <a:ext cx="4622145" cy="5095436"/>
              </a:xfrm>
              <a:prstGeom prst="rect">
                <a:avLst/>
              </a:prstGeom>
            </p:spPr>
          </p:pic>
          <p:sp>
            <p:nvSpPr>
              <p:cNvPr id="11" name="TextBox 13">
                <a:extLst>
                  <a:ext uri="{FF2B5EF4-FFF2-40B4-BE49-F238E27FC236}">
                    <a16:creationId xmlns:a16="http://schemas.microsoft.com/office/drawing/2014/main" id="{9AE84B5D-81BF-B8CA-8928-36EC56F2D87A}"/>
                  </a:ext>
                </a:extLst>
              </p:cNvPr>
              <p:cNvSpPr txBox="1"/>
              <p:nvPr/>
            </p:nvSpPr>
            <p:spPr>
              <a:xfrm>
                <a:off x="1371600" y="6613021"/>
                <a:ext cx="3027555"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Notify/Indicate</a:t>
                </a:r>
              </a:p>
            </p:txBody>
          </p:sp>
        </p:grpSp>
        <p:sp>
          <p:nvSpPr>
            <p:cNvPr id="21" name="Arrow: Chevron 20">
              <a:extLst>
                <a:ext uri="{FF2B5EF4-FFF2-40B4-BE49-F238E27FC236}">
                  <a16:creationId xmlns:a16="http://schemas.microsoft.com/office/drawing/2014/main" id="{5690AD9F-FFB8-5B6B-6D26-59BA1CE9BF1E}"/>
                </a:ext>
              </a:extLst>
            </p:cNvPr>
            <p:cNvSpPr/>
            <p:nvPr/>
          </p:nvSpPr>
          <p:spPr>
            <a:xfrm>
              <a:off x="9220200" y="5045579"/>
              <a:ext cx="152400" cy="304800"/>
            </a:xfrm>
            <a:prstGeom prst="chevron">
              <a:avLst>
                <a:gd name="adj" fmla="val 53750"/>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DE">
                <a:solidFill>
                  <a:schemeClr val="tx1"/>
                </a:solidFill>
              </a:endParaRPr>
            </a:p>
          </p:txBody>
        </p:sp>
      </p:grpSp>
      <p:sp>
        <p:nvSpPr>
          <p:cNvPr id="13" name="Slide Number Placeholder 12">
            <a:extLst>
              <a:ext uri="{FF2B5EF4-FFF2-40B4-BE49-F238E27FC236}">
                <a16:creationId xmlns:a16="http://schemas.microsoft.com/office/drawing/2014/main" id="{A337B8A4-4469-04E1-6C72-2F2ABED44C60}"/>
              </a:ext>
            </a:extLst>
          </p:cNvPr>
          <p:cNvSpPr>
            <a:spLocks noGrp="1"/>
          </p:cNvSpPr>
          <p:nvPr>
            <p:ph type="sldNum" sz="quarter" idx="12"/>
          </p:nvPr>
        </p:nvSpPr>
        <p:spPr/>
        <p:txBody>
          <a:bodyPr/>
          <a:lstStyle/>
          <a:p>
            <a:fld id="{B6F15528-21DE-4FAA-801E-634DDDAF4B2B}" type="slidenum">
              <a:rPr lang="en-US" smtClean="0"/>
              <a:pPr/>
              <a:t>36</a:t>
            </a:fld>
            <a:endParaRPr lang="en-US" sz="1800"/>
          </a:p>
        </p:txBody>
      </p:sp>
    </p:spTree>
    <p:extLst>
      <p:ext uri="{BB962C8B-B14F-4D97-AF65-F5344CB8AC3E}">
        <p14:creationId xmlns:p14="http://schemas.microsoft.com/office/powerpoint/2010/main" val="13973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 grpId="0"/>
      <p:bldP spid="9" grpId="0"/>
      <p:bldP spid="1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DD12E-E7E0-1DCD-92FB-C94A42AA43E2}"/>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B9FD25EC-CEA9-CC81-AA9E-A1840B4342FF}"/>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Read Operation</a:t>
            </a:r>
          </a:p>
        </p:txBody>
      </p:sp>
      <p:sp>
        <p:nvSpPr>
          <p:cNvPr id="5" name="TextBox 4">
            <a:extLst>
              <a:ext uri="{FF2B5EF4-FFF2-40B4-BE49-F238E27FC236}">
                <a16:creationId xmlns:a16="http://schemas.microsoft.com/office/drawing/2014/main" id="{B70A5A25-C96B-7BCF-8AF1-7C9D451DA703}"/>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78C5FC33-94DC-65B3-6CFA-A0B9DAA5E89D}"/>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6397D3AC-9A8F-98C6-196B-9CE671C82E7D}"/>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199B0C45-0DC1-243A-4806-DDEB8A6CBB42}"/>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20440CE7-2502-D94B-CE2E-334585B4EBFB}"/>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B91456C4-6E2E-008C-3799-A9DB3471306F}"/>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167B866E-BDDF-4982-10E3-12C3A0E3E422}"/>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TextBox 8">
            <a:extLst>
              <a:ext uri="{FF2B5EF4-FFF2-40B4-BE49-F238E27FC236}">
                <a16:creationId xmlns:a16="http://schemas.microsoft.com/office/drawing/2014/main" id="{131CFB46-7943-CE6A-E107-9AECA24B0CCE}"/>
              </a:ext>
            </a:extLst>
          </p:cNvPr>
          <p:cNvSpPr txBox="1"/>
          <p:nvPr/>
        </p:nvSpPr>
        <p:spPr>
          <a:xfrm>
            <a:off x="975002" y="2319635"/>
            <a:ext cx="16246198" cy="461665"/>
          </a:xfrm>
          <a:prstGeom prst="rect">
            <a:avLst/>
          </a:prstGeom>
          <a:noFill/>
        </p:spPr>
        <p:txBody>
          <a:bodyPr wrap="square">
            <a:spAutoFit/>
          </a:bodyPr>
          <a:lstStyle/>
          <a:p>
            <a:r>
              <a:rPr lang="en-US" sz="2400" b="1" dirty="0">
                <a:solidFill>
                  <a:srgbClr val="303642"/>
                </a:solidFill>
                <a:latin typeface="Poppins" panose="00000500000000000000" pitchFamily="2" charset="0"/>
                <a:cs typeface="Poppins" panose="00000500000000000000" pitchFamily="2" charset="0"/>
              </a:rPr>
              <a:t>On-demand request </a:t>
            </a:r>
            <a:r>
              <a:rPr lang="en-US" sz="2400" dirty="0">
                <a:solidFill>
                  <a:srgbClr val="303642"/>
                </a:solidFill>
                <a:latin typeface="Poppins" panose="00000500000000000000" pitchFamily="2" charset="0"/>
                <a:cs typeface="Poppins" panose="00000500000000000000" pitchFamily="2" charset="0"/>
              </a:rPr>
              <a:t>initiated by the Client to retrieve the current value of a specific data on the Server.</a:t>
            </a:r>
            <a:endParaRPr lang="en-DE" sz="2400" dirty="0">
              <a:solidFill>
                <a:srgbClr val="303642"/>
              </a:solidFill>
              <a:latin typeface="Poppins" panose="00000500000000000000" pitchFamily="2" charset="0"/>
              <a:cs typeface="Poppins" panose="00000500000000000000" pitchFamily="2" charset="0"/>
            </a:endParaRPr>
          </a:p>
        </p:txBody>
      </p:sp>
      <p:pic>
        <p:nvPicPr>
          <p:cNvPr id="10" name="Picture 9">
            <a:extLst>
              <a:ext uri="{FF2B5EF4-FFF2-40B4-BE49-F238E27FC236}">
                <a16:creationId xmlns:a16="http://schemas.microsoft.com/office/drawing/2014/main" id="{D66F882F-6D21-5981-F444-658D87415A1D}"/>
              </a:ext>
            </a:extLst>
          </p:cNvPr>
          <p:cNvPicPr>
            <a:picLocks noChangeAspect="1"/>
          </p:cNvPicPr>
          <p:nvPr/>
        </p:nvPicPr>
        <p:blipFill>
          <a:blip r:embed="rId3"/>
          <a:stretch>
            <a:fillRect/>
          </a:stretch>
        </p:blipFill>
        <p:spPr>
          <a:xfrm>
            <a:off x="2096621" y="4698020"/>
            <a:ext cx="14094757" cy="2752230"/>
          </a:xfrm>
          <a:prstGeom prst="rect">
            <a:avLst/>
          </a:prstGeom>
        </p:spPr>
      </p:pic>
      <p:sp>
        <p:nvSpPr>
          <p:cNvPr id="4" name="Slide Number Placeholder 3">
            <a:extLst>
              <a:ext uri="{FF2B5EF4-FFF2-40B4-BE49-F238E27FC236}">
                <a16:creationId xmlns:a16="http://schemas.microsoft.com/office/drawing/2014/main" id="{C30CB828-F2D7-D905-0D3E-172A4A198E4F}"/>
              </a:ext>
            </a:extLst>
          </p:cNvPr>
          <p:cNvSpPr>
            <a:spLocks noGrp="1"/>
          </p:cNvSpPr>
          <p:nvPr>
            <p:ph type="sldNum" sz="quarter" idx="12"/>
          </p:nvPr>
        </p:nvSpPr>
        <p:spPr/>
        <p:txBody>
          <a:bodyPr/>
          <a:lstStyle/>
          <a:p>
            <a:fld id="{B6F15528-21DE-4FAA-801E-634DDDAF4B2B}" type="slidenum">
              <a:rPr lang="en-US" smtClean="0"/>
              <a:pPr/>
              <a:t>37</a:t>
            </a:fld>
            <a:endParaRPr lang="en-US" sz="1800"/>
          </a:p>
        </p:txBody>
      </p:sp>
    </p:spTree>
    <p:extLst>
      <p:ext uri="{BB962C8B-B14F-4D97-AF65-F5344CB8AC3E}">
        <p14:creationId xmlns:p14="http://schemas.microsoft.com/office/powerpoint/2010/main" val="3603467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04963-3E0E-9E47-AFFB-56C3D27BC1D9}"/>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A9A0FC74-88AC-88DA-431B-9651FDE36219}"/>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Read Operation</a:t>
            </a:r>
          </a:p>
        </p:txBody>
      </p:sp>
      <p:sp>
        <p:nvSpPr>
          <p:cNvPr id="5" name="TextBox 4">
            <a:extLst>
              <a:ext uri="{FF2B5EF4-FFF2-40B4-BE49-F238E27FC236}">
                <a16:creationId xmlns:a16="http://schemas.microsoft.com/office/drawing/2014/main" id="{8FCE79BC-26F5-576A-1117-56D44E33DAD8}"/>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F0536E5C-85A5-D9B7-11B7-6337C1BB5908}"/>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FC466521-01E8-19D7-0E9F-1493480B7A9E}"/>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95153AD0-7200-66C0-0FF7-F45D50763AA4}"/>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4" name="Slide Number Placeholder 3">
            <a:extLst>
              <a:ext uri="{FF2B5EF4-FFF2-40B4-BE49-F238E27FC236}">
                <a16:creationId xmlns:a16="http://schemas.microsoft.com/office/drawing/2014/main" id="{5AF2CB11-92A2-2DF3-F027-58C576305E3A}"/>
              </a:ext>
            </a:extLst>
          </p:cNvPr>
          <p:cNvSpPr>
            <a:spLocks noGrp="1"/>
          </p:cNvSpPr>
          <p:nvPr>
            <p:ph type="sldNum" sz="quarter" idx="12"/>
          </p:nvPr>
        </p:nvSpPr>
        <p:spPr/>
        <p:txBody>
          <a:bodyPr/>
          <a:lstStyle/>
          <a:p>
            <a:fld id="{B6F15528-21DE-4FAA-801E-634DDDAF4B2B}" type="slidenum">
              <a:rPr lang="en-US" smtClean="0"/>
              <a:pPr/>
              <a:t>38</a:t>
            </a:fld>
            <a:endParaRPr lang="en-US" sz="1800"/>
          </a:p>
        </p:txBody>
      </p:sp>
      <p:pic>
        <p:nvPicPr>
          <p:cNvPr id="7" name="Picture 6">
            <a:extLst>
              <a:ext uri="{FF2B5EF4-FFF2-40B4-BE49-F238E27FC236}">
                <a16:creationId xmlns:a16="http://schemas.microsoft.com/office/drawing/2014/main" id="{FDEC543B-7431-F1BF-74A5-4A5EB1B8A620}"/>
              </a:ext>
            </a:extLst>
          </p:cNvPr>
          <p:cNvPicPr>
            <a:picLocks noChangeAspect="1"/>
          </p:cNvPicPr>
          <p:nvPr/>
        </p:nvPicPr>
        <p:blipFill>
          <a:blip r:embed="rId3"/>
          <a:stretch>
            <a:fillRect/>
          </a:stretch>
        </p:blipFill>
        <p:spPr>
          <a:xfrm>
            <a:off x="4102273" y="2023604"/>
            <a:ext cx="10083453" cy="8001000"/>
          </a:xfrm>
          <a:prstGeom prst="rect">
            <a:avLst/>
          </a:prstGeom>
        </p:spPr>
      </p:pic>
      <p:grpSp>
        <p:nvGrpSpPr>
          <p:cNvPr id="25" name="Group 3">
            <a:extLst>
              <a:ext uri="{FF2B5EF4-FFF2-40B4-BE49-F238E27FC236}">
                <a16:creationId xmlns:a16="http://schemas.microsoft.com/office/drawing/2014/main" id="{1FCE5739-A056-C587-1475-EF17F2EC7315}"/>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656A09D8-82A7-6DA6-DFA6-C0C0A49BEAC3}"/>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442D30DD-E15C-3F73-E39E-090C60EF94DE}"/>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30837020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5C1B9-3973-2CAC-886D-FF0722B72EF0}"/>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9B42BE70-96BF-CBA6-ACB5-6B9DEE08F191}"/>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Write Operation</a:t>
            </a:r>
          </a:p>
        </p:txBody>
      </p:sp>
      <p:grpSp>
        <p:nvGrpSpPr>
          <p:cNvPr id="3" name="Group 3">
            <a:extLst>
              <a:ext uri="{FF2B5EF4-FFF2-40B4-BE49-F238E27FC236}">
                <a16:creationId xmlns:a16="http://schemas.microsoft.com/office/drawing/2014/main" id="{B320DBEE-5891-BB06-F614-C726D022D581}"/>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941CBABF-D6B7-4178-3983-D08D7614139E}"/>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43C8D552-26AD-6972-8865-4FA8361A118F}"/>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E3AFFA5F-A326-1260-1581-1705255B0750}"/>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2DD97717-0039-9FB9-72B4-085D3A830A50}"/>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BB3031E7-3FAB-FA60-0C4A-28403ED19C24}"/>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6" name="TextBox 5">
            <a:extLst>
              <a:ext uri="{FF2B5EF4-FFF2-40B4-BE49-F238E27FC236}">
                <a16:creationId xmlns:a16="http://schemas.microsoft.com/office/drawing/2014/main" id="{BD0C47D6-6B3E-2F1D-9D9B-71D631225EA5}"/>
              </a:ext>
            </a:extLst>
          </p:cNvPr>
          <p:cNvSpPr txBox="1"/>
          <p:nvPr/>
        </p:nvSpPr>
        <p:spPr>
          <a:xfrm>
            <a:off x="975002" y="2198984"/>
            <a:ext cx="12207598" cy="461665"/>
          </a:xfrm>
          <a:prstGeom prst="rect">
            <a:avLst/>
          </a:prstGeom>
          <a:noFill/>
        </p:spPr>
        <p:txBody>
          <a:bodyPr wrap="square">
            <a:spAutoFit/>
          </a:bodyPr>
          <a:lstStyle/>
          <a:p>
            <a:r>
              <a:rPr lang="en-US" sz="2400" dirty="0">
                <a:solidFill>
                  <a:srgbClr val="303642"/>
                </a:solidFill>
                <a:latin typeface="Poppins" panose="00000500000000000000" pitchFamily="2" charset="0"/>
                <a:cs typeface="Poppins" panose="00000500000000000000" pitchFamily="2" charset="0"/>
              </a:rPr>
              <a:t>Initiated by the Client to </a:t>
            </a:r>
            <a:r>
              <a:rPr lang="en-US" sz="2400" b="1" dirty="0">
                <a:solidFill>
                  <a:srgbClr val="303642"/>
                </a:solidFill>
                <a:latin typeface="Poppins" panose="00000500000000000000" pitchFamily="2" charset="0"/>
                <a:cs typeface="Poppins" panose="00000500000000000000" pitchFamily="2" charset="0"/>
              </a:rPr>
              <a:t>modify</a:t>
            </a:r>
            <a:r>
              <a:rPr lang="en-US" sz="2400" dirty="0">
                <a:solidFill>
                  <a:srgbClr val="303642"/>
                </a:solidFill>
                <a:latin typeface="Poppins" panose="00000500000000000000" pitchFamily="2" charset="0"/>
                <a:cs typeface="Poppins" panose="00000500000000000000" pitchFamily="2" charset="0"/>
              </a:rPr>
              <a:t> or </a:t>
            </a:r>
            <a:r>
              <a:rPr lang="en-US" sz="2400" b="1" dirty="0">
                <a:solidFill>
                  <a:srgbClr val="303642"/>
                </a:solidFill>
                <a:latin typeface="Poppins" panose="00000500000000000000" pitchFamily="2" charset="0"/>
                <a:cs typeface="Poppins" panose="00000500000000000000" pitchFamily="2" charset="0"/>
              </a:rPr>
              <a:t>send data </a:t>
            </a:r>
            <a:r>
              <a:rPr lang="en-US" sz="2400" dirty="0">
                <a:solidFill>
                  <a:srgbClr val="303642"/>
                </a:solidFill>
                <a:latin typeface="Poppins" panose="00000500000000000000" pitchFamily="2" charset="0"/>
                <a:cs typeface="Poppins" panose="00000500000000000000" pitchFamily="2" charset="0"/>
              </a:rPr>
              <a:t>to a characteristic on the Server.</a:t>
            </a:r>
            <a:endParaRPr lang="en-DE" sz="2400" dirty="0">
              <a:solidFill>
                <a:srgbClr val="303642"/>
              </a:solidFill>
              <a:latin typeface="Poppins" panose="00000500000000000000" pitchFamily="2" charset="0"/>
              <a:cs typeface="Poppins" panose="00000500000000000000" pitchFamily="2" charset="0"/>
            </a:endParaRPr>
          </a:p>
        </p:txBody>
      </p:sp>
      <p:sp>
        <p:nvSpPr>
          <p:cNvPr id="10" name="Slide Number Placeholder 9">
            <a:extLst>
              <a:ext uri="{FF2B5EF4-FFF2-40B4-BE49-F238E27FC236}">
                <a16:creationId xmlns:a16="http://schemas.microsoft.com/office/drawing/2014/main" id="{432BA3FA-EBCC-E8C4-AB6F-289CBB21CFBB}"/>
              </a:ext>
            </a:extLst>
          </p:cNvPr>
          <p:cNvSpPr>
            <a:spLocks noGrp="1"/>
          </p:cNvSpPr>
          <p:nvPr>
            <p:ph type="sldNum" sz="quarter" idx="12"/>
          </p:nvPr>
        </p:nvSpPr>
        <p:spPr/>
        <p:txBody>
          <a:bodyPr/>
          <a:lstStyle/>
          <a:p>
            <a:fld id="{B6F15528-21DE-4FAA-801E-634DDDAF4B2B}" type="slidenum">
              <a:rPr lang="en-US" smtClean="0"/>
              <a:pPr/>
              <a:t>39</a:t>
            </a:fld>
            <a:endParaRPr lang="en-US" sz="1800"/>
          </a:p>
        </p:txBody>
      </p:sp>
      <p:sp>
        <p:nvSpPr>
          <p:cNvPr id="27" name="TextBox 26">
            <a:extLst>
              <a:ext uri="{FF2B5EF4-FFF2-40B4-BE49-F238E27FC236}">
                <a16:creationId xmlns:a16="http://schemas.microsoft.com/office/drawing/2014/main" id="{A757CA65-8D15-66B3-B8D0-92BAA77BA597}"/>
              </a:ext>
            </a:extLst>
          </p:cNvPr>
          <p:cNvSpPr txBox="1"/>
          <p:nvPr/>
        </p:nvSpPr>
        <p:spPr>
          <a:xfrm>
            <a:off x="12118339" y="3543300"/>
            <a:ext cx="3844469" cy="553998"/>
          </a:xfrm>
          <a:prstGeom prst="rect">
            <a:avLst/>
          </a:prstGeom>
          <a:noFill/>
        </p:spPr>
        <p:txBody>
          <a:bodyPr wrap="square">
            <a:spAutoFit/>
          </a:bodyPr>
          <a:lstStyle/>
          <a:p>
            <a:r>
              <a:rPr lang="en-DE" sz="3000" b="1" dirty="0">
                <a:solidFill>
                  <a:schemeClr val="tx2"/>
                </a:solidFill>
                <a:latin typeface="Poppins Bold"/>
                <a:cs typeface="Poppins Bold"/>
              </a:rPr>
              <a:t>Write Command</a:t>
            </a:r>
          </a:p>
        </p:txBody>
      </p:sp>
      <p:pic>
        <p:nvPicPr>
          <p:cNvPr id="35" name="Picture 34">
            <a:extLst>
              <a:ext uri="{FF2B5EF4-FFF2-40B4-BE49-F238E27FC236}">
                <a16:creationId xmlns:a16="http://schemas.microsoft.com/office/drawing/2014/main" id="{2066E30A-E82C-6022-2463-DF859E1F53A7}"/>
              </a:ext>
            </a:extLst>
          </p:cNvPr>
          <p:cNvPicPr>
            <a:picLocks noChangeAspect="1"/>
          </p:cNvPicPr>
          <p:nvPr/>
        </p:nvPicPr>
        <p:blipFill>
          <a:blip r:embed="rId3"/>
          <a:stretch>
            <a:fillRect/>
          </a:stretch>
        </p:blipFill>
        <p:spPr>
          <a:xfrm>
            <a:off x="10647671" y="4457135"/>
            <a:ext cx="6785807" cy="1325039"/>
          </a:xfrm>
          <a:prstGeom prst="rect">
            <a:avLst/>
          </a:prstGeom>
        </p:spPr>
      </p:pic>
      <p:grpSp>
        <p:nvGrpSpPr>
          <p:cNvPr id="48" name="Group 47">
            <a:extLst>
              <a:ext uri="{FF2B5EF4-FFF2-40B4-BE49-F238E27FC236}">
                <a16:creationId xmlns:a16="http://schemas.microsoft.com/office/drawing/2014/main" id="{C7774882-A3BF-F6D0-83E2-0ABA135F3097}"/>
              </a:ext>
            </a:extLst>
          </p:cNvPr>
          <p:cNvGrpSpPr/>
          <p:nvPr/>
        </p:nvGrpSpPr>
        <p:grpSpPr>
          <a:xfrm>
            <a:off x="11201400" y="5905500"/>
            <a:ext cx="5715000" cy="1496741"/>
            <a:chOff x="11201400" y="5905500"/>
            <a:chExt cx="5715000" cy="1496741"/>
          </a:xfrm>
        </p:grpSpPr>
        <p:sp>
          <p:nvSpPr>
            <p:cNvPr id="21" name="Freeform 4">
              <a:extLst>
                <a:ext uri="{FF2B5EF4-FFF2-40B4-BE49-F238E27FC236}">
                  <a16:creationId xmlns:a16="http://schemas.microsoft.com/office/drawing/2014/main" id="{0551D5DE-CF89-D210-EBE7-56C21FCAC5EB}"/>
                </a:ext>
              </a:extLst>
            </p:cNvPr>
            <p:cNvSpPr/>
            <p:nvPr/>
          </p:nvSpPr>
          <p:spPr>
            <a:xfrm>
              <a:off x="11201400" y="6134424"/>
              <a:ext cx="5715000" cy="1267817"/>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pPr algn="ctr"/>
              <a:endParaRPr lang="en-US" sz="2400" dirty="0">
                <a:solidFill>
                  <a:schemeClr val="bg1"/>
                </a:solidFill>
                <a:latin typeface="Poppins" panose="00000500000000000000" pitchFamily="2" charset="0"/>
                <a:cs typeface="Poppins" panose="00000500000000000000" pitchFamily="2" charset="0"/>
              </a:endParaRPr>
            </a:p>
            <a:p>
              <a:pPr algn="ctr"/>
              <a:r>
                <a:rPr lang="en-US" sz="2400" dirty="0">
                  <a:solidFill>
                    <a:schemeClr val="bg1"/>
                  </a:solidFill>
                  <a:latin typeface="Poppins" panose="00000500000000000000" pitchFamily="2" charset="0"/>
                  <a:cs typeface="Poppins" panose="00000500000000000000" pitchFamily="2" charset="0"/>
                </a:rPr>
                <a:t>Fast throughput.</a:t>
              </a:r>
            </a:p>
            <a:p>
              <a:pPr marL="342900" indent="-342900" algn="ctr">
                <a:buFont typeface="Arial" panose="020B0604020202020204" pitchFamily="34" charset="0"/>
                <a:buChar char="•"/>
              </a:pPr>
              <a:endParaRPr lang="en-US" sz="2400" dirty="0">
                <a:solidFill>
                  <a:schemeClr val="bg1"/>
                </a:solidFill>
                <a:latin typeface="Poppins" panose="00000500000000000000" pitchFamily="2" charset="0"/>
                <a:cs typeface="Poppins" panose="00000500000000000000" pitchFamily="2" charset="0"/>
              </a:endParaRPr>
            </a:p>
          </p:txBody>
        </p:sp>
        <p:pic>
          <p:nvPicPr>
            <p:cNvPr id="26" name="Graphic 25" descr="Checkmark with solid fill">
              <a:extLst>
                <a:ext uri="{FF2B5EF4-FFF2-40B4-BE49-F238E27FC236}">
                  <a16:creationId xmlns:a16="http://schemas.microsoft.com/office/drawing/2014/main" id="{3049A904-A873-92C5-48B2-0F5FF6D270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77600" y="5905500"/>
              <a:ext cx="533400" cy="533400"/>
            </a:xfrm>
            <a:prstGeom prst="rect">
              <a:avLst/>
            </a:prstGeom>
          </p:spPr>
        </p:pic>
      </p:grpSp>
      <p:grpSp>
        <p:nvGrpSpPr>
          <p:cNvPr id="49" name="Group 48">
            <a:extLst>
              <a:ext uri="{FF2B5EF4-FFF2-40B4-BE49-F238E27FC236}">
                <a16:creationId xmlns:a16="http://schemas.microsoft.com/office/drawing/2014/main" id="{12F74C43-AA5D-710E-C160-AF6312A55871}"/>
              </a:ext>
            </a:extLst>
          </p:cNvPr>
          <p:cNvGrpSpPr/>
          <p:nvPr/>
        </p:nvGrpSpPr>
        <p:grpSpPr>
          <a:xfrm>
            <a:off x="11201400" y="7488492"/>
            <a:ext cx="5715000" cy="1618547"/>
            <a:chOff x="11201400" y="7488492"/>
            <a:chExt cx="5715000" cy="1618547"/>
          </a:xfrm>
        </p:grpSpPr>
        <p:sp>
          <p:nvSpPr>
            <p:cNvPr id="22" name="Freeform 4">
              <a:extLst>
                <a:ext uri="{FF2B5EF4-FFF2-40B4-BE49-F238E27FC236}">
                  <a16:creationId xmlns:a16="http://schemas.microsoft.com/office/drawing/2014/main" id="{8ACD7C0E-5CD7-DC93-EED6-0241C2BEBA52}"/>
                </a:ext>
              </a:extLst>
            </p:cNvPr>
            <p:cNvSpPr/>
            <p:nvPr/>
          </p:nvSpPr>
          <p:spPr>
            <a:xfrm>
              <a:off x="11201400" y="7774261"/>
              <a:ext cx="5715000" cy="1332778"/>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pPr algn="ctr"/>
              <a:endParaRPr lang="en-US" sz="2400" dirty="0">
                <a:solidFill>
                  <a:schemeClr val="bg1"/>
                </a:solidFill>
                <a:latin typeface="Poppins" panose="00000500000000000000" pitchFamily="2" charset="0"/>
                <a:cs typeface="Poppins" panose="00000500000000000000" pitchFamily="2" charset="0"/>
              </a:endParaRPr>
            </a:p>
            <a:p>
              <a:pPr algn="ctr"/>
              <a:r>
                <a:rPr lang="en-US" sz="2400" dirty="0">
                  <a:solidFill>
                    <a:schemeClr val="bg1"/>
                  </a:solidFill>
                  <a:latin typeface="Poppins" panose="00000500000000000000" pitchFamily="2" charset="0"/>
                  <a:cs typeface="Poppins" panose="00000500000000000000" pitchFamily="2" charset="0"/>
                </a:rPr>
                <a:t>Lacks data arrival verification.</a:t>
              </a:r>
              <a:endParaRPr lang="en-DE" sz="2400" dirty="0">
                <a:solidFill>
                  <a:schemeClr val="bg1"/>
                </a:solidFill>
                <a:latin typeface="Poppins" panose="00000500000000000000" pitchFamily="2" charset="0"/>
                <a:cs typeface="Poppins" panose="00000500000000000000" pitchFamily="2" charset="0"/>
              </a:endParaRPr>
            </a:p>
          </p:txBody>
        </p:sp>
        <p:pic>
          <p:nvPicPr>
            <p:cNvPr id="41" name="Graphic 40" descr="Close with solid fill">
              <a:extLst>
                <a:ext uri="{FF2B5EF4-FFF2-40B4-BE49-F238E27FC236}">
                  <a16:creationId xmlns:a16="http://schemas.microsoft.com/office/drawing/2014/main" id="{E9168F44-691A-69CE-F461-7CE7FEE740A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90560" y="7488492"/>
              <a:ext cx="596640" cy="596640"/>
            </a:xfrm>
            <a:prstGeom prst="rect">
              <a:avLst/>
            </a:prstGeom>
          </p:spPr>
        </p:pic>
      </p:grpSp>
      <p:sp>
        <p:nvSpPr>
          <p:cNvPr id="25" name="TextBox 24">
            <a:extLst>
              <a:ext uri="{FF2B5EF4-FFF2-40B4-BE49-F238E27FC236}">
                <a16:creationId xmlns:a16="http://schemas.microsoft.com/office/drawing/2014/main" id="{EB72B5C0-D677-75EB-F780-6EDF2C291DAD}"/>
              </a:ext>
            </a:extLst>
          </p:cNvPr>
          <p:cNvSpPr txBox="1"/>
          <p:nvPr/>
        </p:nvSpPr>
        <p:spPr>
          <a:xfrm>
            <a:off x="5803992" y="3543300"/>
            <a:ext cx="3142528" cy="553998"/>
          </a:xfrm>
          <a:prstGeom prst="rect">
            <a:avLst/>
          </a:prstGeom>
          <a:noFill/>
        </p:spPr>
        <p:txBody>
          <a:bodyPr wrap="square">
            <a:spAutoFit/>
          </a:bodyPr>
          <a:lstStyle/>
          <a:p>
            <a:r>
              <a:rPr lang="en-DE" sz="3000" b="1" dirty="0">
                <a:solidFill>
                  <a:schemeClr val="tx2"/>
                </a:solidFill>
                <a:latin typeface="Poppins Bold"/>
                <a:cs typeface="Poppins Bold"/>
              </a:rPr>
              <a:t>Write Request</a:t>
            </a:r>
          </a:p>
        </p:txBody>
      </p:sp>
      <p:grpSp>
        <p:nvGrpSpPr>
          <p:cNvPr id="2" name="Group 1">
            <a:extLst>
              <a:ext uri="{FF2B5EF4-FFF2-40B4-BE49-F238E27FC236}">
                <a16:creationId xmlns:a16="http://schemas.microsoft.com/office/drawing/2014/main" id="{107DAFE6-EB1E-ED8B-9BC7-BFAE16F1A3F4}"/>
              </a:ext>
            </a:extLst>
          </p:cNvPr>
          <p:cNvGrpSpPr/>
          <p:nvPr/>
        </p:nvGrpSpPr>
        <p:grpSpPr>
          <a:xfrm>
            <a:off x="1350175" y="4475018"/>
            <a:ext cx="9390018" cy="1267818"/>
            <a:chOff x="1350175" y="4931079"/>
            <a:chExt cx="9390018" cy="1267818"/>
          </a:xfrm>
        </p:grpSpPr>
        <p:sp>
          <p:nvSpPr>
            <p:cNvPr id="29" name="TextBox 28">
              <a:extLst>
                <a:ext uri="{FF2B5EF4-FFF2-40B4-BE49-F238E27FC236}">
                  <a16:creationId xmlns:a16="http://schemas.microsoft.com/office/drawing/2014/main" id="{E3E2371B-0325-7DA8-F648-B1FF7F687F05}"/>
                </a:ext>
              </a:extLst>
            </p:cNvPr>
            <p:cNvSpPr txBox="1"/>
            <p:nvPr/>
          </p:nvSpPr>
          <p:spPr>
            <a:xfrm>
              <a:off x="1350175" y="5242080"/>
              <a:ext cx="2518257" cy="553998"/>
            </a:xfrm>
            <a:prstGeom prst="rect">
              <a:avLst/>
            </a:prstGeom>
            <a:noFill/>
          </p:spPr>
          <p:txBody>
            <a:bodyPr wrap="square">
              <a:spAutoFit/>
            </a:bodyPr>
            <a:lstStyle/>
            <a:p>
              <a:r>
                <a:rPr lang="en-DE" sz="3000" b="1" dirty="0">
                  <a:solidFill>
                    <a:schemeClr val="tx2"/>
                  </a:solidFill>
                  <a:latin typeface="Poppins Bold"/>
                  <a:cs typeface="Poppins Bold"/>
                </a:rPr>
                <a:t>Mechanism</a:t>
              </a:r>
            </a:p>
          </p:txBody>
        </p:sp>
        <p:grpSp>
          <p:nvGrpSpPr>
            <p:cNvPr id="36" name="Group 35">
              <a:extLst>
                <a:ext uri="{FF2B5EF4-FFF2-40B4-BE49-F238E27FC236}">
                  <a16:creationId xmlns:a16="http://schemas.microsoft.com/office/drawing/2014/main" id="{AF82D9CA-E544-FE12-EEE7-E5796BADFF04}"/>
                </a:ext>
              </a:extLst>
            </p:cNvPr>
            <p:cNvGrpSpPr/>
            <p:nvPr/>
          </p:nvGrpSpPr>
          <p:grpSpPr>
            <a:xfrm>
              <a:off x="4247425" y="4931079"/>
              <a:ext cx="6492768" cy="1267818"/>
              <a:chOff x="4247425" y="4931079"/>
              <a:chExt cx="6492768" cy="1267818"/>
            </a:xfrm>
          </p:grpSpPr>
          <p:pic>
            <p:nvPicPr>
              <p:cNvPr id="32" name="Picture 31">
                <a:extLst>
                  <a:ext uri="{FF2B5EF4-FFF2-40B4-BE49-F238E27FC236}">
                    <a16:creationId xmlns:a16="http://schemas.microsoft.com/office/drawing/2014/main" id="{9EF10DF5-D021-CE06-6F6D-ADAC2D0A50E4}"/>
                  </a:ext>
                </a:extLst>
              </p:cNvPr>
              <p:cNvPicPr>
                <a:picLocks noChangeAspect="1"/>
              </p:cNvPicPr>
              <p:nvPr/>
            </p:nvPicPr>
            <p:blipFill>
              <a:blip r:embed="rId6"/>
              <a:stretch>
                <a:fillRect/>
              </a:stretch>
            </p:blipFill>
            <p:spPr>
              <a:xfrm>
                <a:off x="4247425" y="4931079"/>
                <a:ext cx="6492768" cy="1267818"/>
              </a:xfrm>
              <a:prstGeom prst="rect">
                <a:avLst/>
              </a:prstGeom>
            </p:spPr>
          </p:pic>
          <p:pic>
            <p:nvPicPr>
              <p:cNvPr id="34" name="Graphic 33" descr="Arrow circle outline">
                <a:extLst>
                  <a:ext uri="{FF2B5EF4-FFF2-40B4-BE49-F238E27FC236}">
                    <a16:creationId xmlns:a16="http://schemas.microsoft.com/office/drawing/2014/main" id="{96A1E2E0-7A61-720B-06DC-FE921D02F0A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65062" y="5525738"/>
                <a:ext cx="580275" cy="580275"/>
              </a:xfrm>
              <a:prstGeom prst="rect">
                <a:avLst/>
              </a:prstGeom>
            </p:spPr>
          </p:pic>
        </p:grpSp>
      </p:grpSp>
      <p:grpSp>
        <p:nvGrpSpPr>
          <p:cNvPr id="46" name="Group 45">
            <a:extLst>
              <a:ext uri="{FF2B5EF4-FFF2-40B4-BE49-F238E27FC236}">
                <a16:creationId xmlns:a16="http://schemas.microsoft.com/office/drawing/2014/main" id="{89AB8F72-F4ED-E34B-7C36-8F6EFCA01329}"/>
              </a:ext>
            </a:extLst>
          </p:cNvPr>
          <p:cNvGrpSpPr/>
          <p:nvPr/>
        </p:nvGrpSpPr>
        <p:grpSpPr>
          <a:xfrm>
            <a:off x="1117600" y="7491376"/>
            <a:ext cx="9057639" cy="1595984"/>
            <a:chOff x="1117600" y="7491376"/>
            <a:chExt cx="9057639" cy="1595984"/>
          </a:xfrm>
        </p:grpSpPr>
        <p:grpSp>
          <p:nvGrpSpPr>
            <p:cNvPr id="8" name="Group 7">
              <a:extLst>
                <a:ext uri="{FF2B5EF4-FFF2-40B4-BE49-F238E27FC236}">
                  <a16:creationId xmlns:a16="http://schemas.microsoft.com/office/drawing/2014/main" id="{2344167F-F9F5-5B9F-58A9-31FC9EB58E98}"/>
                </a:ext>
              </a:extLst>
            </p:cNvPr>
            <p:cNvGrpSpPr/>
            <p:nvPr/>
          </p:nvGrpSpPr>
          <p:grpSpPr>
            <a:xfrm>
              <a:off x="1117600" y="7573756"/>
              <a:ext cx="9057639" cy="1513604"/>
              <a:chOff x="1116509" y="6593403"/>
              <a:chExt cx="9057639" cy="1513604"/>
            </a:xfrm>
          </p:grpSpPr>
          <p:grpSp>
            <p:nvGrpSpPr>
              <p:cNvPr id="9" name="Group 3">
                <a:extLst>
                  <a:ext uri="{FF2B5EF4-FFF2-40B4-BE49-F238E27FC236}">
                    <a16:creationId xmlns:a16="http://schemas.microsoft.com/office/drawing/2014/main" id="{003B8265-AAA7-33B3-159E-FB2C59ED2C9F}"/>
                  </a:ext>
                </a:extLst>
              </p:cNvPr>
              <p:cNvGrpSpPr/>
              <p:nvPr/>
            </p:nvGrpSpPr>
            <p:grpSpPr>
              <a:xfrm>
                <a:off x="4840883" y="6593403"/>
                <a:ext cx="5333265" cy="1513604"/>
                <a:chOff x="-243038" y="-47625"/>
                <a:chExt cx="1624464" cy="398645"/>
              </a:xfrm>
            </p:grpSpPr>
            <p:sp>
              <p:nvSpPr>
                <p:cNvPr id="19" name="Freeform 4">
                  <a:extLst>
                    <a:ext uri="{FF2B5EF4-FFF2-40B4-BE49-F238E27FC236}">
                      <a16:creationId xmlns:a16="http://schemas.microsoft.com/office/drawing/2014/main" id="{7B40D42D-A523-386B-27F8-2C0423ACE34E}"/>
                    </a:ext>
                  </a:extLst>
                </p:cNvPr>
                <p:cNvSpPr/>
                <p:nvPr/>
              </p:nvSpPr>
              <p:spPr>
                <a:xfrm>
                  <a:off x="-243038" y="-1317"/>
                  <a:ext cx="1543230" cy="345837"/>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pPr algn="ctr"/>
                  <a:endParaRPr lang="en-US" sz="2400" dirty="0">
                    <a:solidFill>
                      <a:schemeClr val="bg1"/>
                    </a:solidFill>
                    <a:latin typeface="Poppins" panose="00000500000000000000" pitchFamily="2" charset="0"/>
                    <a:cs typeface="Poppins" panose="00000500000000000000" pitchFamily="2" charset="0"/>
                  </a:endParaRPr>
                </a:p>
                <a:p>
                  <a:pPr algn="ctr"/>
                  <a:r>
                    <a:rPr lang="en-US" sz="2400" dirty="0">
                      <a:solidFill>
                        <a:schemeClr val="bg1"/>
                      </a:solidFill>
                      <a:latin typeface="Poppins" panose="00000500000000000000" pitchFamily="2" charset="0"/>
                      <a:cs typeface="Poppins" panose="00000500000000000000" pitchFamily="2" charset="0"/>
                    </a:rPr>
                    <a:t>Low throughput due to waiting for acknowledgment.</a:t>
                  </a:r>
                  <a:endParaRPr lang="en-DE" sz="2400" dirty="0">
                    <a:solidFill>
                      <a:schemeClr val="bg1"/>
                    </a:solidFill>
                    <a:latin typeface="Poppins" panose="00000500000000000000" pitchFamily="2" charset="0"/>
                    <a:cs typeface="Poppins" panose="00000500000000000000" pitchFamily="2" charset="0"/>
                  </a:endParaRPr>
                </a:p>
              </p:txBody>
            </p:sp>
            <p:sp>
              <p:nvSpPr>
                <p:cNvPr id="20" name="TextBox 5">
                  <a:extLst>
                    <a:ext uri="{FF2B5EF4-FFF2-40B4-BE49-F238E27FC236}">
                      <a16:creationId xmlns:a16="http://schemas.microsoft.com/office/drawing/2014/main" id="{FC94F739-5427-07A2-8903-49820ED0C111}"/>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18" name="TextBox 17">
                <a:extLst>
                  <a:ext uri="{FF2B5EF4-FFF2-40B4-BE49-F238E27FC236}">
                    <a16:creationId xmlns:a16="http://schemas.microsoft.com/office/drawing/2014/main" id="{F716BA57-8FAF-C0EF-932F-1C66454CA35A}"/>
                  </a:ext>
                </a:extLst>
              </p:cNvPr>
              <p:cNvSpPr txBox="1"/>
              <p:nvPr/>
            </p:nvSpPr>
            <p:spPr>
              <a:xfrm>
                <a:off x="1116509" y="7132289"/>
                <a:ext cx="2985591" cy="553998"/>
              </a:xfrm>
              <a:prstGeom prst="rect">
                <a:avLst/>
              </a:prstGeom>
              <a:noFill/>
            </p:spPr>
            <p:txBody>
              <a:bodyPr wrap="square">
                <a:spAutoFit/>
              </a:bodyPr>
              <a:lstStyle/>
              <a:p>
                <a:pPr algn="ctr"/>
                <a:r>
                  <a:rPr lang="en-DE" sz="3000" b="1" dirty="0">
                    <a:solidFill>
                      <a:schemeClr val="tx2"/>
                    </a:solidFill>
                    <a:latin typeface="Poppins Bold"/>
                    <a:cs typeface="Poppins Bold"/>
                  </a:rPr>
                  <a:t>Cons</a:t>
                </a:r>
              </a:p>
            </p:txBody>
          </p:sp>
        </p:grpSp>
        <p:pic>
          <p:nvPicPr>
            <p:cNvPr id="39" name="Graphic 38" descr="Close with solid fill">
              <a:extLst>
                <a:ext uri="{FF2B5EF4-FFF2-40B4-BE49-F238E27FC236}">
                  <a16:creationId xmlns:a16="http://schemas.microsoft.com/office/drawing/2014/main" id="{1E53F884-BF19-E7C3-B786-7F4F794204F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89760" y="7491376"/>
              <a:ext cx="596640" cy="596640"/>
            </a:xfrm>
            <a:prstGeom prst="rect">
              <a:avLst/>
            </a:prstGeom>
          </p:spPr>
        </p:pic>
      </p:grpSp>
      <p:grpSp>
        <p:nvGrpSpPr>
          <p:cNvPr id="45" name="Group 44">
            <a:extLst>
              <a:ext uri="{FF2B5EF4-FFF2-40B4-BE49-F238E27FC236}">
                <a16:creationId xmlns:a16="http://schemas.microsoft.com/office/drawing/2014/main" id="{15372B07-8F47-3578-BC93-7CED46E29460}"/>
              </a:ext>
            </a:extLst>
          </p:cNvPr>
          <p:cNvGrpSpPr/>
          <p:nvPr/>
        </p:nvGrpSpPr>
        <p:grpSpPr>
          <a:xfrm>
            <a:off x="1117600" y="5830439"/>
            <a:ext cx="9057639" cy="1571802"/>
            <a:chOff x="1117600" y="5830439"/>
            <a:chExt cx="9057639" cy="1571802"/>
          </a:xfrm>
        </p:grpSpPr>
        <p:grpSp>
          <p:nvGrpSpPr>
            <p:cNvPr id="7" name="Group 6">
              <a:extLst>
                <a:ext uri="{FF2B5EF4-FFF2-40B4-BE49-F238E27FC236}">
                  <a16:creationId xmlns:a16="http://schemas.microsoft.com/office/drawing/2014/main" id="{F2F5E76E-CF95-E864-354C-D4FFEBF6D01C}"/>
                </a:ext>
              </a:extLst>
            </p:cNvPr>
            <p:cNvGrpSpPr/>
            <p:nvPr/>
          </p:nvGrpSpPr>
          <p:grpSpPr>
            <a:xfrm>
              <a:off x="1117600" y="5830439"/>
              <a:ext cx="9057639" cy="1571802"/>
              <a:chOff x="1116509" y="6593403"/>
              <a:chExt cx="9057639" cy="1571802"/>
            </a:xfrm>
          </p:grpSpPr>
          <p:grpSp>
            <p:nvGrpSpPr>
              <p:cNvPr id="11" name="Group 3">
                <a:extLst>
                  <a:ext uri="{FF2B5EF4-FFF2-40B4-BE49-F238E27FC236}">
                    <a16:creationId xmlns:a16="http://schemas.microsoft.com/office/drawing/2014/main" id="{00F83FAF-0389-61C6-F292-B435E9495238}"/>
                  </a:ext>
                </a:extLst>
              </p:cNvPr>
              <p:cNvGrpSpPr/>
              <p:nvPr/>
            </p:nvGrpSpPr>
            <p:grpSpPr>
              <a:xfrm>
                <a:off x="4840883" y="6593403"/>
                <a:ext cx="5333265" cy="1571802"/>
                <a:chOff x="-243038" y="-47625"/>
                <a:chExt cx="1624464" cy="413973"/>
              </a:xfrm>
            </p:grpSpPr>
            <p:sp>
              <p:nvSpPr>
                <p:cNvPr id="12" name="Freeform 4">
                  <a:extLst>
                    <a:ext uri="{FF2B5EF4-FFF2-40B4-BE49-F238E27FC236}">
                      <a16:creationId xmlns:a16="http://schemas.microsoft.com/office/drawing/2014/main" id="{1233F278-2992-D44B-A183-7F8A206EDFB6}"/>
                    </a:ext>
                  </a:extLst>
                </p:cNvPr>
                <p:cNvSpPr/>
                <p:nvPr/>
              </p:nvSpPr>
              <p:spPr>
                <a:xfrm>
                  <a:off x="-243038" y="32437"/>
                  <a:ext cx="1543230" cy="333911"/>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pPr algn="ctr"/>
                  <a:endParaRPr lang="en-US" sz="2400" dirty="0">
                    <a:solidFill>
                      <a:schemeClr val="bg1"/>
                    </a:solidFill>
                    <a:latin typeface="Poppins" panose="00000500000000000000" pitchFamily="2" charset="0"/>
                    <a:cs typeface="Poppins" panose="00000500000000000000" pitchFamily="2" charset="0"/>
                  </a:endParaRPr>
                </a:p>
                <a:p>
                  <a:pPr algn="ctr"/>
                  <a:r>
                    <a:rPr lang="en-US" sz="2400" dirty="0">
                      <a:solidFill>
                        <a:schemeClr val="bg1"/>
                      </a:solidFill>
                      <a:latin typeface="Poppins" panose="00000500000000000000" pitchFamily="2" charset="0"/>
                      <a:cs typeface="Poppins" panose="00000500000000000000" pitchFamily="2" charset="0"/>
                    </a:rPr>
                    <a:t>Data arrival verified.</a:t>
                  </a:r>
                </a:p>
              </p:txBody>
            </p:sp>
            <p:sp>
              <p:nvSpPr>
                <p:cNvPr id="13" name="TextBox 5">
                  <a:extLst>
                    <a:ext uri="{FF2B5EF4-FFF2-40B4-BE49-F238E27FC236}">
                      <a16:creationId xmlns:a16="http://schemas.microsoft.com/office/drawing/2014/main" id="{1EE17D8C-2AAD-C3A1-2432-0659A809BA89}"/>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31" name="TextBox 30">
                <a:extLst>
                  <a:ext uri="{FF2B5EF4-FFF2-40B4-BE49-F238E27FC236}">
                    <a16:creationId xmlns:a16="http://schemas.microsoft.com/office/drawing/2014/main" id="{B78B74FF-B22D-D39F-0440-A8321275FF01}"/>
                  </a:ext>
                </a:extLst>
              </p:cNvPr>
              <p:cNvSpPr txBox="1"/>
              <p:nvPr/>
            </p:nvSpPr>
            <p:spPr>
              <a:xfrm>
                <a:off x="1116509" y="7132289"/>
                <a:ext cx="2985591" cy="553998"/>
              </a:xfrm>
              <a:prstGeom prst="rect">
                <a:avLst/>
              </a:prstGeom>
              <a:noFill/>
            </p:spPr>
            <p:txBody>
              <a:bodyPr wrap="square">
                <a:spAutoFit/>
              </a:bodyPr>
              <a:lstStyle/>
              <a:p>
                <a:pPr algn="ctr"/>
                <a:r>
                  <a:rPr lang="en-DE" sz="3000" b="1" dirty="0">
                    <a:solidFill>
                      <a:schemeClr val="tx2"/>
                    </a:solidFill>
                    <a:latin typeface="Poppins Bold"/>
                    <a:cs typeface="Poppins Bold"/>
                  </a:rPr>
                  <a:t>Pros</a:t>
                </a:r>
              </a:p>
            </p:txBody>
          </p:sp>
        </p:grpSp>
        <p:pic>
          <p:nvPicPr>
            <p:cNvPr id="43" name="Graphic 42" descr="Checkmark with solid fill">
              <a:extLst>
                <a:ext uri="{FF2B5EF4-FFF2-40B4-BE49-F238E27FC236}">
                  <a16:creationId xmlns:a16="http://schemas.microsoft.com/office/drawing/2014/main" id="{F5637C36-F6EA-9BBC-2918-FDE4766B0D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76800" y="5905500"/>
              <a:ext cx="533400" cy="533400"/>
            </a:xfrm>
            <a:prstGeom prst="rect">
              <a:avLst/>
            </a:prstGeom>
          </p:spPr>
        </p:pic>
      </p:grpSp>
    </p:spTree>
    <p:extLst>
      <p:ext uri="{BB962C8B-B14F-4D97-AF65-F5344CB8AC3E}">
        <p14:creationId xmlns:p14="http://schemas.microsoft.com/office/powerpoint/2010/main" val="293131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p:bldP spid="27" grpId="0"/>
      <p:bldP spid="2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E83BA-6DB8-58E6-8E8E-A3ACA48F3FFF}"/>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D3062DB4-25AA-4FF4-3D14-EE8771B68F4B}"/>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37B74CE2-222A-E684-D674-713C1B778B92}"/>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5D3B208D-8C2E-45AC-8E86-20DD95A80F23}"/>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C335818D-9C34-FEAA-ABF9-E270EC8A3C19}"/>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040D2FC4-3B9B-5E22-7F7D-AD2C0B7DD2C3}"/>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857FEDE9-3F7B-FBF4-2F4F-73A7CB396DE4}"/>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10" name="Slide Number Placeholder 9">
            <a:extLst>
              <a:ext uri="{FF2B5EF4-FFF2-40B4-BE49-F238E27FC236}">
                <a16:creationId xmlns:a16="http://schemas.microsoft.com/office/drawing/2014/main" id="{0359F978-3A2B-AE06-64EF-2F5122E5CCE8}"/>
              </a:ext>
            </a:extLst>
          </p:cNvPr>
          <p:cNvSpPr>
            <a:spLocks noGrp="1"/>
          </p:cNvSpPr>
          <p:nvPr>
            <p:ph type="sldNum" sz="quarter" idx="12"/>
          </p:nvPr>
        </p:nvSpPr>
        <p:spPr/>
        <p:txBody>
          <a:bodyPr/>
          <a:lstStyle/>
          <a:p>
            <a:fld id="{B6F15528-21DE-4FAA-801E-634DDDAF4B2B}" type="slidenum">
              <a:rPr lang="en-US" smtClean="0"/>
              <a:pPr/>
              <a:t>40</a:t>
            </a:fld>
            <a:endParaRPr lang="en-US" sz="1800"/>
          </a:p>
        </p:txBody>
      </p:sp>
      <p:sp>
        <p:nvSpPr>
          <p:cNvPr id="25" name="TextBox 24">
            <a:extLst>
              <a:ext uri="{FF2B5EF4-FFF2-40B4-BE49-F238E27FC236}">
                <a16:creationId xmlns:a16="http://schemas.microsoft.com/office/drawing/2014/main" id="{BDCCFB50-3968-4E38-765F-9A4A1F032717}"/>
              </a:ext>
            </a:extLst>
          </p:cNvPr>
          <p:cNvSpPr txBox="1"/>
          <p:nvPr/>
        </p:nvSpPr>
        <p:spPr>
          <a:xfrm>
            <a:off x="975002" y="2231762"/>
            <a:ext cx="3142528" cy="553998"/>
          </a:xfrm>
          <a:prstGeom prst="rect">
            <a:avLst/>
          </a:prstGeom>
          <a:noFill/>
        </p:spPr>
        <p:txBody>
          <a:bodyPr wrap="square">
            <a:spAutoFit/>
          </a:bodyPr>
          <a:lstStyle/>
          <a:p>
            <a:r>
              <a:rPr lang="en-DE" sz="3000" b="1" dirty="0">
                <a:solidFill>
                  <a:schemeClr val="tx2"/>
                </a:solidFill>
                <a:latin typeface="Poppins Bold"/>
                <a:cs typeface="Poppins Bold"/>
              </a:rPr>
              <a:t>Write Request</a:t>
            </a:r>
          </a:p>
        </p:txBody>
      </p:sp>
      <p:pic>
        <p:nvPicPr>
          <p:cNvPr id="30" name="Picture 29">
            <a:extLst>
              <a:ext uri="{FF2B5EF4-FFF2-40B4-BE49-F238E27FC236}">
                <a16:creationId xmlns:a16="http://schemas.microsoft.com/office/drawing/2014/main" id="{085A784A-912B-7996-9771-B4BEA8851934}"/>
              </a:ext>
            </a:extLst>
          </p:cNvPr>
          <p:cNvPicPr>
            <a:picLocks noChangeAspect="1"/>
          </p:cNvPicPr>
          <p:nvPr/>
        </p:nvPicPr>
        <p:blipFill>
          <a:blip r:embed="rId3"/>
          <a:stretch>
            <a:fillRect/>
          </a:stretch>
        </p:blipFill>
        <p:spPr>
          <a:xfrm>
            <a:off x="4999305" y="1420343"/>
            <a:ext cx="10929255" cy="8866657"/>
          </a:xfrm>
          <a:prstGeom prst="rect">
            <a:avLst/>
          </a:prstGeom>
        </p:spPr>
      </p:pic>
      <p:sp>
        <p:nvSpPr>
          <p:cNvPr id="16" name="TextBox 15">
            <a:extLst>
              <a:ext uri="{FF2B5EF4-FFF2-40B4-BE49-F238E27FC236}">
                <a16:creationId xmlns:a16="http://schemas.microsoft.com/office/drawing/2014/main" id="{5B5F2752-C63B-3F78-FBA6-73D0CED43501}"/>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Write Operation</a:t>
            </a:r>
          </a:p>
        </p:txBody>
      </p:sp>
    </p:spTree>
    <p:extLst>
      <p:ext uri="{BB962C8B-B14F-4D97-AF65-F5344CB8AC3E}">
        <p14:creationId xmlns:p14="http://schemas.microsoft.com/office/powerpoint/2010/main" val="15853683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04A40-398C-3F4B-B2E7-8919FC858610}"/>
            </a:ext>
          </a:extLst>
        </p:cNvPr>
        <p:cNvGrpSpPr/>
        <p:nvPr/>
      </p:nvGrpSpPr>
      <p:grpSpPr>
        <a:xfrm>
          <a:off x="0" y="0"/>
          <a:ext cx="0" cy="0"/>
          <a:chOff x="0" y="0"/>
          <a:chExt cx="0" cy="0"/>
        </a:xfrm>
      </p:grpSpPr>
      <p:grpSp>
        <p:nvGrpSpPr>
          <p:cNvPr id="14" name="Group 3">
            <a:extLst>
              <a:ext uri="{FF2B5EF4-FFF2-40B4-BE49-F238E27FC236}">
                <a16:creationId xmlns:a16="http://schemas.microsoft.com/office/drawing/2014/main" id="{97C686C2-8F71-164E-6B09-4A3667EB8267}"/>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D89BDA02-0CD8-3D6C-674B-5D7C926C8F1C}"/>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D15BC151-5A3A-EFA8-29A1-DB605A9D7CCD}"/>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10" name="Slide Number Placeholder 9">
            <a:extLst>
              <a:ext uri="{FF2B5EF4-FFF2-40B4-BE49-F238E27FC236}">
                <a16:creationId xmlns:a16="http://schemas.microsoft.com/office/drawing/2014/main" id="{8EC87595-63C3-8609-1653-1DEDA0B1A779}"/>
              </a:ext>
            </a:extLst>
          </p:cNvPr>
          <p:cNvSpPr>
            <a:spLocks noGrp="1"/>
          </p:cNvSpPr>
          <p:nvPr>
            <p:ph type="sldNum" sz="quarter" idx="12"/>
          </p:nvPr>
        </p:nvSpPr>
        <p:spPr/>
        <p:txBody>
          <a:bodyPr/>
          <a:lstStyle/>
          <a:p>
            <a:fld id="{B6F15528-21DE-4FAA-801E-634DDDAF4B2B}" type="slidenum">
              <a:rPr lang="en-US" smtClean="0"/>
              <a:pPr/>
              <a:t>41</a:t>
            </a:fld>
            <a:endParaRPr lang="en-US" sz="1800"/>
          </a:p>
        </p:txBody>
      </p:sp>
      <p:sp>
        <p:nvSpPr>
          <p:cNvPr id="25" name="TextBox 24">
            <a:extLst>
              <a:ext uri="{FF2B5EF4-FFF2-40B4-BE49-F238E27FC236}">
                <a16:creationId xmlns:a16="http://schemas.microsoft.com/office/drawing/2014/main" id="{E67AFD95-6141-C67C-4BC0-FC16DB19E9CA}"/>
              </a:ext>
            </a:extLst>
          </p:cNvPr>
          <p:cNvSpPr txBox="1"/>
          <p:nvPr/>
        </p:nvSpPr>
        <p:spPr>
          <a:xfrm>
            <a:off x="975002" y="2231762"/>
            <a:ext cx="3596998" cy="553998"/>
          </a:xfrm>
          <a:prstGeom prst="rect">
            <a:avLst/>
          </a:prstGeom>
          <a:noFill/>
        </p:spPr>
        <p:txBody>
          <a:bodyPr wrap="square">
            <a:spAutoFit/>
          </a:bodyPr>
          <a:lstStyle/>
          <a:p>
            <a:r>
              <a:rPr lang="en-DE" sz="3000" b="1" dirty="0">
                <a:solidFill>
                  <a:schemeClr val="tx2"/>
                </a:solidFill>
                <a:latin typeface="Poppins Bold"/>
                <a:cs typeface="Poppins Bold"/>
              </a:rPr>
              <a:t>Write Command</a:t>
            </a:r>
          </a:p>
        </p:txBody>
      </p:sp>
      <p:sp>
        <p:nvSpPr>
          <p:cNvPr id="16" name="TextBox 15">
            <a:extLst>
              <a:ext uri="{FF2B5EF4-FFF2-40B4-BE49-F238E27FC236}">
                <a16:creationId xmlns:a16="http://schemas.microsoft.com/office/drawing/2014/main" id="{1FC43CCE-709A-79E6-4B3B-7713F22578C5}"/>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Write Operation</a:t>
            </a:r>
          </a:p>
        </p:txBody>
      </p:sp>
      <p:pic>
        <p:nvPicPr>
          <p:cNvPr id="6" name="Picture 5">
            <a:extLst>
              <a:ext uri="{FF2B5EF4-FFF2-40B4-BE49-F238E27FC236}">
                <a16:creationId xmlns:a16="http://schemas.microsoft.com/office/drawing/2014/main" id="{E9D4E69D-53A5-B52F-25CB-0C66F6C9C77D}"/>
              </a:ext>
            </a:extLst>
          </p:cNvPr>
          <p:cNvPicPr>
            <a:picLocks noChangeAspect="1"/>
          </p:cNvPicPr>
          <p:nvPr/>
        </p:nvPicPr>
        <p:blipFill>
          <a:blip r:embed="rId3"/>
          <a:stretch>
            <a:fillRect/>
          </a:stretch>
        </p:blipFill>
        <p:spPr>
          <a:xfrm>
            <a:off x="2323523" y="2811570"/>
            <a:ext cx="13640954" cy="7233311"/>
          </a:xfrm>
          <a:prstGeom prst="rect">
            <a:avLst/>
          </a:prstGeom>
        </p:spPr>
      </p:pic>
      <p:grpSp>
        <p:nvGrpSpPr>
          <p:cNvPr id="3" name="Group 3">
            <a:extLst>
              <a:ext uri="{FF2B5EF4-FFF2-40B4-BE49-F238E27FC236}">
                <a16:creationId xmlns:a16="http://schemas.microsoft.com/office/drawing/2014/main" id="{D1D54667-FB19-02C8-9105-B32028696427}"/>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7CA986AA-745F-C9E6-7998-8CE261F8031A}"/>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3A6A67E3-D62C-CCD0-D9AA-ACA730F8F3A0}"/>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12578919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27E8ABEF-10A8-4FDF-0179-FDB01174744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485A67E-1AB8-2CE0-5AF1-FBD483D61816}"/>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Notify Operation</a:t>
            </a:r>
          </a:p>
        </p:txBody>
      </p:sp>
      <p:sp>
        <p:nvSpPr>
          <p:cNvPr id="5" name="TextBox 4">
            <a:extLst>
              <a:ext uri="{FF2B5EF4-FFF2-40B4-BE49-F238E27FC236}">
                <a16:creationId xmlns:a16="http://schemas.microsoft.com/office/drawing/2014/main" id="{3F908C66-832D-641E-0FE5-DF19881EFD3E}"/>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80BEFDE6-40EB-36AE-0070-C14F50655B69}"/>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984DE53C-BC1B-BC7B-1B52-EC214FA629F7}"/>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DD0A03FE-3075-F3FC-8B39-83B04B1FE363}"/>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3F10AA71-1AF3-9921-CB2A-5166B0126373}"/>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7CB416A8-3EE3-4158-3CDB-DCD21D35CD2F}"/>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DBDBE628-C9E4-0C26-086F-89B17A545670}"/>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2" name="Group 21">
            <a:extLst>
              <a:ext uri="{FF2B5EF4-FFF2-40B4-BE49-F238E27FC236}">
                <a16:creationId xmlns:a16="http://schemas.microsoft.com/office/drawing/2014/main" id="{8F6406CF-AF0C-E956-8687-2B990AFBB1FB}"/>
              </a:ext>
            </a:extLst>
          </p:cNvPr>
          <p:cNvGrpSpPr/>
          <p:nvPr/>
        </p:nvGrpSpPr>
        <p:grpSpPr>
          <a:xfrm>
            <a:off x="3790950" y="1574921"/>
            <a:ext cx="10706100" cy="7924800"/>
            <a:chOff x="3790950" y="1574921"/>
            <a:chExt cx="10706100" cy="7924800"/>
          </a:xfrm>
        </p:grpSpPr>
        <p:pic>
          <p:nvPicPr>
            <p:cNvPr id="4" name="Picture 3">
              <a:extLst>
                <a:ext uri="{FF2B5EF4-FFF2-40B4-BE49-F238E27FC236}">
                  <a16:creationId xmlns:a16="http://schemas.microsoft.com/office/drawing/2014/main" id="{5D52D935-C368-D730-2C61-1BBB7B6A160E}"/>
                </a:ext>
              </a:extLst>
            </p:cNvPr>
            <p:cNvPicPr>
              <a:picLocks noChangeAspect="1"/>
            </p:cNvPicPr>
            <p:nvPr/>
          </p:nvPicPr>
          <p:blipFill>
            <a:blip r:embed="rId4"/>
            <a:srcRect t="13908" b="5633"/>
            <a:stretch>
              <a:fillRect/>
            </a:stretch>
          </p:blipFill>
          <p:spPr>
            <a:xfrm>
              <a:off x="3790950" y="1574921"/>
              <a:ext cx="10706100" cy="7924800"/>
            </a:xfrm>
            <a:prstGeom prst="rect">
              <a:avLst/>
            </a:prstGeom>
          </p:spPr>
        </p:pic>
        <p:sp>
          <p:nvSpPr>
            <p:cNvPr id="2" name="Rectangle: Rounded Corners 1">
              <a:extLst>
                <a:ext uri="{FF2B5EF4-FFF2-40B4-BE49-F238E27FC236}">
                  <a16:creationId xmlns:a16="http://schemas.microsoft.com/office/drawing/2014/main" id="{6A4250DB-0016-AE4F-D079-3DB5406A4D51}"/>
                </a:ext>
              </a:extLst>
            </p:cNvPr>
            <p:cNvSpPr/>
            <p:nvPr/>
          </p:nvSpPr>
          <p:spPr>
            <a:xfrm>
              <a:off x="5257800" y="4042336"/>
              <a:ext cx="3048000" cy="369332"/>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Rectangle: Rounded Corners 2">
              <a:extLst>
                <a:ext uri="{FF2B5EF4-FFF2-40B4-BE49-F238E27FC236}">
                  <a16:creationId xmlns:a16="http://schemas.microsoft.com/office/drawing/2014/main" id="{1AEC9A7F-5987-D23B-795B-CEA73DB9243A}"/>
                </a:ext>
              </a:extLst>
            </p:cNvPr>
            <p:cNvSpPr/>
            <p:nvPr/>
          </p:nvSpPr>
          <p:spPr>
            <a:xfrm>
              <a:off x="5334000" y="4958834"/>
              <a:ext cx="2971800" cy="362438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7" name="Rectangle: Rounded Corners 16">
              <a:extLst>
                <a:ext uri="{FF2B5EF4-FFF2-40B4-BE49-F238E27FC236}">
                  <a16:creationId xmlns:a16="http://schemas.microsoft.com/office/drawing/2014/main" id="{544EF0D5-0781-7B07-30EE-5B1AB6DD5E5A}"/>
                </a:ext>
              </a:extLst>
            </p:cNvPr>
            <p:cNvSpPr/>
            <p:nvPr/>
          </p:nvSpPr>
          <p:spPr>
            <a:xfrm>
              <a:off x="10106233" y="3998809"/>
              <a:ext cx="3048000" cy="369332"/>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0" name="Rectangle: Rounded Corners 19">
              <a:extLst>
                <a:ext uri="{FF2B5EF4-FFF2-40B4-BE49-F238E27FC236}">
                  <a16:creationId xmlns:a16="http://schemas.microsoft.com/office/drawing/2014/main" id="{02F20AA2-CE1C-7B31-373F-D2D757019FB2}"/>
                </a:ext>
              </a:extLst>
            </p:cNvPr>
            <p:cNvSpPr/>
            <p:nvPr/>
          </p:nvSpPr>
          <p:spPr>
            <a:xfrm>
              <a:off x="10057383" y="5063254"/>
              <a:ext cx="2783589" cy="191263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6" name="Rectangle: Rounded Corners 5">
            <a:extLst>
              <a:ext uri="{FF2B5EF4-FFF2-40B4-BE49-F238E27FC236}">
                <a16:creationId xmlns:a16="http://schemas.microsoft.com/office/drawing/2014/main" id="{6A013AD5-46DE-2CDC-37CE-660D5E3EEE25}"/>
              </a:ext>
            </a:extLst>
          </p:cNvPr>
          <p:cNvSpPr/>
          <p:nvPr/>
        </p:nvSpPr>
        <p:spPr>
          <a:xfrm>
            <a:off x="4887644" y="3951379"/>
            <a:ext cx="3788312" cy="55490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latin typeface="Poppins Bold"/>
                <a:cs typeface="Poppins Bold"/>
              </a:rPr>
              <a:t>Subscribe to notifications</a:t>
            </a:r>
            <a:endParaRPr lang="en-DE" sz="2000" b="1" dirty="0">
              <a:solidFill>
                <a:schemeClr val="tx2"/>
              </a:solidFill>
              <a:latin typeface="Poppins Bold"/>
              <a:cs typeface="Poppins Bold"/>
            </a:endParaRPr>
          </a:p>
        </p:txBody>
      </p:sp>
      <p:sp>
        <p:nvSpPr>
          <p:cNvPr id="8" name="Rectangle: Rounded Corners 7">
            <a:extLst>
              <a:ext uri="{FF2B5EF4-FFF2-40B4-BE49-F238E27FC236}">
                <a16:creationId xmlns:a16="http://schemas.microsoft.com/office/drawing/2014/main" id="{2D68D816-D244-738C-2EA9-BF45FE3F22D6}"/>
              </a:ext>
            </a:extLst>
          </p:cNvPr>
          <p:cNvSpPr/>
          <p:nvPr/>
        </p:nvSpPr>
        <p:spPr>
          <a:xfrm>
            <a:off x="5257800" y="4982795"/>
            <a:ext cx="3372435" cy="11098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ct val="0"/>
              </a:spcBef>
            </a:pPr>
            <a:r>
              <a:rPr lang="en-US" sz="2000" dirty="0">
                <a:solidFill>
                  <a:srgbClr val="303642"/>
                </a:solidFill>
                <a:latin typeface="Poppins" panose="00000500000000000000" pitchFamily="2" charset="0"/>
                <a:cs typeface="Poppins" panose="00000500000000000000" pitchFamily="2" charset="0"/>
              </a:rPr>
              <a:t>The Client must "subscribe" to notifications.</a:t>
            </a:r>
            <a:endParaRPr lang="en-DE" sz="2000" dirty="0">
              <a:solidFill>
                <a:srgbClr val="303642"/>
              </a:solidFill>
              <a:latin typeface="Poppins" panose="00000500000000000000" pitchFamily="2" charset="0"/>
              <a:cs typeface="Poppins" panose="00000500000000000000" pitchFamily="2" charset="0"/>
            </a:endParaRPr>
          </a:p>
        </p:txBody>
      </p:sp>
      <p:cxnSp>
        <p:nvCxnSpPr>
          <p:cNvPr id="14" name="Straight Arrow Connector 13">
            <a:extLst>
              <a:ext uri="{FF2B5EF4-FFF2-40B4-BE49-F238E27FC236}">
                <a16:creationId xmlns:a16="http://schemas.microsoft.com/office/drawing/2014/main" id="{DB8BF5C7-D0C3-F693-17D1-BE308E64FC17}"/>
              </a:ext>
            </a:extLst>
          </p:cNvPr>
          <p:cNvCxnSpPr>
            <a:cxnSpLocks/>
          </p:cNvCxnSpPr>
          <p:nvPr/>
        </p:nvCxnSpPr>
        <p:spPr>
          <a:xfrm>
            <a:off x="6705600" y="6174716"/>
            <a:ext cx="0" cy="40322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9" name="Rectangle: Rounded Corners 8">
            <a:extLst>
              <a:ext uri="{FF2B5EF4-FFF2-40B4-BE49-F238E27FC236}">
                <a16:creationId xmlns:a16="http://schemas.microsoft.com/office/drawing/2014/main" id="{2CB16E69-4F5B-C021-D90C-5195AFCBFDE4}"/>
              </a:ext>
            </a:extLst>
          </p:cNvPr>
          <p:cNvSpPr/>
          <p:nvPr/>
        </p:nvSpPr>
        <p:spPr>
          <a:xfrm>
            <a:off x="5257800" y="6577943"/>
            <a:ext cx="3442540" cy="191263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ct val="0"/>
              </a:spcBef>
            </a:pPr>
            <a:r>
              <a:rPr lang="en-US" sz="2000" dirty="0">
                <a:solidFill>
                  <a:srgbClr val="303642"/>
                </a:solidFill>
                <a:latin typeface="Poppins" panose="00000500000000000000" pitchFamily="2" charset="0"/>
                <a:cs typeface="Poppins" panose="00000500000000000000" pitchFamily="2" charset="0"/>
              </a:rPr>
              <a:t>Write a specific flag to the characteristic’s Client Characteristic Configuration Descriptor (CCCD).</a:t>
            </a:r>
            <a:endParaRPr lang="en-DE" sz="2000" dirty="0">
              <a:solidFill>
                <a:srgbClr val="303642"/>
              </a:solidFill>
              <a:latin typeface="Poppins" panose="00000500000000000000" pitchFamily="2" charset="0"/>
              <a:cs typeface="Poppins" panose="00000500000000000000" pitchFamily="2" charset="0"/>
            </a:endParaRPr>
          </a:p>
        </p:txBody>
      </p:sp>
      <p:sp>
        <p:nvSpPr>
          <p:cNvPr id="10" name="Rectangle: Rounded Corners 9">
            <a:extLst>
              <a:ext uri="{FF2B5EF4-FFF2-40B4-BE49-F238E27FC236}">
                <a16:creationId xmlns:a16="http://schemas.microsoft.com/office/drawing/2014/main" id="{21E6414E-00BA-2C8B-80B5-D2800B479906}"/>
              </a:ext>
            </a:extLst>
          </p:cNvPr>
          <p:cNvSpPr/>
          <p:nvPr/>
        </p:nvSpPr>
        <p:spPr>
          <a:xfrm>
            <a:off x="9749760" y="3949547"/>
            <a:ext cx="3659597" cy="55490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latin typeface="Poppins Bold"/>
                <a:cs typeface="Poppins Bold"/>
              </a:rPr>
              <a:t>Push notification packet</a:t>
            </a:r>
            <a:endParaRPr lang="en-DE" sz="2000" b="1" dirty="0">
              <a:solidFill>
                <a:schemeClr val="tx2"/>
              </a:solidFill>
              <a:latin typeface="Poppins Bold"/>
              <a:cs typeface="Poppins Bold"/>
            </a:endParaRPr>
          </a:p>
        </p:txBody>
      </p:sp>
      <p:sp>
        <p:nvSpPr>
          <p:cNvPr id="11" name="Rectangle: Rounded Corners 10">
            <a:extLst>
              <a:ext uri="{FF2B5EF4-FFF2-40B4-BE49-F238E27FC236}">
                <a16:creationId xmlns:a16="http://schemas.microsoft.com/office/drawing/2014/main" id="{FFAE8282-5806-FF44-7442-897421AC29F6}"/>
              </a:ext>
            </a:extLst>
          </p:cNvPr>
          <p:cNvSpPr/>
          <p:nvPr/>
        </p:nvSpPr>
        <p:spPr>
          <a:xfrm>
            <a:off x="10065495" y="4798388"/>
            <a:ext cx="3129475" cy="191263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ct val="0"/>
              </a:spcBef>
            </a:pPr>
            <a:r>
              <a:rPr lang="en-US" sz="2000" dirty="0">
                <a:solidFill>
                  <a:srgbClr val="303642"/>
                </a:solidFill>
                <a:latin typeface="Poppins" panose="00000500000000000000" pitchFamily="2" charset="0"/>
                <a:cs typeface="Poppins" panose="00000500000000000000" pitchFamily="2" charset="0"/>
              </a:rPr>
              <a:t>The Server pushes a notification packet to the Client whenever the data updates.</a:t>
            </a:r>
            <a:endParaRPr lang="en-DE" sz="2000" dirty="0">
              <a:solidFill>
                <a:srgbClr val="303642"/>
              </a:solidFill>
              <a:latin typeface="Poppins" panose="00000500000000000000" pitchFamily="2" charset="0"/>
              <a:cs typeface="Poppins" panose="00000500000000000000" pitchFamily="2" charset="0"/>
            </a:endParaRPr>
          </a:p>
        </p:txBody>
      </p:sp>
      <p:sp>
        <p:nvSpPr>
          <p:cNvPr id="13" name="Slide Number Placeholder 12">
            <a:extLst>
              <a:ext uri="{FF2B5EF4-FFF2-40B4-BE49-F238E27FC236}">
                <a16:creationId xmlns:a16="http://schemas.microsoft.com/office/drawing/2014/main" id="{9CA79EFB-71B4-6CEB-1201-667E9A57D7BE}"/>
              </a:ext>
            </a:extLst>
          </p:cNvPr>
          <p:cNvSpPr>
            <a:spLocks noGrp="1"/>
          </p:cNvSpPr>
          <p:nvPr>
            <p:ph type="sldNum" sz="quarter" idx="12"/>
          </p:nvPr>
        </p:nvSpPr>
        <p:spPr/>
        <p:txBody>
          <a:bodyPr/>
          <a:lstStyle/>
          <a:p>
            <a:fld id="{B6F15528-21DE-4FAA-801E-634DDDAF4B2B}" type="slidenum">
              <a:rPr lang="en-US" smtClean="0"/>
              <a:pPr/>
              <a:t>42</a:t>
            </a:fld>
            <a:endParaRPr lang="en-US" sz="1800"/>
          </a:p>
        </p:txBody>
      </p:sp>
    </p:spTree>
    <p:extLst>
      <p:ext uri="{BB962C8B-B14F-4D97-AF65-F5344CB8AC3E}">
        <p14:creationId xmlns:p14="http://schemas.microsoft.com/office/powerpoint/2010/main" val="89396137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animBg="1"/>
      <p:bldP spid="8" grpId="0" animBg="1"/>
      <p:bldP spid="9" grpId="0" animBg="1"/>
      <p:bldP spid="10" grpId="0" animBg="1"/>
      <p:bldP spid="1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6D36A6D6-AFC5-3761-8649-130B3F6B84C1}"/>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8491658-F897-0293-FE70-949CE3622C3A}"/>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Notify Operation</a:t>
            </a:r>
          </a:p>
        </p:txBody>
      </p:sp>
      <p:sp>
        <p:nvSpPr>
          <p:cNvPr id="5" name="TextBox 4">
            <a:extLst>
              <a:ext uri="{FF2B5EF4-FFF2-40B4-BE49-F238E27FC236}">
                <a16:creationId xmlns:a16="http://schemas.microsoft.com/office/drawing/2014/main" id="{9AB06B2F-FAC9-F82E-BD2C-EBBB5A64B909}"/>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0B0AE99B-8E8B-91B9-D1F1-27DBE4DA0898}"/>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67CF4027-EBC6-668B-0D96-F1E5DA4A995F}"/>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E5DCA1A0-AD6D-93DF-693E-778463FD5547}"/>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13" name="Slide Number Placeholder 12">
            <a:extLst>
              <a:ext uri="{FF2B5EF4-FFF2-40B4-BE49-F238E27FC236}">
                <a16:creationId xmlns:a16="http://schemas.microsoft.com/office/drawing/2014/main" id="{F5883068-A48C-2671-9FC1-AEB2DF4BA3F2}"/>
              </a:ext>
            </a:extLst>
          </p:cNvPr>
          <p:cNvSpPr>
            <a:spLocks noGrp="1"/>
          </p:cNvSpPr>
          <p:nvPr>
            <p:ph type="sldNum" sz="quarter" idx="12"/>
          </p:nvPr>
        </p:nvSpPr>
        <p:spPr/>
        <p:txBody>
          <a:bodyPr/>
          <a:lstStyle/>
          <a:p>
            <a:fld id="{B6F15528-21DE-4FAA-801E-634DDDAF4B2B}" type="slidenum">
              <a:rPr lang="en-US" smtClean="0"/>
              <a:pPr/>
              <a:t>43</a:t>
            </a:fld>
            <a:endParaRPr lang="en-US" sz="1800"/>
          </a:p>
        </p:txBody>
      </p:sp>
      <p:pic>
        <p:nvPicPr>
          <p:cNvPr id="19" name="Picture 18">
            <a:extLst>
              <a:ext uri="{FF2B5EF4-FFF2-40B4-BE49-F238E27FC236}">
                <a16:creationId xmlns:a16="http://schemas.microsoft.com/office/drawing/2014/main" id="{239BBBE9-FC0C-8DB1-5BC7-966ABAF45F4A}"/>
              </a:ext>
            </a:extLst>
          </p:cNvPr>
          <p:cNvPicPr>
            <a:picLocks noChangeAspect="1"/>
          </p:cNvPicPr>
          <p:nvPr/>
        </p:nvPicPr>
        <p:blipFill>
          <a:blip r:embed="rId4"/>
          <a:stretch>
            <a:fillRect/>
          </a:stretch>
        </p:blipFill>
        <p:spPr>
          <a:xfrm>
            <a:off x="2174863" y="2618898"/>
            <a:ext cx="13938273" cy="6969137"/>
          </a:xfrm>
          <a:prstGeom prst="rect">
            <a:avLst/>
          </a:prstGeom>
        </p:spPr>
      </p:pic>
      <p:grpSp>
        <p:nvGrpSpPr>
          <p:cNvPr id="25" name="Group 3">
            <a:extLst>
              <a:ext uri="{FF2B5EF4-FFF2-40B4-BE49-F238E27FC236}">
                <a16:creationId xmlns:a16="http://schemas.microsoft.com/office/drawing/2014/main" id="{EA6E9670-E8F3-9935-5005-9A9449863EDA}"/>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F0D1B82E-E6B8-BDE8-CFD4-384EBB63E2A8}"/>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3C487E91-1AB3-DAB4-526D-2D79CFFD63C2}"/>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3445763687"/>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6BCB3-C96D-7887-801F-723AA01F9286}"/>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4FAF0B6A-96D7-37A2-A103-D943761451BE}"/>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909564E8-483A-C7C8-53B0-9998C7D4A529}"/>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52599820-5357-5D68-FAAB-9C41849FA5D0}"/>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D742DBF3-3B48-74C9-118E-CAC2B1AF6D0E}"/>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F1ACEC34-D949-D4BE-BE67-BC00CA5B52A3}"/>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BA6EDE27-7C76-EE5F-B744-F53DEADAD622}"/>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1AE4C5B7-B3D3-25D1-A1A3-F435D484FFCB}"/>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Indicate Operation</a:t>
            </a:r>
          </a:p>
        </p:txBody>
      </p:sp>
      <p:pic>
        <p:nvPicPr>
          <p:cNvPr id="9" name="Picture 8">
            <a:extLst>
              <a:ext uri="{FF2B5EF4-FFF2-40B4-BE49-F238E27FC236}">
                <a16:creationId xmlns:a16="http://schemas.microsoft.com/office/drawing/2014/main" id="{9D8C2F22-AD03-EE1D-2B9B-6A1980F54759}"/>
              </a:ext>
            </a:extLst>
          </p:cNvPr>
          <p:cNvPicPr>
            <a:picLocks noChangeAspect="1"/>
          </p:cNvPicPr>
          <p:nvPr/>
        </p:nvPicPr>
        <p:blipFill>
          <a:blip r:embed="rId3"/>
          <a:stretch>
            <a:fillRect/>
          </a:stretch>
        </p:blipFill>
        <p:spPr>
          <a:xfrm>
            <a:off x="2577994" y="4291778"/>
            <a:ext cx="13132012" cy="2564239"/>
          </a:xfrm>
          <a:prstGeom prst="rect">
            <a:avLst/>
          </a:prstGeom>
        </p:spPr>
      </p:pic>
      <p:sp>
        <p:nvSpPr>
          <p:cNvPr id="8" name="Slide Number Placeholder 7">
            <a:extLst>
              <a:ext uri="{FF2B5EF4-FFF2-40B4-BE49-F238E27FC236}">
                <a16:creationId xmlns:a16="http://schemas.microsoft.com/office/drawing/2014/main" id="{2F9EBBC7-218E-0329-235E-483FBC735715}"/>
              </a:ext>
            </a:extLst>
          </p:cNvPr>
          <p:cNvSpPr>
            <a:spLocks noGrp="1"/>
          </p:cNvSpPr>
          <p:nvPr>
            <p:ph type="sldNum" sz="quarter" idx="12"/>
          </p:nvPr>
        </p:nvSpPr>
        <p:spPr/>
        <p:txBody>
          <a:bodyPr/>
          <a:lstStyle/>
          <a:p>
            <a:fld id="{B6F15528-21DE-4FAA-801E-634DDDAF4B2B}" type="slidenum">
              <a:rPr lang="en-US" smtClean="0"/>
              <a:pPr/>
              <a:t>44</a:t>
            </a:fld>
            <a:endParaRPr lang="en-US" sz="1800"/>
          </a:p>
        </p:txBody>
      </p:sp>
    </p:spTree>
    <p:extLst>
      <p:ext uri="{BB962C8B-B14F-4D97-AF65-F5344CB8AC3E}">
        <p14:creationId xmlns:p14="http://schemas.microsoft.com/office/powerpoint/2010/main" val="130052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33A9A-3C10-4B27-5007-652516562187}"/>
            </a:ext>
          </a:extLst>
        </p:cNvPr>
        <p:cNvGrpSpPr/>
        <p:nvPr/>
      </p:nvGrpSpPr>
      <p:grpSpPr>
        <a:xfrm>
          <a:off x="0" y="0"/>
          <a:ext cx="0" cy="0"/>
          <a:chOff x="0" y="0"/>
          <a:chExt cx="0" cy="0"/>
        </a:xfrm>
      </p:grpSpPr>
      <p:grpSp>
        <p:nvGrpSpPr>
          <p:cNvPr id="14" name="Group 3">
            <a:extLst>
              <a:ext uri="{FF2B5EF4-FFF2-40B4-BE49-F238E27FC236}">
                <a16:creationId xmlns:a16="http://schemas.microsoft.com/office/drawing/2014/main" id="{2DD59A86-81F2-1E77-15D7-CCD73B13ACFB}"/>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EE91A18E-8B96-FAEB-F729-3EA5CC299BEF}"/>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E21DFCD2-12E8-3EB8-889D-240C8BDC567C}"/>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55D3A9DD-FBD2-E650-561D-C56537F03CAF}"/>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Indicate Operation</a:t>
            </a:r>
          </a:p>
        </p:txBody>
      </p:sp>
      <p:sp>
        <p:nvSpPr>
          <p:cNvPr id="8" name="Slide Number Placeholder 7">
            <a:extLst>
              <a:ext uri="{FF2B5EF4-FFF2-40B4-BE49-F238E27FC236}">
                <a16:creationId xmlns:a16="http://schemas.microsoft.com/office/drawing/2014/main" id="{2135EAB3-E96A-B6B4-6106-41DC94A5A66A}"/>
              </a:ext>
            </a:extLst>
          </p:cNvPr>
          <p:cNvSpPr>
            <a:spLocks noGrp="1"/>
          </p:cNvSpPr>
          <p:nvPr>
            <p:ph type="sldNum" sz="quarter" idx="12"/>
          </p:nvPr>
        </p:nvSpPr>
        <p:spPr/>
        <p:txBody>
          <a:bodyPr/>
          <a:lstStyle/>
          <a:p>
            <a:fld id="{B6F15528-21DE-4FAA-801E-634DDDAF4B2B}" type="slidenum">
              <a:rPr lang="en-US" smtClean="0"/>
              <a:pPr/>
              <a:t>45</a:t>
            </a:fld>
            <a:endParaRPr lang="en-US" sz="1800"/>
          </a:p>
        </p:txBody>
      </p:sp>
      <p:pic>
        <p:nvPicPr>
          <p:cNvPr id="7" name="Picture 6">
            <a:extLst>
              <a:ext uri="{FF2B5EF4-FFF2-40B4-BE49-F238E27FC236}">
                <a16:creationId xmlns:a16="http://schemas.microsoft.com/office/drawing/2014/main" id="{EF6A8286-C776-7A41-77CB-B01BDE19C202}"/>
              </a:ext>
            </a:extLst>
          </p:cNvPr>
          <p:cNvPicPr>
            <a:picLocks noChangeAspect="1"/>
          </p:cNvPicPr>
          <p:nvPr/>
        </p:nvPicPr>
        <p:blipFill>
          <a:blip r:embed="rId3"/>
          <a:stretch>
            <a:fillRect/>
          </a:stretch>
        </p:blipFill>
        <p:spPr>
          <a:xfrm>
            <a:off x="3048000" y="1770700"/>
            <a:ext cx="13032841" cy="8011767"/>
          </a:xfrm>
          <a:prstGeom prst="rect">
            <a:avLst/>
          </a:prstGeom>
        </p:spPr>
      </p:pic>
      <p:grpSp>
        <p:nvGrpSpPr>
          <p:cNvPr id="3" name="Group 3">
            <a:extLst>
              <a:ext uri="{FF2B5EF4-FFF2-40B4-BE49-F238E27FC236}">
                <a16:creationId xmlns:a16="http://schemas.microsoft.com/office/drawing/2014/main" id="{99171B38-B5E9-3460-75AC-609969A4AE1E}"/>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E26FDA7A-7588-FC41-68AA-04082C801207}"/>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A7026318-E1FF-B667-8D65-352C1D0B645E}"/>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14793453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3DF00-00F6-A892-496D-FE79A908DFE3}"/>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EA240492-6A2D-3F4E-24A2-190F956F352D}"/>
              </a:ext>
            </a:extLst>
          </p:cNvPr>
          <p:cNvGrpSpPr/>
          <p:nvPr/>
        </p:nvGrpSpPr>
        <p:grpSpPr>
          <a:xfrm>
            <a:off x="-1130300" y="4057750"/>
            <a:ext cx="3086100" cy="2171499"/>
            <a:chOff x="0" y="0"/>
            <a:chExt cx="812800" cy="571917"/>
          </a:xfrm>
        </p:grpSpPr>
        <p:sp>
          <p:nvSpPr>
            <p:cNvPr id="4" name="Freeform 4">
              <a:extLst>
                <a:ext uri="{FF2B5EF4-FFF2-40B4-BE49-F238E27FC236}">
                  <a16:creationId xmlns:a16="http://schemas.microsoft.com/office/drawing/2014/main" id="{DE4E7BB0-AA7F-7BD4-2A67-98002E00A74F}"/>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en-DE" dirty="0"/>
            </a:p>
          </p:txBody>
        </p:sp>
        <p:sp>
          <p:nvSpPr>
            <p:cNvPr id="5" name="TextBox 5">
              <a:extLst>
                <a:ext uri="{FF2B5EF4-FFF2-40B4-BE49-F238E27FC236}">
                  <a16:creationId xmlns:a16="http://schemas.microsoft.com/office/drawing/2014/main" id="{33ADDAE3-633B-2AE1-5356-0602D3AB0413}"/>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18B7515C-F6DE-2599-3714-28C2D6F3862D}"/>
              </a:ext>
            </a:extLst>
          </p:cNvPr>
          <p:cNvGrpSpPr/>
          <p:nvPr/>
        </p:nvGrpSpPr>
        <p:grpSpPr>
          <a:xfrm>
            <a:off x="16467343" y="4057750"/>
            <a:ext cx="3086100" cy="2171499"/>
            <a:chOff x="0" y="0"/>
            <a:chExt cx="812800" cy="571917"/>
          </a:xfrm>
        </p:grpSpPr>
        <p:sp>
          <p:nvSpPr>
            <p:cNvPr id="7" name="Freeform 7">
              <a:extLst>
                <a:ext uri="{FF2B5EF4-FFF2-40B4-BE49-F238E27FC236}">
                  <a16:creationId xmlns:a16="http://schemas.microsoft.com/office/drawing/2014/main" id="{43441BEA-BC56-A4BD-6EA5-5313983F27F9}"/>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en-DE"/>
            </a:p>
          </p:txBody>
        </p:sp>
        <p:sp>
          <p:nvSpPr>
            <p:cNvPr id="8" name="TextBox 8">
              <a:extLst>
                <a:ext uri="{FF2B5EF4-FFF2-40B4-BE49-F238E27FC236}">
                  <a16:creationId xmlns:a16="http://schemas.microsoft.com/office/drawing/2014/main" id="{62733A39-A975-9F62-B76B-95C699BE3139}"/>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9" name="Freeform 9">
            <a:extLst>
              <a:ext uri="{FF2B5EF4-FFF2-40B4-BE49-F238E27FC236}">
                <a16:creationId xmlns:a16="http://schemas.microsoft.com/office/drawing/2014/main" id="{0186F4A3-C6DA-2189-06D0-4F952E0AFC85}"/>
              </a:ext>
            </a:extLst>
          </p:cNvPr>
          <p:cNvSpPr/>
          <p:nvPr/>
        </p:nvSpPr>
        <p:spPr>
          <a:xfrm>
            <a:off x="15129698" y="533489"/>
            <a:ext cx="2675289" cy="1342103"/>
          </a:xfrm>
          <a:custGeom>
            <a:avLst/>
            <a:gdLst/>
            <a:ahLst/>
            <a:cxnLst/>
            <a:rect l="l" t="t" r="r" b="b"/>
            <a:pathLst>
              <a:path w="4007554" h="2010456">
                <a:moveTo>
                  <a:pt x="0" y="0"/>
                </a:moveTo>
                <a:lnTo>
                  <a:pt x="4007554" y="0"/>
                </a:lnTo>
                <a:lnTo>
                  <a:pt x="4007554" y="2010456"/>
                </a:lnTo>
                <a:lnTo>
                  <a:pt x="0" y="2010456"/>
                </a:lnTo>
                <a:lnTo>
                  <a:pt x="0" y="0"/>
                </a:lnTo>
                <a:close/>
              </a:path>
            </a:pathLst>
          </a:custGeom>
          <a:blipFill>
            <a:blip r:embed="rId3"/>
            <a:stretch>
              <a:fillRect/>
            </a:stretch>
          </a:blipFill>
        </p:spPr>
        <p:txBody>
          <a:bodyPr/>
          <a:lstStyle/>
          <a:p>
            <a:endParaRPr lang="en-DE"/>
          </a:p>
        </p:txBody>
      </p:sp>
      <p:sp>
        <p:nvSpPr>
          <p:cNvPr id="10" name="TextBox 10">
            <a:extLst>
              <a:ext uri="{FF2B5EF4-FFF2-40B4-BE49-F238E27FC236}">
                <a16:creationId xmlns:a16="http://schemas.microsoft.com/office/drawing/2014/main" id="{554DABE3-8AD5-D133-D4B5-CE4996A39CA3}"/>
              </a:ext>
            </a:extLst>
          </p:cNvPr>
          <p:cNvSpPr txBox="1"/>
          <p:nvPr/>
        </p:nvSpPr>
        <p:spPr>
          <a:xfrm>
            <a:off x="2769489" y="4381500"/>
            <a:ext cx="12997868" cy="1038746"/>
          </a:xfrm>
          <a:prstGeom prst="rect">
            <a:avLst/>
          </a:prstGeom>
        </p:spPr>
        <p:txBody>
          <a:bodyPr lIns="0" tIns="0" rIns="0" bIns="0" rtlCol="0" anchor="t">
            <a:spAutoFit/>
          </a:bodyPr>
          <a:lstStyle/>
          <a:p>
            <a:pPr algn="ctr">
              <a:lnSpc>
                <a:spcPts val="8400"/>
              </a:lnSpc>
            </a:pPr>
            <a:r>
              <a:rPr lang="en-US" sz="6000" b="1" dirty="0">
                <a:solidFill>
                  <a:srgbClr val="004AAD"/>
                </a:solidFill>
                <a:latin typeface="League Spartan"/>
                <a:ea typeface="League Spartan"/>
                <a:cs typeface="League Spartan"/>
                <a:sym typeface="League Spartan"/>
              </a:rPr>
              <a:t>Data Access and Security.</a:t>
            </a:r>
          </a:p>
        </p:txBody>
      </p:sp>
      <p:sp>
        <p:nvSpPr>
          <p:cNvPr id="14" name="Freeform 56">
            <a:extLst>
              <a:ext uri="{FF2B5EF4-FFF2-40B4-BE49-F238E27FC236}">
                <a16:creationId xmlns:a16="http://schemas.microsoft.com/office/drawing/2014/main" id="{912CAEA9-6C25-2AAB-8CDE-43C1CFA797C3}"/>
              </a:ext>
            </a:extLst>
          </p:cNvPr>
          <p:cNvSpPr/>
          <p:nvPr/>
        </p:nvSpPr>
        <p:spPr>
          <a:xfrm>
            <a:off x="8201623" y="1562100"/>
            <a:ext cx="1884754" cy="1938790"/>
          </a:xfrm>
          <a:custGeom>
            <a:avLst/>
            <a:gdLst/>
            <a:ahLst/>
            <a:cxnLst/>
            <a:rect l="l" t="t" r="r" b="b"/>
            <a:pathLst>
              <a:path w="859299" h="812800">
                <a:moveTo>
                  <a:pt x="429650" y="0"/>
                </a:moveTo>
                <a:cubicBezTo>
                  <a:pt x="192361" y="0"/>
                  <a:pt x="0" y="181951"/>
                  <a:pt x="0" y="406400"/>
                </a:cubicBezTo>
                <a:cubicBezTo>
                  <a:pt x="0" y="630849"/>
                  <a:pt x="192361" y="812800"/>
                  <a:pt x="429650" y="812800"/>
                </a:cubicBezTo>
                <a:cubicBezTo>
                  <a:pt x="666939" y="812800"/>
                  <a:pt x="859299" y="630849"/>
                  <a:pt x="859299" y="406400"/>
                </a:cubicBezTo>
                <a:cubicBezTo>
                  <a:pt x="859299" y="181951"/>
                  <a:pt x="666939" y="0"/>
                  <a:pt x="429650" y="0"/>
                </a:cubicBezTo>
                <a:close/>
              </a:path>
            </a:pathLst>
          </a:custGeom>
          <a:solidFill>
            <a:srgbClr val="004AAD"/>
          </a:solidFill>
        </p:spPr>
        <p:txBody>
          <a:bodyPr/>
          <a:lstStyle/>
          <a:p>
            <a:endParaRPr lang="en-DE" dirty="0"/>
          </a:p>
        </p:txBody>
      </p:sp>
      <p:sp>
        <p:nvSpPr>
          <p:cNvPr id="16" name="TextBox 58">
            <a:extLst>
              <a:ext uri="{FF2B5EF4-FFF2-40B4-BE49-F238E27FC236}">
                <a16:creationId xmlns:a16="http://schemas.microsoft.com/office/drawing/2014/main" id="{B01AD6AD-5932-4128-9F1E-18F91C161875}"/>
              </a:ext>
            </a:extLst>
          </p:cNvPr>
          <p:cNvSpPr txBox="1"/>
          <p:nvPr/>
        </p:nvSpPr>
        <p:spPr>
          <a:xfrm>
            <a:off x="8201623" y="2400300"/>
            <a:ext cx="1884754" cy="686726"/>
          </a:xfrm>
          <a:prstGeom prst="rect">
            <a:avLst/>
          </a:prstGeom>
        </p:spPr>
        <p:txBody>
          <a:bodyPr wrap="square" lIns="0" tIns="0" rIns="0" bIns="0" rtlCol="0" anchor="t">
            <a:spAutoFit/>
          </a:bodyPr>
          <a:lstStyle/>
          <a:p>
            <a:pPr algn="ctr">
              <a:lnSpc>
                <a:spcPts val="4506"/>
              </a:lnSpc>
            </a:pPr>
            <a:r>
              <a:rPr lang="en-US" sz="6600" b="1" dirty="0">
                <a:solidFill>
                  <a:srgbClr val="FFFFFF"/>
                </a:solidFill>
                <a:latin typeface="League Spartan"/>
                <a:ea typeface="League Spartan"/>
                <a:cs typeface="League Spartan"/>
                <a:sym typeface="League Spartan"/>
              </a:rPr>
              <a:t>4</a:t>
            </a:r>
          </a:p>
        </p:txBody>
      </p:sp>
      <p:sp>
        <p:nvSpPr>
          <p:cNvPr id="12" name="Slide Number Placeholder 11">
            <a:extLst>
              <a:ext uri="{FF2B5EF4-FFF2-40B4-BE49-F238E27FC236}">
                <a16:creationId xmlns:a16="http://schemas.microsoft.com/office/drawing/2014/main" id="{A44B9312-6332-EAEE-6765-824D53A58560}"/>
              </a:ext>
            </a:extLst>
          </p:cNvPr>
          <p:cNvSpPr>
            <a:spLocks noGrp="1"/>
          </p:cNvSpPr>
          <p:nvPr>
            <p:ph type="sldNum" sz="quarter" idx="12"/>
          </p:nvPr>
        </p:nvSpPr>
        <p:spPr/>
        <p:txBody>
          <a:bodyPr/>
          <a:lstStyle/>
          <a:p>
            <a:fld id="{B6F15528-21DE-4FAA-801E-634DDDAF4B2B}" type="slidenum">
              <a:rPr lang="en-US" smtClean="0"/>
              <a:pPr/>
              <a:t>46</a:t>
            </a:fld>
            <a:endParaRPr lang="en-US" sz="1800"/>
          </a:p>
        </p:txBody>
      </p:sp>
    </p:spTree>
    <p:extLst>
      <p:ext uri="{BB962C8B-B14F-4D97-AF65-F5344CB8AC3E}">
        <p14:creationId xmlns:p14="http://schemas.microsoft.com/office/powerpoint/2010/main" val="118772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F3300-DC2B-40DE-D8B7-9E5C58198D19}"/>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42D47F88-0263-FE37-06CC-480593F277FF}"/>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Data Access</a:t>
            </a:r>
          </a:p>
        </p:txBody>
      </p:sp>
      <p:grpSp>
        <p:nvGrpSpPr>
          <p:cNvPr id="3" name="Group 3">
            <a:extLst>
              <a:ext uri="{FF2B5EF4-FFF2-40B4-BE49-F238E27FC236}">
                <a16:creationId xmlns:a16="http://schemas.microsoft.com/office/drawing/2014/main" id="{1EDBE140-CF4C-E8A5-3535-B639F4E3CDE9}"/>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94C3080A-C3BB-B0EE-1A35-4137969B3194}"/>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74141C6E-42AD-2BC2-4863-90A3800D3BDF}"/>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5F7E716A-13DA-4C31-82FC-4A4A8D89514E}"/>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463F8C61-4CE6-0C5D-D3DE-E0B43D24E7D9}"/>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EA2CFBB0-BD3D-F6CB-36F2-72F19BBDF0A5}"/>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Slide Number Placeholder 8">
            <a:extLst>
              <a:ext uri="{FF2B5EF4-FFF2-40B4-BE49-F238E27FC236}">
                <a16:creationId xmlns:a16="http://schemas.microsoft.com/office/drawing/2014/main" id="{B57252CA-94A8-A97D-BCF4-7D9B8FC46C3F}"/>
              </a:ext>
            </a:extLst>
          </p:cNvPr>
          <p:cNvSpPr>
            <a:spLocks noGrp="1"/>
          </p:cNvSpPr>
          <p:nvPr>
            <p:ph type="sldNum" sz="quarter" idx="12"/>
          </p:nvPr>
        </p:nvSpPr>
        <p:spPr/>
        <p:txBody>
          <a:bodyPr/>
          <a:lstStyle/>
          <a:p>
            <a:fld id="{B6F15528-21DE-4FAA-801E-634DDDAF4B2B}" type="slidenum">
              <a:rPr lang="en-US" smtClean="0"/>
              <a:pPr/>
              <a:t>47</a:t>
            </a:fld>
            <a:endParaRPr lang="en-US" sz="1800"/>
          </a:p>
        </p:txBody>
      </p:sp>
      <p:sp>
        <p:nvSpPr>
          <p:cNvPr id="8" name="TextBox 7">
            <a:extLst>
              <a:ext uri="{FF2B5EF4-FFF2-40B4-BE49-F238E27FC236}">
                <a16:creationId xmlns:a16="http://schemas.microsoft.com/office/drawing/2014/main" id="{6EAC8067-28D4-986C-F01C-84E44593C571}"/>
              </a:ext>
            </a:extLst>
          </p:cNvPr>
          <p:cNvSpPr txBox="1"/>
          <p:nvPr/>
        </p:nvSpPr>
        <p:spPr>
          <a:xfrm>
            <a:off x="975002" y="2095500"/>
            <a:ext cx="12359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Who can write to a characteristic, and under what conditions?</a:t>
            </a:r>
          </a:p>
        </p:txBody>
      </p:sp>
      <p:sp>
        <p:nvSpPr>
          <p:cNvPr id="10" name="TextBox 9">
            <a:extLst>
              <a:ext uri="{FF2B5EF4-FFF2-40B4-BE49-F238E27FC236}">
                <a16:creationId xmlns:a16="http://schemas.microsoft.com/office/drawing/2014/main" id="{56314E44-1D97-F8B5-06F0-14E36CC7AFF6}"/>
              </a:ext>
            </a:extLst>
          </p:cNvPr>
          <p:cNvSpPr txBox="1"/>
          <p:nvPr/>
        </p:nvSpPr>
        <p:spPr>
          <a:xfrm>
            <a:off x="975001" y="3099292"/>
            <a:ext cx="15560397" cy="1024383"/>
          </a:xfrm>
          <a:prstGeom prst="rect">
            <a:avLst/>
          </a:prstGeom>
          <a:noFill/>
        </p:spPr>
        <p:txBody>
          <a:bodyPr wrap="square">
            <a:spAutoFit/>
          </a:bodyPr>
          <a:lstStyle/>
          <a:p>
            <a:pPr marL="342900" indent="-342900">
              <a:lnSpc>
                <a:spcPct val="115000"/>
              </a:lnSpc>
              <a:spcAft>
                <a:spcPts val="800"/>
              </a:spcAft>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By default, any connected Client can attempt a write request to the Server.</a:t>
            </a:r>
          </a:p>
          <a:p>
            <a:pPr marL="342900" indent="-342900">
              <a:lnSpc>
                <a:spcPct val="115000"/>
              </a:lnSpc>
              <a:spcAft>
                <a:spcPts val="800"/>
              </a:spcAft>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Whether that write is actually accepted depends on two separate layers of control:</a:t>
            </a:r>
          </a:p>
        </p:txBody>
      </p:sp>
      <p:grpSp>
        <p:nvGrpSpPr>
          <p:cNvPr id="36" name="Group 35">
            <a:extLst>
              <a:ext uri="{FF2B5EF4-FFF2-40B4-BE49-F238E27FC236}">
                <a16:creationId xmlns:a16="http://schemas.microsoft.com/office/drawing/2014/main" id="{4FE1E877-A02B-C51F-A9DE-0EE203AC351C}"/>
              </a:ext>
            </a:extLst>
          </p:cNvPr>
          <p:cNvGrpSpPr/>
          <p:nvPr/>
        </p:nvGrpSpPr>
        <p:grpSpPr>
          <a:xfrm>
            <a:off x="1676400" y="4777372"/>
            <a:ext cx="5567304" cy="4372865"/>
            <a:chOff x="2209800" y="4777372"/>
            <a:chExt cx="5567304" cy="4372865"/>
          </a:xfrm>
        </p:grpSpPr>
        <p:pic>
          <p:nvPicPr>
            <p:cNvPr id="13" name="Picture 12">
              <a:extLst>
                <a:ext uri="{FF2B5EF4-FFF2-40B4-BE49-F238E27FC236}">
                  <a16:creationId xmlns:a16="http://schemas.microsoft.com/office/drawing/2014/main" id="{744AB858-A092-4AC8-888F-7CA5A58DCCB0}"/>
                </a:ext>
              </a:extLst>
            </p:cNvPr>
            <p:cNvPicPr>
              <a:picLocks noChangeAspect="1"/>
            </p:cNvPicPr>
            <p:nvPr/>
          </p:nvPicPr>
          <p:blipFill>
            <a:blip r:embed="rId3"/>
            <a:srcRect l="3403" t="20735" r="58944" b="8469"/>
            <a:stretch>
              <a:fillRect/>
            </a:stretch>
          </p:blipFill>
          <p:spPr>
            <a:xfrm>
              <a:off x="2209800" y="4777372"/>
              <a:ext cx="5567304" cy="4372865"/>
            </a:xfrm>
            <a:prstGeom prst="rect">
              <a:avLst/>
            </a:prstGeom>
          </p:spPr>
        </p:pic>
        <p:sp>
          <p:nvSpPr>
            <p:cNvPr id="23" name="TextBox 7">
              <a:extLst>
                <a:ext uri="{FF2B5EF4-FFF2-40B4-BE49-F238E27FC236}">
                  <a16:creationId xmlns:a16="http://schemas.microsoft.com/office/drawing/2014/main" id="{83E2155F-F1BE-3CEE-F015-3EAF41B91A9C}"/>
                </a:ext>
              </a:extLst>
            </p:cNvPr>
            <p:cNvSpPr txBox="1"/>
            <p:nvPr/>
          </p:nvSpPr>
          <p:spPr>
            <a:xfrm>
              <a:off x="2478852" y="5130800"/>
              <a:ext cx="502920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Characteristic Properties </a:t>
              </a:r>
            </a:p>
          </p:txBody>
        </p:sp>
      </p:grpSp>
      <p:grpSp>
        <p:nvGrpSpPr>
          <p:cNvPr id="37" name="Group 36">
            <a:extLst>
              <a:ext uri="{FF2B5EF4-FFF2-40B4-BE49-F238E27FC236}">
                <a16:creationId xmlns:a16="http://schemas.microsoft.com/office/drawing/2014/main" id="{675777C7-3132-9F50-7441-C11E0E0BCECA}"/>
              </a:ext>
            </a:extLst>
          </p:cNvPr>
          <p:cNvGrpSpPr/>
          <p:nvPr/>
        </p:nvGrpSpPr>
        <p:grpSpPr>
          <a:xfrm>
            <a:off x="10891896" y="4777372"/>
            <a:ext cx="5567304" cy="4372865"/>
            <a:chOff x="10439400" y="4777372"/>
            <a:chExt cx="5567304" cy="4372865"/>
          </a:xfrm>
        </p:grpSpPr>
        <p:pic>
          <p:nvPicPr>
            <p:cNvPr id="19" name="Picture 18">
              <a:extLst>
                <a:ext uri="{FF2B5EF4-FFF2-40B4-BE49-F238E27FC236}">
                  <a16:creationId xmlns:a16="http://schemas.microsoft.com/office/drawing/2014/main" id="{A251FAF5-27D5-5034-5AC2-57B6253D8221}"/>
                </a:ext>
              </a:extLst>
            </p:cNvPr>
            <p:cNvPicPr>
              <a:picLocks noChangeAspect="1"/>
            </p:cNvPicPr>
            <p:nvPr/>
          </p:nvPicPr>
          <p:blipFill>
            <a:blip r:embed="rId3"/>
            <a:srcRect l="59062" t="20735" r="3285" b="8469"/>
            <a:stretch>
              <a:fillRect/>
            </a:stretch>
          </p:blipFill>
          <p:spPr>
            <a:xfrm>
              <a:off x="10439400" y="4777372"/>
              <a:ext cx="5567304" cy="4372865"/>
            </a:xfrm>
            <a:prstGeom prst="rect">
              <a:avLst/>
            </a:prstGeom>
          </p:spPr>
        </p:pic>
        <p:sp>
          <p:nvSpPr>
            <p:cNvPr id="33" name="TextBox 7">
              <a:extLst>
                <a:ext uri="{FF2B5EF4-FFF2-40B4-BE49-F238E27FC236}">
                  <a16:creationId xmlns:a16="http://schemas.microsoft.com/office/drawing/2014/main" id="{670854E6-1BBC-CACA-2436-0CC15EEDCB4E}"/>
                </a:ext>
              </a:extLst>
            </p:cNvPr>
            <p:cNvSpPr txBox="1"/>
            <p:nvPr/>
          </p:nvSpPr>
          <p:spPr>
            <a:xfrm>
              <a:off x="10708452" y="5130799"/>
              <a:ext cx="502920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Attribute Permissions </a:t>
              </a:r>
            </a:p>
          </p:txBody>
        </p:sp>
      </p:grpSp>
      <p:sp>
        <p:nvSpPr>
          <p:cNvPr id="35" name="TextBox 12">
            <a:extLst>
              <a:ext uri="{FF2B5EF4-FFF2-40B4-BE49-F238E27FC236}">
                <a16:creationId xmlns:a16="http://schemas.microsoft.com/office/drawing/2014/main" id="{27A9F1F7-2137-E88F-2800-2F17A09325C9}"/>
              </a:ext>
            </a:extLst>
          </p:cNvPr>
          <p:cNvSpPr txBox="1"/>
          <p:nvPr/>
        </p:nvSpPr>
        <p:spPr>
          <a:xfrm>
            <a:off x="7035529" y="6452125"/>
            <a:ext cx="4064542"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rgbClr val="303642"/>
                </a:solidFill>
                <a:latin typeface="Poppins Bold"/>
                <a:ea typeface="Poppins Bold"/>
                <a:cs typeface="Poppins Bold"/>
                <a:sym typeface="Poppins Bold"/>
              </a:rPr>
              <a:t>Visibility to client</a:t>
            </a:r>
          </a:p>
        </p:txBody>
      </p:sp>
      <p:sp>
        <p:nvSpPr>
          <p:cNvPr id="39" name="TextBox 12">
            <a:extLst>
              <a:ext uri="{FF2B5EF4-FFF2-40B4-BE49-F238E27FC236}">
                <a16:creationId xmlns:a16="http://schemas.microsoft.com/office/drawing/2014/main" id="{4697380C-6790-1437-B62D-C726B8446861}"/>
              </a:ext>
            </a:extLst>
          </p:cNvPr>
          <p:cNvSpPr txBox="1"/>
          <p:nvPr/>
        </p:nvSpPr>
        <p:spPr>
          <a:xfrm>
            <a:off x="7024688" y="7984621"/>
            <a:ext cx="4064542"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rgbClr val="303642"/>
                </a:solidFill>
                <a:latin typeface="Poppins Bold"/>
                <a:ea typeface="Poppins Bold"/>
                <a:cs typeface="Poppins Bold"/>
                <a:sym typeface="Poppins Bold"/>
              </a:rPr>
              <a:t>Primary function</a:t>
            </a:r>
          </a:p>
        </p:txBody>
      </p:sp>
      <p:grpSp>
        <p:nvGrpSpPr>
          <p:cNvPr id="2" name="Group 1">
            <a:extLst>
              <a:ext uri="{FF2B5EF4-FFF2-40B4-BE49-F238E27FC236}">
                <a16:creationId xmlns:a16="http://schemas.microsoft.com/office/drawing/2014/main" id="{48447356-EF68-DCFE-FBD3-858B735706DD}"/>
              </a:ext>
            </a:extLst>
          </p:cNvPr>
          <p:cNvGrpSpPr/>
          <p:nvPr/>
        </p:nvGrpSpPr>
        <p:grpSpPr>
          <a:xfrm>
            <a:off x="1676400" y="6081373"/>
            <a:ext cx="4333875" cy="890927"/>
            <a:chOff x="1676400" y="6081373"/>
            <a:chExt cx="4333875" cy="890927"/>
          </a:xfrm>
        </p:grpSpPr>
        <p:sp>
          <p:nvSpPr>
            <p:cNvPr id="40" name="TextBox 39">
              <a:extLst>
                <a:ext uri="{FF2B5EF4-FFF2-40B4-BE49-F238E27FC236}">
                  <a16:creationId xmlns:a16="http://schemas.microsoft.com/office/drawing/2014/main" id="{F042A7BE-23AB-ED4A-2583-C82E7FB7FF65}"/>
                </a:ext>
              </a:extLst>
            </p:cNvPr>
            <p:cNvSpPr txBox="1"/>
            <p:nvPr/>
          </p:nvSpPr>
          <p:spPr>
            <a:xfrm>
              <a:off x="1676400" y="6081373"/>
              <a:ext cx="4333875" cy="429605"/>
            </a:xfrm>
            <a:prstGeom prst="rect">
              <a:avLst/>
            </a:prstGeom>
            <a:noFill/>
          </p:spPr>
          <p:txBody>
            <a:bodyPr wrap="square">
              <a:spAutoFit/>
            </a:bodyPr>
            <a:lstStyle/>
            <a:p>
              <a:pPr>
                <a:lnSpc>
                  <a:spcPct val="115000"/>
                </a:lnSpc>
                <a:spcAft>
                  <a:spcPts val="800"/>
                </a:spcAft>
              </a:pPr>
              <a:r>
                <a:rPr lang="en-US" sz="2000" b="1" dirty="0">
                  <a:solidFill>
                    <a:srgbClr val="303642"/>
                  </a:solidFill>
                  <a:latin typeface="Poppins" panose="00000500000000000000" pitchFamily="2" charset="0"/>
                  <a:cs typeface="Poppins" panose="00000500000000000000" pitchFamily="2" charset="0"/>
                </a:rPr>
                <a:t>Visible during GATT discovery</a:t>
              </a:r>
            </a:p>
          </p:txBody>
        </p:sp>
        <p:sp>
          <p:nvSpPr>
            <p:cNvPr id="44" name="TextBox 43">
              <a:extLst>
                <a:ext uri="{FF2B5EF4-FFF2-40B4-BE49-F238E27FC236}">
                  <a16:creationId xmlns:a16="http://schemas.microsoft.com/office/drawing/2014/main" id="{7C37D8E4-FE2F-0D9B-3F62-707E8797735D}"/>
                </a:ext>
              </a:extLst>
            </p:cNvPr>
            <p:cNvSpPr txBox="1"/>
            <p:nvPr/>
          </p:nvSpPr>
          <p:spPr>
            <a:xfrm>
              <a:off x="1676400" y="6542695"/>
              <a:ext cx="4333875" cy="429605"/>
            </a:xfrm>
            <a:prstGeom prst="rect">
              <a:avLst/>
            </a:prstGeom>
            <a:noFill/>
          </p:spPr>
          <p:txBody>
            <a:bodyPr wrap="square">
              <a:spAutoFit/>
            </a:bodyPr>
            <a:lstStyle/>
            <a:p>
              <a:pPr algn="ctr">
                <a:lnSpc>
                  <a:spcPct val="115000"/>
                </a:lnSpc>
                <a:spcAft>
                  <a:spcPts val="800"/>
                </a:spcAft>
              </a:pPr>
              <a:r>
                <a:rPr lang="en-US" sz="2000" dirty="0">
                  <a:solidFill>
                    <a:srgbClr val="303642"/>
                  </a:solidFill>
                  <a:latin typeface="Poppins" panose="00000500000000000000" pitchFamily="2" charset="0"/>
                  <a:cs typeface="Poppins" panose="00000500000000000000" pitchFamily="2" charset="0"/>
                </a:rPr>
                <a:t>Advertised capabilities</a:t>
              </a:r>
            </a:p>
          </p:txBody>
        </p:sp>
      </p:grpSp>
      <p:grpSp>
        <p:nvGrpSpPr>
          <p:cNvPr id="6" name="Group 5">
            <a:extLst>
              <a:ext uri="{FF2B5EF4-FFF2-40B4-BE49-F238E27FC236}">
                <a16:creationId xmlns:a16="http://schemas.microsoft.com/office/drawing/2014/main" id="{F33856CD-DFFC-DF30-8044-A346A77C7E07}"/>
              </a:ext>
            </a:extLst>
          </p:cNvPr>
          <p:cNvGrpSpPr/>
          <p:nvPr/>
        </p:nvGrpSpPr>
        <p:grpSpPr>
          <a:xfrm>
            <a:off x="1654718" y="7449650"/>
            <a:ext cx="4365082" cy="1213153"/>
            <a:chOff x="1654718" y="7449650"/>
            <a:chExt cx="4365082" cy="1213153"/>
          </a:xfrm>
        </p:grpSpPr>
        <p:sp>
          <p:nvSpPr>
            <p:cNvPr id="41" name="TextBox 40">
              <a:extLst>
                <a:ext uri="{FF2B5EF4-FFF2-40B4-BE49-F238E27FC236}">
                  <a16:creationId xmlns:a16="http://schemas.microsoft.com/office/drawing/2014/main" id="{DABEA212-9D5E-9863-2AE8-BC300EBC17B4}"/>
                </a:ext>
              </a:extLst>
            </p:cNvPr>
            <p:cNvSpPr txBox="1"/>
            <p:nvPr/>
          </p:nvSpPr>
          <p:spPr>
            <a:xfrm>
              <a:off x="1676400" y="7449650"/>
              <a:ext cx="4343400" cy="429605"/>
            </a:xfrm>
            <a:prstGeom prst="rect">
              <a:avLst/>
            </a:prstGeom>
            <a:noFill/>
          </p:spPr>
          <p:txBody>
            <a:bodyPr wrap="square">
              <a:spAutoFit/>
            </a:bodyPr>
            <a:lstStyle/>
            <a:p>
              <a:pPr>
                <a:lnSpc>
                  <a:spcPct val="115000"/>
                </a:lnSpc>
                <a:spcAft>
                  <a:spcPts val="800"/>
                </a:spcAft>
              </a:pPr>
              <a:r>
                <a:rPr lang="en-US" sz="2000" b="1" dirty="0">
                  <a:solidFill>
                    <a:srgbClr val="303642"/>
                  </a:solidFill>
                  <a:latin typeface="Poppins" panose="00000500000000000000" pitchFamily="2" charset="0"/>
                  <a:cs typeface="Poppins" panose="00000500000000000000" pitchFamily="2" charset="0"/>
                </a:rPr>
                <a:t>Defines conceivable operations</a:t>
              </a:r>
            </a:p>
          </p:txBody>
        </p:sp>
        <p:sp>
          <p:nvSpPr>
            <p:cNvPr id="45" name="TextBox 44">
              <a:extLst>
                <a:ext uri="{FF2B5EF4-FFF2-40B4-BE49-F238E27FC236}">
                  <a16:creationId xmlns:a16="http://schemas.microsoft.com/office/drawing/2014/main" id="{541801DA-5770-46CA-5704-C60D004DF902}"/>
                </a:ext>
              </a:extLst>
            </p:cNvPr>
            <p:cNvSpPr txBox="1"/>
            <p:nvPr/>
          </p:nvSpPr>
          <p:spPr>
            <a:xfrm>
              <a:off x="1654718" y="7879255"/>
              <a:ext cx="4333875" cy="783548"/>
            </a:xfrm>
            <a:prstGeom prst="rect">
              <a:avLst/>
            </a:prstGeom>
            <a:noFill/>
          </p:spPr>
          <p:txBody>
            <a:bodyPr wrap="square">
              <a:spAutoFit/>
            </a:bodyPr>
            <a:lstStyle/>
            <a:p>
              <a:pPr algn="ctr">
                <a:lnSpc>
                  <a:spcPct val="115000"/>
                </a:lnSpc>
                <a:spcAft>
                  <a:spcPts val="800"/>
                </a:spcAft>
              </a:pPr>
              <a:r>
                <a:rPr lang="en-US" sz="2000" dirty="0">
                  <a:solidFill>
                    <a:srgbClr val="303642"/>
                  </a:solidFill>
                  <a:latin typeface="Poppins" panose="00000500000000000000" pitchFamily="2" charset="0"/>
                  <a:cs typeface="Poppins" panose="00000500000000000000" pitchFamily="2" charset="0"/>
                </a:rPr>
                <a:t>Read, Write, Write Without Response, Notify, etc.</a:t>
              </a:r>
            </a:p>
          </p:txBody>
        </p:sp>
      </p:grpSp>
      <p:grpSp>
        <p:nvGrpSpPr>
          <p:cNvPr id="7" name="Group 6">
            <a:extLst>
              <a:ext uri="{FF2B5EF4-FFF2-40B4-BE49-F238E27FC236}">
                <a16:creationId xmlns:a16="http://schemas.microsoft.com/office/drawing/2014/main" id="{40A79F6D-F208-4BBE-1B48-FAA775257372}"/>
              </a:ext>
            </a:extLst>
          </p:cNvPr>
          <p:cNvGrpSpPr/>
          <p:nvPr/>
        </p:nvGrpSpPr>
        <p:grpSpPr>
          <a:xfrm>
            <a:off x="12125325" y="6160880"/>
            <a:ext cx="4352925" cy="839767"/>
            <a:chOff x="12125325" y="6160880"/>
            <a:chExt cx="4352925" cy="839767"/>
          </a:xfrm>
        </p:grpSpPr>
        <p:sp>
          <p:nvSpPr>
            <p:cNvPr id="42" name="TextBox 41">
              <a:extLst>
                <a:ext uri="{FF2B5EF4-FFF2-40B4-BE49-F238E27FC236}">
                  <a16:creationId xmlns:a16="http://schemas.microsoft.com/office/drawing/2014/main" id="{C7D66696-2C79-77E7-DB3D-68CCE165C6B0}"/>
                </a:ext>
              </a:extLst>
            </p:cNvPr>
            <p:cNvSpPr txBox="1"/>
            <p:nvPr/>
          </p:nvSpPr>
          <p:spPr>
            <a:xfrm>
              <a:off x="12125325" y="6160880"/>
              <a:ext cx="4191000" cy="429605"/>
            </a:xfrm>
            <a:prstGeom prst="rect">
              <a:avLst/>
            </a:prstGeom>
            <a:noFill/>
          </p:spPr>
          <p:txBody>
            <a:bodyPr wrap="square">
              <a:spAutoFit/>
            </a:bodyPr>
            <a:lstStyle/>
            <a:p>
              <a:pPr>
                <a:lnSpc>
                  <a:spcPct val="115000"/>
                </a:lnSpc>
                <a:spcAft>
                  <a:spcPts val="800"/>
                </a:spcAft>
              </a:pPr>
              <a:r>
                <a:rPr lang="en-US" sz="2000" b="1" dirty="0">
                  <a:solidFill>
                    <a:srgbClr val="303642"/>
                  </a:solidFill>
                  <a:latin typeface="Poppins" panose="00000500000000000000" pitchFamily="2" charset="0"/>
                  <a:cs typeface="Poppins" panose="00000500000000000000" pitchFamily="2" charset="0"/>
                </a:rPr>
                <a:t>Hidden from the client</a:t>
              </a:r>
            </a:p>
          </p:txBody>
        </p:sp>
        <p:sp>
          <p:nvSpPr>
            <p:cNvPr id="46" name="TextBox 45">
              <a:extLst>
                <a:ext uri="{FF2B5EF4-FFF2-40B4-BE49-F238E27FC236}">
                  <a16:creationId xmlns:a16="http://schemas.microsoft.com/office/drawing/2014/main" id="{BE6C46EB-A308-689C-E12C-D99E17EB349E}"/>
                </a:ext>
              </a:extLst>
            </p:cNvPr>
            <p:cNvSpPr txBox="1"/>
            <p:nvPr/>
          </p:nvSpPr>
          <p:spPr>
            <a:xfrm>
              <a:off x="12144375" y="6600537"/>
              <a:ext cx="4333875" cy="400110"/>
            </a:xfrm>
            <a:prstGeom prst="rect">
              <a:avLst/>
            </a:prstGeom>
            <a:noFill/>
          </p:spPr>
          <p:txBody>
            <a:bodyPr wrap="square">
              <a:spAutoFit/>
            </a:bodyPr>
            <a:lstStyle/>
            <a:p>
              <a:r>
                <a:rPr lang="en-US" sz="2000" dirty="0">
                  <a:solidFill>
                    <a:srgbClr val="303642"/>
                  </a:solidFill>
                  <a:latin typeface="Poppins" panose="00000500000000000000" pitchFamily="2" charset="0"/>
                  <a:cs typeface="Poppins" panose="00000500000000000000" pitchFamily="2" charset="0"/>
                </a:rPr>
                <a:t>T</a:t>
              </a:r>
              <a:r>
                <a:rPr lang="en-DE" sz="2000" dirty="0">
                  <a:solidFill>
                    <a:srgbClr val="303642"/>
                  </a:solidFill>
                  <a:latin typeface="Poppins" panose="00000500000000000000" pitchFamily="2" charset="0"/>
                  <a:cs typeface="Poppins" panose="00000500000000000000" pitchFamily="2" charset="0"/>
                </a:rPr>
                <a:t>he server's real access control</a:t>
              </a:r>
              <a:r>
                <a:rPr lang="en-US" sz="2000" dirty="0">
                  <a:solidFill>
                    <a:srgbClr val="303642"/>
                  </a:solidFill>
                  <a:latin typeface="Poppins" panose="00000500000000000000" pitchFamily="2" charset="0"/>
                  <a:cs typeface="Poppins" panose="00000500000000000000" pitchFamily="2" charset="0"/>
                </a:rPr>
                <a:t>.</a:t>
              </a:r>
              <a:endParaRPr lang="en-DE" sz="2000" dirty="0"/>
            </a:p>
          </p:txBody>
        </p:sp>
      </p:grpSp>
      <p:grpSp>
        <p:nvGrpSpPr>
          <p:cNvPr id="11" name="Group 10">
            <a:extLst>
              <a:ext uri="{FF2B5EF4-FFF2-40B4-BE49-F238E27FC236}">
                <a16:creationId xmlns:a16="http://schemas.microsoft.com/office/drawing/2014/main" id="{D4011067-0489-A24C-02F8-AB750ECFEF72}"/>
              </a:ext>
            </a:extLst>
          </p:cNvPr>
          <p:cNvGrpSpPr/>
          <p:nvPr/>
        </p:nvGrpSpPr>
        <p:grpSpPr>
          <a:xfrm>
            <a:off x="12144375" y="7609495"/>
            <a:ext cx="4333876" cy="1137491"/>
            <a:chOff x="12144375" y="7609495"/>
            <a:chExt cx="4333876" cy="1137491"/>
          </a:xfrm>
        </p:grpSpPr>
        <p:sp>
          <p:nvSpPr>
            <p:cNvPr id="43" name="TextBox 42">
              <a:extLst>
                <a:ext uri="{FF2B5EF4-FFF2-40B4-BE49-F238E27FC236}">
                  <a16:creationId xmlns:a16="http://schemas.microsoft.com/office/drawing/2014/main" id="{A61156A7-01F9-1039-AC25-21E6C990A16D}"/>
                </a:ext>
              </a:extLst>
            </p:cNvPr>
            <p:cNvSpPr txBox="1"/>
            <p:nvPr/>
          </p:nvSpPr>
          <p:spPr>
            <a:xfrm>
              <a:off x="12144375" y="7609495"/>
              <a:ext cx="4191000" cy="429605"/>
            </a:xfrm>
            <a:prstGeom prst="rect">
              <a:avLst/>
            </a:prstGeom>
            <a:noFill/>
          </p:spPr>
          <p:txBody>
            <a:bodyPr wrap="square">
              <a:spAutoFit/>
            </a:bodyPr>
            <a:lstStyle/>
            <a:p>
              <a:pPr>
                <a:lnSpc>
                  <a:spcPct val="115000"/>
                </a:lnSpc>
                <a:spcAft>
                  <a:spcPts val="800"/>
                </a:spcAft>
              </a:pPr>
              <a:r>
                <a:rPr lang="en-US" sz="2000" b="1" dirty="0">
                  <a:solidFill>
                    <a:srgbClr val="303642"/>
                  </a:solidFill>
                  <a:latin typeface="Poppins" panose="00000500000000000000" pitchFamily="2" charset="0"/>
                  <a:cs typeface="Poppins" panose="00000500000000000000" pitchFamily="2" charset="0"/>
                </a:rPr>
                <a:t>Enforces access requirements</a:t>
              </a:r>
            </a:p>
          </p:txBody>
        </p:sp>
        <p:sp>
          <p:nvSpPr>
            <p:cNvPr id="47" name="TextBox 46">
              <a:extLst>
                <a:ext uri="{FF2B5EF4-FFF2-40B4-BE49-F238E27FC236}">
                  <a16:creationId xmlns:a16="http://schemas.microsoft.com/office/drawing/2014/main" id="{974F69C3-E02D-773D-0505-4DF20F942D49}"/>
                </a:ext>
              </a:extLst>
            </p:cNvPr>
            <p:cNvSpPr txBox="1"/>
            <p:nvPr/>
          </p:nvSpPr>
          <p:spPr>
            <a:xfrm>
              <a:off x="12144376" y="8039100"/>
              <a:ext cx="4333875" cy="707886"/>
            </a:xfrm>
            <a:prstGeom prst="rect">
              <a:avLst/>
            </a:prstGeom>
            <a:noFill/>
          </p:spPr>
          <p:txBody>
            <a:bodyPr wrap="square">
              <a:spAutoFit/>
            </a:bodyPr>
            <a:lstStyle/>
            <a:p>
              <a:r>
                <a:rPr lang="en-US" sz="2000" dirty="0">
                  <a:solidFill>
                    <a:srgbClr val="303642"/>
                  </a:solidFill>
                  <a:latin typeface="Poppins" panose="00000500000000000000" pitchFamily="2" charset="0"/>
                  <a:cs typeface="Poppins" panose="00000500000000000000" pitchFamily="2" charset="0"/>
                </a:rPr>
                <a:t>Encryption, authentication, and authorization requirements.</a:t>
              </a:r>
              <a:endParaRPr lang="en-DE" sz="2000" dirty="0"/>
            </a:p>
          </p:txBody>
        </p:sp>
      </p:grpSp>
    </p:spTree>
    <p:extLst>
      <p:ext uri="{BB962C8B-B14F-4D97-AF65-F5344CB8AC3E}">
        <p14:creationId xmlns:p14="http://schemas.microsoft.com/office/powerpoint/2010/main" val="912151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P spid="10" grpId="0"/>
      <p:bldP spid="35" grpId="0"/>
      <p:bldP spid="3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DDEA4-F0DE-4410-5A14-C432E1746AD0}"/>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0C97A256-D786-7C82-FB99-6E6368BE7EAE}"/>
              </a:ext>
            </a:extLst>
          </p:cNvPr>
          <p:cNvPicPr>
            <a:picLocks noChangeAspect="1"/>
          </p:cNvPicPr>
          <p:nvPr/>
        </p:nvPicPr>
        <p:blipFill>
          <a:blip r:embed="rId2"/>
          <a:stretch>
            <a:fillRect/>
          </a:stretch>
        </p:blipFill>
        <p:spPr>
          <a:xfrm>
            <a:off x="4267200" y="5841466"/>
            <a:ext cx="10378555" cy="4102634"/>
          </a:xfrm>
          <a:prstGeom prst="rect">
            <a:avLst/>
          </a:prstGeom>
        </p:spPr>
      </p:pic>
      <p:sp>
        <p:nvSpPr>
          <p:cNvPr id="16" name="TextBox 15">
            <a:extLst>
              <a:ext uri="{FF2B5EF4-FFF2-40B4-BE49-F238E27FC236}">
                <a16:creationId xmlns:a16="http://schemas.microsoft.com/office/drawing/2014/main" id="{1564BF5E-0A1A-1FA7-B783-C708281755FA}"/>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Security modes</a:t>
            </a:r>
          </a:p>
        </p:txBody>
      </p:sp>
      <p:grpSp>
        <p:nvGrpSpPr>
          <p:cNvPr id="3" name="Group 3">
            <a:extLst>
              <a:ext uri="{FF2B5EF4-FFF2-40B4-BE49-F238E27FC236}">
                <a16:creationId xmlns:a16="http://schemas.microsoft.com/office/drawing/2014/main" id="{F9F91134-7AC2-39B6-EE0C-0A448BAF22FB}"/>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91E7EE44-1D52-B4A3-58ED-D7645F76971F}"/>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581C2D75-BF6D-9D9C-83D8-7C34EA6B4F49}"/>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BB6A0B8C-8FD4-8FD9-8BB2-94C88A66A7AD}"/>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FFAB0CB1-A9C6-E5BE-9405-77D8064A8ECD}"/>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8219FFFD-9AD0-4DA0-D4DA-65F95C9F4C81}"/>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Slide Number Placeholder 8">
            <a:extLst>
              <a:ext uri="{FF2B5EF4-FFF2-40B4-BE49-F238E27FC236}">
                <a16:creationId xmlns:a16="http://schemas.microsoft.com/office/drawing/2014/main" id="{3003C86B-B8F2-C9EC-20D6-C4F9FDA54BA6}"/>
              </a:ext>
            </a:extLst>
          </p:cNvPr>
          <p:cNvSpPr>
            <a:spLocks noGrp="1"/>
          </p:cNvSpPr>
          <p:nvPr>
            <p:ph type="sldNum" sz="quarter" idx="12"/>
          </p:nvPr>
        </p:nvSpPr>
        <p:spPr/>
        <p:txBody>
          <a:bodyPr/>
          <a:lstStyle/>
          <a:p>
            <a:fld id="{B6F15528-21DE-4FAA-801E-634DDDAF4B2B}" type="slidenum">
              <a:rPr lang="en-US" smtClean="0"/>
              <a:pPr/>
              <a:t>48</a:t>
            </a:fld>
            <a:endParaRPr lang="en-US" sz="1800"/>
          </a:p>
        </p:txBody>
      </p:sp>
      <p:sp>
        <p:nvSpPr>
          <p:cNvPr id="8" name="TextBox 7">
            <a:extLst>
              <a:ext uri="{FF2B5EF4-FFF2-40B4-BE49-F238E27FC236}">
                <a16:creationId xmlns:a16="http://schemas.microsoft.com/office/drawing/2014/main" id="{29E0B15A-B01D-C174-F2D6-DA058F3CB82D}"/>
              </a:ext>
            </a:extLst>
          </p:cNvPr>
          <p:cNvSpPr txBox="1"/>
          <p:nvPr/>
        </p:nvSpPr>
        <p:spPr>
          <a:xfrm>
            <a:off x="975002" y="2095500"/>
            <a:ext cx="15026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Pairing Types:</a:t>
            </a:r>
            <a:endParaRPr lang="en-US" sz="3000" dirty="0">
              <a:solidFill>
                <a:schemeClr val="tx2"/>
              </a:solidFill>
              <a:latin typeface="Poppins Bold"/>
              <a:ea typeface="Poppins Bold"/>
              <a:cs typeface="Poppins Bold"/>
              <a:sym typeface="Poppins Bold"/>
            </a:endParaRPr>
          </a:p>
        </p:txBody>
      </p:sp>
      <p:sp>
        <p:nvSpPr>
          <p:cNvPr id="6" name="TextBox 5">
            <a:extLst>
              <a:ext uri="{FF2B5EF4-FFF2-40B4-BE49-F238E27FC236}">
                <a16:creationId xmlns:a16="http://schemas.microsoft.com/office/drawing/2014/main" id="{06613BB2-0CF0-1EF5-ED98-2A46A22DDD1D}"/>
              </a:ext>
            </a:extLst>
          </p:cNvPr>
          <p:cNvSpPr txBox="1"/>
          <p:nvPr/>
        </p:nvSpPr>
        <p:spPr>
          <a:xfrm>
            <a:off x="3886200" y="2171246"/>
            <a:ext cx="11384280" cy="2308324"/>
          </a:xfrm>
          <a:prstGeom prst="rect">
            <a:avLst/>
          </a:prstGeom>
          <a:noFill/>
        </p:spPr>
        <p:txBody>
          <a:bodyPr wrap="square">
            <a:spAutoFit/>
          </a:bodyPr>
          <a:lstStyle/>
          <a:p>
            <a:pPr marL="342900" indent="-342900">
              <a:buFont typeface="Arial" panose="020B0604020202020204" pitchFamily="34" charset="0"/>
              <a:buChar char="•"/>
            </a:pPr>
            <a:r>
              <a:rPr lang="en-DE" sz="2400" b="1">
                <a:solidFill>
                  <a:srgbClr val="303642"/>
                </a:solidFill>
                <a:latin typeface="Poppins" panose="00000500000000000000" pitchFamily="2" charset="0"/>
                <a:cs typeface="Poppins" panose="00000500000000000000" pitchFamily="2" charset="0"/>
              </a:rPr>
              <a:t>Legacy </a:t>
            </a:r>
            <a:r>
              <a:rPr lang="en-DE" sz="2400" b="1" dirty="0">
                <a:solidFill>
                  <a:srgbClr val="303642"/>
                </a:solidFill>
                <a:latin typeface="Poppins" panose="00000500000000000000" pitchFamily="2" charset="0"/>
                <a:cs typeface="Poppins" panose="00000500000000000000" pitchFamily="2" charset="0"/>
              </a:rPr>
              <a:t>Pairing</a:t>
            </a:r>
            <a:r>
              <a:rPr lang="en-US" sz="2400" b="1" dirty="0">
                <a:solidFill>
                  <a:srgbClr val="303642"/>
                </a:solidFill>
                <a:latin typeface="Poppins" panose="00000500000000000000" pitchFamily="2" charset="0"/>
                <a:cs typeface="Poppins" panose="00000500000000000000" pitchFamily="2" charset="0"/>
              </a:rPr>
              <a:t>:</a:t>
            </a:r>
            <a:r>
              <a:rPr lang="en-DE" sz="2400" b="1" dirty="0">
                <a:solidFill>
                  <a:srgbClr val="303642"/>
                </a:solidFill>
                <a:latin typeface="Poppins" panose="00000500000000000000" pitchFamily="2" charset="0"/>
                <a:cs typeface="Poppins" panose="00000500000000000000" pitchFamily="2" charset="0"/>
              </a:rPr>
              <a:t> </a:t>
            </a:r>
            <a:r>
              <a:rPr lang="en-US" sz="2400" dirty="0">
                <a:solidFill>
                  <a:srgbClr val="303642"/>
                </a:solidFill>
                <a:latin typeface="Poppins" panose="00000500000000000000" pitchFamily="2" charset="0"/>
                <a:cs typeface="Poppins" panose="00000500000000000000" pitchFamily="2" charset="0"/>
              </a:rPr>
              <a:t>U</a:t>
            </a:r>
            <a:r>
              <a:rPr lang="en-DE" sz="2400" dirty="0" err="1">
                <a:solidFill>
                  <a:srgbClr val="303642"/>
                </a:solidFill>
                <a:latin typeface="Poppins" panose="00000500000000000000" pitchFamily="2" charset="0"/>
                <a:cs typeface="Poppins" panose="00000500000000000000" pitchFamily="2" charset="0"/>
              </a:rPr>
              <a:t>ses</a:t>
            </a:r>
            <a:r>
              <a:rPr lang="en-DE" sz="2400" dirty="0">
                <a:solidFill>
                  <a:srgbClr val="303642"/>
                </a:solidFill>
                <a:latin typeface="Poppins" panose="00000500000000000000" pitchFamily="2" charset="0"/>
                <a:cs typeface="Poppins" panose="00000500000000000000" pitchFamily="2" charset="0"/>
              </a:rPr>
              <a:t> a simple key generation mechanism that doesn't offer the highest level of security.</a:t>
            </a:r>
            <a:endParaRPr lang="en-US" sz="2400" dirty="0">
              <a:solidFill>
                <a:srgbClr val="303642"/>
              </a:solidFill>
              <a:latin typeface="Poppins" panose="00000500000000000000" pitchFamily="2" charset="0"/>
              <a:cs typeface="Poppins" panose="00000500000000000000" pitchFamily="2" charset="0"/>
            </a:endParaRPr>
          </a:p>
          <a:p>
            <a:r>
              <a:rPr lang="en-DE" sz="2400" dirty="0">
                <a:solidFill>
                  <a:srgbClr val="303642"/>
                </a:solidFill>
                <a:latin typeface="Poppins" panose="00000500000000000000" pitchFamily="2" charset="0"/>
                <a:cs typeface="Poppins" panose="00000500000000000000" pitchFamily="2" charset="0"/>
              </a:rPr>
              <a:t> </a:t>
            </a:r>
            <a:endParaRPr lang="en-US" sz="2400" dirty="0">
              <a:solidFill>
                <a:srgbClr val="303642"/>
              </a:solidFill>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DE" sz="2400" b="1" dirty="0">
                <a:solidFill>
                  <a:srgbClr val="303642"/>
                </a:solidFill>
                <a:latin typeface="Poppins" panose="00000500000000000000" pitchFamily="2" charset="0"/>
                <a:cs typeface="Poppins" panose="00000500000000000000" pitchFamily="2" charset="0"/>
              </a:rPr>
              <a:t>LE Secure Connections</a:t>
            </a:r>
            <a:r>
              <a:rPr lang="en-US" sz="2400" b="1" dirty="0">
                <a:solidFill>
                  <a:srgbClr val="303642"/>
                </a:solidFill>
                <a:latin typeface="Poppins" panose="00000500000000000000" pitchFamily="2" charset="0"/>
                <a:cs typeface="Poppins" panose="00000500000000000000" pitchFamily="2" charset="0"/>
              </a:rPr>
              <a:t>:</a:t>
            </a:r>
            <a:r>
              <a:rPr lang="en-DE" sz="2400" b="1" dirty="0">
                <a:solidFill>
                  <a:srgbClr val="303642"/>
                </a:solidFill>
                <a:latin typeface="Poppins" panose="00000500000000000000" pitchFamily="2" charset="0"/>
                <a:cs typeface="Poppins" panose="00000500000000000000" pitchFamily="2" charset="0"/>
              </a:rPr>
              <a:t> </a:t>
            </a:r>
            <a:r>
              <a:rPr lang="en-US" sz="2400" dirty="0">
                <a:solidFill>
                  <a:srgbClr val="303642"/>
                </a:solidFill>
                <a:latin typeface="Poppins" panose="00000500000000000000" pitchFamily="2" charset="0"/>
                <a:cs typeface="Poppins" panose="00000500000000000000" pitchFamily="2" charset="0"/>
              </a:rPr>
              <a:t>Uses </a:t>
            </a:r>
            <a:r>
              <a:rPr lang="en-DE" sz="2400" dirty="0">
                <a:solidFill>
                  <a:srgbClr val="303642"/>
                </a:solidFill>
                <a:latin typeface="Poppins" panose="00000500000000000000" pitchFamily="2" charset="0"/>
                <a:cs typeface="Poppins" panose="00000500000000000000" pitchFamily="2" charset="0"/>
              </a:rPr>
              <a:t>the Elliptic Curve Diffie Hellman (</a:t>
            </a:r>
            <a:r>
              <a:rPr lang="en-DE" sz="2400" b="1" dirty="0">
                <a:solidFill>
                  <a:srgbClr val="303642"/>
                </a:solidFill>
                <a:latin typeface="Poppins" panose="00000500000000000000" pitchFamily="2" charset="0"/>
                <a:cs typeface="Poppins" panose="00000500000000000000" pitchFamily="2" charset="0"/>
              </a:rPr>
              <a:t>ECDH</a:t>
            </a:r>
            <a:r>
              <a:rPr lang="en-DE" sz="2400" dirty="0">
                <a:solidFill>
                  <a:srgbClr val="303642"/>
                </a:solidFill>
                <a:latin typeface="Poppins" panose="00000500000000000000" pitchFamily="2" charset="0"/>
                <a:cs typeface="Poppins" panose="00000500000000000000" pitchFamily="2" charset="0"/>
              </a:rPr>
              <a:t>) key exchange, providing a higher level of security. This method is particularly effective against passive</a:t>
            </a:r>
            <a:r>
              <a:rPr lang="en-US" sz="2400" dirty="0">
                <a:solidFill>
                  <a:srgbClr val="303642"/>
                </a:solidFill>
                <a:latin typeface="Poppins" panose="00000500000000000000" pitchFamily="2" charset="0"/>
                <a:cs typeface="Poppins" panose="00000500000000000000" pitchFamily="2" charset="0"/>
              </a:rPr>
              <a:t> </a:t>
            </a:r>
            <a:r>
              <a:rPr lang="en-DE" sz="2400" dirty="0">
                <a:solidFill>
                  <a:srgbClr val="303642"/>
                </a:solidFill>
                <a:latin typeface="Poppins" panose="00000500000000000000" pitchFamily="2" charset="0"/>
                <a:cs typeface="Poppins" panose="00000500000000000000" pitchFamily="2" charset="0"/>
              </a:rPr>
              <a:t>eavesdropping and </a:t>
            </a:r>
            <a:r>
              <a:rPr lang="en-US" sz="2400" dirty="0">
                <a:solidFill>
                  <a:srgbClr val="303642"/>
                </a:solidFill>
                <a:latin typeface="Poppins" panose="00000500000000000000" pitchFamily="2" charset="0"/>
                <a:cs typeface="Poppins" panose="00000500000000000000" pitchFamily="2" charset="0"/>
              </a:rPr>
              <a:t>MITM</a:t>
            </a:r>
            <a:r>
              <a:rPr lang="en-DE" sz="2400" dirty="0">
                <a:solidFill>
                  <a:srgbClr val="303642"/>
                </a:solidFill>
                <a:latin typeface="Poppins" panose="00000500000000000000" pitchFamily="2" charset="0"/>
                <a:cs typeface="Poppins" panose="00000500000000000000" pitchFamily="2" charset="0"/>
              </a:rPr>
              <a:t> attacks.</a:t>
            </a:r>
          </a:p>
        </p:txBody>
      </p:sp>
      <p:sp>
        <p:nvSpPr>
          <p:cNvPr id="12" name="TextBox 11">
            <a:extLst>
              <a:ext uri="{FF2B5EF4-FFF2-40B4-BE49-F238E27FC236}">
                <a16:creationId xmlns:a16="http://schemas.microsoft.com/office/drawing/2014/main" id="{84C65796-8054-1FB4-5BEF-0D7A2FBF9550}"/>
              </a:ext>
            </a:extLst>
          </p:cNvPr>
          <p:cNvSpPr txBox="1"/>
          <p:nvPr/>
        </p:nvSpPr>
        <p:spPr>
          <a:xfrm>
            <a:off x="685800" y="4991224"/>
            <a:ext cx="16550998" cy="830997"/>
          </a:xfrm>
          <a:prstGeom prst="rect">
            <a:avLst/>
          </a:prstGeom>
          <a:noFill/>
        </p:spPr>
        <p:txBody>
          <a:bodyPr wrap="square">
            <a:spAutoFit/>
          </a:bodyPr>
          <a:lstStyle/>
          <a:p>
            <a:r>
              <a:rPr lang="en-US" sz="2400" b="1" dirty="0">
                <a:solidFill>
                  <a:srgbClr val="303642"/>
                </a:solidFill>
                <a:latin typeface="Poppins" panose="00000500000000000000" pitchFamily="2" charset="0"/>
                <a:cs typeface="Poppins" panose="00000500000000000000" pitchFamily="2" charset="0"/>
              </a:rPr>
              <a:t>ECDH:</a:t>
            </a:r>
            <a:r>
              <a:rPr lang="en-DE" sz="2400" b="1" dirty="0">
                <a:solidFill>
                  <a:srgbClr val="303642"/>
                </a:solidFill>
                <a:latin typeface="Poppins" panose="00000500000000000000" pitchFamily="2" charset="0"/>
                <a:cs typeface="Poppins" panose="00000500000000000000" pitchFamily="2" charset="0"/>
              </a:rPr>
              <a:t> </a:t>
            </a:r>
            <a:r>
              <a:rPr lang="en-DE" sz="2400" dirty="0">
                <a:solidFill>
                  <a:srgbClr val="303642"/>
                </a:solidFill>
                <a:latin typeface="Poppins" panose="00000500000000000000" pitchFamily="2" charset="0"/>
                <a:cs typeface="Poppins" panose="00000500000000000000" pitchFamily="2" charset="0"/>
              </a:rPr>
              <a:t>a key agreement algorithm</a:t>
            </a:r>
            <a:r>
              <a:rPr lang="en-US" sz="2400" dirty="0">
                <a:solidFill>
                  <a:srgbClr val="303642"/>
                </a:solidFill>
                <a:latin typeface="Poppins" panose="00000500000000000000" pitchFamily="2" charset="0"/>
                <a:cs typeface="Poppins" panose="00000500000000000000" pitchFamily="2" charset="0"/>
              </a:rPr>
              <a:t> (256-521 bits): T</a:t>
            </a:r>
            <a:r>
              <a:rPr lang="en-DE" sz="2400" dirty="0">
                <a:solidFill>
                  <a:srgbClr val="303642"/>
                </a:solidFill>
                <a:latin typeface="Poppins" panose="00000500000000000000" pitchFamily="2" charset="0"/>
                <a:cs typeface="Poppins" panose="00000500000000000000" pitchFamily="2" charset="0"/>
              </a:rPr>
              <a:t>wo parties compute the same shared secret without ever transmitting the secret itself</a:t>
            </a:r>
            <a:r>
              <a:rPr lang="en-US" sz="2400" dirty="0">
                <a:solidFill>
                  <a:srgbClr val="303642"/>
                </a:solidFill>
                <a:latin typeface="Poppins" panose="00000500000000000000" pitchFamily="2" charset="0"/>
                <a:cs typeface="Poppins" panose="00000500000000000000" pitchFamily="2" charset="0"/>
              </a:rPr>
              <a:t>.</a:t>
            </a:r>
            <a:endParaRPr lang="en-DE" dirty="0"/>
          </a:p>
        </p:txBody>
      </p:sp>
    </p:spTree>
    <p:extLst>
      <p:ext uri="{BB962C8B-B14F-4D97-AF65-F5344CB8AC3E}">
        <p14:creationId xmlns:p14="http://schemas.microsoft.com/office/powerpoint/2010/main" val="1640834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P spid="6" grpId="0"/>
      <p:bldP spid="1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70621-DC00-FD88-A09B-66CDD970A27D}"/>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0875EF8A-63DC-C1AE-3BBC-CF6C608D7ACD}"/>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Security modes</a:t>
            </a:r>
          </a:p>
        </p:txBody>
      </p:sp>
      <p:grpSp>
        <p:nvGrpSpPr>
          <p:cNvPr id="3" name="Group 3">
            <a:extLst>
              <a:ext uri="{FF2B5EF4-FFF2-40B4-BE49-F238E27FC236}">
                <a16:creationId xmlns:a16="http://schemas.microsoft.com/office/drawing/2014/main" id="{3EC1BA09-FE72-C7A3-0DF0-45DC7975CF16}"/>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DAADE447-5997-321D-77B5-72AE84A304F6}"/>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8DDA7F15-DEC1-4FE0-513C-2E362F2F7991}"/>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0278DE6A-BE23-BB84-DAB0-3B3C43C48DBA}"/>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75148823-BB48-BBF5-89D8-ADF95C9E2713}"/>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5AC86622-1FEC-E1DC-93C2-840BEF9DD5A6}"/>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Slide Number Placeholder 8">
            <a:extLst>
              <a:ext uri="{FF2B5EF4-FFF2-40B4-BE49-F238E27FC236}">
                <a16:creationId xmlns:a16="http://schemas.microsoft.com/office/drawing/2014/main" id="{537A43FF-FD14-DB5D-1E9E-FA60B708D14E}"/>
              </a:ext>
            </a:extLst>
          </p:cNvPr>
          <p:cNvSpPr>
            <a:spLocks noGrp="1"/>
          </p:cNvSpPr>
          <p:nvPr>
            <p:ph type="sldNum" sz="quarter" idx="12"/>
          </p:nvPr>
        </p:nvSpPr>
        <p:spPr/>
        <p:txBody>
          <a:bodyPr/>
          <a:lstStyle/>
          <a:p>
            <a:fld id="{B6F15528-21DE-4FAA-801E-634DDDAF4B2B}" type="slidenum">
              <a:rPr lang="en-US" smtClean="0"/>
              <a:pPr/>
              <a:t>49</a:t>
            </a:fld>
            <a:endParaRPr lang="en-US" sz="1800"/>
          </a:p>
        </p:txBody>
      </p:sp>
      <p:sp>
        <p:nvSpPr>
          <p:cNvPr id="8" name="TextBox 7">
            <a:extLst>
              <a:ext uri="{FF2B5EF4-FFF2-40B4-BE49-F238E27FC236}">
                <a16:creationId xmlns:a16="http://schemas.microsoft.com/office/drawing/2014/main" id="{5C20B512-077F-A19D-C281-A46CBD2662D9}"/>
              </a:ext>
            </a:extLst>
          </p:cNvPr>
          <p:cNvSpPr txBox="1"/>
          <p:nvPr/>
        </p:nvSpPr>
        <p:spPr>
          <a:xfrm>
            <a:off x="975002" y="2095500"/>
            <a:ext cx="15026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The Pairing Procedure :</a:t>
            </a:r>
            <a:endParaRPr lang="en-US" sz="3000" dirty="0">
              <a:solidFill>
                <a:schemeClr val="tx2"/>
              </a:solidFill>
              <a:latin typeface="Poppins Bold"/>
              <a:ea typeface="Poppins Bold"/>
              <a:cs typeface="Poppins Bold"/>
              <a:sym typeface="Poppins Bold"/>
            </a:endParaRPr>
          </a:p>
        </p:txBody>
      </p:sp>
      <p:pic>
        <p:nvPicPr>
          <p:cNvPr id="6" name="Picture 5">
            <a:extLst>
              <a:ext uri="{FF2B5EF4-FFF2-40B4-BE49-F238E27FC236}">
                <a16:creationId xmlns:a16="http://schemas.microsoft.com/office/drawing/2014/main" id="{721A8D38-F8F4-B4F5-2554-D6B34C87A0B5}"/>
              </a:ext>
            </a:extLst>
          </p:cNvPr>
          <p:cNvPicPr>
            <a:picLocks noChangeAspect="1"/>
          </p:cNvPicPr>
          <p:nvPr/>
        </p:nvPicPr>
        <p:blipFill>
          <a:blip r:embed="rId2"/>
          <a:stretch>
            <a:fillRect/>
          </a:stretch>
        </p:blipFill>
        <p:spPr>
          <a:xfrm>
            <a:off x="2827802" y="3238500"/>
            <a:ext cx="12632396" cy="5889077"/>
          </a:xfrm>
          <a:prstGeom prst="rect">
            <a:avLst/>
          </a:prstGeom>
        </p:spPr>
      </p:pic>
    </p:spTree>
    <p:extLst>
      <p:ext uri="{BB962C8B-B14F-4D97-AF65-F5344CB8AC3E}">
        <p14:creationId xmlns:p14="http://schemas.microsoft.com/office/powerpoint/2010/main" val="63245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2B3FB45B-86DD-2F8F-69BC-5E462D824067}"/>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CD626777-6ED8-789D-8390-2672D60F5144}"/>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Security modes</a:t>
            </a:r>
          </a:p>
        </p:txBody>
      </p:sp>
      <p:sp>
        <p:nvSpPr>
          <p:cNvPr id="5" name="TextBox 4">
            <a:extLst>
              <a:ext uri="{FF2B5EF4-FFF2-40B4-BE49-F238E27FC236}">
                <a16:creationId xmlns:a16="http://schemas.microsoft.com/office/drawing/2014/main" id="{C6CD5447-EE26-6BF1-86AF-CE2B43FE2B4E}"/>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4430C9E8-E004-3120-DC73-34B6BC81ADB4}"/>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585692CF-A275-C474-C439-466BC553B22A}"/>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CE49F190-5490-1B8B-412C-83FEBCF2251E}"/>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13" name="Slide Number Placeholder 12">
            <a:extLst>
              <a:ext uri="{FF2B5EF4-FFF2-40B4-BE49-F238E27FC236}">
                <a16:creationId xmlns:a16="http://schemas.microsoft.com/office/drawing/2014/main" id="{BB8B3385-4332-0DE0-9322-2FEBDAF0BF7F}"/>
              </a:ext>
            </a:extLst>
          </p:cNvPr>
          <p:cNvSpPr>
            <a:spLocks noGrp="1"/>
          </p:cNvSpPr>
          <p:nvPr>
            <p:ph type="sldNum" sz="quarter" idx="12"/>
          </p:nvPr>
        </p:nvSpPr>
        <p:spPr/>
        <p:txBody>
          <a:bodyPr/>
          <a:lstStyle/>
          <a:p>
            <a:fld id="{B6F15528-21DE-4FAA-801E-634DDDAF4B2B}" type="slidenum">
              <a:rPr lang="en-US" smtClean="0"/>
              <a:pPr/>
              <a:t>50</a:t>
            </a:fld>
            <a:endParaRPr lang="en-US" sz="1800"/>
          </a:p>
        </p:txBody>
      </p:sp>
      <p:grpSp>
        <p:nvGrpSpPr>
          <p:cNvPr id="23" name="Group 22">
            <a:extLst>
              <a:ext uri="{FF2B5EF4-FFF2-40B4-BE49-F238E27FC236}">
                <a16:creationId xmlns:a16="http://schemas.microsoft.com/office/drawing/2014/main" id="{8AFDDC29-8AB6-B512-9D80-15C5B4117050}"/>
              </a:ext>
            </a:extLst>
          </p:cNvPr>
          <p:cNvGrpSpPr/>
          <p:nvPr/>
        </p:nvGrpSpPr>
        <p:grpSpPr>
          <a:xfrm>
            <a:off x="975002" y="2095500"/>
            <a:ext cx="15026998" cy="936078"/>
            <a:chOff x="975002" y="2095500"/>
            <a:chExt cx="15026998" cy="936078"/>
          </a:xfrm>
        </p:grpSpPr>
        <p:sp>
          <p:nvSpPr>
            <p:cNvPr id="12" name="TextBox 11">
              <a:extLst>
                <a:ext uri="{FF2B5EF4-FFF2-40B4-BE49-F238E27FC236}">
                  <a16:creationId xmlns:a16="http://schemas.microsoft.com/office/drawing/2014/main" id="{7B7C776F-BA3D-66E6-A448-80CB7B92D9F4}"/>
                </a:ext>
              </a:extLst>
            </p:cNvPr>
            <p:cNvSpPr txBox="1"/>
            <p:nvPr/>
          </p:nvSpPr>
          <p:spPr>
            <a:xfrm>
              <a:off x="975002" y="2095500"/>
              <a:ext cx="15026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Security mode 1:</a:t>
              </a:r>
              <a:endParaRPr lang="en-US" sz="3000" dirty="0">
                <a:solidFill>
                  <a:schemeClr val="tx2"/>
                </a:solidFill>
                <a:latin typeface="Poppins Bold"/>
                <a:ea typeface="Poppins Bold"/>
                <a:cs typeface="Poppins Bold"/>
                <a:sym typeface="Poppins Bold"/>
              </a:endParaRPr>
            </a:p>
          </p:txBody>
        </p:sp>
        <p:sp>
          <p:nvSpPr>
            <p:cNvPr id="19" name="TextBox 18">
              <a:extLst>
                <a:ext uri="{FF2B5EF4-FFF2-40B4-BE49-F238E27FC236}">
                  <a16:creationId xmlns:a16="http://schemas.microsoft.com/office/drawing/2014/main" id="{5E37A586-41C0-B0DE-D639-787DA9660C30}"/>
                </a:ext>
              </a:extLst>
            </p:cNvPr>
            <p:cNvSpPr txBox="1"/>
            <p:nvPr/>
          </p:nvSpPr>
          <p:spPr>
            <a:xfrm>
              <a:off x="4267201" y="2109787"/>
              <a:ext cx="11734799" cy="921791"/>
            </a:xfrm>
            <a:prstGeom prst="rect">
              <a:avLst/>
            </a:prstGeom>
            <a:noFill/>
          </p:spPr>
          <p:txBody>
            <a:bodyPr wrap="square">
              <a:spAutoFit/>
            </a:bodyPr>
            <a:lstStyle/>
            <a:p>
              <a:pPr>
                <a:lnSpc>
                  <a:spcPct val="115000"/>
                </a:lnSpc>
                <a:spcAft>
                  <a:spcPts val="800"/>
                </a:spcAft>
              </a:pPr>
              <a:r>
                <a:rPr lang="en-US" sz="2400" dirty="0">
                  <a:solidFill>
                    <a:srgbClr val="303642"/>
                  </a:solidFill>
                  <a:latin typeface="Poppins" panose="00000500000000000000" pitchFamily="2" charset="0"/>
                  <a:cs typeface="Poppins" panose="00000500000000000000" pitchFamily="2" charset="0"/>
                </a:rPr>
                <a:t>This is the </a:t>
              </a:r>
              <a:r>
                <a:rPr lang="en-US" sz="2400" b="1" dirty="0">
                  <a:solidFill>
                    <a:srgbClr val="303642"/>
                  </a:solidFill>
                  <a:latin typeface="Poppins" panose="00000500000000000000" pitchFamily="2" charset="0"/>
                  <a:cs typeface="Poppins" panose="00000500000000000000" pitchFamily="2" charset="0"/>
                </a:rPr>
                <a:t>standard mode </a:t>
              </a:r>
              <a:r>
                <a:rPr lang="en-US" sz="2400" dirty="0">
                  <a:solidFill>
                    <a:srgbClr val="303642"/>
                  </a:solidFill>
                  <a:latin typeface="Poppins" panose="00000500000000000000" pitchFamily="2" charset="0"/>
                  <a:cs typeface="Poppins" panose="00000500000000000000" pitchFamily="2" charset="0"/>
                </a:rPr>
                <a:t>used by the majority of modern BLE applications. </a:t>
              </a:r>
              <a:r>
                <a:rPr lang="en-US" sz="2400" b="1" dirty="0">
                  <a:solidFill>
                    <a:srgbClr val="303642"/>
                  </a:solidFill>
                  <a:latin typeface="Poppins" panose="00000500000000000000" pitchFamily="2" charset="0"/>
                  <a:cs typeface="Poppins" panose="00000500000000000000" pitchFamily="2" charset="0"/>
                </a:rPr>
                <a:t>It controls link encryption and device identity verification. </a:t>
              </a:r>
            </a:p>
          </p:txBody>
        </p:sp>
      </p:grpSp>
      <p:pic>
        <p:nvPicPr>
          <p:cNvPr id="3" name="Picture 2">
            <a:extLst>
              <a:ext uri="{FF2B5EF4-FFF2-40B4-BE49-F238E27FC236}">
                <a16:creationId xmlns:a16="http://schemas.microsoft.com/office/drawing/2014/main" id="{B8A2141E-10DD-C913-8F09-8CBDDFB238FB}"/>
              </a:ext>
            </a:extLst>
          </p:cNvPr>
          <p:cNvPicPr>
            <a:picLocks noChangeAspect="1"/>
          </p:cNvPicPr>
          <p:nvPr/>
        </p:nvPicPr>
        <p:blipFill>
          <a:blip r:embed="rId4"/>
          <a:srcRect t="3538" b="1298"/>
          <a:stretch>
            <a:fillRect/>
          </a:stretch>
        </p:blipFill>
        <p:spPr>
          <a:xfrm>
            <a:off x="2398703" y="3065269"/>
            <a:ext cx="13490594" cy="6342587"/>
          </a:xfrm>
          <a:prstGeom prst="rect">
            <a:avLst/>
          </a:prstGeom>
        </p:spPr>
      </p:pic>
      <p:grpSp>
        <p:nvGrpSpPr>
          <p:cNvPr id="25" name="Group 3">
            <a:extLst>
              <a:ext uri="{FF2B5EF4-FFF2-40B4-BE49-F238E27FC236}">
                <a16:creationId xmlns:a16="http://schemas.microsoft.com/office/drawing/2014/main" id="{D66E34C1-BA8B-BA64-47A9-9BEB83ABCD71}"/>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11E323FF-A2D9-147B-9732-9AE42EDED4C0}"/>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AE75E547-6054-FA2E-1EF1-AB7B6AE42265}"/>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1715054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4A4DAA4A-6F21-BC17-F477-36CDC714BF0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59F3EFA-740A-EA46-AA7A-433191165183}"/>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9BA539CF-CC0F-E37D-0DD7-BB8A7AE7A451}"/>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A181AD8E-9390-AEC7-A15B-02AE73C1B02B}"/>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AB5FD968-5E8F-294D-1332-4D5867BF53B1}"/>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E4C2A51C-DA5F-EE21-A518-262C0260E0AD}"/>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AA57A296-803E-8246-99AE-AD8A1EE124B5}"/>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3D11F7AB-898B-1232-9FE3-FC42F5BC4949}"/>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13" name="Slide Number Placeholder 12">
            <a:extLst>
              <a:ext uri="{FF2B5EF4-FFF2-40B4-BE49-F238E27FC236}">
                <a16:creationId xmlns:a16="http://schemas.microsoft.com/office/drawing/2014/main" id="{EF6A5F1E-457A-7874-556F-752814866DED}"/>
              </a:ext>
            </a:extLst>
          </p:cNvPr>
          <p:cNvSpPr>
            <a:spLocks noGrp="1"/>
          </p:cNvSpPr>
          <p:nvPr>
            <p:ph type="sldNum" sz="quarter" idx="12"/>
          </p:nvPr>
        </p:nvSpPr>
        <p:spPr/>
        <p:txBody>
          <a:bodyPr/>
          <a:lstStyle/>
          <a:p>
            <a:fld id="{B6F15528-21DE-4FAA-801E-634DDDAF4B2B}" type="slidenum">
              <a:rPr lang="en-US" smtClean="0"/>
              <a:pPr/>
              <a:t>51</a:t>
            </a:fld>
            <a:endParaRPr lang="en-US" sz="1800"/>
          </a:p>
        </p:txBody>
      </p:sp>
      <p:grpSp>
        <p:nvGrpSpPr>
          <p:cNvPr id="4" name="Group 3">
            <a:extLst>
              <a:ext uri="{FF2B5EF4-FFF2-40B4-BE49-F238E27FC236}">
                <a16:creationId xmlns:a16="http://schemas.microsoft.com/office/drawing/2014/main" id="{9886696B-458A-533E-2572-75F599742469}"/>
              </a:ext>
            </a:extLst>
          </p:cNvPr>
          <p:cNvGrpSpPr/>
          <p:nvPr/>
        </p:nvGrpSpPr>
        <p:grpSpPr>
          <a:xfrm>
            <a:off x="975002" y="1159423"/>
            <a:ext cx="15026998" cy="1447756"/>
            <a:chOff x="975002" y="1159423"/>
            <a:chExt cx="15026998" cy="1447756"/>
          </a:xfrm>
        </p:grpSpPr>
        <p:sp>
          <p:nvSpPr>
            <p:cNvPr id="16" name="TextBox 15">
              <a:extLst>
                <a:ext uri="{FF2B5EF4-FFF2-40B4-BE49-F238E27FC236}">
                  <a16:creationId xmlns:a16="http://schemas.microsoft.com/office/drawing/2014/main" id="{58B8C530-3222-535E-CC57-DEAD34F6DA0B}"/>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Security modes</a:t>
              </a:r>
            </a:p>
          </p:txBody>
        </p:sp>
        <p:sp>
          <p:nvSpPr>
            <p:cNvPr id="12" name="TextBox 11">
              <a:extLst>
                <a:ext uri="{FF2B5EF4-FFF2-40B4-BE49-F238E27FC236}">
                  <a16:creationId xmlns:a16="http://schemas.microsoft.com/office/drawing/2014/main" id="{89CB95F8-2A56-5520-365B-BCB40F7005A6}"/>
                </a:ext>
              </a:extLst>
            </p:cNvPr>
            <p:cNvSpPr txBox="1"/>
            <p:nvPr/>
          </p:nvSpPr>
          <p:spPr>
            <a:xfrm>
              <a:off x="975002" y="2095500"/>
              <a:ext cx="15026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Associated Methods:</a:t>
              </a:r>
              <a:endParaRPr lang="en-US" sz="3000" dirty="0">
                <a:solidFill>
                  <a:schemeClr val="tx2"/>
                </a:solidFill>
                <a:latin typeface="Poppins Bold"/>
                <a:ea typeface="Poppins Bold"/>
                <a:cs typeface="Poppins Bold"/>
                <a:sym typeface="Poppins Bold"/>
              </a:endParaRPr>
            </a:p>
          </p:txBody>
        </p:sp>
      </p:grpSp>
      <p:pic>
        <p:nvPicPr>
          <p:cNvPr id="3" name="Picture 2">
            <a:extLst>
              <a:ext uri="{FF2B5EF4-FFF2-40B4-BE49-F238E27FC236}">
                <a16:creationId xmlns:a16="http://schemas.microsoft.com/office/drawing/2014/main" id="{5E0794AA-1086-C85E-7FA3-F389E6E23965}"/>
              </a:ext>
            </a:extLst>
          </p:cNvPr>
          <p:cNvPicPr>
            <a:picLocks noChangeAspect="1"/>
          </p:cNvPicPr>
          <p:nvPr/>
        </p:nvPicPr>
        <p:blipFill>
          <a:blip r:embed="rId4"/>
          <a:stretch>
            <a:fillRect/>
          </a:stretch>
        </p:blipFill>
        <p:spPr>
          <a:xfrm>
            <a:off x="2421185" y="2841002"/>
            <a:ext cx="13445630" cy="6179896"/>
          </a:xfrm>
          <a:prstGeom prst="rect">
            <a:avLst/>
          </a:prstGeom>
        </p:spPr>
      </p:pic>
    </p:spTree>
    <p:extLst>
      <p:ext uri="{BB962C8B-B14F-4D97-AF65-F5344CB8AC3E}">
        <p14:creationId xmlns:p14="http://schemas.microsoft.com/office/powerpoint/2010/main" val="398541950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D889F-F03F-2309-4D6D-46478AC34193}"/>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495082E0-9DC3-FA4B-05B8-CB4488EFF348}"/>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Security modes</a:t>
            </a:r>
          </a:p>
        </p:txBody>
      </p:sp>
      <p:grpSp>
        <p:nvGrpSpPr>
          <p:cNvPr id="3" name="Group 3">
            <a:extLst>
              <a:ext uri="{FF2B5EF4-FFF2-40B4-BE49-F238E27FC236}">
                <a16:creationId xmlns:a16="http://schemas.microsoft.com/office/drawing/2014/main" id="{C0CB0804-B431-4849-D674-43474F1FB454}"/>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25506B81-6246-B86B-93EC-FC3653784390}"/>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905A7402-3109-27BD-0385-310E5C93D34C}"/>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3E2C4004-FB4C-E6E3-D158-D33109FE90E6}"/>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EF075E8A-EF50-40D9-5D8E-B7057017B0DE}"/>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EEAF899E-A7EE-92E9-5695-769203D6F2B6}"/>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Slide Number Placeholder 8">
            <a:extLst>
              <a:ext uri="{FF2B5EF4-FFF2-40B4-BE49-F238E27FC236}">
                <a16:creationId xmlns:a16="http://schemas.microsoft.com/office/drawing/2014/main" id="{EE0AFA3E-02A6-8D36-76A1-1913E4179792}"/>
              </a:ext>
            </a:extLst>
          </p:cNvPr>
          <p:cNvSpPr>
            <a:spLocks noGrp="1"/>
          </p:cNvSpPr>
          <p:nvPr>
            <p:ph type="sldNum" sz="quarter" idx="12"/>
          </p:nvPr>
        </p:nvSpPr>
        <p:spPr/>
        <p:txBody>
          <a:bodyPr/>
          <a:lstStyle/>
          <a:p>
            <a:fld id="{B6F15528-21DE-4FAA-801E-634DDDAF4B2B}" type="slidenum">
              <a:rPr lang="en-US" smtClean="0"/>
              <a:pPr/>
              <a:t>52</a:t>
            </a:fld>
            <a:endParaRPr lang="en-US" sz="1800"/>
          </a:p>
        </p:txBody>
      </p:sp>
      <p:grpSp>
        <p:nvGrpSpPr>
          <p:cNvPr id="7" name="Group 6">
            <a:extLst>
              <a:ext uri="{FF2B5EF4-FFF2-40B4-BE49-F238E27FC236}">
                <a16:creationId xmlns:a16="http://schemas.microsoft.com/office/drawing/2014/main" id="{80BEB1F8-68D5-5A6A-BCF8-1109EC6DF4D1}"/>
              </a:ext>
            </a:extLst>
          </p:cNvPr>
          <p:cNvGrpSpPr/>
          <p:nvPr/>
        </p:nvGrpSpPr>
        <p:grpSpPr>
          <a:xfrm>
            <a:off x="975002" y="2095500"/>
            <a:ext cx="15026998" cy="936078"/>
            <a:chOff x="975002" y="2095500"/>
            <a:chExt cx="15026998" cy="936078"/>
          </a:xfrm>
        </p:grpSpPr>
        <p:sp>
          <p:nvSpPr>
            <p:cNvPr id="8" name="TextBox 7">
              <a:extLst>
                <a:ext uri="{FF2B5EF4-FFF2-40B4-BE49-F238E27FC236}">
                  <a16:creationId xmlns:a16="http://schemas.microsoft.com/office/drawing/2014/main" id="{383587AC-EBFB-20C9-E6C0-ACB8AC972563}"/>
                </a:ext>
              </a:extLst>
            </p:cNvPr>
            <p:cNvSpPr txBox="1"/>
            <p:nvPr/>
          </p:nvSpPr>
          <p:spPr>
            <a:xfrm>
              <a:off x="975002" y="2095500"/>
              <a:ext cx="15026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Security mode 2:</a:t>
              </a:r>
              <a:endParaRPr lang="en-US" sz="3000" dirty="0">
                <a:solidFill>
                  <a:schemeClr val="tx2"/>
                </a:solidFill>
                <a:latin typeface="Poppins Bold"/>
                <a:ea typeface="Poppins Bold"/>
                <a:cs typeface="Poppins Bold"/>
                <a:sym typeface="Poppins Bold"/>
              </a:endParaRPr>
            </a:p>
          </p:txBody>
        </p:sp>
        <p:sp>
          <p:nvSpPr>
            <p:cNvPr id="10" name="TextBox 9">
              <a:extLst>
                <a:ext uri="{FF2B5EF4-FFF2-40B4-BE49-F238E27FC236}">
                  <a16:creationId xmlns:a16="http://schemas.microsoft.com/office/drawing/2014/main" id="{0D1B30B0-5A90-3240-DE52-D2DED3264148}"/>
                </a:ext>
              </a:extLst>
            </p:cNvPr>
            <p:cNvSpPr txBox="1"/>
            <p:nvPr/>
          </p:nvSpPr>
          <p:spPr>
            <a:xfrm>
              <a:off x="4267201" y="2109787"/>
              <a:ext cx="11734799" cy="921791"/>
            </a:xfrm>
            <a:prstGeom prst="rect">
              <a:avLst/>
            </a:prstGeom>
            <a:noFill/>
          </p:spPr>
          <p:txBody>
            <a:bodyPr wrap="square">
              <a:spAutoFit/>
            </a:bodyPr>
            <a:lstStyle/>
            <a:p>
              <a:pPr>
                <a:lnSpc>
                  <a:spcPct val="115000"/>
                </a:lnSpc>
                <a:spcAft>
                  <a:spcPts val="800"/>
                </a:spcAft>
              </a:pPr>
              <a:r>
                <a:rPr lang="en-US" sz="2400" dirty="0">
                  <a:solidFill>
                    <a:srgbClr val="303642"/>
                  </a:solidFill>
                  <a:latin typeface="Poppins" panose="00000500000000000000" pitchFamily="2" charset="0"/>
                  <a:cs typeface="Poppins" panose="00000500000000000000" pitchFamily="2" charset="0"/>
                </a:rPr>
                <a:t>Used when </a:t>
              </a:r>
              <a:r>
                <a:rPr lang="en-US" sz="2400" b="1" dirty="0">
                  <a:solidFill>
                    <a:srgbClr val="303642"/>
                  </a:solidFill>
                  <a:latin typeface="Poppins" panose="00000500000000000000" pitchFamily="2" charset="0"/>
                  <a:cs typeface="Poppins" panose="00000500000000000000" pitchFamily="2" charset="0"/>
                </a:rPr>
                <a:t>data is not encrypted</a:t>
              </a:r>
              <a:r>
                <a:rPr lang="en-US" sz="2400" dirty="0">
                  <a:solidFill>
                    <a:srgbClr val="303642"/>
                  </a:solidFill>
                  <a:latin typeface="Poppins" panose="00000500000000000000" pitchFamily="2" charset="0"/>
                  <a:cs typeface="Poppins" panose="00000500000000000000" pitchFamily="2" charset="0"/>
                </a:rPr>
                <a:t>, but packets must be cryptographically signed to prevent tampering.</a:t>
              </a:r>
            </a:p>
          </p:txBody>
        </p:sp>
      </p:grpSp>
      <p:pic>
        <p:nvPicPr>
          <p:cNvPr id="13" name="Picture 12">
            <a:extLst>
              <a:ext uri="{FF2B5EF4-FFF2-40B4-BE49-F238E27FC236}">
                <a16:creationId xmlns:a16="http://schemas.microsoft.com/office/drawing/2014/main" id="{E7E70278-719A-6E10-500A-1DEADF12B932}"/>
              </a:ext>
            </a:extLst>
          </p:cNvPr>
          <p:cNvPicPr>
            <a:picLocks noChangeAspect="1"/>
          </p:cNvPicPr>
          <p:nvPr/>
        </p:nvPicPr>
        <p:blipFill>
          <a:blip r:embed="rId2"/>
          <a:stretch>
            <a:fillRect/>
          </a:stretch>
        </p:blipFill>
        <p:spPr>
          <a:xfrm>
            <a:off x="2115427" y="4263803"/>
            <a:ext cx="14057145" cy="3014972"/>
          </a:xfrm>
          <a:prstGeom prst="rect">
            <a:avLst/>
          </a:prstGeom>
        </p:spPr>
      </p:pic>
    </p:spTree>
    <p:extLst>
      <p:ext uri="{BB962C8B-B14F-4D97-AF65-F5344CB8AC3E}">
        <p14:creationId xmlns:p14="http://schemas.microsoft.com/office/powerpoint/2010/main" val="343225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E7861C4-57B0-768F-9A09-867BEB0892C8}"/>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702A3BAA-B89C-B972-08D1-DA33AE1105E5}"/>
              </a:ext>
            </a:extLst>
          </p:cNvPr>
          <p:cNvSpPr txBox="1"/>
          <p:nvPr/>
        </p:nvSpPr>
        <p:spPr>
          <a:xfrm>
            <a:off x="975003" y="1159423"/>
            <a:ext cx="12324724"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Security modes</a:t>
            </a:r>
          </a:p>
        </p:txBody>
      </p:sp>
      <p:sp>
        <p:nvSpPr>
          <p:cNvPr id="5" name="TextBox 4">
            <a:extLst>
              <a:ext uri="{FF2B5EF4-FFF2-40B4-BE49-F238E27FC236}">
                <a16:creationId xmlns:a16="http://schemas.microsoft.com/office/drawing/2014/main" id="{5AFCA769-F19E-6CE9-4DD8-E61EF063AA12}"/>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868882CC-D99D-45F3-FFF9-C096AD669FB0}"/>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0629E26B-687A-96BC-AD1D-5FC54C4F5D55}"/>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5E452BCE-0E34-07D4-7DDD-2EEE05116922}"/>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13" name="Slide Number Placeholder 12">
            <a:extLst>
              <a:ext uri="{FF2B5EF4-FFF2-40B4-BE49-F238E27FC236}">
                <a16:creationId xmlns:a16="http://schemas.microsoft.com/office/drawing/2014/main" id="{0C7A9DC1-FE88-F4EE-04D1-5C80BC32D8BA}"/>
              </a:ext>
            </a:extLst>
          </p:cNvPr>
          <p:cNvSpPr>
            <a:spLocks noGrp="1"/>
          </p:cNvSpPr>
          <p:nvPr>
            <p:ph type="sldNum" sz="quarter" idx="12"/>
          </p:nvPr>
        </p:nvSpPr>
        <p:spPr/>
        <p:txBody>
          <a:bodyPr/>
          <a:lstStyle/>
          <a:p>
            <a:fld id="{B6F15528-21DE-4FAA-801E-634DDDAF4B2B}" type="slidenum">
              <a:rPr lang="en-US" smtClean="0"/>
              <a:pPr/>
              <a:t>53</a:t>
            </a:fld>
            <a:endParaRPr lang="en-US" sz="1800"/>
          </a:p>
        </p:txBody>
      </p:sp>
      <p:sp>
        <p:nvSpPr>
          <p:cNvPr id="12" name="TextBox 11">
            <a:extLst>
              <a:ext uri="{FF2B5EF4-FFF2-40B4-BE49-F238E27FC236}">
                <a16:creationId xmlns:a16="http://schemas.microsoft.com/office/drawing/2014/main" id="{37E0F5E1-3F4D-1515-0571-F9DBD77E3FA6}"/>
              </a:ext>
            </a:extLst>
          </p:cNvPr>
          <p:cNvSpPr txBox="1"/>
          <p:nvPr/>
        </p:nvSpPr>
        <p:spPr>
          <a:xfrm>
            <a:off x="975002" y="2095500"/>
            <a:ext cx="15026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Data signing procedure:</a:t>
            </a:r>
            <a:endParaRPr lang="en-US" sz="3000" dirty="0">
              <a:solidFill>
                <a:schemeClr val="tx2"/>
              </a:solidFill>
              <a:latin typeface="Poppins Bold"/>
              <a:ea typeface="Poppins Bold"/>
              <a:cs typeface="Poppins Bold"/>
              <a:sym typeface="Poppins Bold"/>
            </a:endParaRPr>
          </a:p>
        </p:txBody>
      </p:sp>
      <p:sp>
        <p:nvSpPr>
          <p:cNvPr id="3" name="TextBox 2">
            <a:extLst>
              <a:ext uri="{FF2B5EF4-FFF2-40B4-BE49-F238E27FC236}">
                <a16:creationId xmlns:a16="http://schemas.microsoft.com/office/drawing/2014/main" id="{6F66045B-20AB-930C-1240-EF965EF82AD8}"/>
              </a:ext>
            </a:extLst>
          </p:cNvPr>
          <p:cNvSpPr txBox="1"/>
          <p:nvPr/>
        </p:nvSpPr>
        <p:spPr>
          <a:xfrm>
            <a:off x="5791200" y="2090737"/>
            <a:ext cx="11734799" cy="921791"/>
          </a:xfrm>
          <a:prstGeom prst="rect">
            <a:avLst/>
          </a:prstGeom>
          <a:noFill/>
        </p:spPr>
        <p:txBody>
          <a:bodyPr wrap="square">
            <a:spAutoFit/>
          </a:bodyPr>
          <a:lstStyle/>
          <a:p>
            <a:pPr>
              <a:lnSpc>
                <a:spcPct val="115000"/>
              </a:lnSpc>
              <a:spcAft>
                <a:spcPts val="800"/>
              </a:spcAft>
            </a:pPr>
            <a:r>
              <a:rPr lang="en-US" sz="2400" dirty="0">
                <a:solidFill>
                  <a:srgbClr val="303642"/>
                </a:solidFill>
                <a:latin typeface="Poppins" panose="00000500000000000000" pitchFamily="2" charset="0"/>
                <a:cs typeface="Poppins" panose="00000500000000000000" pitchFamily="2" charset="0"/>
              </a:rPr>
              <a:t>Security guard for the integrity and authenticity of data transmitted between devices, even when encryption isn't used. </a:t>
            </a:r>
          </a:p>
        </p:txBody>
      </p:sp>
      <p:pic>
        <p:nvPicPr>
          <p:cNvPr id="6" name="Picture 5">
            <a:extLst>
              <a:ext uri="{FF2B5EF4-FFF2-40B4-BE49-F238E27FC236}">
                <a16:creationId xmlns:a16="http://schemas.microsoft.com/office/drawing/2014/main" id="{9B7A8FE5-0F14-F68C-A2E0-4650FF0D048A}"/>
              </a:ext>
            </a:extLst>
          </p:cNvPr>
          <p:cNvPicPr>
            <a:picLocks noChangeAspect="1"/>
          </p:cNvPicPr>
          <p:nvPr/>
        </p:nvPicPr>
        <p:blipFill>
          <a:blip r:embed="rId4"/>
          <a:stretch>
            <a:fillRect/>
          </a:stretch>
        </p:blipFill>
        <p:spPr>
          <a:xfrm>
            <a:off x="1143587" y="3012528"/>
            <a:ext cx="16000825" cy="6967326"/>
          </a:xfrm>
          <a:prstGeom prst="rect">
            <a:avLst/>
          </a:prstGeom>
        </p:spPr>
      </p:pic>
      <p:grpSp>
        <p:nvGrpSpPr>
          <p:cNvPr id="25" name="Group 3">
            <a:extLst>
              <a:ext uri="{FF2B5EF4-FFF2-40B4-BE49-F238E27FC236}">
                <a16:creationId xmlns:a16="http://schemas.microsoft.com/office/drawing/2014/main" id="{1F63E5BD-2C28-F94C-8043-E75CAF173028}"/>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C9D92F74-0C9E-26CC-D242-B9FD257F5227}"/>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5EB789C8-7A80-E64A-7BEE-623442C39D65}"/>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211810640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2" grpId="0"/>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C2434-06C6-723D-4CEA-35F8C7424259}"/>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058BC724-33F8-334C-E492-C868141C2E93}"/>
              </a:ext>
            </a:extLst>
          </p:cNvPr>
          <p:cNvGrpSpPr/>
          <p:nvPr/>
        </p:nvGrpSpPr>
        <p:grpSpPr>
          <a:xfrm>
            <a:off x="-1130300" y="4057750"/>
            <a:ext cx="3086100" cy="2171499"/>
            <a:chOff x="0" y="0"/>
            <a:chExt cx="812800" cy="571917"/>
          </a:xfrm>
        </p:grpSpPr>
        <p:sp>
          <p:nvSpPr>
            <p:cNvPr id="4" name="Freeform 4">
              <a:extLst>
                <a:ext uri="{FF2B5EF4-FFF2-40B4-BE49-F238E27FC236}">
                  <a16:creationId xmlns:a16="http://schemas.microsoft.com/office/drawing/2014/main" id="{7B6BEBE8-656E-4A1D-88E0-64264E2A4401}"/>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en-DE" dirty="0"/>
            </a:p>
          </p:txBody>
        </p:sp>
        <p:sp>
          <p:nvSpPr>
            <p:cNvPr id="5" name="TextBox 5">
              <a:extLst>
                <a:ext uri="{FF2B5EF4-FFF2-40B4-BE49-F238E27FC236}">
                  <a16:creationId xmlns:a16="http://schemas.microsoft.com/office/drawing/2014/main" id="{71B80C79-7E43-F54B-BA14-BD3F73142CBD}"/>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A008240B-BC56-A915-4EED-8FD3678D7BEF}"/>
              </a:ext>
            </a:extLst>
          </p:cNvPr>
          <p:cNvGrpSpPr/>
          <p:nvPr/>
        </p:nvGrpSpPr>
        <p:grpSpPr>
          <a:xfrm>
            <a:off x="16467343" y="4057750"/>
            <a:ext cx="3086100" cy="2171499"/>
            <a:chOff x="0" y="0"/>
            <a:chExt cx="812800" cy="571917"/>
          </a:xfrm>
        </p:grpSpPr>
        <p:sp>
          <p:nvSpPr>
            <p:cNvPr id="7" name="Freeform 7">
              <a:extLst>
                <a:ext uri="{FF2B5EF4-FFF2-40B4-BE49-F238E27FC236}">
                  <a16:creationId xmlns:a16="http://schemas.microsoft.com/office/drawing/2014/main" id="{2C441ACE-4C8F-5238-8C30-97C6EEA180AB}"/>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en-DE"/>
            </a:p>
          </p:txBody>
        </p:sp>
        <p:sp>
          <p:nvSpPr>
            <p:cNvPr id="8" name="TextBox 8">
              <a:extLst>
                <a:ext uri="{FF2B5EF4-FFF2-40B4-BE49-F238E27FC236}">
                  <a16:creationId xmlns:a16="http://schemas.microsoft.com/office/drawing/2014/main" id="{DAD05F05-43B9-0E5E-DF8C-93AD698676A0}"/>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9" name="Freeform 9">
            <a:extLst>
              <a:ext uri="{FF2B5EF4-FFF2-40B4-BE49-F238E27FC236}">
                <a16:creationId xmlns:a16="http://schemas.microsoft.com/office/drawing/2014/main" id="{DE124CAE-5C0E-197E-B59D-F1037D151F80}"/>
              </a:ext>
            </a:extLst>
          </p:cNvPr>
          <p:cNvSpPr/>
          <p:nvPr/>
        </p:nvSpPr>
        <p:spPr>
          <a:xfrm>
            <a:off x="15129698" y="533489"/>
            <a:ext cx="2675289" cy="1342103"/>
          </a:xfrm>
          <a:custGeom>
            <a:avLst/>
            <a:gdLst/>
            <a:ahLst/>
            <a:cxnLst/>
            <a:rect l="l" t="t" r="r" b="b"/>
            <a:pathLst>
              <a:path w="4007554" h="2010456">
                <a:moveTo>
                  <a:pt x="0" y="0"/>
                </a:moveTo>
                <a:lnTo>
                  <a:pt x="4007554" y="0"/>
                </a:lnTo>
                <a:lnTo>
                  <a:pt x="4007554" y="2010456"/>
                </a:lnTo>
                <a:lnTo>
                  <a:pt x="0" y="2010456"/>
                </a:lnTo>
                <a:lnTo>
                  <a:pt x="0" y="0"/>
                </a:lnTo>
                <a:close/>
              </a:path>
            </a:pathLst>
          </a:custGeom>
          <a:blipFill>
            <a:blip r:embed="rId3"/>
            <a:stretch>
              <a:fillRect/>
            </a:stretch>
          </a:blipFill>
        </p:spPr>
        <p:txBody>
          <a:bodyPr/>
          <a:lstStyle/>
          <a:p>
            <a:endParaRPr lang="en-DE"/>
          </a:p>
        </p:txBody>
      </p:sp>
      <p:sp>
        <p:nvSpPr>
          <p:cNvPr id="10" name="TextBox 10">
            <a:extLst>
              <a:ext uri="{FF2B5EF4-FFF2-40B4-BE49-F238E27FC236}">
                <a16:creationId xmlns:a16="http://schemas.microsoft.com/office/drawing/2014/main" id="{A7784484-EB47-542B-FA56-C1A18EE396B5}"/>
              </a:ext>
            </a:extLst>
          </p:cNvPr>
          <p:cNvSpPr txBox="1"/>
          <p:nvPr/>
        </p:nvSpPr>
        <p:spPr>
          <a:xfrm>
            <a:off x="2769489" y="4381500"/>
            <a:ext cx="12997868" cy="2115964"/>
          </a:xfrm>
          <a:prstGeom prst="rect">
            <a:avLst/>
          </a:prstGeom>
        </p:spPr>
        <p:txBody>
          <a:bodyPr lIns="0" tIns="0" rIns="0" bIns="0" rtlCol="0" anchor="t">
            <a:spAutoFit/>
          </a:bodyPr>
          <a:lstStyle/>
          <a:p>
            <a:pPr algn="ctr">
              <a:lnSpc>
                <a:spcPts val="8400"/>
              </a:lnSpc>
            </a:pPr>
            <a:r>
              <a:rPr lang="en-US" sz="6000" b="1" dirty="0">
                <a:solidFill>
                  <a:srgbClr val="004AAD"/>
                </a:solidFill>
                <a:latin typeface="League Spartan"/>
                <a:ea typeface="League Spartan"/>
                <a:cs typeface="League Spartan"/>
                <a:sym typeface="League Spartan"/>
              </a:rPr>
              <a:t>ESP32-Based BLE Implementation.</a:t>
            </a:r>
          </a:p>
        </p:txBody>
      </p:sp>
      <p:sp>
        <p:nvSpPr>
          <p:cNvPr id="14" name="Freeform 56">
            <a:extLst>
              <a:ext uri="{FF2B5EF4-FFF2-40B4-BE49-F238E27FC236}">
                <a16:creationId xmlns:a16="http://schemas.microsoft.com/office/drawing/2014/main" id="{E06AD33F-5BBC-FED0-41E2-A243E40AB079}"/>
              </a:ext>
            </a:extLst>
          </p:cNvPr>
          <p:cNvSpPr/>
          <p:nvPr/>
        </p:nvSpPr>
        <p:spPr>
          <a:xfrm>
            <a:off x="8201623" y="1562100"/>
            <a:ext cx="1884754" cy="1938790"/>
          </a:xfrm>
          <a:custGeom>
            <a:avLst/>
            <a:gdLst/>
            <a:ahLst/>
            <a:cxnLst/>
            <a:rect l="l" t="t" r="r" b="b"/>
            <a:pathLst>
              <a:path w="859299" h="812800">
                <a:moveTo>
                  <a:pt x="429650" y="0"/>
                </a:moveTo>
                <a:cubicBezTo>
                  <a:pt x="192361" y="0"/>
                  <a:pt x="0" y="181951"/>
                  <a:pt x="0" y="406400"/>
                </a:cubicBezTo>
                <a:cubicBezTo>
                  <a:pt x="0" y="630849"/>
                  <a:pt x="192361" y="812800"/>
                  <a:pt x="429650" y="812800"/>
                </a:cubicBezTo>
                <a:cubicBezTo>
                  <a:pt x="666939" y="812800"/>
                  <a:pt x="859299" y="630849"/>
                  <a:pt x="859299" y="406400"/>
                </a:cubicBezTo>
                <a:cubicBezTo>
                  <a:pt x="859299" y="181951"/>
                  <a:pt x="666939" y="0"/>
                  <a:pt x="429650" y="0"/>
                </a:cubicBezTo>
                <a:close/>
              </a:path>
            </a:pathLst>
          </a:custGeom>
          <a:solidFill>
            <a:srgbClr val="004AAD"/>
          </a:solidFill>
        </p:spPr>
        <p:txBody>
          <a:bodyPr/>
          <a:lstStyle/>
          <a:p>
            <a:endParaRPr lang="en-DE" dirty="0"/>
          </a:p>
        </p:txBody>
      </p:sp>
      <p:sp>
        <p:nvSpPr>
          <p:cNvPr id="16" name="TextBox 58">
            <a:extLst>
              <a:ext uri="{FF2B5EF4-FFF2-40B4-BE49-F238E27FC236}">
                <a16:creationId xmlns:a16="http://schemas.microsoft.com/office/drawing/2014/main" id="{9F703DE2-CC6B-C8B2-D042-A137B915670B}"/>
              </a:ext>
            </a:extLst>
          </p:cNvPr>
          <p:cNvSpPr txBox="1"/>
          <p:nvPr/>
        </p:nvSpPr>
        <p:spPr>
          <a:xfrm>
            <a:off x="8201623" y="2400300"/>
            <a:ext cx="1884754" cy="686726"/>
          </a:xfrm>
          <a:prstGeom prst="rect">
            <a:avLst/>
          </a:prstGeom>
        </p:spPr>
        <p:txBody>
          <a:bodyPr wrap="square" lIns="0" tIns="0" rIns="0" bIns="0" rtlCol="0" anchor="t">
            <a:spAutoFit/>
          </a:bodyPr>
          <a:lstStyle/>
          <a:p>
            <a:pPr algn="ctr">
              <a:lnSpc>
                <a:spcPts val="4506"/>
              </a:lnSpc>
            </a:pPr>
            <a:r>
              <a:rPr lang="en-US" sz="6600" b="1" dirty="0">
                <a:solidFill>
                  <a:srgbClr val="FFFFFF"/>
                </a:solidFill>
                <a:latin typeface="League Spartan"/>
                <a:ea typeface="League Spartan"/>
                <a:cs typeface="League Spartan"/>
                <a:sym typeface="League Spartan"/>
              </a:rPr>
              <a:t>5</a:t>
            </a:r>
          </a:p>
        </p:txBody>
      </p:sp>
      <p:sp>
        <p:nvSpPr>
          <p:cNvPr id="12" name="Slide Number Placeholder 11">
            <a:extLst>
              <a:ext uri="{FF2B5EF4-FFF2-40B4-BE49-F238E27FC236}">
                <a16:creationId xmlns:a16="http://schemas.microsoft.com/office/drawing/2014/main" id="{324CD523-8CC0-A79D-7BBF-7DB7B2FA05A5}"/>
              </a:ext>
            </a:extLst>
          </p:cNvPr>
          <p:cNvSpPr>
            <a:spLocks noGrp="1"/>
          </p:cNvSpPr>
          <p:nvPr>
            <p:ph type="sldNum" sz="quarter" idx="12"/>
          </p:nvPr>
        </p:nvSpPr>
        <p:spPr/>
        <p:txBody>
          <a:bodyPr/>
          <a:lstStyle/>
          <a:p>
            <a:fld id="{B6F15528-21DE-4FAA-801E-634DDDAF4B2B}" type="slidenum">
              <a:rPr lang="en-US" smtClean="0"/>
              <a:pPr/>
              <a:t>54</a:t>
            </a:fld>
            <a:endParaRPr lang="en-US" sz="1800"/>
          </a:p>
        </p:txBody>
      </p:sp>
    </p:spTree>
    <p:extLst>
      <p:ext uri="{BB962C8B-B14F-4D97-AF65-F5344CB8AC3E}">
        <p14:creationId xmlns:p14="http://schemas.microsoft.com/office/powerpoint/2010/main" val="1410469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FF02D-872C-0CEC-7403-FEB6B6B5CA9B}"/>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C4DE0F1E-27DC-EB79-AF28-D5AC3741AC1A}"/>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ESP32 Capabilities</a:t>
            </a:r>
          </a:p>
        </p:txBody>
      </p:sp>
      <p:grpSp>
        <p:nvGrpSpPr>
          <p:cNvPr id="3" name="Group 3">
            <a:extLst>
              <a:ext uri="{FF2B5EF4-FFF2-40B4-BE49-F238E27FC236}">
                <a16:creationId xmlns:a16="http://schemas.microsoft.com/office/drawing/2014/main" id="{5388F2E4-165A-7F47-EBC3-71143656CC2F}"/>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8F7941C8-27E4-A8DD-6A4E-6E636E98AA12}"/>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40244FF2-FD74-F4FF-8604-85814F2CFB98}"/>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7" name="Group 26">
            <a:extLst>
              <a:ext uri="{FF2B5EF4-FFF2-40B4-BE49-F238E27FC236}">
                <a16:creationId xmlns:a16="http://schemas.microsoft.com/office/drawing/2014/main" id="{72379D22-A6EC-7639-18CF-1EC5873E81CC}"/>
              </a:ext>
            </a:extLst>
          </p:cNvPr>
          <p:cNvGrpSpPr/>
          <p:nvPr/>
        </p:nvGrpSpPr>
        <p:grpSpPr>
          <a:xfrm>
            <a:off x="7518373" y="4914900"/>
            <a:ext cx="10039412" cy="1045079"/>
            <a:chOff x="8739132" y="2850115"/>
            <a:chExt cx="10039412" cy="1045079"/>
          </a:xfrm>
        </p:grpSpPr>
        <p:sp>
          <p:nvSpPr>
            <p:cNvPr id="28" name="TextBox 13">
              <a:extLst>
                <a:ext uri="{FF2B5EF4-FFF2-40B4-BE49-F238E27FC236}">
                  <a16:creationId xmlns:a16="http://schemas.microsoft.com/office/drawing/2014/main" id="{F1D7840B-DA5F-83D6-AED1-53A9CC214803}"/>
                </a:ext>
              </a:extLst>
            </p:cNvPr>
            <p:cNvSpPr txBox="1"/>
            <p:nvPr/>
          </p:nvSpPr>
          <p:spPr>
            <a:xfrm>
              <a:off x="9102982" y="2850115"/>
              <a:ext cx="5906357"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Supports GATT Profiles</a:t>
              </a:r>
            </a:p>
          </p:txBody>
        </p:sp>
        <p:sp>
          <p:nvSpPr>
            <p:cNvPr id="29" name="TextBox 14">
              <a:extLst>
                <a:ext uri="{FF2B5EF4-FFF2-40B4-BE49-F238E27FC236}">
                  <a16:creationId xmlns:a16="http://schemas.microsoft.com/office/drawing/2014/main" id="{3176D45B-00DD-C6C5-2EAF-D252D3B086A4}"/>
                </a:ext>
              </a:extLst>
            </p:cNvPr>
            <p:cNvSpPr txBox="1"/>
            <p:nvPr/>
          </p:nvSpPr>
          <p:spPr>
            <a:xfrm>
              <a:off x="8739132" y="3525862"/>
              <a:ext cx="10039412" cy="369332"/>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lvl="0"/>
              <a:r>
                <a:rPr lang="en-US" dirty="0"/>
                <a:t>Handles multiple services and characteristics in one application.</a:t>
              </a:r>
              <a:endParaRPr lang="en-DE" dirty="0"/>
            </a:p>
          </p:txBody>
        </p:sp>
      </p:grpSp>
      <p:grpSp>
        <p:nvGrpSpPr>
          <p:cNvPr id="30" name="Group 29">
            <a:extLst>
              <a:ext uri="{FF2B5EF4-FFF2-40B4-BE49-F238E27FC236}">
                <a16:creationId xmlns:a16="http://schemas.microsoft.com/office/drawing/2014/main" id="{CFAC6877-1D02-09D2-F490-FEED4883D976}"/>
              </a:ext>
            </a:extLst>
          </p:cNvPr>
          <p:cNvGrpSpPr/>
          <p:nvPr/>
        </p:nvGrpSpPr>
        <p:grpSpPr>
          <a:xfrm>
            <a:off x="7578524" y="6743700"/>
            <a:ext cx="9204465" cy="1039561"/>
            <a:chOff x="8657290" y="2910159"/>
            <a:chExt cx="9204465" cy="1039561"/>
          </a:xfrm>
        </p:grpSpPr>
        <p:sp>
          <p:nvSpPr>
            <p:cNvPr id="31" name="TextBox 13">
              <a:extLst>
                <a:ext uri="{FF2B5EF4-FFF2-40B4-BE49-F238E27FC236}">
                  <a16:creationId xmlns:a16="http://schemas.microsoft.com/office/drawing/2014/main" id="{DD4B2D79-0B7A-F692-4D14-84CBFF565D10}"/>
                </a:ext>
              </a:extLst>
            </p:cNvPr>
            <p:cNvSpPr txBox="1"/>
            <p:nvPr/>
          </p:nvSpPr>
          <p:spPr>
            <a:xfrm>
              <a:off x="9701177" y="2910159"/>
              <a:ext cx="432801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Low cost, low power</a:t>
              </a:r>
            </a:p>
          </p:txBody>
        </p:sp>
        <p:sp>
          <p:nvSpPr>
            <p:cNvPr id="32" name="TextBox 14">
              <a:extLst>
                <a:ext uri="{FF2B5EF4-FFF2-40B4-BE49-F238E27FC236}">
                  <a16:creationId xmlns:a16="http://schemas.microsoft.com/office/drawing/2014/main" id="{2D6F89DD-84E8-D5C6-DA10-A6DC3ECD657B}"/>
                </a:ext>
              </a:extLst>
            </p:cNvPr>
            <p:cNvSpPr txBox="1"/>
            <p:nvPr/>
          </p:nvSpPr>
          <p:spPr>
            <a:xfrm>
              <a:off x="8657290" y="3580388"/>
              <a:ext cx="9204465" cy="369332"/>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dirty="0"/>
                <a:t>Ideal for battery-powered IoT and embedded projects.</a:t>
              </a:r>
              <a:endParaRPr lang="en-US" dirty="0">
                <a:sym typeface="Poppins Bold"/>
              </a:endParaRPr>
            </a:p>
          </p:txBody>
        </p:sp>
      </p:grpSp>
      <p:grpSp>
        <p:nvGrpSpPr>
          <p:cNvPr id="14" name="Group 3">
            <a:extLst>
              <a:ext uri="{FF2B5EF4-FFF2-40B4-BE49-F238E27FC236}">
                <a16:creationId xmlns:a16="http://schemas.microsoft.com/office/drawing/2014/main" id="{88258A87-4A1B-6BF5-7539-1574F7080B16}"/>
              </a:ext>
            </a:extLst>
          </p:cNvPr>
          <p:cNvGrpSpPr/>
          <p:nvPr/>
        </p:nvGrpSpPr>
        <p:grpSpPr>
          <a:xfrm>
            <a:off x="13912849" y="-565733"/>
            <a:ext cx="5245100" cy="1332778"/>
            <a:chOff x="0" y="0"/>
            <a:chExt cx="1381426" cy="351020"/>
          </a:xfrm>
        </p:grpSpPr>
        <p:sp>
          <p:nvSpPr>
            <p:cNvPr id="15" name="Freeform 4">
              <a:extLst>
                <a:ext uri="{FF2B5EF4-FFF2-40B4-BE49-F238E27FC236}">
                  <a16:creationId xmlns:a16="http://schemas.microsoft.com/office/drawing/2014/main" id="{0B37EF2B-9DBF-4E53-16A2-4D50B7D41437}"/>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5DCC39EF-5B22-B485-763F-E1A139743608}"/>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6" name="Group 25">
            <a:extLst>
              <a:ext uri="{FF2B5EF4-FFF2-40B4-BE49-F238E27FC236}">
                <a16:creationId xmlns:a16="http://schemas.microsoft.com/office/drawing/2014/main" id="{69302FB6-D90E-78A5-693F-6DEB0052F899}"/>
              </a:ext>
            </a:extLst>
          </p:cNvPr>
          <p:cNvGrpSpPr/>
          <p:nvPr/>
        </p:nvGrpSpPr>
        <p:grpSpPr>
          <a:xfrm>
            <a:off x="7578524" y="3341939"/>
            <a:ext cx="9718876" cy="1039561"/>
            <a:chOff x="9449832" y="2914846"/>
            <a:chExt cx="9718876" cy="1039561"/>
          </a:xfrm>
        </p:grpSpPr>
        <p:sp>
          <p:nvSpPr>
            <p:cNvPr id="18" name="TextBox 13">
              <a:extLst>
                <a:ext uri="{FF2B5EF4-FFF2-40B4-BE49-F238E27FC236}">
                  <a16:creationId xmlns:a16="http://schemas.microsoft.com/office/drawing/2014/main" id="{EBC6750F-6497-2317-02F3-C2CDC4AAD401}"/>
                </a:ext>
              </a:extLst>
            </p:cNvPr>
            <p:cNvSpPr txBox="1"/>
            <p:nvPr/>
          </p:nvSpPr>
          <p:spPr>
            <a:xfrm>
              <a:off x="10542705" y="2914846"/>
              <a:ext cx="432801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Flexible role</a:t>
              </a:r>
            </a:p>
          </p:txBody>
        </p:sp>
        <p:sp>
          <p:nvSpPr>
            <p:cNvPr id="25" name="TextBox 14">
              <a:extLst>
                <a:ext uri="{FF2B5EF4-FFF2-40B4-BE49-F238E27FC236}">
                  <a16:creationId xmlns:a16="http://schemas.microsoft.com/office/drawing/2014/main" id="{FA18F4CB-E37D-E4F5-3FD1-F1B2A9D39510}"/>
                </a:ext>
              </a:extLst>
            </p:cNvPr>
            <p:cNvSpPr txBox="1"/>
            <p:nvPr/>
          </p:nvSpPr>
          <p:spPr>
            <a:xfrm>
              <a:off x="9449832" y="3585075"/>
              <a:ext cx="9718876" cy="369332"/>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dirty="0"/>
                <a:t>Act as a Central, a Peripheral, or even both.</a:t>
              </a:r>
            </a:p>
          </p:txBody>
        </p:sp>
      </p:grpSp>
      <p:grpSp>
        <p:nvGrpSpPr>
          <p:cNvPr id="6" name="Group 5">
            <a:extLst>
              <a:ext uri="{FF2B5EF4-FFF2-40B4-BE49-F238E27FC236}">
                <a16:creationId xmlns:a16="http://schemas.microsoft.com/office/drawing/2014/main" id="{94A2CE19-D627-8BD2-E792-DB8BE5C81110}"/>
              </a:ext>
            </a:extLst>
          </p:cNvPr>
          <p:cNvGrpSpPr/>
          <p:nvPr/>
        </p:nvGrpSpPr>
        <p:grpSpPr>
          <a:xfrm>
            <a:off x="730215" y="3238064"/>
            <a:ext cx="6558930" cy="5095436"/>
            <a:chOff x="730215" y="3238064"/>
            <a:chExt cx="6558930" cy="5095436"/>
          </a:xfrm>
        </p:grpSpPr>
        <p:pic>
          <p:nvPicPr>
            <p:cNvPr id="2" name="Picture 1">
              <a:extLst>
                <a:ext uri="{FF2B5EF4-FFF2-40B4-BE49-F238E27FC236}">
                  <a16:creationId xmlns:a16="http://schemas.microsoft.com/office/drawing/2014/main" id="{91EBF7D6-32DF-1FBD-ABAA-92A476712F29}"/>
                </a:ext>
              </a:extLst>
            </p:cNvPr>
            <p:cNvPicPr>
              <a:picLocks noChangeAspect="1"/>
            </p:cNvPicPr>
            <p:nvPr/>
          </p:nvPicPr>
          <p:blipFill>
            <a:blip r:embed="rId2"/>
            <a:srcRect l="18315" t="20990" r="54312" b="10678"/>
            <a:stretch>
              <a:fillRect/>
            </a:stretch>
          </p:blipFill>
          <p:spPr>
            <a:xfrm>
              <a:off x="2667000" y="3238064"/>
              <a:ext cx="4622145" cy="5095436"/>
            </a:xfrm>
            <a:prstGeom prst="rect">
              <a:avLst/>
            </a:prstGeom>
          </p:spPr>
        </p:pic>
        <p:pic>
          <p:nvPicPr>
            <p:cNvPr id="12" name="Picture 11">
              <a:extLst>
                <a:ext uri="{FF2B5EF4-FFF2-40B4-BE49-F238E27FC236}">
                  <a16:creationId xmlns:a16="http://schemas.microsoft.com/office/drawing/2014/main" id="{223F4256-0081-409C-696F-56F8135F5D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730215" y="4474434"/>
              <a:ext cx="2481336" cy="2481336"/>
            </a:xfrm>
            <a:prstGeom prst="rect">
              <a:avLst/>
            </a:prstGeom>
          </p:spPr>
        </p:pic>
      </p:grpSp>
      <p:sp>
        <p:nvSpPr>
          <p:cNvPr id="21" name="TextBox 20">
            <a:extLst>
              <a:ext uri="{FF2B5EF4-FFF2-40B4-BE49-F238E27FC236}">
                <a16:creationId xmlns:a16="http://schemas.microsoft.com/office/drawing/2014/main" id="{606AA413-A790-2726-CDF3-006AACCC8FD2}"/>
              </a:ext>
            </a:extLst>
          </p:cNvPr>
          <p:cNvSpPr txBox="1"/>
          <p:nvPr/>
        </p:nvSpPr>
        <p:spPr>
          <a:xfrm>
            <a:off x="975002" y="2198984"/>
            <a:ext cx="16322398" cy="461665"/>
          </a:xfrm>
          <a:prstGeom prst="rect">
            <a:avLst/>
          </a:prstGeom>
          <a:noFill/>
        </p:spPr>
        <p:txBody>
          <a:bodyPr wrap="square">
            <a:spAutoFit/>
          </a:bodyPr>
          <a:lstStyle/>
          <a:p>
            <a:r>
              <a:rPr lang="en-US" sz="2400" dirty="0">
                <a:solidFill>
                  <a:srgbClr val="303642"/>
                </a:solidFill>
                <a:latin typeface="Poppins" panose="00000500000000000000" pitchFamily="2" charset="0"/>
                <a:cs typeface="Poppins" panose="00000500000000000000" pitchFamily="2" charset="0"/>
              </a:rPr>
              <a:t>All standard ESP32 microcontrollers feature integrated Bluetooth Classic and BLE. </a:t>
            </a:r>
          </a:p>
        </p:txBody>
      </p:sp>
      <p:sp>
        <p:nvSpPr>
          <p:cNvPr id="9" name="Slide Number Placeholder 8">
            <a:extLst>
              <a:ext uri="{FF2B5EF4-FFF2-40B4-BE49-F238E27FC236}">
                <a16:creationId xmlns:a16="http://schemas.microsoft.com/office/drawing/2014/main" id="{1E063EF3-EB88-53A1-343F-B87F0BFFF897}"/>
              </a:ext>
            </a:extLst>
          </p:cNvPr>
          <p:cNvSpPr>
            <a:spLocks noGrp="1"/>
          </p:cNvSpPr>
          <p:nvPr>
            <p:ph type="sldNum" sz="quarter" idx="12"/>
          </p:nvPr>
        </p:nvSpPr>
        <p:spPr/>
        <p:txBody>
          <a:bodyPr/>
          <a:lstStyle/>
          <a:p>
            <a:fld id="{B6F15528-21DE-4FAA-801E-634DDDAF4B2B}" type="slidenum">
              <a:rPr lang="en-US" smtClean="0"/>
              <a:pPr/>
              <a:t>55</a:t>
            </a:fld>
            <a:endParaRPr lang="en-US" sz="1800"/>
          </a:p>
        </p:txBody>
      </p:sp>
    </p:spTree>
    <p:extLst>
      <p:ext uri="{BB962C8B-B14F-4D97-AF65-F5344CB8AC3E}">
        <p14:creationId xmlns:p14="http://schemas.microsoft.com/office/powerpoint/2010/main" val="402536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6FB2D-451F-78D8-E906-F6846F9AED0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B4C20B7-74E6-8790-36E9-5319B977491D}"/>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4588BC0C-178F-D435-67C8-5D03FB7F264F}"/>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C77E21F9-BB82-BF68-3BAA-47697127566E}"/>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308EE421-5477-805C-B113-A27ED027FBC6}"/>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 name="Group 1">
            <a:extLst>
              <a:ext uri="{FF2B5EF4-FFF2-40B4-BE49-F238E27FC236}">
                <a16:creationId xmlns:a16="http://schemas.microsoft.com/office/drawing/2014/main" id="{3848A713-8751-1909-959E-2CC18C99843A}"/>
              </a:ext>
            </a:extLst>
          </p:cNvPr>
          <p:cNvGrpSpPr/>
          <p:nvPr/>
        </p:nvGrpSpPr>
        <p:grpSpPr>
          <a:xfrm>
            <a:off x="7467600" y="132736"/>
            <a:ext cx="10662380" cy="10021527"/>
            <a:chOff x="3927110" y="269443"/>
            <a:chExt cx="10433780" cy="9756055"/>
          </a:xfrm>
        </p:grpSpPr>
        <p:pic>
          <p:nvPicPr>
            <p:cNvPr id="3" name="Picture 2">
              <a:extLst>
                <a:ext uri="{FF2B5EF4-FFF2-40B4-BE49-F238E27FC236}">
                  <a16:creationId xmlns:a16="http://schemas.microsoft.com/office/drawing/2014/main" id="{250E2C9B-1B38-1401-CED2-C9EED57E5333}"/>
                </a:ext>
              </a:extLst>
            </p:cNvPr>
            <p:cNvPicPr>
              <a:picLocks noChangeAspect="1"/>
            </p:cNvPicPr>
            <p:nvPr>
              <p:custDataLst>
                <p:tags r:id="rId1"/>
              </p:custDataLst>
            </p:nvPr>
          </p:nvPicPr>
          <p:blipFill>
            <a:blip>
              <a:extLst>
                <a:ext uri="{96DAC541-7B7A-43D3-8B79-37D633B846F1}">
                  <asvg:svgBlip xmlns:asvg="http://schemas.microsoft.com/office/drawing/2016/SVG/main" r:embed="rId3"/>
                </a:ext>
              </a:extLst>
            </a:blip>
            <a:srcRect l="29063" t="555" r="28437" b="555"/>
            <a:stretch>
              <a:fillRect/>
            </a:stretch>
          </p:blipFill>
          <p:spPr>
            <a:xfrm>
              <a:off x="3927110" y="269443"/>
              <a:ext cx="10433780" cy="9756055"/>
            </a:xfrm>
            <a:prstGeom prst="rect">
              <a:avLst/>
            </a:prstGeom>
          </p:spPr>
        </p:pic>
        <p:pic>
          <p:nvPicPr>
            <p:cNvPr id="6" name="Picture 5">
              <a:extLst>
                <a:ext uri="{FF2B5EF4-FFF2-40B4-BE49-F238E27FC236}">
                  <a16:creationId xmlns:a16="http://schemas.microsoft.com/office/drawing/2014/main" id="{5EAA4792-9EB4-28F2-26BA-F3C1335B0C2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729991" y="686241"/>
              <a:ext cx="664126" cy="664126"/>
            </a:xfrm>
            <a:prstGeom prst="rect">
              <a:avLst/>
            </a:prstGeom>
          </p:spPr>
        </p:pic>
        <p:pic>
          <p:nvPicPr>
            <p:cNvPr id="8" name="Picture 7">
              <a:extLst>
                <a:ext uri="{FF2B5EF4-FFF2-40B4-BE49-F238E27FC236}">
                  <a16:creationId xmlns:a16="http://schemas.microsoft.com/office/drawing/2014/main" id="{C9030757-0A50-6866-1CB7-9DC8AF8518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5400000">
              <a:off x="6324600" y="1155950"/>
              <a:ext cx="1464018" cy="1464018"/>
            </a:xfrm>
            <a:prstGeom prst="rect">
              <a:avLst/>
            </a:prstGeom>
          </p:spPr>
        </p:pic>
        <p:pic>
          <p:nvPicPr>
            <p:cNvPr id="10" name="Picture 9">
              <a:extLst>
                <a:ext uri="{FF2B5EF4-FFF2-40B4-BE49-F238E27FC236}">
                  <a16:creationId xmlns:a16="http://schemas.microsoft.com/office/drawing/2014/main" id="{A2D20700-0159-CA1D-CBE4-A46BE6E42D3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05800" y="608878"/>
              <a:ext cx="457200" cy="457200"/>
            </a:xfrm>
            <a:prstGeom prst="rect">
              <a:avLst/>
            </a:prstGeom>
          </p:spPr>
        </p:pic>
      </p:grpSp>
      <p:sp>
        <p:nvSpPr>
          <p:cNvPr id="4" name="TextBox 3">
            <a:extLst>
              <a:ext uri="{FF2B5EF4-FFF2-40B4-BE49-F238E27FC236}">
                <a16:creationId xmlns:a16="http://schemas.microsoft.com/office/drawing/2014/main" id="{7456CA7F-CB89-9BC9-FF55-FFA482FBFA4C}"/>
              </a:ext>
            </a:extLst>
          </p:cNvPr>
          <p:cNvSpPr txBox="1"/>
          <p:nvPr/>
        </p:nvSpPr>
        <p:spPr>
          <a:xfrm>
            <a:off x="975003" y="1159423"/>
            <a:ext cx="5504644" cy="3046988"/>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BLE Communication Flow Using ESP32</a:t>
            </a:r>
          </a:p>
        </p:txBody>
      </p:sp>
      <p:sp>
        <p:nvSpPr>
          <p:cNvPr id="11" name="Slide Number Placeholder 10">
            <a:extLst>
              <a:ext uri="{FF2B5EF4-FFF2-40B4-BE49-F238E27FC236}">
                <a16:creationId xmlns:a16="http://schemas.microsoft.com/office/drawing/2014/main" id="{94B3844F-5A67-C832-6757-20D76B7C74E0}"/>
              </a:ext>
            </a:extLst>
          </p:cNvPr>
          <p:cNvSpPr>
            <a:spLocks noGrp="1"/>
          </p:cNvSpPr>
          <p:nvPr>
            <p:ph type="sldNum" sz="quarter" idx="12"/>
          </p:nvPr>
        </p:nvSpPr>
        <p:spPr/>
        <p:txBody>
          <a:bodyPr/>
          <a:lstStyle/>
          <a:p>
            <a:fld id="{B6F15528-21DE-4FAA-801E-634DDDAF4B2B}" type="slidenum">
              <a:rPr lang="en-US" smtClean="0"/>
              <a:pPr/>
              <a:t>56</a:t>
            </a:fld>
            <a:endParaRPr lang="en-US" sz="1800"/>
          </a:p>
        </p:txBody>
      </p:sp>
    </p:spTree>
    <p:extLst>
      <p:ext uri="{BB962C8B-B14F-4D97-AF65-F5344CB8AC3E}">
        <p14:creationId xmlns:p14="http://schemas.microsoft.com/office/powerpoint/2010/main" val="343384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E3835-5F6D-FB73-9356-B2DE8BA17EA3}"/>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5A1DDAC0-18E2-2D37-89F6-DC97688086D6}"/>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0A83D6AF-944D-3459-454D-7EF35DA870EE}"/>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5F4406AE-5519-9132-AF8C-D7A75B5F677D}"/>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268A158E-0E04-2AA0-A51D-EC682E6CFC27}"/>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B8337704-4581-855B-9CFB-515490043335}"/>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CE3BBE61-BAE1-437B-2208-598631118C10}"/>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3" name="Group 12">
            <a:extLst>
              <a:ext uri="{FF2B5EF4-FFF2-40B4-BE49-F238E27FC236}">
                <a16:creationId xmlns:a16="http://schemas.microsoft.com/office/drawing/2014/main" id="{2A6E8FF7-D717-DF3B-5201-7D9E99166589}"/>
              </a:ext>
            </a:extLst>
          </p:cNvPr>
          <p:cNvGrpSpPr/>
          <p:nvPr/>
        </p:nvGrpSpPr>
        <p:grpSpPr>
          <a:xfrm>
            <a:off x="688551" y="2628899"/>
            <a:ext cx="16910897" cy="6689725"/>
            <a:chOff x="696805" y="1054173"/>
            <a:chExt cx="16894390" cy="4376144"/>
          </a:xfrm>
        </p:grpSpPr>
        <p:pic>
          <p:nvPicPr>
            <p:cNvPr id="6" name="Picture 2">
              <a:extLst>
                <a:ext uri="{FF2B5EF4-FFF2-40B4-BE49-F238E27FC236}">
                  <a16:creationId xmlns:a16="http://schemas.microsoft.com/office/drawing/2014/main" id="{0C5EF735-5939-5003-3DDE-FA84077D3564}"/>
                </a:ext>
              </a:extLst>
            </p:cNvPr>
            <p:cNvPicPr>
              <a:picLocks noChangeAspect="1"/>
            </p:cNvPicPr>
            <p:nvPr>
              <p:custDataLst>
                <p:tags r:id="rId1"/>
              </p:custDataLst>
            </p:nvPr>
          </p:nvPicPr>
          <p:blipFill>
            <a:blip>
              <a:extLst>
                <a:ext uri="{96DAC541-7B7A-43D3-8B79-37D633B846F1}">
                  <asvg:svgBlip xmlns:asvg="http://schemas.microsoft.com/office/drawing/2016/SVG/main" r:embed="rId4"/>
                </a:ext>
              </a:extLst>
            </a:blip>
            <a:srcRect l="29063" t="555" r="28437" b="72050"/>
            <a:stretch>
              <a:fillRect/>
            </a:stretch>
          </p:blipFill>
          <p:spPr>
            <a:xfrm>
              <a:off x="696805" y="1054173"/>
              <a:ext cx="16894390" cy="4376144"/>
            </a:xfrm>
            <a:prstGeom prst="rect">
              <a:avLst/>
            </a:prstGeom>
          </p:spPr>
        </p:pic>
        <p:pic>
          <p:nvPicPr>
            <p:cNvPr id="8" name="Picture 7">
              <a:extLst>
                <a:ext uri="{FF2B5EF4-FFF2-40B4-BE49-F238E27FC236}">
                  <a16:creationId xmlns:a16="http://schemas.microsoft.com/office/drawing/2014/main" id="{65833EED-F04E-8992-8C48-7780ED0BBB6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886843" y="1714500"/>
              <a:ext cx="1067963" cy="1067963"/>
            </a:xfrm>
            <a:prstGeom prst="rect">
              <a:avLst/>
            </a:prstGeom>
          </p:spPr>
        </p:pic>
        <p:pic>
          <p:nvPicPr>
            <p:cNvPr id="10" name="Picture 9">
              <a:extLst>
                <a:ext uri="{FF2B5EF4-FFF2-40B4-BE49-F238E27FC236}">
                  <a16:creationId xmlns:a16="http://schemas.microsoft.com/office/drawing/2014/main" id="{8EE09CF8-4B48-4F40-230F-572E46111A4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a:off x="4648200" y="2628900"/>
              <a:ext cx="2362200" cy="2362200"/>
            </a:xfrm>
            <a:prstGeom prst="rect">
              <a:avLst/>
            </a:prstGeom>
          </p:spPr>
        </p:pic>
        <p:pic>
          <p:nvPicPr>
            <p:cNvPr id="12" name="Picture 11">
              <a:extLst>
                <a:ext uri="{FF2B5EF4-FFF2-40B4-BE49-F238E27FC236}">
                  <a16:creationId xmlns:a16="http://schemas.microsoft.com/office/drawing/2014/main" id="{B76E8FAD-59C1-2C49-1ED5-D7ABFC60969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696200" y="1562100"/>
              <a:ext cx="838200" cy="838200"/>
            </a:xfrm>
            <a:prstGeom prst="rect">
              <a:avLst/>
            </a:prstGeom>
          </p:spPr>
        </p:pic>
      </p:grpSp>
      <p:sp>
        <p:nvSpPr>
          <p:cNvPr id="9" name="Slide Number Placeholder 8">
            <a:extLst>
              <a:ext uri="{FF2B5EF4-FFF2-40B4-BE49-F238E27FC236}">
                <a16:creationId xmlns:a16="http://schemas.microsoft.com/office/drawing/2014/main" id="{AC3A37D4-DB51-B090-5C0F-7353D2AE07AA}"/>
              </a:ext>
            </a:extLst>
          </p:cNvPr>
          <p:cNvSpPr>
            <a:spLocks noGrp="1"/>
          </p:cNvSpPr>
          <p:nvPr>
            <p:ph type="sldNum" sz="quarter" idx="12"/>
          </p:nvPr>
        </p:nvSpPr>
        <p:spPr/>
        <p:txBody>
          <a:bodyPr/>
          <a:lstStyle/>
          <a:p>
            <a:fld id="{B6F15528-21DE-4FAA-801E-634DDDAF4B2B}" type="slidenum">
              <a:rPr lang="en-US" smtClean="0"/>
              <a:pPr/>
              <a:t>57</a:t>
            </a:fld>
            <a:endParaRPr lang="en-US" sz="1800"/>
          </a:p>
        </p:txBody>
      </p:sp>
      <p:sp>
        <p:nvSpPr>
          <p:cNvPr id="2" name="TextBox 1">
            <a:extLst>
              <a:ext uri="{FF2B5EF4-FFF2-40B4-BE49-F238E27FC236}">
                <a16:creationId xmlns:a16="http://schemas.microsoft.com/office/drawing/2014/main" id="{A58D473F-6ED9-3AB0-707B-84B4BB9E54F3}"/>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BLE Communication Flow Using ESP32</a:t>
            </a:r>
          </a:p>
        </p:txBody>
      </p:sp>
    </p:spTree>
    <p:extLst>
      <p:ext uri="{BB962C8B-B14F-4D97-AF65-F5344CB8AC3E}">
        <p14:creationId xmlns:p14="http://schemas.microsoft.com/office/powerpoint/2010/main" val="222582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4131A-FD15-B899-530D-BAFCC5D592D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259842E-823B-4B67-580F-D35880B41C5B}"/>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F897D297-20BB-A30A-E4BA-9B0709139B35}"/>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8C95EBD8-3257-AA23-94FE-2E5E9E5A891D}"/>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7B269776-D874-F26E-9E6B-9F7880995DC5}"/>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5D154473-8BE7-AEC1-DF28-3AA29BF6E4CA}"/>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7B9DCBC2-91FF-C68D-22D5-B3AE8BC49123}"/>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30960012-0702-DB0F-8B84-550100DD3366}"/>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4" name="Slide Number Placeholder 3">
            <a:extLst>
              <a:ext uri="{FF2B5EF4-FFF2-40B4-BE49-F238E27FC236}">
                <a16:creationId xmlns:a16="http://schemas.microsoft.com/office/drawing/2014/main" id="{5B9D6186-1E60-D35F-4CF9-8F78C9490F26}"/>
              </a:ext>
            </a:extLst>
          </p:cNvPr>
          <p:cNvSpPr>
            <a:spLocks noGrp="1"/>
          </p:cNvSpPr>
          <p:nvPr>
            <p:ph type="sldNum" sz="quarter" idx="12"/>
          </p:nvPr>
        </p:nvSpPr>
        <p:spPr/>
        <p:txBody>
          <a:bodyPr/>
          <a:lstStyle/>
          <a:p>
            <a:fld id="{B6F15528-21DE-4FAA-801E-634DDDAF4B2B}" type="slidenum">
              <a:rPr lang="en-US" smtClean="0"/>
              <a:pPr/>
              <a:t>58</a:t>
            </a:fld>
            <a:endParaRPr lang="en-US" sz="1800"/>
          </a:p>
        </p:txBody>
      </p:sp>
      <p:sp>
        <p:nvSpPr>
          <p:cNvPr id="2" name="TextBox 1">
            <a:extLst>
              <a:ext uri="{FF2B5EF4-FFF2-40B4-BE49-F238E27FC236}">
                <a16:creationId xmlns:a16="http://schemas.microsoft.com/office/drawing/2014/main" id="{ADC1CF79-8EB4-D37A-1054-A3E9FF41E9AF}"/>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Advertising behavior</a:t>
            </a:r>
          </a:p>
        </p:txBody>
      </p:sp>
      <p:sp>
        <p:nvSpPr>
          <p:cNvPr id="6" name="TextBox 7">
            <a:extLst>
              <a:ext uri="{FF2B5EF4-FFF2-40B4-BE49-F238E27FC236}">
                <a16:creationId xmlns:a16="http://schemas.microsoft.com/office/drawing/2014/main" id="{E7723DAA-DE79-229C-7285-0E87BECC1304}"/>
              </a:ext>
            </a:extLst>
          </p:cNvPr>
          <p:cNvSpPr txBox="1"/>
          <p:nvPr/>
        </p:nvSpPr>
        <p:spPr>
          <a:xfrm>
            <a:off x="975002" y="2095500"/>
            <a:ext cx="101501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When and for how long does the server advertise ? </a:t>
            </a:r>
          </a:p>
        </p:txBody>
      </p:sp>
      <p:sp>
        <p:nvSpPr>
          <p:cNvPr id="14" name="TextBox 13">
            <a:extLst>
              <a:ext uri="{FF2B5EF4-FFF2-40B4-BE49-F238E27FC236}">
                <a16:creationId xmlns:a16="http://schemas.microsoft.com/office/drawing/2014/main" id="{28C99C8B-CAB9-2009-238B-2A4BF072CF49}"/>
              </a:ext>
            </a:extLst>
          </p:cNvPr>
          <p:cNvSpPr txBox="1"/>
          <p:nvPr/>
        </p:nvSpPr>
        <p:spPr>
          <a:xfrm>
            <a:off x="1325700" y="6270452"/>
            <a:ext cx="15636597" cy="2677656"/>
          </a:xfrm>
          <a:prstGeom prst="rect">
            <a:avLst/>
          </a:prstGeom>
          <a:noFill/>
        </p:spPr>
        <p:txBody>
          <a:bodyPr wrap="square">
            <a:spAutoFit/>
          </a:bodyPr>
          <a:lstStyle/>
          <a:p>
            <a:r>
              <a:rPr lang="en-US" sz="2400" dirty="0">
                <a:solidFill>
                  <a:srgbClr val="303642"/>
                </a:solidFill>
                <a:latin typeface="Poppins" panose="00000500000000000000" pitchFamily="2" charset="0"/>
                <a:cs typeface="Poppins" panose="00000500000000000000" pitchFamily="2" charset="0"/>
              </a:rPr>
              <a:t>Despite the wide range of advertising interval, most products use the following as a guideline:</a:t>
            </a:r>
            <a:br>
              <a:rPr lang="en-US" sz="2400" dirty="0">
                <a:solidFill>
                  <a:srgbClr val="303642"/>
                </a:solidFill>
                <a:latin typeface="Poppins" panose="00000500000000000000" pitchFamily="2" charset="0"/>
                <a:cs typeface="Poppins" panose="00000500000000000000" pitchFamily="2" charset="0"/>
              </a:rPr>
            </a:br>
            <a:endParaRPr lang="en-US" sz="2400" dirty="0">
              <a:solidFill>
                <a:srgbClr val="303642"/>
              </a:solidFill>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Less than 100ms: </a:t>
            </a:r>
            <a:r>
              <a:rPr lang="en-US" sz="2400" dirty="0">
                <a:solidFill>
                  <a:srgbClr val="303642"/>
                </a:solidFill>
                <a:latin typeface="Poppins" panose="00000500000000000000" pitchFamily="2" charset="0"/>
                <a:cs typeface="Poppins" panose="00000500000000000000" pitchFamily="2" charset="0"/>
              </a:rPr>
              <a:t>for very aggressive connections and usually for short periods of time.</a:t>
            </a:r>
            <a:br>
              <a:rPr lang="en-US" sz="2400" dirty="0">
                <a:solidFill>
                  <a:srgbClr val="303642"/>
                </a:solidFill>
                <a:latin typeface="Poppins" panose="00000500000000000000" pitchFamily="2" charset="0"/>
                <a:cs typeface="Poppins" panose="00000500000000000000" pitchFamily="2" charset="0"/>
              </a:rPr>
            </a:br>
            <a:endParaRPr lang="en-US" sz="2400" dirty="0">
              <a:solidFill>
                <a:srgbClr val="303642"/>
              </a:solidFill>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100ms to 500ms: </a:t>
            </a:r>
            <a:r>
              <a:rPr lang="en-US" sz="2400" dirty="0">
                <a:solidFill>
                  <a:srgbClr val="303642"/>
                </a:solidFill>
                <a:latin typeface="Poppins" panose="00000500000000000000" pitchFamily="2" charset="0"/>
                <a:cs typeface="Poppins" panose="00000500000000000000" pitchFamily="2" charset="0"/>
              </a:rPr>
              <a:t>normal fast advertising for most devices.</a:t>
            </a:r>
            <a:br>
              <a:rPr lang="en-US" sz="2400" dirty="0">
                <a:solidFill>
                  <a:srgbClr val="303642"/>
                </a:solidFill>
                <a:latin typeface="Poppins" panose="00000500000000000000" pitchFamily="2" charset="0"/>
                <a:cs typeface="Poppins" panose="00000500000000000000" pitchFamily="2" charset="0"/>
              </a:rPr>
            </a:br>
            <a:endParaRPr lang="en-US" sz="2400" dirty="0">
              <a:solidFill>
                <a:srgbClr val="303642"/>
              </a:solidFill>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1s to 2s: </a:t>
            </a:r>
            <a:r>
              <a:rPr lang="en-US" sz="2400" dirty="0">
                <a:solidFill>
                  <a:srgbClr val="303642"/>
                </a:solidFill>
                <a:latin typeface="Poppins" panose="00000500000000000000" pitchFamily="2" charset="0"/>
                <a:cs typeface="Poppins" panose="00000500000000000000" pitchFamily="2" charset="0"/>
              </a:rPr>
              <a:t>slow advertising for devices that connect to gateways and where latency is not critical.</a:t>
            </a:r>
          </a:p>
        </p:txBody>
      </p:sp>
      <p:grpSp>
        <p:nvGrpSpPr>
          <p:cNvPr id="9" name="Group 8">
            <a:extLst>
              <a:ext uri="{FF2B5EF4-FFF2-40B4-BE49-F238E27FC236}">
                <a16:creationId xmlns:a16="http://schemas.microsoft.com/office/drawing/2014/main" id="{AA84DF21-D3D9-52C2-9543-F5BEDD16D90F}"/>
              </a:ext>
            </a:extLst>
          </p:cNvPr>
          <p:cNvGrpSpPr/>
          <p:nvPr/>
        </p:nvGrpSpPr>
        <p:grpSpPr>
          <a:xfrm>
            <a:off x="-112743" y="3009900"/>
            <a:ext cx="18389168" cy="2318267"/>
            <a:chOff x="-112743" y="3009900"/>
            <a:chExt cx="18389168" cy="2318267"/>
          </a:xfrm>
        </p:grpSpPr>
        <p:pic>
          <p:nvPicPr>
            <p:cNvPr id="13" name="Picture 12">
              <a:extLst>
                <a:ext uri="{FF2B5EF4-FFF2-40B4-BE49-F238E27FC236}">
                  <a16:creationId xmlns:a16="http://schemas.microsoft.com/office/drawing/2014/main" id="{ED6D42B8-48AF-3775-E07A-13FB1E933232}"/>
                </a:ext>
              </a:extLst>
            </p:cNvPr>
            <p:cNvPicPr>
              <a:picLocks noChangeAspect="1"/>
            </p:cNvPicPr>
            <p:nvPr/>
          </p:nvPicPr>
          <p:blipFill>
            <a:blip r:embed="rId3"/>
            <a:stretch>
              <a:fillRect/>
            </a:stretch>
          </p:blipFill>
          <p:spPr>
            <a:xfrm>
              <a:off x="-112743" y="3009900"/>
              <a:ext cx="18389168" cy="2318267"/>
            </a:xfrm>
            <a:prstGeom prst="rect">
              <a:avLst/>
            </a:prstGeom>
          </p:spPr>
        </p:pic>
        <p:sp>
          <p:nvSpPr>
            <p:cNvPr id="7" name="Rectangle 6">
              <a:extLst>
                <a:ext uri="{FF2B5EF4-FFF2-40B4-BE49-F238E27FC236}">
                  <a16:creationId xmlns:a16="http://schemas.microsoft.com/office/drawing/2014/main" id="{979E9F41-D797-372B-250E-598362C75073}"/>
                </a:ext>
              </a:extLst>
            </p:cNvPr>
            <p:cNvSpPr/>
            <p:nvPr/>
          </p:nvSpPr>
          <p:spPr>
            <a:xfrm>
              <a:off x="304800" y="4578149"/>
              <a:ext cx="2743200" cy="320738"/>
            </a:xfrm>
            <a:prstGeom prst="rect">
              <a:avLst/>
            </a:prstGeom>
            <a:solidFill>
              <a:srgbClr val="EDF5FF"/>
            </a:solidFill>
            <a:ln>
              <a:solidFill>
                <a:srgbClr val="EDF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TextBox 2">
              <a:extLst>
                <a:ext uri="{FF2B5EF4-FFF2-40B4-BE49-F238E27FC236}">
                  <a16:creationId xmlns:a16="http://schemas.microsoft.com/office/drawing/2014/main" id="{8388694B-EA02-A4A2-94EF-07B8A7E6030D}"/>
                </a:ext>
              </a:extLst>
            </p:cNvPr>
            <p:cNvSpPr txBox="1"/>
            <p:nvPr/>
          </p:nvSpPr>
          <p:spPr>
            <a:xfrm>
              <a:off x="11575" y="4469375"/>
              <a:ext cx="3429000" cy="307777"/>
            </a:xfrm>
            <a:prstGeom prst="rect">
              <a:avLst/>
            </a:prstGeom>
            <a:noFill/>
          </p:spPr>
          <p:txBody>
            <a:bodyPr wrap="square" rtlCol="0">
              <a:spAutoFit/>
            </a:bodyPr>
            <a:lstStyle/>
            <a:p>
              <a:pPr algn="ctr"/>
              <a:r>
                <a:rPr lang="en-US" sz="1400" b="1" dirty="0"/>
                <a:t>Peripheral device enters advertising mode</a:t>
              </a:r>
              <a:endParaRPr lang="en-DE" sz="1400" b="1" dirty="0"/>
            </a:p>
          </p:txBody>
        </p:sp>
      </p:grpSp>
    </p:spTree>
    <p:extLst>
      <p:ext uri="{BB962C8B-B14F-4D97-AF65-F5344CB8AC3E}">
        <p14:creationId xmlns:p14="http://schemas.microsoft.com/office/powerpoint/2010/main" val="1205410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1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9D6EB-ADDF-30AA-ADED-D0B6327C24BA}"/>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CA30A128-70BC-C46F-33E0-06504D662B31}"/>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652E2DDA-E537-2899-5A69-9CEE445E700D}"/>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4212E3FE-49D5-8C3E-4A3D-4F085DAC81F6}"/>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2AB02128-890C-48F3-8569-466C84DFFB90}"/>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3E4AED87-1285-A4AD-0892-387B16F58FCC}"/>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45A9D565-9A25-A11A-42DC-1A3F2607DB66}"/>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Slide Number Placeholder 8">
            <a:extLst>
              <a:ext uri="{FF2B5EF4-FFF2-40B4-BE49-F238E27FC236}">
                <a16:creationId xmlns:a16="http://schemas.microsoft.com/office/drawing/2014/main" id="{54B63619-3868-7197-3A57-B412C8701D24}"/>
              </a:ext>
            </a:extLst>
          </p:cNvPr>
          <p:cNvSpPr>
            <a:spLocks noGrp="1"/>
          </p:cNvSpPr>
          <p:nvPr>
            <p:ph type="sldNum" sz="quarter" idx="12"/>
          </p:nvPr>
        </p:nvSpPr>
        <p:spPr/>
        <p:txBody>
          <a:bodyPr/>
          <a:lstStyle/>
          <a:p>
            <a:fld id="{B6F15528-21DE-4FAA-801E-634DDDAF4B2B}" type="slidenum">
              <a:rPr lang="en-US" smtClean="0"/>
              <a:pPr/>
              <a:t>59</a:t>
            </a:fld>
            <a:endParaRPr lang="en-US" sz="1800"/>
          </a:p>
        </p:txBody>
      </p:sp>
      <p:sp>
        <p:nvSpPr>
          <p:cNvPr id="2" name="TextBox 1">
            <a:extLst>
              <a:ext uri="{FF2B5EF4-FFF2-40B4-BE49-F238E27FC236}">
                <a16:creationId xmlns:a16="http://schemas.microsoft.com/office/drawing/2014/main" id="{CDCE8D14-C494-18D2-F482-6EE754EDAA89}"/>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Advertising behavior</a:t>
            </a:r>
          </a:p>
        </p:txBody>
      </p:sp>
      <p:sp>
        <p:nvSpPr>
          <p:cNvPr id="11" name="TextBox 7">
            <a:extLst>
              <a:ext uri="{FF2B5EF4-FFF2-40B4-BE49-F238E27FC236}">
                <a16:creationId xmlns:a16="http://schemas.microsoft.com/office/drawing/2014/main" id="{7308BD97-B85D-A687-F816-B1E996905074}"/>
              </a:ext>
            </a:extLst>
          </p:cNvPr>
          <p:cNvSpPr txBox="1"/>
          <p:nvPr/>
        </p:nvSpPr>
        <p:spPr>
          <a:xfrm>
            <a:off x="975002" y="2095500"/>
            <a:ext cx="101501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Which radio channels are used for advertising ? </a:t>
            </a:r>
          </a:p>
        </p:txBody>
      </p:sp>
      <p:grpSp>
        <p:nvGrpSpPr>
          <p:cNvPr id="6" name="Group 5">
            <a:extLst>
              <a:ext uri="{FF2B5EF4-FFF2-40B4-BE49-F238E27FC236}">
                <a16:creationId xmlns:a16="http://schemas.microsoft.com/office/drawing/2014/main" id="{DFE4DFB4-73A7-67C1-80AB-008D924D88FC}"/>
              </a:ext>
            </a:extLst>
          </p:cNvPr>
          <p:cNvGrpSpPr/>
          <p:nvPr/>
        </p:nvGrpSpPr>
        <p:grpSpPr>
          <a:xfrm>
            <a:off x="1051203" y="2952003"/>
            <a:ext cx="15636597" cy="6394586"/>
            <a:chOff x="1051203" y="2952003"/>
            <a:chExt cx="15636597" cy="6394586"/>
          </a:xfrm>
        </p:grpSpPr>
        <p:pic>
          <p:nvPicPr>
            <p:cNvPr id="16" name="Picture 15">
              <a:extLst>
                <a:ext uri="{FF2B5EF4-FFF2-40B4-BE49-F238E27FC236}">
                  <a16:creationId xmlns:a16="http://schemas.microsoft.com/office/drawing/2014/main" id="{C9704B6E-78DF-5453-999A-5D9E7E19630A}"/>
                </a:ext>
              </a:extLst>
            </p:cNvPr>
            <p:cNvPicPr>
              <a:picLocks noChangeAspect="1"/>
            </p:cNvPicPr>
            <p:nvPr/>
          </p:nvPicPr>
          <p:blipFill>
            <a:blip r:embed="rId3"/>
            <a:stretch>
              <a:fillRect/>
            </a:stretch>
          </p:blipFill>
          <p:spPr>
            <a:xfrm>
              <a:off x="4530001" y="4375554"/>
              <a:ext cx="9227998" cy="4971035"/>
            </a:xfrm>
            <a:prstGeom prst="rect">
              <a:avLst/>
            </a:prstGeom>
          </p:spPr>
        </p:pic>
        <p:sp>
          <p:nvSpPr>
            <p:cNvPr id="18" name="TextBox 17">
              <a:extLst>
                <a:ext uri="{FF2B5EF4-FFF2-40B4-BE49-F238E27FC236}">
                  <a16:creationId xmlns:a16="http://schemas.microsoft.com/office/drawing/2014/main" id="{006FE2C6-1CDA-1262-EB67-F8CA3CD20A39}"/>
                </a:ext>
              </a:extLst>
            </p:cNvPr>
            <p:cNvSpPr txBox="1"/>
            <p:nvPr/>
          </p:nvSpPr>
          <p:spPr>
            <a:xfrm>
              <a:off x="1051203" y="2952003"/>
              <a:ext cx="15636597" cy="1200329"/>
            </a:xfrm>
            <a:prstGeom prst="rect">
              <a:avLst/>
            </a:prstGeom>
            <a:noFill/>
          </p:spPr>
          <p:txBody>
            <a:bodyPr wrap="square">
              <a:spAutoFit/>
            </a:bodyPr>
            <a:lstStyle/>
            <a:p>
              <a:r>
                <a:rPr lang="en-US" sz="2400" dirty="0">
                  <a:solidFill>
                    <a:srgbClr val="303642"/>
                  </a:solidFill>
                  <a:latin typeface="Poppins" panose="00000500000000000000" pitchFamily="2" charset="0"/>
                  <a:cs typeface="Poppins" panose="00000500000000000000" pitchFamily="2" charset="0"/>
                </a:rPr>
                <a:t>BLE uses:</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3 primary advertising channels (37, 38 and 39).</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37 secondary channels (0 to 36) for active data transfer once the connection is established.</a:t>
              </a:r>
              <a:endParaRPr lang="en-DE" sz="2400" dirty="0">
                <a:solidFill>
                  <a:srgbClr val="303642"/>
                </a:solidFill>
                <a:latin typeface="Poppins" panose="00000500000000000000" pitchFamily="2" charset="0"/>
                <a:cs typeface="Poppins" panose="00000500000000000000" pitchFamily="2" charset="0"/>
              </a:endParaRPr>
            </a:p>
          </p:txBody>
        </p:sp>
      </p:grpSp>
    </p:spTree>
    <p:extLst>
      <p:ext uri="{BB962C8B-B14F-4D97-AF65-F5344CB8AC3E}">
        <p14:creationId xmlns:p14="http://schemas.microsoft.com/office/powerpoint/2010/main" val="422585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1F2EE-0B7D-024F-45D6-EDEEB3C42ACC}"/>
            </a:ext>
          </a:extLst>
        </p:cNvPr>
        <p:cNvGrpSpPr/>
        <p:nvPr/>
      </p:nvGrpSpPr>
      <p:grpSpPr>
        <a:xfrm>
          <a:off x="0" y="0"/>
          <a:ext cx="0" cy="0"/>
          <a:chOff x="0" y="0"/>
          <a:chExt cx="0" cy="0"/>
        </a:xfrm>
      </p:grpSpPr>
      <p:grpSp>
        <p:nvGrpSpPr>
          <p:cNvPr id="15" name="Group 3">
            <a:extLst>
              <a:ext uri="{FF2B5EF4-FFF2-40B4-BE49-F238E27FC236}">
                <a16:creationId xmlns:a16="http://schemas.microsoft.com/office/drawing/2014/main" id="{4FD49190-6990-CE41-1783-9BECF08481F3}"/>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ED557610-2FAA-F283-A215-7A16A81A12BB}"/>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81508A11-91BA-8F9E-F88A-2A9E13F82A89}"/>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0D77A838-1CF5-A988-B557-61A99B8F8607}"/>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50946A1F-D2BC-8A29-BCC6-11402CA04FE8}"/>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CB81FE70-CF2C-63E1-C87A-F311A9BF6059}"/>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4" name="Slide Number Placeholder 3">
            <a:extLst>
              <a:ext uri="{FF2B5EF4-FFF2-40B4-BE49-F238E27FC236}">
                <a16:creationId xmlns:a16="http://schemas.microsoft.com/office/drawing/2014/main" id="{46B05748-106D-85E3-85F0-42712FFAE4EE}"/>
              </a:ext>
            </a:extLst>
          </p:cNvPr>
          <p:cNvSpPr>
            <a:spLocks noGrp="1"/>
          </p:cNvSpPr>
          <p:nvPr>
            <p:ph type="sldNum" sz="quarter" idx="12"/>
          </p:nvPr>
        </p:nvSpPr>
        <p:spPr/>
        <p:txBody>
          <a:bodyPr/>
          <a:lstStyle/>
          <a:p>
            <a:fld id="{B6F15528-21DE-4FAA-801E-634DDDAF4B2B}" type="slidenum">
              <a:rPr lang="en-US" smtClean="0"/>
              <a:pPr/>
              <a:t>60</a:t>
            </a:fld>
            <a:endParaRPr lang="en-US" sz="1800"/>
          </a:p>
        </p:txBody>
      </p:sp>
      <p:sp>
        <p:nvSpPr>
          <p:cNvPr id="2" name="TextBox 1">
            <a:extLst>
              <a:ext uri="{FF2B5EF4-FFF2-40B4-BE49-F238E27FC236}">
                <a16:creationId xmlns:a16="http://schemas.microsoft.com/office/drawing/2014/main" id="{BD5A9D32-632C-E9C4-5093-4E7A91D32F1B}"/>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Advertising behavior</a:t>
            </a:r>
          </a:p>
        </p:txBody>
      </p:sp>
      <p:sp>
        <p:nvSpPr>
          <p:cNvPr id="6" name="TextBox 7">
            <a:extLst>
              <a:ext uri="{FF2B5EF4-FFF2-40B4-BE49-F238E27FC236}">
                <a16:creationId xmlns:a16="http://schemas.microsoft.com/office/drawing/2014/main" id="{9EEA9AF0-FBA1-5C88-C81E-A9037CCCC390}"/>
              </a:ext>
            </a:extLst>
          </p:cNvPr>
          <p:cNvSpPr txBox="1"/>
          <p:nvPr/>
        </p:nvSpPr>
        <p:spPr>
          <a:xfrm>
            <a:off x="975002" y="2095500"/>
            <a:ext cx="119027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When does the peripheral sleep, and when does it wake up?</a:t>
            </a:r>
          </a:p>
        </p:txBody>
      </p:sp>
      <p:grpSp>
        <p:nvGrpSpPr>
          <p:cNvPr id="3" name="Group 2">
            <a:extLst>
              <a:ext uri="{FF2B5EF4-FFF2-40B4-BE49-F238E27FC236}">
                <a16:creationId xmlns:a16="http://schemas.microsoft.com/office/drawing/2014/main" id="{32827A01-6C58-2AC4-19B7-E2BD99717B59}"/>
              </a:ext>
            </a:extLst>
          </p:cNvPr>
          <p:cNvGrpSpPr/>
          <p:nvPr/>
        </p:nvGrpSpPr>
        <p:grpSpPr>
          <a:xfrm>
            <a:off x="1600200" y="3455303"/>
            <a:ext cx="6759968" cy="5222121"/>
            <a:chOff x="1600200" y="3455303"/>
            <a:chExt cx="6759968" cy="5222121"/>
          </a:xfrm>
        </p:grpSpPr>
        <p:pic>
          <p:nvPicPr>
            <p:cNvPr id="7" name="Picture 6">
              <a:extLst>
                <a:ext uri="{FF2B5EF4-FFF2-40B4-BE49-F238E27FC236}">
                  <a16:creationId xmlns:a16="http://schemas.microsoft.com/office/drawing/2014/main" id="{857787E7-E2C9-3B03-4B08-CED123F82DD3}"/>
                </a:ext>
              </a:extLst>
            </p:cNvPr>
            <p:cNvPicPr>
              <a:picLocks noChangeAspect="1"/>
            </p:cNvPicPr>
            <p:nvPr/>
          </p:nvPicPr>
          <p:blipFill>
            <a:blip r:embed="rId3"/>
            <a:stretch>
              <a:fillRect/>
            </a:stretch>
          </p:blipFill>
          <p:spPr>
            <a:xfrm>
              <a:off x="1600200" y="3455303"/>
              <a:ext cx="6759968" cy="3388241"/>
            </a:xfrm>
            <a:prstGeom prst="rect">
              <a:avLst/>
            </a:prstGeom>
          </p:spPr>
        </p:pic>
        <p:sp>
          <p:nvSpPr>
            <p:cNvPr id="11" name="TextBox 7">
              <a:extLst>
                <a:ext uri="{FF2B5EF4-FFF2-40B4-BE49-F238E27FC236}">
                  <a16:creationId xmlns:a16="http://schemas.microsoft.com/office/drawing/2014/main" id="{0FF889E0-7F49-C0D9-EA57-FE953CD64269}"/>
                </a:ext>
              </a:extLst>
            </p:cNvPr>
            <p:cNvSpPr txBox="1"/>
            <p:nvPr/>
          </p:nvSpPr>
          <p:spPr>
            <a:xfrm>
              <a:off x="3245136" y="7627136"/>
              <a:ext cx="2983933" cy="1050288"/>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Before connection</a:t>
              </a:r>
            </a:p>
          </p:txBody>
        </p:sp>
      </p:grpSp>
      <p:grpSp>
        <p:nvGrpSpPr>
          <p:cNvPr id="12" name="Group 11">
            <a:extLst>
              <a:ext uri="{FF2B5EF4-FFF2-40B4-BE49-F238E27FC236}">
                <a16:creationId xmlns:a16="http://schemas.microsoft.com/office/drawing/2014/main" id="{D33A13EB-8F60-F5E4-D358-A4BFC665EB4A}"/>
              </a:ext>
            </a:extLst>
          </p:cNvPr>
          <p:cNvGrpSpPr/>
          <p:nvPr/>
        </p:nvGrpSpPr>
        <p:grpSpPr>
          <a:xfrm>
            <a:off x="10516301" y="2934364"/>
            <a:ext cx="5104699" cy="5718775"/>
            <a:chOff x="10516301" y="2934364"/>
            <a:chExt cx="5104699" cy="5718775"/>
          </a:xfrm>
        </p:grpSpPr>
        <p:grpSp>
          <p:nvGrpSpPr>
            <p:cNvPr id="8" name="Group 7">
              <a:extLst>
                <a:ext uri="{FF2B5EF4-FFF2-40B4-BE49-F238E27FC236}">
                  <a16:creationId xmlns:a16="http://schemas.microsoft.com/office/drawing/2014/main" id="{63210927-FC75-D84D-5489-E680B9226369}"/>
                </a:ext>
              </a:extLst>
            </p:cNvPr>
            <p:cNvGrpSpPr/>
            <p:nvPr/>
          </p:nvGrpSpPr>
          <p:grpSpPr>
            <a:xfrm>
              <a:off x="10516301" y="2934364"/>
              <a:ext cx="5104699" cy="5718775"/>
              <a:chOff x="10516301" y="2934364"/>
              <a:chExt cx="5104699" cy="5718775"/>
            </a:xfrm>
          </p:grpSpPr>
          <p:pic>
            <p:nvPicPr>
              <p:cNvPr id="9" name="Picture 8">
                <a:extLst>
                  <a:ext uri="{FF2B5EF4-FFF2-40B4-BE49-F238E27FC236}">
                    <a16:creationId xmlns:a16="http://schemas.microsoft.com/office/drawing/2014/main" id="{90B7644E-EA90-EBAC-44B7-08657ADF1766}"/>
                  </a:ext>
                </a:extLst>
              </p:cNvPr>
              <p:cNvPicPr>
                <a:picLocks noChangeAspect="1"/>
              </p:cNvPicPr>
              <p:nvPr/>
            </p:nvPicPr>
            <p:blipFill>
              <a:blip r:embed="rId4"/>
              <a:stretch>
                <a:fillRect/>
              </a:stretch>
            </p:blipFill>
            <p:spPr>
              <a:xfrm>
                <a:off x="10516301" y="2934364"/>
                <a:ext cx="5104699" cy="4418272"/>
              </a:xfrm>
              <a:prstGeom prst="rect">
                <a:avLst/>
              </a:prstGeom>
            </p:spPr>
          </p:pic>
          <p:sp>
            <p:nvSpPr>
              <p:cNvPr id="13" name="TextBox 7">
                <a:extLst>
                  <a:ext uri="{FF2B5EF4-FFF2-40B4-BE49-F238E27FC236}">
                    <a16:creationId xmlns:a16="http://schemas.microsoft.com/office/drawing/2014/main" id="{04E3E9B0-942D-D8BD-7DD5-875711DDDE2D}"/>
                  </a:ext>
                </a:extLst>
              </p:cNvPr>
              <p:cNvSpPr txBox="1"/>
              <p:nvPr/>
            </p:nvSpPr>
            <p:spPr>
              <a:xfrm>
                <a:off x="12071632" y="7602851"/>
                <a:ext cx="2983933" cy="1050288"/>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After connection</a:t>
                </a:r>
              </a:p>
            </p:txBody>
          </p:sp>
        </p:grpSp>
        <p:sp>
          <p:nvSpPr>
            <p:cNvPr id="10" name="Rectangle 9">
              <a:extLst>
                <a:ext uri="{FF2B5EF4-FFF2-40B4-BE49-F238E27FC236}">
                  <a16:creationId xmlns:a16="http://schemas.microsoft.com/office/drawing/2014/main" id="{8F8D14EF-7B5E-8626-0D17-5BAF09E9204C}"/>
                </a:ext>
              </a:extLst>
            </p:cNvPr>
            <p:cNvSpPr/>
            <p:nvPr/>
          </p:nvSpPr>
          <p:spPr>
            <a:xfrm>
              <a:off x="12071632" y="5524500"/>
              <a:ext cx="2634968" cy="369332"/>
            </a:xfrm>
            <a:prstGeom prst="rect">
              <a:avLst/>
            </a:prstGeom>
            <a:solidFill>
              <a:srgbClr val="EDF5FF"/>
            </a:solidFill>
            <a:ln>
              <a:solidFill>
                <a:srgbClr val="EDF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pSp>
    </p:spTree>
    <p:extLst>
      <p:ext uri="{BB962C8B-B14F-4D97-AF65-F5344CB8AC3E}">
        <p14:creationId xmlns:p14="http://schemas.microsoft.com/office/powerpoint/2010/main" val="3075349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18932-08E0-BA98-4F8C-2F0FF27DB6C5}"/>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A70A17E2-986F-8699-9DA0-268B126CA532}"/>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7A55F3CB-E164-2E41-40C3-842F530791FB}"/>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526369CB-1525-8235-35BF-0F912D85A3D8}"/>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2C8F9996-5614-E304-F498-F045A774C068}"/>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8F843451-F17F-4957-79EC-557285D4864F}"/>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3A838605-A175-4D08-E90C-D3FFC0B1ABA7}"/>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Slide Number Placeholder 8">
            <a:extLst>
              <a:ext uri="{FF2B5EF4-FFF2-40B4-BE49-F238E27FC236}">
                <a16:creationId xmlns:a16="http://schemas.microsoft.com/office/drawing/2014/main" id="{0214EC9B-BAC6-10D6-A731-A55D3BA2622B}"/>
              </a:ext>
            </a:extLst>
          </p:cNvPr>
          <p:cNvSpPr>
            <a:spLocks noGrp="1"/>
          </p:cNvSpPr>
          <p:nvPr>
            <p:ph type="sldNum" sz="quarter" idx="12"/>
          </p:nvPr>
        </p:nvSpPr>
        <p:spPr/>
        <p:txBody>
          <a:bodyPr/>
          <a:lstStyle/>
          <a:p>
            <a:fld id="{B6F15528-21DE-4FAA-801E-634DDDAF4B2B}" type="slidenum">
              <a:rPr lang="en-US" smtClean="0"/>
              <a:pPr/>
              <a:t>61</a:t>
            </a:fld>
            <a:endParaRPr lang="en-US" sz="1800"/>
          </a:p>
        </p:txBody>
      </p:sp>
      <p:sp>
        <p:nvSpPr>
          <p:cNvPr id="2" name="TextBox 1">
            <a:extLst>
              <a:ext uri="{FF2B5EF4-FFF2-40B4-BE49-F238E27FC236}">
                <a16:creationId xmlns:a16="http://schemas.microsoft.com/office/drawing/2014/main" id="{764C3D00-18D2-3589-40A5-CB11145D7A17}"/>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Advertising behavior</a:t>
            </a:r>
          </a:p>
        </p:txBody>
      </p:sp>
      <p:sp>
        <p:nvSpPr>
          <p:cNvPr id="11" name="TextBox 7">
            <a:extLst>
              <a:ext uri="{FF2B5EF4-FFF2-40B4-BE49-F238E27FC236}">
                <a16:creationId xmlns:a16="http://schemas.microsoft.com/office/drawing/2014/main" id="{CA8DC8B8-7859-D14B-EFAB-969F575B5995}"/>
              </a:ext>
            </a:extLst>
          </p:cNvPr>
          <p:cNvSpPr txBox="1"/>
          <p:nvPr/>
        </p:nvSpPr>
        <p:spPr>
          <a:xfrm>
            <a:off x="975002" y="2095500"/>
            <a:ext cx="119027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Does the server keep advertising while already connected?</a:t>
            </a:r>
          </a:p>
        </p:txBody>
      </p:sp>
      <p:pic>
        <p:nvPicPr>
          <p:cNvPr id="18" name="Picture 17">
            <a:extLst>
              <a:ext uri="{FF2B5EF4-FFF2-40B4-BE49-F238E27FC236}">
                <a16:creationId xmlns:a16="http://schemas.microsoft.com/office/drawing/2014/main" id="{EA6CDE54-AF4D-F752-6F88-1B2D2AEFB3D1}"/>
              </a:ext>
            </a:extLst>
          </p:cNvPr>
          <p:cNvPicPr>
            <a:picLocks noChangeAspect="1"/>
          </p:cNvPicPr>
          <p:nvPr/>
        </p:nvPicPr>
        <p:blipFill>
          <a:blip r:embed="rId3"/>
          <a:srcRect l="9503" t="26419" r="53608" b="15678"/>
          <a:stretch>
            <a:fillRect/>
          </a:stretch>
        </p:blipFill>
        <p:spPr>
          <a:xfrm>
            <a:off x="1399124" y="3941013"/>
            <a:ext cx="5115378" cy="3482970"/>
          </a:xfrm>
          <a:prstGeom prst="rect">
            <a:avLst/>
          </a:prstGeom>
        </p:spPr>
      </p:pic>
      <p:grpSp>
        <p:nvGrpSpPr>
          <p:cNvPr id="12" name="Group 11">
            <a:extLst>
              <a:ext uri="{FF2B5EF4-FFF2-40B4-BE49-F238E27FC236}">
                <a16:creationId xmlns:a16="http://schemas.microsoft.com/office/drawing/2014/main" id="{8F9E5043-8E75-2D9D-F729-8CCB2B1B6DC0}"/>
              </a:ext>
            </a:extLst>
          </p:cNvPr>
          <p:cNvGrpSpPr/>
          <p:nvPr/>
        </p:nvGrpSpPr>
        <p:grpSpPr>
          <a:xfrm>
            <a:off x="6615012" y="3941013"/>
            <a:ext cx="10660364" cy="1388313"/>
            <a:chOff x="6615012" y="3941013"/>
            <a:chExt cx="10660364" cy="1388313"/>
          </a:xfrm>
        </p:grpSpPr>
        <p:grpSp>
          <p:nvGrpSpPr>
            <p:cNvPr id="21" name="Group 20">
              <a:extLst>
                <a:ext uri="{FF2B5EF4-FFF2-40B4-BE49-F238E27FC236}">
                  <a16:creationId xmlns:a16="http://schemas.microsoft.com/office/drawing/2014/main" id="{1EBD3201-52EA-6493-18ED-59FF38B5E995}"/>
                </a:ext>
              </a:extLst>
            </p:cNvPr>
            <p:cNvGrpSpPr/>
            <p:nvPr/>
          </p:nvGrpSpPr>
          <p:grpSpPr>
            <a:xfrm>
              <a:off x="7556500" y="3941013"/>
              <a:ext cx="9718876" cy="1388313"/>
              <a:chOff x="9351862" y="2898675"/>
              <a:chExt cx="9718876" cy="1388313"/>
            </a:xfrm>
          </p:grpSpPr>
          <p:sp>
            <p:nvSpPr>
              <p:cNvPr id="25" name="TextBox 13">
                <a:extLst>
                  <a:ext uri="{FF2B5EF4-FFF2-40B4-BE49-F238E27FC236}">
                    <a16:creationId xmlns:a16="http://schemas.microsoft.com/office/drawing/2014/main" id="{9571F690-F0BB-678E-B240-EB41CFE6B94D}"/>
                  </a:ext>
                </a:extLst>
              </p:cNvPr>
              <p:cNvSpPr txBox="1"/>
              <p:nvPr/>
            </p:nvSpPr>
            <p:spPr>
              <a:xfrm>
                <a:off x="9351862" y="2898675"/>
                <a:ext cx="9220200"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Stop Advertising</a:t>
                </a:r>
              </a:p>
            </p:txBody>
          </p:sp>
          <p:sp>
            <p:nvSpPr>
              <p:cNvPr id="26" name="TextBox 14">
                <a:extLst>
                  <a:ext uri="{FF2B5EF4-FFF2-40B4-BE49-F238E27FC236}">
                    <a16:creationId xmlns:a16="http://schemas.microsoft.com/office/drawing/2014/main" id="{3FFA409C-84C9-4572-1D6F-59B205312166}"/>
                  </a:ext>
                </a:extLst>
              </p:cNvPr>
              <p:cNvSpPr txBox="1"/>
              <p:nvPr/>
            </p:nvSpPr>
            <p:spPr>
              <a:xfrm>
                <a:off x="9351862" y="3548324"/>
                <a:ext cx="9718876" cy="738664"/>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dirty="0"/>
                  <a:t>Enter the connected state. Advertising only resumes automatically after a disconnection.</a:t>
                </a:r>
                <a:endParaRPr lang="en-DE" dirty="0"/>
              </a:p>
            </p:txBody>
          </p:sp>
        </p:grpSp>
        <p:pic>
          <p:nvPicPr>
            <p:cNvPr id="7" name="Picture 6">
              <a:extLst>
                <a:ext uri="{FF2B5EF4-FFF2-40B4-BE49-F238E27FC236}">
                  <a16:creationId xmlns:a16="http://schemas.microsoft.com/office/drawing/2014/main" id="{B1BB4A44-8783-25A6-A387-9C3AC3ACC27A}"/>
                </a:ext>
              </a:extLst>
            </p:cNvPr>
            <p:cNvPicPr>
              <a:picLocks noChangeAspect="1"/>
            </p:cNvPicPr>
            <p:nvPr/>
          </p:nvPicPr>
          <p:blipFill>
            <a:blip r:embed="rId3"/>
            <a:srcRect l="45771" t="32084" r="48164" b="51631"/>
            <a:stretch>
              <a:fillRect/>
            </a:stretch>
          </p:blipFill>
          <p:spPr>
            <a:xfrm>
              <a:off x="6615012" y="4247818"/>
              <a:ext cx="840977" cy="979576"/>
            </a:xfrm>
            <a:prstGeom prst="rect">
              <a:avLst/>
            </a:prstGeom>
          </p:spPr>
        </p:pic>
      </p:grpSp>
      <p:grpSp>
        <p:nvGrpSpPr>
          <p:cNvPr id="13" name="Group 12">
            <a:extLst>
              <a:ext uri="{FF2B5EF4-FFF2-40B4-BE49-F238E27FC236}">
                <a16:creationId xmlns:a16="http://schemas.microsoft.com/office/drawing/2014/main" id="{4C6ED52D-2980-A9D2-799C-91420AFFE1AC}"/>
              </a:ext>
            </a:extLst>
          </p:cNvPr>
          <p:cNvGrpSpPr/>
          <p:nvPr/>
        </p:nvGrpSpPr>
        <p:grpSpPr>
          <a:xfrm>
            <a:off x="6504344" y="5877173"/>
            <a:ext cx="10771032" cy="1807086"/>
            <a:chOff x="6504344" y="5877173"/>
            <a:chExt cx="10771032" cy="1807086"/>
          </a:xfrm>
        </p:grpSpPr>
        <p:grpSp>
          <p:nvGrpSpPr>
            <p:cNvPr id="27" name="Group 26">
              <a:extLst>
                <a:ext uri="{FF2B5EF4-FFF2-40B4-BE49-F238E27FC236}">
                  <a16:creationId xmlns:a16="http://schemas.microsoft.com/office/drawing/2014/main" id="{FE1A1E89-FDB0-080C-C089-9BACEEF6A68D}"/>
                </a:ext>
              </a:extLst>
            </p:cNvPr>
            <p:cNvGrpSpPr/>
            <p:nvPr/>
          </p:nvGrpSpPr>
          <p:grpSpPr>
            <a:xfrm>
              <a:off x="7556500" y="5926614"/>
              <a:ext cx="9718876" cy="1757645"/>
              <a:chOff x="9351862" y="2898675"/>
              <a:chExt cx="9718876" cy="1757645"/>
            </a:xfrm>
          </p:grpSpPr>
          <p:sp>
            <p:nvSpPr>
              <p:cNvPr id="28" name="TextBox 13">
                <a:extLst>
                  <a:ext uri="{FF2B5EF4-FFF2-40B4-BE49-F238E27FC236}">
                    <a16:creationId xmlns:a16="http://schemas.microsoft.com/office/drawing/2014/main" id="{BD2F01B5-224E-64C1-1B52-49F1ADFB60ED}"/>
                  </a:ext>
                </a:extLst>
              </p:cNvPr>
              <p:cNvSpPr txBox="1"/>
              <p:nvPr/>
            </p:nvSpPr>
            <p:spPr>
              <a:xfrm>
                <a:off x="9351862" y="2898675"/>
                <a:ext cx="9220200"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Continue Advertising</a:t>
                </a:r>
              </a:p>
            </p:txBody>
          </p:sp>
          <p:sp>
            <p:nvSpPr>
              <p:cNvPr id="29" name="TextBox 14">
                <a:extLst>
                  <a:ext uri="{FF2B5EF4-FFF2-40B4-BE49-F238E27FC236}">
                    <a16:creationId xmlns:a16="http://schemas.microsoft.com/office/drawing/2014/main" id="{E2694F02-0669-0B7D-6E10-9DAB0872F21E}"/>
                  </a:ext>
                </a:extLst>
              </p:cNvPr>
              <p:cNvSpPr txBox="1"/>
              <p:nvPr/>
            </p:nvSpPr>
            <p:spPr>
              <a:xfrm>
                <a:off x="9351862" y="3548324"/>
                <a:ext cx="9718876" cy="1107996"/>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dirty="0"/>
                  <a:t>If the Peripheral is designed to accept multiple connections, the developer must configure it to keep advertising while already connected.</a:t>
                </a:r>
                <a:endParaRPr lang="en-DE" dirty="0"/>
              </a:p>
            </p:txBody>
          </p:sp>
        </p:grpSp>
        <p:pic>
          <p:nvPicPr>
            <p:cNvPr id="10" name="Picture 9">
              <a:extLst>
                <a:ext uri="{FF2B5EF4-FFF2-40B4-BE49-F238E27FC236}">
                  <a16:creationId xmlns:a16="http://schemas.microsoft.com/office/drawing/2014/main" id="{DF3A8524-AA2C-7E0E-97F5-EE4D463F427E}"/>
                </a:ext>
              </a:extLst>
            </p:cNvPr>
            <p:cNvPicPr>
              <a:picLocks noChangeAspect="1"/>
            </p:cNvPicPr>
            <p:nvPr/>
          </p:nvPicPr>
          <p:blipFill>
            <a:blip r:embed="rId3"/>
            <a:srcRect l="45604" t="58389" r="48550" b="22954"/>
            <a:stretch>
              <a:fillRect/>
            </a:stretch>
          </p:blipFill>
          <p:spPr>
            <a:xfrm>
              <a:off x="6504344" y="5877173"/>
              <a:ext cx="810676" cy="1122239"/>
            </a:xfrm>
            <a:prstGeom prst="rect">
              <a:avLst/>
            </a:prstGeom>
          </p:spPr>
        </p:pic>
      </p:grpSp>
    </p:spTree>
    <p:extLst>
      <p:ext uri="{BB962C8B-B14F-4D97-AF65-F5344CB8AC3E}">
        <p14:creationId xmlns:p14="http://schemas.microsoft.com/office/powerpoint/2010/main" val="302537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1E75C-D32A-A691-3732-D8BB86340D3C}"/>
            </a:ext>
          </a:extLst>
        </p:cNvPr>
        <p:cNvGrpSpPr/>
        <p:nvPr/>
      </p:nvGrpSpPr>
      <p:grpSpPr>
        <a:xfrm>
          <a:off x="0" y="0"/>
          <a:ext cx="0" cy="0"/>
          <a:chOff x="0" y="0"/>
          <a:chExt cx="0" cy="0"/>
        </a:xfrm>
      </p:grpSpPr>
      <p:grpSp>
        <p:nvGrpSpPr>
          <p:cNvPr id="15" name="Group 3">
            <a:extLst>
              <a:ext uri="{FF2B5EF4-FFF2-40B4-BE49-F238E27FC236}">
                <a16:creationId xmlns:a16="http://schemas.microsoft.com/office/drawing/2014/main" id="{72F7170D-AFB8-AAAC-1941-CDAC9DB10B80}"/>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35CDE11F-C201-540C-D5D2-6F4D0D75943F}"/>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231CA5ED-E6A2-A28A-289B-2320E6F269A1}"/>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422B30DE-DBFC-0018-E808-CB82C913E08D}"/>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E15252EA-87D9-F636-9F09-F7DA880B6347}"/>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2C65EBB7-7934-28D2-2BF1-FCD0E805BD7B}"/>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4" name="Slide Number Placeholder 3">
            <a:extLst>
              <a:ext uri="{FF2B5EF4-FFF2-40B4-BE49-F238E27FC236}">
                <a16:creationId xmlns:a16="http://schemas.microsoft.com/office/drawing/2014/main" id="{6A1EFD5D-8BD8-22FA-119C-48F6F38A47CF}"/>
              </a:ext>
            </a:extLst>
          </p:cNvPr>
          <p:cNvSpPr>
            <a:spLocks noGrp="1"/>
          </p:cNvSpPr>
          <p:nvPr>
            <p:ph type="sldNum" sz="quarter" idx="12"/>
          </p:nvPr>
        </p:nvSpPr>
        <p:spPr/>
        <p:txBody>
          <a:bodyPr/>
          <a:lstStyle/>
          <a:p>
            <a:fld id="{B6F15528-21DE-4FAA-801E-634DDDAF4B2B}" type="slidenum">
              <a:rPr lang="en-US" smtClean="0"/>
              <a:pPr/>
              <a:t>62</a:t>
            </a:fld>
            <a:endParaRPr lang="en-US" sz="1800"/>
          </a:p>
        </p:txBody>
      </p:sp>
      <p:sp>
        <p:nvSpPr>
          <p:cNvPr id="2" name="TextBox 1">
            <a:extLst>
              <a:ext uri="{FF2B5EF4-FFF2-40B4-BE49-F238E27FC236}">
                <a16:creationId xmlns:a16="http://schemas.microsoft.com/office/drawing/2014/main" id="{8ADEE817-5382-19D6-53D5-E5F569C1C624}"/>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Advertising behavior</a:t>
            </a:r>
          </a:p>
        </p:txBody>
      </p:sp>
      <p:sp>
        <p:nvSpPr>
          <p:cNvPr id="6" name="TextBox 7">
            <a:extLst>
              <a:ext uri="{FF2B5EF4-FFF2-40B4-BE49-F238E27FC236}">
                <a16:creationId xmlns:a16="http://schemas.microsoft.com/office/drawing/2014/main" id="{8A9FA6A7-8569-5879-7D1F-34B3EB417DFE}"/>
              </a:ext>
            </a:extLst>
          </p:cNvPr>
          <p:cNvSpPr txBox="1"/>
          <p:nvPr/>
        </p:nvSpPr>
        <p:spPr>
          <a:xfrm>
            <a:off x="975002" y="2095500"/>
            <a:ext cx="119027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RSSI (Received Signal Strength Indicator)</a:t>
            </a:r>
          </a:p>
        </p:txBody>
      </p:sp>
      <p:sp>
        <p:nvSpPr>
          <p:cNvPr id="5" name="TextBox 4">
            <a:extLst>
              <a:ext uri="{FF2B5EF4-FFF2-40B4-BE49-F238E27FC236}">
                <a16:creationId xmlns:a16="http://schemas.microsoft.com/office/drawing/2014/main" id="{4EF9DE17-5054-1C6D-EE08-E71B239FA316}"/>
              </a:ext>
            </a:extLst>
          </p:cNvPr>
          <p:cNvSpPr txBox="1"/>
          <p:nvPr/>
        </p:nvSpPr>
        <p:spPr>
          <a:xfrm>
            <a:off x="975002" y="3402085"/>
            <a:ext cx="15636597" cy="1569660"/>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The </a:t>
            </a:r>
            <a:r>
              <a:rPr lang="en-US" sz="2400" b="1" dirty="0">
                <a:solidFill>
                  <a:srgbClr val="303642"/>
                </a:solidFill>
                <a:latin typeface="Poppins" panose="00000500000000000000" pitchFamily="2" charset="0"/>
                <a:cs typeface="Poppins" panose="00000500000000000000" pitchFamily="2" charset="0"/>
              </a:rPr>
              <a:t>power level </a:t>
            </a:r>
            <a:r>
              <a:rPr lang="en-US" sz="2400" dirty="0">
                <a:solidFill>
                  <a:srgbClr val="303642"/>
                </a:solidFill>
                <a:latin typeface="Poppins" panose="00000500000000000000" pitchFamily="2" charset="0"/>
                <a:cs typeface="Poppins" panose="00000500000000000000" pitchFamily="2" charset="0"/>
              </a:rPr>
              <a:t>(</a:t>
            </a:r>
            <a:r>
              <a:rPr lang="en-US" sz="2400" b="1" dirty="0">
                <a:solidFill>
                  <a:srgbClr val="303642"/>
                </a:solidFill>
                <a:latin typeface="Poppins" panose="00000500000000000000" pitchFamily="2" charset="0"/>
                <a:cs typeface="Poppins" panose="00000500000000000000" pitchFamily="2" charset="0"/>
              </a:rPr>
              <a:t>signal strength</a:t>
            </a:r>
            <a:r>
              <a:rPr lang="en-US" sz="2400" dirty="0">
                <a:solidFill>
                  <a:srgbClr val="303642"/>
                </a:solidFill>
                <a:latin typeface="Poppins" panose="00000500000000000000" pitchFamily="2" charset="0"/>
                <a:cs typeface="Poppins" panose="00000500000000000000" pitchFamily="2" charset="0"/>
              </a:rPr>
              <a:t>) of a received Bluetooth packet, measured by the receiving device.</a:t>
            </a:r>
          </a:p>
          <a:p>
            <a:pPr marL="342900" indent="-342900">
              <a:buFont typeface="Arial" panose="020B0604020202020204" pitchFamily="34" charset="0"/>
              <a:buChar char="•"/>
            </a:pPr>
            <a:endParaRPr lang="en-US" sz="2400" dirty="0">
              <a:solidFill>
                <a:srgbClr val="303642"/>
              </a:solidFill>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Estimate how close two devices are to each other, although it does not provide an exact distance.</a:t>
            </a:r>
          </a:p>
        </p:txBody>
      </p:sp>
      <p:graphicFrame>
        <p:nvGraphicFramePr>
          <p:cNvPr id="17" name="Table 16">
            <a:extLst>
              <a:ext uri="{FF2B5EF4-FFF2-40B4-BE49-F238E27FC236}">
                <a16:creationId xmlns:a16="http://schemas.microsoft.com/office/drawing/2014/main" id="{DF12DD73-2A82-39EB-C567-3D3AE7FDDAB5}"/>
              </a:ext>
            </a:extLst>
          </p:cNvPr>
          <p:cNvGraphicFramePr>
            <a:graphicFrameLocks noGrp="1"/>
          </p:cNvGraphicFramePr>
          <p:nvPr>
            <p:extLst>
              <p:ext uri="{D42A27DB-BD31-4B8C-83A1-F6EECF244321}">
                <p14:modId xmlns:p14="http://schemas.microsoft.com/office/powerpoint/2010/main" val="2340804470"/>
              </p:ext>
            </p:extLst>
          </p:nvPr>
        </p:nvGraphicFramePr>
        <p:xfrm>
          <a:off x="2148727" y="5902020"/>
          <a:ext cx="13279314" cy="2928980"/>
        </p:xfrm>
        <a:graphic>
          <a:graphicData uri="http://schemas.openxmlformats.org/drawingml/2006/table">
            <a:tbl>
              <a:tblPr firstRow="1" bandRow="1">
                <a:tableStyleId>{69012ECD-51FC-41F1-AA8D-1B2483CD663E}</a:tableStyleId>
              </a:tblPr>
              <a:tblGrid>
                <a:gridCol w="4426438">
                  <a:extLst>
                    <a:ext uri="{9D8B030D-6E8A-4147-A177-3AD203B41FA5}">
                      <a16:colId xmlns:a16="http://schemas.microsoft.com/office/drawing/2014/main" val="2968789480"/>
                    </a:ext>
                  </a:extLst>
                </a:gridCol>
                <a:gridCol w="4426438">
                  <a:extLst>
                    <a:ext uri="{9D8B030D-6E8A-4147-A177-3AD203B41FA5}">
                      <a16:colId xmlns:a16="http://schemas.microsoft.com/office/drawing/2014/main" val="3644192972"/>
                    </a:ext>
                  </a:extLst>
                </a:gridCol>
                <a:gridCol w="4426438">
                  <a:extLst>
                    <a:ext uri="{9D8B030D-6E8A-4147-A177-3AD203B41FA5}">
                      <a16:colId xmlns:a16="http://schemas.microsoft.com/office/drawing/2014/main" val="2453844217"/>
                    </a:ext>
                  </a:extLst>
                </a:gridCol>
              </a:tblGrid>
              <a:tr h="457780">
                <a:tc>
                  <a:txBody>
                    <a:bodyPr/>
                    <a:lstStyle/>
                    <a:p>
                      <a:pPr algn="ctr"/>
                      <a:r>
                        <a:rPr lang="en-DE" dirty="0">
                          <a:latin typeface="Poppins" panose="00000500000000000000" pitchFamily="2" charset="0"/>
                          <a:cs typeface="Poppins" panose="00000500000000000000" pitchFamily="2" charset="0"/>
                        </a:rPr>
                        <a:t>RSSI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4AA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E" dirty="0">
                          <a:latin typeface="Poppins" panose="00000500000000000000" pitchFamily="2" charset="0"/>
                          <a:cs typeface="Poppins" panose="00000500000000000000" pitchFamily="2" charset="0"/>
                        </a:rPr>
                        <a:t>Signal Strength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4AA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E" dirty="0">
                          <a:latin typeface="Poppins" panose="00000500000000000000" pitchFamily="2" charset="0"/>
                          <a:cs typeface="Poppins" panose="00000500000000000000" pitchFamily="2" charset="0"/>
                        </a:rPr>
                        <a:t>Approximate Situation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4AAD"/>
                    </a:solidFill>
                  </a:tcPr>
                </a:tc>
                <a:extLst>
                  <a:ext uri="{0D108BD9-81ED-4DB2-BD59-A6C34878D82A}">
                    <a16:rowId xmlns:a16="http://schemas.microsoft.com/office/drawing/2014/main" val="1295423695"/>
                  </a:ext>
                </a:extLst>
              </a:tr>
              <a:tr h="4577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E" dirty="0">
                          <a:latin typeface="Poppins" panose="00000500000000000000" pitchFamily="2" charset="0"/>
                          <a:cs typeface="Poppins" panose="00000500000000000000" pitchFamily="2" charset="0"/>
                        </a:rPr>
                        <a:t>-30 dBm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DE" dirty="0">
                          <a:latin typeface="Poppins" panose="00000500000000000000" pitchFamily="2" charset="0"/>
                          <a:cs typeface="Poppins" panose="00000500000000000000" pitchFamily="2" charset="0"/>
                        </a:rPr>
                        <a:t>Excellent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E" dirty="0">
                          <a:latin typeface="Poppins" panose="00000500000000000000" pitchFamily="2" charset="0"/>
                          <a:cs typeface="Poppins" panose="00000500000000000000" pitchFamily="2" charset="0"/>
                        </a:rPr>
                        <a:t>Devices are very close (a few </a:t>
                      </a:r>
                      <a:r>
                        <a:rPr lang="en-DE" dirty="0" err="1">
                          <a:latin typeface="Poppins" panose="00000500000000000000" pitchFamily="2" charset="0"/>
                          <a:cs typeface="Poppins" panose="00000500000000000000" pitchFamily="2" charset="0"/>
                        </a:rPr>
                        <a:t>centimeters</a:t>
                      </a:r>
                      <a:r>
                        <a:rPr lang="en-DE" dirty="0">
                          <a:latin typeface="Poppins" panose="00000500000000000000" pitchFamily="2" charset="0"/>
                          <a:cs typeface="Poppins" panose="00000500000000000000" pitchFamily="2"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6560345"/>
                  </a:ext>
                </a:extLst>
              </a:tr>
              <a:tr h="4577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E" dirty="0">
                          <a:latin typeface="Poppins" panose="00000500000000000000" pitchFamily="2" charset="0"/>
                          <a:cs typeface="Poppins" panose="00000500000000000000" pitchFamily="2" charset="0"/>
                        </a:rPr>
                        <a:t>-40 dBm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E" dirty="0">
                          <a:latin typeface="Poppins" panose="00000500000000000000" pitchFamily="2" charset="0"/>
                          <a:cs typeface="Poppins" panose="00000500000000000000" pitchFamily="2" charset="0"/>
                        </a:rPr>
                        <a:t>Very strong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E" dirty="0">
                          <a:latin typeface="Poppins" panose="00000500000000000000" pitchFamily="2" charset="0"/>
                          <a:cs typeface="Poppins" panose="00000500000000000000" pitchFamily="2" charset="0"/>
                        </a:rPr>
                        <a:t>Within about 1 meter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8962542"/>
                  </a:ext>
                </a:extLst>
              </a:tr>
              <a:tr h="4577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E" dirty="0">
                          <a:latin typeface="Poppins" panose="00000500000000000000" pitchFamily="2" charset="0"/>
                          <a:cs typeface="Poppins" panose="00000500000000000000" pitchFamily="2" charset="0"/>
                        </a:rPr>
                        <a:t>-60 dBm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DE" dirty="0">
                          <a:latin typeface="Poppins" panose="00000500000000000000" pitchFamily="2" charset="0"/>
                          <a:cs typeface="Poppins" panose="00000500000000000000" pitchFamily="2" charset="0"/>
                        </a:rPr>
                        <a:t>Good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E" dirty="0">
                          <a:latin typeface="Poppins" panose="00000500000000000000" pitchFamily="2" charset="0"/>
                          <a:cs typeface="Poppins" panose="00000500000000000000" pitchFamily="2" charset="0"/>
                        </a:rPr>
                        <a:t>A few meters apart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6705007"/>
                  </a:ext>
                </a:extLst>
              </a:tr>
              <a:tr h="4577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E" dirty="0">
                          <a:latin typeface="Poppins" panose="00000500000000000000" pitchFamily="2" charset="0"/>
                          <a:cs typeface="Poppins" panose="00000500000000000000" pitchFamily="2" charset="0"/>
                        </a:rPr>
                        <a:t>-80 dBm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DE" dirty="0">
                          <a:latin typeface="Poppins" panose="00000500000000000000" pitchFamily="2" charset="0"/>
                          <a:cs typeface="Poppins" panose="00000500000000000000" pitchFamily="2" charset="0"/>
                        </a:rPr>
                        <a:t>Weak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E" dirty="0">
                          <a:latin typeface="Poppins" panose="00000500000000000000" pitchFamily="2" charset="0"/>
                          <a:cs typeface="Poppins" panose="00000500000000000000" pitchFamily="2" charset="0"/>
                        </a:rPr>
                        <a:t>Far away or with obstacles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6055011"/>
                  </a:ext>
                </a:extLst>
              </a:tr>
              <a:tr h="4577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E" dirty="0">
                          <a:latin typeface="Poppins" panose="00000500000000000000" pitchFamily="2" charset="0"/>
                          <a:cs typeface="Poppins" panose="00000500000000000000" pitchFamily="2" charset="0"/>
                        </a:rPr>
                        <a:t>-90 dBm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E" dirty="0">
                          <a:latin typeface="Poppins" panose="00000500000000000000" pitchFamily="2" charset="0"/>
                          <a:cs typeface="Poppins" panose="00000500000000000000" pitchFamily="2" charset="0"/>
                        </a:rPr>
                        <a:t>Very weak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DE" dirty="0">
                          <a:latin typeface="Poppins" panose="00000500000000000000" pitchFamily="2" charset="0"/>
                          <a:cs typeface="Poppins" panose="00000500000000000000" pitchFamily="2" charset="0"/>
                        </a:rPr>
                        <a:t>Near the communication limit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0054039"/>
                  </a:ext>
                </a:extLst>
              </a:tr>
            </a:tbl>
          </a:graphicData>
        </a:graphic>
      </p:graphicFrame>
    </p:spTree>
    <p:extLst>
      <p:ext uri="{BB962C8B-B14F-4D97-AF65-F5344CB8AC3E}">
        <p14:creationId xmlns:p14="http://schemas.microsoft.com/office/powerpoint/2010/main" val="2893932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7803D-A902-8E7C-3D04-09832EF251A3}"/>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B4D21DF1-F495-863A-50DC-D51D58F6D879}"/>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4B25450C-9E77-9284-FF63-8027F38648BC}"/>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0A6C6170-2027-54E5-3617-0B13E1DF8435}"/>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D329C1DA-939C-D285-A2BB-545FE6764D75}"/>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1B044A98-AEA1-EA40-3AF6-2E7CEF585F16}"/>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BA4B4729-18DE-C7FF-70E6-3E001785C75E}"/>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3" name="Group 12">
            <a:extLst>
              <a:ext uri="{FF2B5EF4-FFF2-40B4-BE49-F238E27FC236}">
                <a16:creationId xmlns:a16="http://schemas.microsoft.com/office/drawing/2014/main" id="{B60E9B78-87D5-D438-ACF8-E371CDA39EE4}"/>
              </a:ext>
            </a:extLst>
          </p:cNvPr>
          <p:cNvGrpSpPr/>
          <p:nvPr/>
        </p:nvGrpSpPr>
        <p:grpSpPr>
          <a:xfrm>
            <a:off x="688551" y="2628899"/>
            <a:ext cx="16910897" cy="6689725"/>
            <a:chOff x="696805" y="1054173"/>
            <a:chExt cx="16894390" cy="4376144"/>
          </a:xfrm>
        </p:grpSpPr>
        <p:pic>
          <p:nvPicPr>
            <p:cNvPr id="6" name="Picture 2">
              <a:extLst>
                <a:ext uri="{FF2B5EF4-FFF2-40B4-BE49-F238E27FC236}">
                  <a16:creationId xmlns:a16="http://schemas.microsoft.com/office/drawing/2014/main" id="{69DB6C1D-0542-EBC5-3BC9-AE51343A4E36}"/>
                </a:ext>
              </a:extLst>
            </p:cNvPr>
            <p:cNvPicPr>
              <a:picLocks noChangeAspect="1"/>
            </p:cNvPicPr>
            <p:nvPr>
              <p:custDataLst>
                <p:tags r:id="rId1"/>
              </p:custDataLst>
            </p:nvPr>
          </p:nvPicPr>
          <p:blipFill>
            <a:blip>
              <a:extLst>
                <a:ext uri="{96DAC541-7B7A-43D3-8B79-37D633B846F1}">
                  <asvg:svgBlip xmlns:asvg="http://schemas.microsoft.com/office/drawing/2016/SVG/main" r:embed="rId4"/>
                </a:ext>
              </a:extLst>
            </a:blip>
            <a:srcRect l="29063" t="555" r="28437" b="72050"/>
            <a:stretch>
              <a:fillRect/>
            </a:stretch>
          </p:blipFill>
          <p:spPr>
            <a:xfrm>
              <a:off x="696805" y="1054173"/>
              <a:ext cx="16894390" cy="4376144"/>
            </a:xfrm>
            <a:prstGeom prst="rect">
              <a:avLst/>
            </a:prstGeom>
          </p:spPr>
        </p:pic>
        <p:pic>
          <p:nvPicPr>
            <p:cNvPr id="8" name="Picture 7">
              <a:extLst>
                <a:ext uri="{FF2B5EF4-FFF2-40B4-BE49-F238E27FC236}">
                  <a16:creationId xmlns:a16="http://schemas.microsoft.com/office/drawing/2014/main" id="{177DF8B4-CA3B-5AA5-8CC9-FBC0399BDC5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886843" y="1714500"/>
              <a:ext cx="1067963" cy="1067963"/>
            </a:xfrm>
            <a:prstGeom prst="rect">
              <a:avLst/>
            </a:prstGeom>
          </p:spPr>
        </p:pic>
        <p:pic>
          <p:nvPicPr>
            <p:cNvPr id="10" name="Picture 9">
              <a:extLst>
                <a:ext uri="{FF2B5EF4-FFF2-40B4-BE49-F238E27FC236}">
                  <a16:creationId xmlns:a16="http://schemas.microsoft.com/office/drawing/2014/main" id="{CB9DF7A2-6BED-1704-F9DE-ABEBCB592FA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a:off x="4648200" y="2628900"/>
              <a:ext cx="2362200" cy="2362200"/>
            </a:xfrm>
            <a:prstGeom prst="rect">
              <a:avLst/>
            </a:prstGeom>
          </p:spPr>
        </p:pic>
        <p:pic>
          <p:nvPicPr>
            <p:cNvPr id="12" name="Picture 11">
              <a:extLst>
                <a:ext uri="{FF2B5EF4-FFF2-40B4-BE49-F238E27FC236}">
                  <a16:creationId xmlns:a16="http://schemas.microsoft.com/office/drawing/2014/main" id="{CFC8503A-E8E8-3C83-A449-186D776B9E8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696200" y="1562100"/>
              <a:ext cx="838200" cy="838200"/>
            </a:xfrm>
            <a:prstGeom prst="rect">
              <a:avLst/>
            </a:prstGeom>
          </p:spPr>
        </p:pic>
      </p:grpSp>
      <p:sp>
        <p:nvSpPr>
          <p:cNvPr id="9" name="Slide Number Placeholder 8">
            <a:extLst>
              <a:ext uri="{FF2B5EF4-FFF2-40B4-BE49-F238E27FC236}">
                <a16:creationId xmlns:a16="http://schemas.microsoft.com/office/drawing/2014/main" id="{B3022EBA-FB85-C0EA-76F3-A9261CA65E3A}"/>
              </a:ext>
            </a:extLst>
          </p:cNvPr>
          <p:cNvSpPr>
            <a:spLocks noGrp="1"/>
          </p:cNvSpPr>
          <p:nvPr>
            <p:ph type="sldNum" sz="quarter" idx="12"/>
          </p:nvPr>
        </p:nvSpPr>
        <p:spPr/>
        <p:txBody>
          <a:bodyPr/>
          <a:lstStyle/>
          <a:p>
            <a:fld id="{B6F15528-21DE-4FAA-801E-634DDDAF4B2B}" type="slidenum">
              <a:rPr lang="en-US" smtClean="0"/>
              <a:pPr/>
              <a:t>63</a:t>
            </a:fld>
            <a:endParaRPr lang="en-US" sz="1800"/>
          </a:p>
        </p:txBody>
      </p:sp>
      <p:sp>
        <p:nvSpPr>
          <p:cNvPr id="2" name="TextBox 1">
            <a:extLst>
              <a:ext uri="{FF2B5EF4-FFF2-40B4-BE49-F238E27FC236}">
                <a16:creationId xmlns:a16="http://schemas.microsoft.com/office/drawing/2014/main" id="{E75C8297-B365-8A4C-D46F-21D229F019A6}"/>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BLE Communication Flow Using ESP32</a:t>
            </a:r>
          </a:p>
        </p:txBody>
      </p:sp>
    </p:spTree>
    <p:extLst>
      <p:ext uri="{BB962C8B-B14F-4D97-AF65-F5344CB8AC3E}">
        <p14:creationId xmlns:p14="http://schemas.microsoft.com/office/powerpoint/2010/main" val="634755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5EA55-DCF2-7C68-3633-796D3B004EA0}"/>
            </a:ext>
          </a:extLst>
        </p:cNvPr>
        <p:cNvGrpSpPr/>
        <p:nvPr/>
      </p:nvGrpSpPr>
      <p:grpSpPr>
        <a:xfrm>
          <a:off x="0" y="0"/>
          <a:ext cx="0" cy="0"/>
          <a:chOff x="0" y="0"/>
          <a:chExt cx="0" cy="0"/>
        </a:xfrm>
      </p:grpSpPr>
      <p:grpSp>
        <p:nvGrpSpPr>
          <p:cNvPr id="15" name="Group 3">
            <a:extLst>
              <a:ext uri="{FF2B5EF4-FFF2-40B4-BE49-F238E27FC236}">
                <a16:creationId xmlns:a16="http://schemas.microsoft.com/office/drawing/2014/main" id="{4878EA55-7175-B624-244B-2BB77DDE7BD0}"/>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49CE5C90-FCE6-4C97-7A55-4E7F56339360}"/>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9DA30FC8-8159-BC85-883C-0599C66698CC}"/>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C3E10AA9-D2CD-F3E9-5020-8504BDF47683}"/>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C99BA7B2-3A03-1132-435F-04C62DE27E10}"/>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886CF7BF-104A-81CA-D0AB-BB93289622D0}"/>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4" name="Slide Number Placeholder 3">
            <a:extLst>
              <a:ext uri="{FF2B5EF4-FFF2-40B4-BE49-F238E27FC236}">
                <a16:creationId xmlns:a16="http://schemas.microsoft.com/office/drawing/2014/main" id="{DA134780-6C33-F6C4-4A1A-C97868848E39}"/>
              </a:ext>
            </a:extLst>
          </p:cNvPr>
          <p:cNvSpPr>
            <a:spLocks noGrp="1"/>
          </p:cNvSpPr>
          <p:nvPr>
            <p:ph type="sldNum" sz="quarter" idx="12"/>
          </p:nvPr>
        </p:nvSpPr>
        <p:spPr/>
        <p:txBody>
          <a:bodyPr/>
          <a:lstStyle/>
          <a:p>
            <a:fld id="{B6F15528-21DE-4FAA-801E-634DDDAF4B2B}" type="slidenum">
              <a:rPr lang="en-US" smtClean="0"/>
              <a:pPr/>
              <a:t>64</a:t>
            </a:fld>
            <a:endParaRPr lang="en-US" sz="1800"/>
          </a:p>
        </p:txBody>
      </p:sp>
      <p:sp>
        <p:nvSpPr>
          <p:cNvPr id="2" name="TextBox 1">
            <a:extLst>
              <a:ext uri="{FF2B5EF4-FFF2-40B4-BE49-F238E27FC236}">
                <a16:creationId xmlns:a16="http://schemas.microsoft.com/office/drawing/2014/main" id="{A41BD350-F530-8A42-110A-B80D3C9F770F}"/>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Scanning behavior</a:t>
            </a:r>
          </a:p>
        </p:txBody>
      </p:sp>
      <p:sp>
        <p:nvSpPr>
          <p:cNvPr id="3" name="TextBox 2">
            <a:extLst>
              <a:ext uri="{FF2B5EF4-FFF2-40B4-BE49-F238E27FC236}">
                <a16:creationId xmlns:a16="http://schemas.microsoft.com/office/drawing/2014/main" id="{49D27803-5FA2-6388-7BBE-C079173E95C0}"/>
              </a:ext>
            </a:extLst>
          </p:cNvPr>
          <p:cNvSpPr txBox="1"/>
          <p:nvPr/>
        </p:nvSpPr>
        <p:spPr>
          <a:xfrm>
            <a:off x="969559" y="2618375"/>
            <a:ext cx="14645998" cy="1551707"/>
          </a:xfrm>
          <a:prstGeom prst="rect">
            <a:avLst/>
          </a:prstGeom>
          <a:noFill/>
        </p:spPr>
        <p:txBody>
          <a:bodyPr wrap="square">
            <a:spAutoFit/>
          </a:bodyPr>
          <a:lstStyle/>
          <a:p>
            <a:pPr marL="342900" indent="-342900">
              <a:lnSpc>
                <a:spcPct val="115000"/>
              </a:lnSpc>
              <a:spcAft>
                <a:spcPts val="800"/>
              </a:spcAft>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The peripheral device </a:t>
            </a:r>
            <a:r>
              <a:rPr lang="en-US" sz="2400" dirty="0">
                <a:solidFill>
                  <a:srgbClr val="303642"/>
                </a:solidFill>
                <a:latin typeface="Poppins" panose="00000500000000000000" pitchFamily="2" charset="0"/>
                <a:cs typeface="Poppins" panose="00000500000000000000" pitchFamily="2" charset="0"/>
              </a:rPr>
              <a:t>(broadcaster): sends out advertising packets at regular intervals.</a:t>
            </a:r>
          </a:p>
          <a:p>
            <a:pPr>
              <a:lnSpc>
                <a:spcPct val="115000"/>
              </a:lnSpc>
              <a:spcAft>
                <a:spcPts val="800"/>
              </a:spcAft>
            </a:pPr>
            <a:endParaRPr lang="en-US" sz="2400" dirty="0">
              <a:solidFill>
                <a:srgbClr val="303642"/>
              </a:solidFill>
              <a:latin typeface="Poppins" panose="00000500000000000000" pitchFamily="2" charset="0"/>
              <a:cs typeface="Poppins" panose="00000500000000000000" pitchFamily="2" charset="0"/>
            </a:endParaRPr>
          </a:p>
          <a:p>
            <a:pPr marL="342900" indent="-342900">
              <a:lnSpc>
                <a:spcPct val="115000"/>
              </a:lnSpc>
              <a:spcAft>
                <a:spcPts val="800"/>
              </a:spcAft>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The central device </a:t>
            </a:r>
            <a:r>
              <a:rPr lang="en-US" sz="2400" dirty="0">
                <a:solidFill>
                  <a:srgbClr val="303642"/>
                </a:solidFill>
                <a:latin typeface="Poppins" panose="00000500000000000000" pitchFamily="2" charset="0"/>
                <a:cs typeface="Poppins" panose="00000500000000000000" pitchFamily="2" charset="0"/>
              </a:rPr>
              <a:t>(listener): scans specific (primary) channels to discover the peripheral.</a:t>
            </a:r>
            <a:endParaRPr lang="en-DE" sz="2400" b="1" dirty="0">
              <a:solidFill>
                <a:srgbClr val="303642"/>
              </a:solidFill>
              <a:latin typeface="Poppins" panose="00000500000000000000" pitchFamily="2" charset="0"/>
              <a:cs typeface="Poppins" panose="00000500000000000000" pitchFamily="2" charset="0"/>
            </a:endParaRPr>
          </a:p>
        </p:txBody>
      </p:sp>
      <p:grpSp>
        <p:nvGrpSpPr>
          <p:cNvPr id="22" name="Group 21">
            <a:extLst>
              <a:ext uri="{FF2B5EF4-FFF2-40B4-BE49-F238E27FC236}">
                <a16:creationId xmlns:a16="http://schemas.microsoft.com/office/drawing/2014/main" id="{46907CF0-3097-BA27-B4FE-50936E55BA1B}"/>
              </a:ext>
            </a:extLst>
          </p:cNvPr>
          <p:cNvGrpSpPr/>
          <p:nvPr/>
        </p:nvGrpSpPr>
        <p:grpSpPr>
          <a:xfrm>
            <a:off x="969559" y="4798037"/>
            <a:ext cx="7853312" cy="4715650"/>
            <a:chOff x="985888" y="5009304"/>
            <a:chExt cx="7853312" cy="4715650"/>
          </a:xfrm>
        </p:grpSpPr>
        <p:sp>
          <p:nvSpPr>
            <p:cNvPr id="7" name="TextBox 6">
              <a:extLst>
                <a:ext uri="{FF2B5EF4-FFF2-40B4-BE49-F238E27FC236}">
                  <a16:creationId xmlns:a16="http://schemas.microsoft.com/office/drawing/2014/main" id="{9116E54A-508A-11EB-5ED1-BBD7CC2DD7F3}"/>
                </a:ext>
              </a:extLst>
            </p:cNvPr>
            <p:cNvSpPr txBox="1"/>
            <p:nvPr/>
          </p:nvSpPr>
          <p:spPr>
            <a:xfrm>
              <a:off x="985888" y="5009304"/>
              <a:ext cx="7853312" cy="4715650"/>
            </a:xfrm>
            <a:prstGeom prst="rect">
              <a:avLst/>
            </a:prstGeom>
            <a:noFill/>
          </p:spPr>
          <p:txBody>
            <a:bodyPr wrap="square">
              <a:spAutoFit/>
            </a:bodyPr>
            <a:lstStyle/>
            <a:p>
              <a:pPr>
                <a:lnSpc>
                  <a:spcPct val="115000"/>
                </a:lnSpc>
                <a:spcAft>
                  <a:spcPts val="800"/>
                </a:spcAft>
              </a:pPr>
              <a:r>
                <a:rPr lang="en-US" sz="2400" dirty="0">
                  <a:solidFill>
                    <a:srgbClr val="303642"/>
                  </a:solidFill>
                  <a:latin typeface="Poppins" panose="00000500000000000000" pitchFamily="2" charset="0"/>
                  <a:cs typeface="Poppins" panose="00000500000000000000" pitchFamily="2" charset="0"/>
                </a:rPr>
                <a:t>The central relies on :</a:t>
              </a:r>
            </a:p>
            <a:p>
              <a:pPr marL="342900" indent="-342900">
                <a:lnSpc>
                  <a:spcPct val="115000"/>
                </a:lnSpc>
                <a:spcAft>
                  <a:spcPts val="800"/>
                </a:spcAft>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Scan interval: </a:t>
              </a:r>
            </a:p>
            <a:p>
              <a:pPr>
                <a:lnSpc>
                  <a:spcPct val="115000"/>
                </a:lnSpc>
                <a:spcAft>
                  <a:spcPts val="800"/>
                </a:spcAft>
              </a:pPr>
              <a:r>
                <a:rPr lang="en-US" sz="2400" dirty="0">
                  <a:solidFill>
                    <a:srgbClr val="303642"/>
                  </a:solidFill>
                  <a:latin typeface="Poppins" panose="00000500000000000000" pitchFamily="2" charset="0"/>
                  <a:cs typeface="Poppins" panose="00000500000000000000" pitchFamily="2" charset="0"/>
                </a:rPr>
                <a:t>Determine how often it checks for advertisement.</a:t>
              </a:r>
            </a:p>
            <a:p>
              <a:pPr>
                <a:lnSpc>
                  <a:spcPct val="115000"/>
                </a:lnSpc>
                <a:spcAft>
                  <a:spcPts val="800"/>
                </a:spcAft>
              </a:pPr>
              <a:r>
                <a:rPr lang="en-US" sz="2400" dirty="0">
                  <a:solidFill>
                    <a:srgbClr val="303642"/>
                  </a:solidFill>
                  <a:latin typeface="Poppins" panose="00000500000000000000" pitchFamily="2" charset="0"/>
                  <a:cs typeface="Poppins" panose="00000500000000000000" pitchFamily="2" charset="0"/>
                </a:rPr>
                <a:t>	</a:t>
              </a:r>
              <a:r>
                <a:rPr lang="en-US" sz="2400" b="1" dirty="0">
                  <a:solidFill>
                    <a:schemeClr val="tx2"/>
                  </a:solidFill>
                  <a:latin typeface="Poppins" panose="00000500000000000000" pitchFamily="2" charset="0"/>
                  <a:cs typeface="Poppins" panose="00000500000000000000" pitchFamily="2" charset="0"/>
                </a:rPr>
                <a:t>Range: </a:t>
              </a:r>
              <a:r>
                <a:rPr lang="en-US" sz="2400" dirty="0">
                  <a:solidFill>
                    <a:srgbClr val="303642"/>
                  </a:solidFill>
                  <a:latin typeface="Poppins" panose="00000500000000000000" pitchFamily="2" charset="0"/>
                  <a:cs typeface="Poppins" panose="00000500000000000000" pitchFamily="2" charset="0"/>
                </a:rPr>
                <a:t>2.5 </a:t>
              </a:r>
              <a:r>
                <a:rPr lang="en-US" sz="2400" dirty="0" err="1">
                  <a:solidFill>
                    <a:srgbClr val="303642"/>
                  </a:solidFill>
                  <a:latin typeface="Poppins" panose="00000500000000000000" pitchFamily="2" charset="0"/>
                  <a:cs typeface="Poppins" panose="00000500000000000000" pitchFamily="2" charset="0"/>
                </a:rPr>
                <a:t>ms</a:t>
              </a:r>
              <a:r>
                <a:rPr lang="en-US" sz="2400" dirty="0">
                  <a:solidFill>
                    <a:srgbClr val="303642"/>
                  </a:solidFill>
                  <a:latin typeface="Poppins" panose="00000500000000000000" pitchFamily="2" charset="0"/>
                  <a:cs typeface="Poppins" panose="00000500000000000000" pitchFamily="2" charset="0"/>
                </a:rPr>
                <a:t> – 10.24 s (0.625 </a:t>
              </a:r>
              <a:r>
                <a:rPr lang="en-US" sz="2400" dirty="0" err="1">
                  <a:solidFill>
                    <a:srgbClr val="303642"/>
                  </a:solidFill>
                  <a:latin typeface="Poppins" panose="00000500000000000000" pitchFamily="2" charset="0"/>
                  <a:cs typeface="Poppins" panose="00000500000000000000" pitchFamily="2" charset="0"/>
                </a:rPr>
                <a:t>ms</a:t>
              </a:r>
              <a:r>
                <a:rPr lang="en-US" sz="2400" dirty="0">
                  <a:solidFill>
                    <a:srgbClr val="303642"/>
                  </a:solidFill>
                  <a:latin typeface="Poppins" panose="00000500000000000000" pitchFamily="2" charset="0"/>
                  <a:cs typeface="Poppins" panose="00000500000000000000" pitchFamily="2" charset="0"/>
                </a:rPr>
                <a:t> unit).</a:t>
              </a:r>
            </a:p>
            <a:p>
              <a:pPr>
                <a:lnSpc>
                  <a:spcPct val="115000"/>
                </a:lnSpc>
                <a:spcAft>
                  <a:spcPts val="800"/>
                </a:spcAft>
              </a:pPr>
              <a:endParaRPr lang="en-US" sz="2400" dirty="0">
                <a:solidFill>
                  <a:srgbClr val="303642"/>
                </a:solidFill>
                <a:latin typeface="Poppins" panose="00000500000000000000" pitchFamily="2" charset="0"/>
                <a:cs typeface="Poppins" panose="00000500000000000000" pitchFamily="2" charset="0"/>
              </a:endParaRPr>
            </a:p>
            <a:p>
              <a:pPr marL="342900" indent="-342900">
                <a:lnSpc>
                  <a:spcPct val="115000"/>
                </a:lnSpc>
                <a:spcAft>
                  <a:spcPts val="800"/>
                </a:spcAft>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Scan window: </a:t>
              </a:r>
            </a:p>
            <a:p>
              <a:pPr>
                <a:lnSpc>
                  <a:spcPct val="115000"/>
                </a:lnSpc>
                <a:spcAft>
                  <a:spcPts val="800"/>
                </a:spcAft>
              </a:pPr>
              <a:r>
                <a:rPr lang="en-US" sz="2400" dirty="0">
                  <a:solidFill>
                    <a:srgbClr val="303642"/>
                  </a:solidFill>
                  <a:latin typeface="Poppins" panose="00000500000000000000" pitchFamily="2" charset="0"/>
                  <a:cs typeface="Poppins" panose="00000500000000000000" pitchFamily="2" charset="0"/>
                </a:rPr>
                <a:t>Determine how long it listens during each interval.</a:t>
              </a:r>
            </a:p>
            <a:p>
              <a:pPr>
                <a:lnSpc>
                  <a:spcPct val="115000"/>
                </a:lnSpc>
                <a:spcAft>
                  <a:spcPts val="800"/>
                </a:spcAft>
              </a:pPr>
              <a:r>
                <a:rPr lang="en-US" sz="2400" dirty="0">
                  <a:solidFill>
                    <a:srgbClr val="303642"/>
                  </a:solidFill>
                  <a:latin typeface="Poppins" panose="00000500000000000000" pitchFamily="2" charset="0"/>
                  <a:cs typeface="Poppins" panose="00000500000000000000" pitchFamily="2" charset="0"/>
                </a:rPr>
                <a:t>	</a:t>
              </a:r>
              <a:r>
                <a:rPr lang="en-US" sz="2400" b="1" dirty="0">
                  <a:solidFill>
                    <a:schemeClr val="tx2"/>
                  </a:solidFill>
                  <a:latin typeface="Poppins" panose="00000500000000000000" pitchFamily="2" charset="0"/>
                  <a:cs typeface="Poppins" panose="00000500000000000000" pitchFamily="2" charset="0"/>
                </a:rPr>
                <a:t>Range: </a:t>
              </a:r>
              <a:r>
                <a:rPr lang="en-US" sz="2400" dirty="0">
                  <a:solidFill>
                    <a:srgbClr val="303642"/>
                  </a:solidFill>
                  <a:latin typeface="Poppins" panose="00000500000000000000" pitchFamily="2" charset="0"/>
                  <a:cs typeface="Poppins" panose="00000500000000000000" pitchFamily="2" charset="0"/>
                </a:rPr>
                <a:t>2.5 </a:t>
              </a:r>
              <a:r>
                <a:rPr lang="en-US" sz="2400" dirty="0" err="1">
                  <a:solidFill>
                    <a:srgbClr val="303642"/>
                  </a:solidFill>
                  <a:latin typeface="Poppins" panose="00000500000000000000" pitchFamily="2" charset="0"/>
                  <a:cs typeface="Poppins" panose="00000500000000000000" pitchFamily="2" charset="0"/>
                </a:rPr>
                <a:t>ms</a:t>
              </a:r>
              <a:r>
                <a:rPr lang="en-US" sz="2400" dirty="0">
                  <a:solidFill>
                    <a:srgbClr val="303642"/>
                  </a:solidFill>
                  <a:latin typeface="Poppins" panose="00000500000000000000" pitchFamily="2" charset="0"/>
                  <a:cs typeface="Poppins" panose="00000500000000000000" pitchFamily="2" charset="0"/>
                </a:rPr>
                <a:t> – 10.24 s (0.625 </a:t>
              </a:r>
              <a:r>
                <a:rPr lang="en-US" sz="2400" dirty="0" err="1">
                  <a:solidFill>
                    <a:srgbClr val="303642"/>
                  </a:solidFill>
                  <a:latin typeface="Poppins" panose="00000500000000000000" pitchFamily="2" charset="0"/>
                  <a:cs typeface="Poppins" panose="00000500000000000000" pitchFamily="2" charset="0"/>
                </a:rPr>
                <a:t>ms</a:t>
              </a:r>
              <a:r>
                <a:rPr lang="en-US" sz="2400" dirty="0">
                  <a:solidFill>
                    <a:srgbClr val="303642"/>
                  </a:solidFill>
                  <a:latin typeface="Poppins" panose="00000500000000000000" pitchFamily="2" charset="0"/>
                  <a:cs typeface="Poppins" panose="00000500000000000000" pitchFamily="2" charset="0"/>
                </a:rPr>
                <a:t> unit).</a:t>
              </a:r>
            </a:p>
            <a:p>
              <a:pPr>
                <a:lnSpc>
                  <a:spcPct val="115000"/>
                </a:lnSpc>
                <a:spcAft>
                  <a:spcPts val="800"/>
                </a:spcAft>
              </a:pPr>
              <a:endParaRPr lang="en-DE" sz="2400" b="1" dirty="0">
                <a:solidFill>
                  <a:srgbClr val="303642"/>
                </a:solidFill>
                <a:latin typeface="Poppins" panose="00000500000000000000" pitchFamily="2" charset="0"/>
                <a:cs typeface="Poppins" panose="00000500000000000000" pitchFamily="2" charset="0"/>
              </a:endParaRPr>
            </a:p>
          </p:txBody>
        </p:sp>
        <p:sp>
          <p:nvSpPr>
            <p:cNvPr id="8" name="Arrow: Right 7">
              <a:extLst>
                <a:ext uri="{FF2B5EF4-FFF2-40B4-BE49-F238E27FC236}">
                  <a16:creationId xmlns:a16="http://schemas.microsoft.com/office/drawing/2014/main" id="{07873FE1-CA96-2EDA-4BDC-F9BA25121198}"/>
                </a:ext>
              </a:extLst>
            </p:cNvPr>
            <p:cNvSpPr/>
            <p:nvPr/>
          </p:nvSpPr>
          <p:spPr>
            <a:xfrm>
              <a:off x="1294493" y="6761375"/>
              <a:ext cx="609600" cy="179614"/>
            </a:xfrm>
            <a:prstGeom prst="right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0" name="Arrow: Right 9">
              <a:extLst>
                <a:ext uri="{FF2B5EF4-FFF2-40B4-BE49-F238E27FC236}">
                  <a16:creationId xmlns:a16="http://schemas.microsoft.com/office/drawing/2014/main" id="{1F7F3412-397C-C5B3-2C9C-17135C92EFC8}"/>
                </a:ext>
              </a:extLst>
            </p:cNvPr>
            <p:cNvSpPr/>
            <p:nvPr/>
          </p:nvSpPr>
          <p:spPr>
            <a:xfrm>
              <a:off x="1293586" y="8801100"/>
              <a:ext cx="609600" cy="179614"/>
            </a:xfrm>
            <a:prstGeom prst="right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pSp>
      <p:grpSp>
        <p:nvGrpSpPr>
          <p:cNvPr id="20" name="Group 19">
            <a:extLst>
              <a:ext uri="{FF2B5EF4-FFF2-40B4-BE49-F238E27FC236}">
                <a16:creationId xmlns:a16="http://schemas.microsoft.com/office/drawing/2014/main" id="{41085AD7-34FC-C894-8806-F0D0E817D856}"/>
              </a:ext>
            </a:extLst>
          </p:cNvPr>
          <p:cNvGrpSpPr/>
          <p:nvPr/>
        </p:nvGrpSpPr>
        <p:grpSpPr>
          <a:xfrm>
            <a:off x="10363200" y="5505343"/>
            <a:ext cx="7264729" cy="2395434"/>
            <a:chOff x="10058400" y="4693600"/>
            <a:chExt cx="7264729" cy="2395434"/>
          </a:xfrm>
        </p:grpSpPr>
        <p:pic>
          <p:nvPicPr>
            <p:cNvPr id="16" name="Graphic 15" descr="Warning with solid fill">
              <a:extLst>
                <a:ext uri="{FF2B5EF4-FFF2-40B4-BE49-F238E27FC236}">
                  <a16:creationId xmlns:a16="http://schemas.microsoft.com/office/drawing/2014/main" id="{6BD2AE20-F297-8B1F-9B2B-9C028E41F8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8400" y="4693600"/>
              <a:ext cx="842318" cy="914400"/>
            </a:xfrm>
            <a:prstGeom prst="rect">
              <a:avLst/>
            </a:prstGeom>
          </p:spPr>
        </p:pic>
        <p:sp>
          <p:nvSpPr>
            <p:cNvPr id="17" name="TextBox 16">
              <a:extLst>
                <a:ext uri="{FF2B5EF4-FFF2-40B4-BE49-F238E27FC236}">
                  <a16:creationId xmlns:a16="http://schemas.microsoft.com/office/drawing/2014/main" id="{8072F95A-9B74-872B-4DD1-07F31B3C8EE7}"/>
                </a:ext>
              </a:extLst>
            </p:cNvPr>
            <p:cNvSpPr txBox="1"/>
            <p:nvPr/>
          </p:nvSpPr>
          <p:spPr>
            <a:xfrm>
              <a:off x="11154665" y="4790456"/>
              <a:ext cx="6168464" cy="2298578"/>
            </a:xfrm>
            <a:prstGeom prst="rect">
              <a:avLst/>
            </a:prstGeom>
            <a:noFill/>
          </p:spPr>
          <p:txBody>
            <a:bodyPr wrap="square">
              <a:spAutoFit/>
            </a:bodyPr>
            <a:lstStyle/>
            <a:p>
              <a:pPr>
                <a:lnSpc>
                  <a:spcPct val="115000"/>
                </a:lnSpc>
                <a:spcAft>
                  <a:spcPts val="800"/>
                </a:spcAft>
              </a:pPr>
              <a:r>
                <a:rPr lang="en-US" sz="2400" b="1" dirty="0">
                  <a:solidFill>
                    <a:srgbClr val="303642"/>
                  </a:solidFill>
                  <a:latin typeface="Poppins" panose="00000500000000000000" pitchFamily="2" charset="0"/>
                  <a:cs typeface="Poppins" panose="00000500000000000000" pitchFamily="2" charset="0"/>
                </a:rPr>
                <a:t>Scan window &lt; Scan interval </a:t>
              </a:r>
              <a:r>
                <a:rPr lang="en-US" sz="2400" dirty="0">
                  <a:solidFill>
                    <a:srgbClr val="303642"/>
                  </a:solidFill>
                  <a:latin typeface="Poppins" panose="00000500000000000000" pitchFamily="2" charset="0"/>
                  <a:cs typeface="Poppins" panose="00000500000000000000" pitchFamily="2" charset="0"/>
                </a:rPr>
                <a:t>: For less power consumption.</a:t>
              </a:r>
            </a:p>
            <a:p>
              <a:pPr>
                <a:lnSpc>
                  <a:spcPct val="115000"/>
                </a:lnSpc>
                <a:spcAft>
                  <a:spcPts val="800"/>
                </a:spcAft>
              </a:pPr>
              <a:r>
                <a:rPr lang="en-US" sz="2400" b="1" dirty="0">
                  <a:solidFill>
                    <a:srgbClr val="303642"/>
                  </a:solidFill>
                  <a:latin typeface="Poppins" panose="00000500000000000000" pitchFamily="2" charset="0"/>
                  <a:cs typeface="Poppins" panose="00000500000000000000" pitchFamily="2" charset="0"/>
                </a:rPr>
                <a:t>Scan window = Scan interval </a:t>
              </a:r>
              <a:r>
                <a:rPr lang="en-US" sz="2400" dirty="0">
                  <a:solidFill>
                    <a:srgbClr val="303642"/>
                  </a:solidFill>
                  <a:latin typeface="Poppins" panose="00000500000000000000" pitchFamily="2" charset="0"/>
                  <a:cs typeface="Poppins" panose="00000500000000000000" pitchFamily="2" charset="0"/>
                </a:rPr>
                <a:t>: Continuous listening (great for discovery, but rough on battery).</a:t>
              </a:r>
              <a:endParaRPr lang="en-DE" sz="2400" b="1" dirty="0">
                <a:solidFill>
                  <a:srgbClr val="303642"/>
                </a:solidFill>
                <a:latin typeface="Poppins" panose="00000500000000000000" pitchFamily="2" charset="0"/>
                <a:cs typeface="Poppins" panose="00000500000000000000" pitchFamily="2" charset="0"/>
              </a:endParaRPr>
            </a:p>
          </p:txBody>
        </p:sp>
      </p:grpSp>
    </p:spTree>
    <p:extLst>
      <p:ext uri="{BB962C8B-B14F-4D97-AF65-F5344CB8AC3E}">
        <p14:creationId xmlns:p14="http://schemas.microsoft.com/office/powerpoint/2010/main" val="68205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FF57C-5482-BF66-2C51-DB44A66F6324}"/>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42D7549A-7379-1A40-95CB-872D065A3384}"/>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D6544856-2A54-FA8D-470B-0E4ABC00FB88}"/>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2ED773F3-F733-9CA7-30A1-5F26FF88F0DF}"/>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0A6E65C1-BC09-C1B5-DB46-4694B9902C24}"/>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DAFA1473-9F57-BC2A-B7A9-5A9F29A07869}"/>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1A684FAA-365F-3C97-C90F-549B871E130F}"/>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Slide Number Placeholder 8">
            <a:extLst>
              <a:ext uri="{FF2B5EF4-FFF2-40B4-BE49-F238E27FC236}">
                <a16:creationId xmlns:a16="http://schemas.microsoft.com/office/drawing/2014/main" id="{2B21A70A-DD32-B8DF-38D1-FDDF334EE911}"/>
              </a:ext>
            </a:extLst>
          </p:cNvPr>
          <p:cNvSpPr>
            <a:spLocks noGrp="1"/>
          </p:cNvSpPr>
          <p:nvPr>
            <p:ph type="sldNum" sz="quarter" idx="12"/>
          </p:nvPr>
        </p:nvSpPr>
        <p:spPr/>
        <p:txBody>
          <a:bodyPr/>
          <a:lstStyle/>
          <a:p>
            <a:fld id="{B6F15528-21DE-4FAA-801E-634DDDAF4B2B}" type="slidenum">
              <a:rPr lang="en-US" smtClean="0"/>
              <a:pPr/>
              <a:t>65</a:t>
            </a:fld>
            <a:endParaRPr lang="en-US" sz="1800"/>
          </a:p>
        </p:txBody>
      </p:sp>
      <p:sp>
        <p:nvSpPr>
          <p:cNvPr id="2" name="TextBox 1">
            <a:extLst>
              <a:ext uri="{FF2B5EF4-FFF2-40B4-BE49-F238E27FC236}">
                <a16:creationId xmlns:a16="http://schemas.microsoft.com/office/drawing/2014/main" id="{5AFB91B4-BD3E-7B25-65A6-BCB24E72DFC0}"/>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Scanning behavior</a:t>
            </a:r>
          </a:p>
        </p:txBody>
      </p:sp>
      <p:sp>
        <p:nvSpPr>
          <p:cNvPr id="11" name="TextBox 7">
            <a:extLst>
              <a:ext uri="{FF2B5EF4-FFF2-40B4-BE49-F238E27FC236}">
                <a16:creationId xmlns:a16="http://schemas.microsoft.com/office/drawing/2014/main" id="{F4690E35-618F-3BCD-7A30-3DA013BA48CE}"/>
              </a:ext>
            </a:extLst>
          </p:cNvPr>
          <p:cNvSpPr txBox="1"/>
          <p:nvPr/>
        </p:nvSpPr>
        <p:spPr>
          <a:xfrm>
            <a:off x="975002" y="2095500"/>
            <a:ext cx="119027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Active scanning</a:t>
            </a:r>
          </a:p>
        </p:txBody>
      </p:sp>
      <p:sp>
        <p:nvSpPr>
          <p:cNvPr id="8" name="TextBox 7">
            <a:extLst>
              <a:ext uri="{FF2B5EF4-FFF2-40B4-BE49-F238E27FC236}">
                <a16:creationId xmlns:a16="http://schemas.microsoft.com/office/drawing/2014/main" id="{C96378EF-A7CD-E437-7624-612908900214}"/>
              </a:ext>
            </a:extLst>
          </p:cNvPr>
          <p:cNvSpPr txBox="1"/>
          <p:nvPr/>
        </p:nvSpPr>
        <p:spPr>
          <a:xfrm>
            <a:off x="975002" y="2941845"/>
            <a:ext cx="14645998" cy="1449115"/>
          </a:xfrm>
          <a:prstGeom prst="rect">
            <a:avLst/>
          </a:prstGeom>
          <a:noFill/>
        </p:spPr>
        <p:txBody>
          <a:bodyPr wrap="square">
            <a:spAutoFit/>
          </a:bodyPr>
          <a:lstStyle/>
          <a:p>
            <a:pPr marL="342900" indent="-342900">
              <a:lnSpc>
                <a:spcPct val="115000"/>
              </a:lnSpc>
              <a:spcAft>
                <a:spcPts val="800"/>
              </a:spcAft>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The central receives an advertisement, sends a scan request back to the peripheral.</a:t>
            </a:r>
          </a:p>
          <a:p>
            <a:pPr marL="342900" indent="-342900">
              <a:lnSpc>
                <a:spcPct val="115000"/>
              </a:lnSpc>
              <a:spcAft>
                <a:spcPts val="800"/>
              </a:spcAft>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The peripheral responds with a scan response packet with additional data (longer device name, more service UUIDs, </a:t>
            </a:r>
            <a:r>
              <a:rPr lang="en-US" sz="2400" dirty="0" err="1">
                <a:solidFill>
                  <a:srgbClr val="303642"/>
                </a:solidFill>
                <a:latin typeface="Poppins" panose="00000500000000000000" pitchFamily="2" charset="0"/>
                <a:cs typeface="Poppins" panose="00000500000000000000" pitchFamily="2" charset="0"/>
              </a:rPr>
              <a:t>etc</a:t>
            </a:r>
            <a:r>
              <a:rPr lang="en-US" sz="2400" dirty="0">
                <a:solidFill>
                  <a:srgbClr val="303642"/>
                </a:solidFill>
                <a:latin typeface="Poppins" panose="00000500000000000000" pitchFamily="2" charset="0"/>
                <a:cs typeface="Poppins" panose="00000500000000000000" pitchFamily="2" charset="0"/>
              </a:rPr>
              <a:t>).</a:t>
            </a:r>
          </a:p>
        </p:txBody>
      </p:sp>
      <p:pic>
        <p:nvPicPr>
          <p:cNvPr id="16" name="Picture 15">
            <a:extLst>
              <a:ext uri="{FF2B5EF4-FFF2-40B4-BE49-F238E27FC236}">
                <a16:creationId xmlns:a16="http://schemas.microsoft.com/office/drawing/2014/main" id="{36579EB6-4668-0CB7-0EB6-EC62EB7EB0FD}"/>
              </a:ext>
            </a:extLst>
          </p:cNvPr>
          <p:cNvPicPr>
            <a:picLocks noChangeAspect="1"/>
          </p:cNvPicPr>
          <p:nvPr/>
        </p:nvPicPr>
        <p:blipFill>
          <a:blip r:embed="rId3"/>
          <a:stretch>
            <a:fillRect/>
          </a:stretch>
        </p:blipFill>
        <p:spPr>
          <a:xfrm>
            <a:off x="3572605" y="5043858"/>
            <a:ext cx="11142789" cy="4443042"/>
          </a:xfrm>
          <a:prstGeom prst="rect">
            <a:avLst/>
          </a:prstGeom>
        </p:spPr>
      </p:pic>
    </p:spTree>
    <p:extLst>
      <p:ext uri="{BB962C8B-B14F-4D97-AF65-F5344CB8AC3E}">
        <p14:creationId xmlns:p14="http://schemas.microsoft.com/office/powerpoint/2010/main" val="319069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04A92-2E60-2E48-B1A2-9BAB0AB6D26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BF916A5-85C8-19A4-3AA2-4BBAF048EFB2}"/>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73319993-AF7D-B227-F433-F14E7986763E}"/>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3511B8E4-3CEF-4552-154F-45CA247F42C0}"/>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A5439812-8FCC-AC7C-D264-C4205D03865F}"/>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4" name="Slide Number Placeholder 3">
            <a:extLst>
              <a:ext uri="{FF2B5EF4-FFF2-40B4-BE49-F238E27FC236}">
                <a16:creationId xmlns:a16="http://schemas.microsoft.com/office/drawing/2014/main" id="{01F1459E-2083-CF33-2DFA-A6A8144381E0}"/>
              </a:ext>
            </a:extLst>
          </p:cNvPr>
          <p:cNvSpPr>
            <a:spLocks noGrp="1"/>
          </p:cNvSpPr>
          <p:nvPr>
            <p:ph type="sldNum" sz="quarter" idx="12"/>
          </p:nvPr>
        </p:nvSpPr>
        <p:spPr/>
        <p:txBody>
          <a:bodyPr/>
          <a:lstStyle/>
          <a:p>
            <a:fld id="{B6F15528-21DE-4FAA-801E-634DDDAF4B2B}" type="slidenum">
              <a:rPr lang="en-US" smtClean="0"/>
              <a:pPr/>
              <a:t>66</a:t>
            </a:fld>
            <a:endParaRPr lang="en-US" sz="1800"/>
          </a:p>
        </p:txBody>
      </p:sp>
      <p:sp>
        <p:nvSpPr>
          <p:cNvPr id="2" name="TextBox 1">
            <a:extLst>
              <a:ext uri="{FF2B5EF4-FFF2-40B4-BE49-F238E27FC236}">
                <a16:creationId xmlns:a16="http://schemas.microsoft.com/office/drawing/2014/main" id="{6577E842-D0E1-5A41-AD0F-B8DFE1F52517}"/>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Scanning behavior</a:t>
            </a:r>
          </a:p>
        </p:txBody>
      </p:sp>
      <p:sp>
        <p:nvSpPr>
          <p:cNvPr id="6" name="TextBox 7">
            <a:extLst>
              <a:ext uri="{FF2B5EF4-FFF2-40B4-BE49-F238E27FC236}">
                <a16:creationId xmlns:a16="http://schemas.microsoft.com/office/drawing/2014/main" id="{7CE20579-13A9-664F-300E-C8806EC24793}"/>
              </a:ext>
            </a:extLst>
          </p:cNvPr>
          <p:cNvSpPr txBox="1"/>
          <p:nvPr/>
        </p:nvSpPr>
        <p:spPr>
          <a:xfrm>
            <a:off x="975002" y="2095500"/>
            <a:ext cx="101501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Passive scanning</a:t>
            </a:r>
          </a:p>
        </p:txBody>
      </p:sp>
      <p:sp>
        <p:nvSpPr>
          <p:cNvPr id="14" name="TextBox 13">
            <a:extLst>
              <a:ext uri="{FF2B5EF4-FFF2-40B4-BE49-F238E27FC236}">
                <a16:creationId xmlns:a16="http://schemas.microsoft.com/office/drawing/2014/main" id="{7AF4298A-1265-5FA2-8E9C-7D738B5198FB}"/>
              </a:ext>
            </a:extLst>
          </p:cNvPr>
          <p:cNvSpPr txBox="1"/>
          <p:nvPr/>
        </p:nvSpPr>
        <p:spPr>
          <a:xfrm>
            <a:off x="975002" y="2933700"/>
            <a:ext cx="15636597" cy="1569660"/>
          </a:xfrm>
          <a:prstGeom prst="rect">
            <a:avLst/>
          </a:prstGeom>
          <a:noFill/>
        </p:spPr>
        <p:txBody>
          <a:bodyPr wrap="square">
            <a:spAutoFit/>
          </a:bodyPr>
          <a:lstStyle/>
          <a:p>
            <a:r>
              <a:rPr lang="en-US" sz="2400" dirty="0">
                <a:solidFill>
                  <a:srgbClr val="303642"/>
                </a:solidFill>
                <a:latin typeface="Poppins" panose="00000500000000000000" pitchFamily="2" charset="0"/>
                <a:cs typeface="Poppins" panose="00000500000000000000" pitchFamily="2" charset="0"/>
              </a:rPr>
              <a:t>The central monitors the advertising channels, logs whatever it receives, and moves on. </a:t>
            </a:r>
          </a:p>
          <a:p>
            <a:endParaRPr lang="en-US" sz="2400" dirty="0">
              <a:solidFill>
                <a:srgbClr val="303642"/>
              </a:solidFill>
              <a:latin typeface="Poppins" panose="00000500000000000000" pitchFamily="2" charset="0"/>
              <a:cs typeface="Poppins" panose="00000500000000000000" pitchFamily="2" charset="0"/>
            </a:endParaRPr>
          </a:p>
          <a:p>
            <a:r>
              <a:rPr lang="en-US" sz="2400" dirty="0">
                <a:solidFill>
                  <a:srgbClr val="303642"/>
                </a:solidFill>
                <a:latin typeface="Poppins" panose="00000500000000000000" pitchFamily="2" charset="0"/>
                <a:cs typeface="Poppins" panose="00000500000000000000" pitchFamily="2" charset="0"/>
              </a:rPr>
              <a:t>This is power-efficient and works perfectly when the advertising packet already contains everything we need to identify the device.</a:t>
            </a:r>
          </a:p>
        </p:txBody>
      </p:sp>
      <p:pic>
        <p:nvPicPr>
          <p:cNvPr id="7" name="Picture 6">
            <a:extLst>
              <a:ext uri="{FF2B5EF4-FFF2-40B4-BE49-F238E27FC236}">
                <a16:creationId xmlns:a16="http://schemas.microsoft.com/office/drawing/2014/main" id="{B426185D-3127-2809-4187-38C3850A6206}"/>
              </a:ext>
            </a:extLst>
          </p:cNvPr>
          <p:cNvPicPr>
            <a:picLocks noChangeAspect="1"/>
          </p:cNvPicPr>
          <p:nvPr/>
        </p:nvPicPr>
        <p:blipFill>
          <a:blip r:embed="rId3"/>
          <a:stretch>
            <a:fillRect/>
          </a:stretch>
        </p:blipFill>
        <p:spPr>
          <a:xfrm>
            <a:off x="3345377" y="5170110"/>
            <a:ext cx="10895845" cy="4327676"/>
          </a:xfrm>
          <a:prstGeom prst="rect">
            <a:avLst/>
          </a:prstGeom>
        </p:spPr>
      </p:pic>
      <p:grpSp>
        <p:nvGrpSpPr>
          <p:cNvPr id="25" name="Group 3">
            <a:extLst>
              <a:ext uri="{FF2B5EF4-FFF2-40B4-BE49-F238E27FC236}">
                <a16:creationId xmlns:a16="http://schemas.microsoft.com/office/drawing/2014/main" id="{84229DEB-0875-3AAD-A22D-52D52E7F1521}"/>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65B83F38-31C1-A3D6-81CB-05028A087142}"/>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019336D7-0A1B-DF10-8127-19C5F839F6CC}"/>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Tree>
    <p:extLst>
      <p:ext uri="{BB962C8B-B14F-4D97-AF65-F5344CB8AC3E}">
        <p14:creationId xmlns:p14="http://schemas.microsoft.com/office/powerpoint/2010/main" val="3129232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1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BC382-58E5-AEE3-3E75-1EA6E69B7E93}"/>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EE88A37F-5446-A8C2-B827-281001A9AA8F}"/>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D895AE67-C02D-46D2-4E9F-5AFCAC362196}"/>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6B0FA5DC-F49F-9BCE-65B9-89C198EAEF08}"/>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0AC07E8A-3D98-FD58-4DE2-764B13FA9F60}"/>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F7EDE652-39AA-7346-6F47-BCF0B7EB8949}"/>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DE769CCC-7EBD-903E-976C-7E70ED3C9EFE}"/>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3" name="Group 12">
            <a:extLst>
              <a:ext uri="{FF2B5EF4-FFF2-40B4-BE49-F238E27FC236}">
                <a16:creationId xmlns:a16="http://schemas.microsoft.com/office/drawing/2014/main" id="{0D0E6B4E-2EC0-2DE6-8A5E-EF883A514EBB}"/>
              </a:ext>
            </a:extLst>
          </p:cNvPr>
          <p:cNvGrpSpPr/>
          <p:nvPr/>
        </p:nvGrpSpPr>
        <p:grpSpPr>
          <a:xfrm>
            <a:off x="688551" y="2628899"/>
            <a:ext cx="16910897" cy="6689725"/>
            <a:chOff x="696805" y="1054173"/>
            <a:chExt cx="16894390" cy="4376144"/>
          </a:xfrm>
        </p:grpSpPr>
        <p:pic>
          <p:nvPicPr>
            <p:cNvPr id="6" name="Picture 2">
              <a:extLst>
                <a:ext uri="{FF2B5EF4-FFF2-40B4-BE49-F238E27FC236}">
                  <a16:creationId xmlns:a16="http://schemas.microsoft.com/office/drawing/2014/main" id="{1F0E8FA4-E99D-D818-05C8-16FC9CE03EDE}"/>
                </a:ext>
              </a:extLst>
            </p:cNvPr>
            <p:cNvPicPr>
              <a:picLocks noChangeAspect="1"/>
            </p:cNvPicPr>
            <p:nvPr>
              <p:custDataLst>
                <p:tags r:id="rId1"/>
              </p:custDataLst>
            </p:nvPr>
          </p:nvPicPr>
          <p:blipFill>
            <a:blip>
              <a:extLst>
                <a:ext uri="{96DAC541-7B7A-43D3-8B79-37D633B846F1}">
                  <asvg:svgBlip xmlns:asvg="http://schemas.microsoft.com/office/drawing/2016/SVG/main" r:embed="rId4"/>
                </a:ext>
              </a:extLst>
            </a:blip>
            <a:srcRect l="29063" t="555" r="28437" b="72050"/>
            <a:stretch>
              <a:fillRect/>
            </a:stretch>
          </p:blipFill>
          <p:spPr>
            <a:xfrm>
              <a:off x="696805" y="1054173"/>
              <a:ext cx="16894390" cy="4376144"/>
            </a:xfrm>
            <a:prstGeom prst="rect">
              <a:avLst/>
            </a:prstGeom>
          </p:spPr>
        </p:pic>
        <p:pic>
          <p:nvPicPr>
            <p:cNvPr id="8" name="Picture 7">
              <a:extLst>
                <a:ext uri="{FF2B5EF4-FFF2-40B4-BE49-F238E27FC236}">
                  <a16:creationId xmlns:a16="http://schemas.microsoft.com/office/drawing/2014/main" id="{67E439CE-50AF-3CD2-4EA4-6A1ADF8EE6B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886843" y="1714500"/>
              <a:ext cx="1067963" cy="1067963"/>
            </a:xfrm>
            <a:prstGeom prst="rect">
              <a:avLst/>
            </a:prstGeom>
          </p:spPr>
        </p:pic>
        <p:pic>
          <p:nvPicPr>
            <p:cNvPr id="10" name="Picture 9">
              <a:extLst>
                <a:ext uri="{FF2B5EF4-FFF2-40B4-BE49-F238E27FC236}">
                  <a16:creationId xmlns:a16="http://schemas.microsoft.com/office/drawing/2014/main" id="{F15AD7FF-B47A-479C-5F01-B88FA2A54FD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a:off x="4648200" y="2628900"/>
              <a:ext cx="2362200" cy="2362200"/>
            </a:xfrm>
            <a:prstGeom prst="rect">
              <a:avLst/>
            </a:prstGeom>
          </p:spPr>
        </p:pic>
        <p:pic>
          <p:nvPicPr>
            <p:cNvPr id="12" name="Picture 11">
              <a:extLst>
                <a:ext uri="{FF2B5EF4-FFF2-40B4-BE49-F238E27FC236}">
                  <a16:creationId xmlns:a16="http://schemas.microsoft.com/office/drawing/2014/main" id="{AB66BD58-FC62-653E-B9EE-2D0490CBE9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696200" y="1562100"/>
              <a:ext cx="838200" cy="838200"/>
            </a:xfrm>
            <a:prstGeom prst="rect">
              <a:avLst/>
            </a:prstGeom>
          </p:spPr>
        </p:pic>
      </p:grpSp>
      <p:sp>
        <p:nvSpPr>
          <p:cNvPr id="9" name="Slide Number Placeholder 8">
            <a:extLst>
              <a:ext uri="{FF2B5EF4-FFF2-40B4-BE49-F238E27FC236}">
                <a16:creationId xmlns:a16="http://schemas.microsoft.com/office/drawing/2014/main" id="{2A439066-7778-A3E1-93C7-A8152290D670}"/>
              </a:ext>
            </a:extLst>
          </p:cNvPr>
          <p:cNvSpPr>
            <a:spLocks noGrp="1"/>
          </p:cNvSpPr>
          <p:nvPr>
            <p:ph type="sldNum" sz="quarter" idx="12"/>
          </p:nvPr>
        </p:nvSpPr>
        <p:spPr/>
        <p:txBody>
          <a:bodyPr/>
          <a:lstStyle/>
          <a:p>
            <a:fld id="{B6F15528-21DE-4FAA-801E-634DDDAF4B2B}" type="slidenum">
              <a:rPr lang="en-US" smtClean="0"/>
              <a:pPr/>
              <a:t>67</a:t>
            </a:fld>
            <a:endParaRPr lang="en-US" sz="1800"/>
          </a:p>
        </p:txBody>
      </p:sp>
      <p:sp>
        <p:nvSpPr>
          <p:cNvPr id="2" name="TextBox 1">
            <a:extLst>
              <a:ext uri="{FF2B5EF4-FFF2-40B4-BE49-F238E27FC236}">
                <a16:creationId xmlns:a16="http://schemas.microsoft.com/office/drawing/2014/main" id="{428C93C7-3ABD-3763-8BAF-2FC91422DF1D}"/>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BLE Communication Flow Using ESP32</a:t>
            </a:r>
          </a:p>
        </p:txBody>
      </p:sp>
    </p:spTree>
    <p:extLst>
      <p:ext uri="{BB962C8B-B14F-4D97-AF65-F5344CB8AC3E}">
        <p14:creationId xmlns:p14="http://schemas.microsoft.com/office/powerpoint/2010/main" val="669495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7B7CD-625B-2A1D-491B-6CEDC4624007}"/>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482DBB0F-2316-A954-B3D5-85B7EED20560}"/>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0C09B061-FB86-D6F1-24BA-3FF342754685}"/>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9DE6DBDD-4A6D-1CE7-3C3B-49B01512BD55}"/>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E406BAF9-FB83-D3A0-4183-8D5C809D4072}"/>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94195EB5-BFCB-29CD-C214-44FDD2693D9C}"/>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A29B94A4-A227-9BC2-8774-A55B86670404}"/>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Slide Number Placeholder 8">
            <a:extLst>
              <a:ext uri="{FF2B5EF4-FFF2-40B4-BE49-F238E27FC236}">
                <a16:creationId xmlns:a16="http://schemas.microsoft.com/office/drawing/2014/main" id="{4B4E88A3-EBCD-3A76-209B-D7A3C6BB4221}"/>
              </a:ext>
            </a:extLst>
          </p:cNvPr>
          <p:cNvSpPr>
            <a:spLocks noGrp="1"/>
          </p:cNvSpPr>
          <p:nvPr>
            <p:ph type="sldNum" sz="quarter" idx="12"/>
          </p:nvPr>
        </p:nvSpPr>
        <p:spPr/>
        <p:txBody>
          <a:bodyPr/>
          <a:lstStyle/>
          <a:p>
            <a:fld id="{B6F15528-21DE-4FAA-801E-634DDDAF4B2B}" type="slidenum">
              <a:rPr lang="en-US" smtClean="0"/>
              <a:pPr/>
              <a:t>68</a:t>
            </a:fld>
            <a:endParaRPr lang="en-US" sz="1800"/>
          </a:p>
        </p:txBody>
      </p:sp>
      <p:sp>
        <p:nvSpPr>
          <p:cNvPr id="2" name="TextBox 1">
            <a:extLst>
              <a:ext uri="{FF2B5EF4-FFF2-40B4-BE49-F238E27FC236}">
                <a16:creationId xmlns:a16="http://schemas.microsoft.com/office/drawing/2014/main" id="{60718A78-9C19-0295-BB89-BC39CFDE42C9}"/>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Connection behavior</a:t>
            </a:r>
          </a:p>
        </p:txBody>
      </p:sp>
      <p:sp>
        <p:nvSpPr>
          <p:cNvPr id="8" name="TextBox 7">
            <a:extLst>
              <a:ext uri="{FF2B5EF4-FFF2-40B4-BE49-F238E27FC236}">
                <a16:creationId xmlns:a16="http://schemas.microsoft.com/office/drawing/2014/main" id="{F21E40CB-446B-F588-F5CF-EDFBE20F33BF}"/>
              </a:ext>
            </a:extLst>
          </p:cNvPr>
          <p:cNvSpPr txBox="1"/>
          <p:nvPr/>
        </p:nvSpPr>
        <p:spPr>
          <a:xfrm>
            <a:off x="975002" y="2941845"/>
            <a:ext cx="14112598" cy="921791"/>
          </a:xfrm>
          <a:prstGeom prst="rect">
            <a:avLst/>
          </a:prstGeom>
          <a:noFill/>
        </p:spPr>
        <p:txBody>
          <a:bodyPr wrap="square">
            <a:spAutoFit/>
          </a:bodyPr>
          <a:lstStyle/>
          <a:p>
            <a:pPr>
              <a:lnSpc>
                <a:spcPct val="115000"/>
              </a:lnSpc>
              <a:spcAft>
                <a:spcPts val="800"/>
              </a:spcAft>
            </a:pPr>
            <a:r>
              <a:rPr lang="en-US" sz="2400" dirty="0">
                <a:solidFill>
                  <a:srgbClr val="303642"/>
                </a:solidFill>
                <a:latin typeface="Poppins" panose="00000500000000000000" pitchFamily="2" charset="0"/>
                <a:cs typeface="Poppins" panose="00000500000000000000" pitchFamily="2" charset="0"/>
              </a:rPr>
              <a:t>Once the central finds the peripheral, it sends a connection request containing a set of connection parameters that define how the two devices will communicate:</a:t>
            </a:r>
          </a:p>
        </p:txBody>
      </p:sp>
      <p:sp>
        <p:nvSpPr>
          <p:cNvPr id="19" name="TextBox 18">
            <a:extLst>
              <a:ext uri="{FF2B5EF4-FFF2-40B4-BE49-F238E27FC236}">
                <a16:creationId xmlns:a16="http://schemas.microsoft.com/office/drawing/2014/main" id="{C4DB17F4-D789-369E-BD1F-784286DC7C43}"/>
              </a:ext>
            </a:extLst>
          </p:cNvPr>
          <p:cNvSpPr txBox="1"/>
          <p:nvPr/>
        </p:nvSpPr>
        <p:spPr>
          <a:xfrm>
            <a:off x="975002" y="4200000"/>
            <a:ext cx="14112598" cy="3455818"/>
          </a:xfrm>
          <a:prstGeom prst="rect">
            <a:avLst/>
          </a:prstGeom>
          <a:noFill/>
        </p:spPr>
        <p:txBody>
          <a:bodyPr wrap="square">
            <a:spAutoFit/>
          </a:bodyPr>
          <a:lstStyle/>
          <a:p>
            <a:pPr marL="342900" indent="-342900">
              <a:lnSpc>
                <a:spcPct val="115000"/>
              </a:lnSpc>
              <a:spcAft>
                <a:spcPts val="800"/>
              </a:spcAft>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Connection interval: </a:t>
            </a:r>
            <a:r>
              <a:rPr lang="en-US" sz="2400" dirty="0">
                <a:solidFill>
                  <a:srgbClr val="303642"/>
                </a:solidFill>
                <a:latin typeface="Poppins" panose="00000500000000000000" pitchFamily="2" charset="0"/>
                <a:cs typeface="Poppins" panose="00000500000000000000" pitchFamily="2" charset="0"/>
              </a:rPr>
              <a:t>How often they’ll exchange data (7.5ms to 4s, 1.25ms steps).</a:t>
            </a:r>
          </a:p>
          <a:p>
            <a:pPr marL="342900" indent="-342900">
              <a:lnSpc>
                <a:spcPct val="115000"/>
              </a:lnSpc>
              <a:spcAft>
                <a:spcPts val="800"/>
              </a:spcAft>
              <a:buFont typeface="Arial" panose="020B0604020202020204" pitchFamily="34" charset="0"/>
              <a:buChar char="•"/>
            </a:pPr>
            <a:endParaRPr lang="en-US" sz="2400" dirty="0">
              <a:solidFill>
                <a:srgbClr val="303642"/>
              </a:solidFill>
              <a:latin typeface="Poppins" panose="00000500000000000000" pitchFamily="2" charset="0"/>
              <a:cs typeface="Poppins" panose="00000500000000000000" pitchFamily="2" charset="0"/>
            </a:endParaRPr>
          </a:p>
          <a:p>
            <a:pPr marL="342900" indent="-342900">
              <a:lnSpc>
                <a:spcPct val="115000"/>
              </a:lnSpc>
              <a:spcAft>
                <a:spcPts val="800"/>
              </a:spcAft>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Peripheral latency: </a:t>
            </a:r>
            <a:r>
              <a:rPr lang="en-US" sz="2400" dirty="0">
                <a:solidFill>
                  <a:srgbClr val="303642"/>
                </a:solidFill>
                <a:latin typeface="Poppins" panose="00000500000000000000" pitchFamily="2" charset="0"/>
                <a:cs typeface="Poppins" panose="00000500000000000000" pitchFamily="2" charset="0"/>
              </a:rPr>
              <a:t>How many communication events the peripheral can skip when idle (0-499)</a:t>
            </a:r>
          </a:p>
          <a:p>
            <a:pPr marL="342900" indent="-342900">
              <a:lnSpc>
                <a:spcPct val="115000"/>
              </a:lnSpc>
              <a:spcAft>
                <a:spcPts val="800"/>
              </a:spcAft>
              <a:buFont typeface="Arial" panose="020B0604020202020204" pitchFamily="34" charset="0"/>
              <a:buChar char="•"/>
            </a:pPr>
            <a:endParaRPr lang="en-US" sz="2400" dirty="0">
              <a:solidFill>
                <a:srgbClr val="303642"/>
              </a:solidFill>
              <a:latin typeface="Poppins" panose="00000500000000000000" pitchFamily="2" charset="0"/>
              <a:cs typeface="Poppins" panose="00000500000000000000" pitchFamily="2" charset="0"/>
            </a:endParaRPr>
          </a:p>
          <a:p>
            <a:pPr marL="342900" indent="-342900">
              <a:lnSpc>
                <a:spcPct val="115000"/>
              </a:lnSpc>
              <a:spcAft>
                <a:spcPts val="800"/>
              </a:spcAft>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Supervision timeout: </a:t>
            </a:r>
            <a:r>
              <a:rPr lang="en-US" sz="2400" dirty="0">
                <a:solidFill>
                  <a:srgbClr val="303642"/>
                </a:solidFill>
                <a:latin typeface="Poppins" panose="00000500000000000000" pitchFamily="2" charset="0"/>
                <a:cs typeface="Poppins" panose="00000500000000000000" pitchFamily="2" charset="0"/>
              </a:rPr>
              <a:t>How long without hearing from the peripheral before considering the connection lost (100ms to 32 seconds)</a:t>
            </a:r>
          </a:p>
        </p:txBody>
      </p:sp>
    </p:spTree>
    <p:extLst>
      <p:ext uri="{BB962C8B-B14F-4D97-AF65-F5344CB8AC3E}">
        <p14:creationId xmlns:p14="http://schemas.microsoft.com/office/powerpoint/2010/main" val="2143830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F4B3E-A0B7-65C7-7685-AAEEBC123126}"/>
            </a:ext>
          </a:extLst>
        </p:cNvPr>
        <p:cNvGrpSpPr/>
        <p:nvPr/>
      </p:nvGrpSpPr>
      <p:grpSpPr>
        <a:xfrm>
          <a:off x="0" y="0"/>
          <a:ext cx="0" cy="0"/>
          <a:chOff x="0" y="0"/>
          <a:chExt cx="0" cy="0"/>
        </a:xfrm>
      </p:grpSpPr>
      <p:grpSp>
        <p:nvGrpSpPr>
          <p:cNvPr id="15" name="Group 3">
            <a:extLst>
              <a:ext uri="{FF2B5EF4-FFF2-40B4-BE49-F238E27FC236}">
                <a16:creationId xmlns:a16="http://schemas.microsoft.com/office/drawing/2014/main" id="{0494B718-10D7-483B-85C9-96386097CD29}"/>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71B57AD1-8AF5-ABF9-0D64-1FC2CD3DC07C}"/>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BB9A5A06-0A69-5E50-B6CD-2AD88DA42F8F}"/>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4" name="Slide Number Placeholder 3">
            <a:extLst>
              <a:ext uri="{FF2B5EF4-FFF2-40B4-BE49-F238E27FC236}">
                <a16:creationId xmlns:a16="http://schemas.microsoft.com/office/drawing/2014/main" id="{CDAE7011-0181-88B9-C5F2-DB537F913954}"/>
              </a:ext>
            </a:extLst>
          </p:cNvPr>
          <p:cNvSpPr>
            <a:spLocks noGrp="1"/>
          </p:cNvSpPr>
          <p:nvPr>
            <p:ph type="sldNum" sz="quarter" idx="12"/>
          </p:nvPr>
        </p:nvSpPr>
        <p:spPr/>
        <p:txBody>
          <a:bodyPr/>
          <a:lstStyle/>
          <a:p>
            <a:fld id="{B6F15528-21DE-4FAA-801E-634DDDAF4B2B}" type="slidenum">
              <a:rPr lang="en-US" smtClean="0"/>
              <a:pPr/>
              <a:t>69</a:t>
            </a:fld>
            <a:endParaRPr lang="en-US" sz="1800"/>
          </a:p>
        </p:txBody>
      </p:sp>
      <p:sp>
        <p:nvSpPr>
          <p:cNvPr id="2" name="TextBox 1">
            <a:extLst>
              <a:ext uri="{FF2B5EF4-FFF2-40B4-BE49-F238E27FC236}">
                <a16:creationId xmlns:a16="http://schemas.microsoft.com/office/drawing/2014/main" id="{556ADC70-473B-1AD6-1D4A-D166BA80174E}"/>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Connection behavior</a:t>
            </a:r>
          </a:p>
        </p:txBody>
      </p:sp>
      <p:sp>
        <p:nvSpPr>
          <p:cNvPr id="6" name="TextBox 7">
            <a:extLst>
              <a:ext uri="{FF2B5EF4-FFF2-40B4-BE49-F238E27FC236}">
                <a16:creationId xmlns:a16="http://schemas.microsoft.com/office/drawing/2014/main" id="{44686E21-24DA-3FDA-CAB7-9CCA4B8228D1}"/>
              </a:ext>
            </a:extLst>
          </p:cNvPr>
          <p:cNvSpPr txBox="1"/>
          <p:nvPr/>
        </p:nvSpPr>
        <p:spPr>
          <a:xfrm>
            <a:off x="975002" y="2095500"/>
            <a:ext cx="14264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How to Pick the Right Connection Interval</a:t>
            </a:r>
          </a:p>
        </p:txBody>
      </p:sp>
      <p:grpSp>
        <p:nvGrpSpPr>
          <p:cNvPr id="25" name="Group 3">
            <a:extLst>
              <a:ext uri="{FF2B5EF4-FFF2-40B4-BE49-F238E27FC236}">
                <a16:creationId xmlns:a16="http://schemas.microsoft.com/office/drawing/2014/main" id="{C41941BA-3B9E-CF1C-B742-5DB5B2F8AE5D}"/>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8B36293F-820E-AEEA-29E8-59AEE3DFDEE2}"/>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394CDE16-9333-F0C9-EDEE-98D44B5F1C71}"/>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9" name="Group 8">
            <a:extLst>
              <a:ext uri="{FF2B5EF4-FFF2-40B4-BE49-F238E27FC236}">
                <a16:creationId xmlns:a16="http://schemas.microsoft.com/office/drawing/2014/main" id="{924A0B28-EEA5-ABEE-AB31-EEF5905BECC7}"/>
              </a:ext>
            </a:extLst>
          </p:cNvPr>
          <p:cNvGrpSpPr/>
          <p:nvPr/>
        </p:nvGrpSpPr>
        <p:grpSpPr>
          <a:xfrm>
            <a:off x="1127402" y="3467100"/>
            <a:ext cx="16398598" cy="1200329"/>
            <a:chOff x="1127402" y="3467100"/>
            <a:chExt cx="16398598" cy="1200329"/>
          </a:xfrm>
        </p:grpSpPr>
        <p:sp>
          <p:nvSpPr>
            <p:cNvPr id="3" name="TextBox 2">
              <a:extLst>
                <a:ext uri="{FF2B5EF4-FFF2-40B4-BE49-F238E27FC236}">
                  <a16:creationId xmlns:a16="http://schemas.microsoft.com/office/drawing/2014/main" id="{8FA9132C-140B-3ADE-2388-5833E5ABF23D}"/>
                </a:ext>
              </a:extLst>
            </p:cNvPr>
            <p:cNvSpPr txBox="1"/>
            <p:nvPr/>
          </p:nvSpPr>
          <p:spPr>
            <a:xfrm>
              <a:off x="1127402" y="3467100"/>
              <a:ext cx="4739998" cy="461665"/>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Short intervals (7.5-20ms)</a:t>
              </a:r>
              <a:r>
                <a:rPr lang="en-US" sz="2400" dirty="0">
                  <a:solidFill>
                    <a:srgbClr val="303642"/>
                  </a:solidFill>
                  <a:latin typeface="Poppins" panose="00000500000000000000" pitchFamily="2" charset="0"/>
                  <a:cs typeface="Poppins" panose="00000500000000000000" pitchFamily="2" charset="0"/>
                </a:rPr>
                <a:t>:</a:t>
              </a:r>
            </a:p>
          </p:txBody>
        </p:sp>
        <p:sp>
          <p:nvSpPr>
            <p:cNvPr id="8" name="TextBox 7">
              <a:extLst>
                <a:ext uri="{FF2B5EF4-FFF2-40B4-BE49-F238E27FC236}">
                  <a16:creationId xmlns:a16="http://schemas.microsoft.com/office/drawing/2014/main" id="{E3D5F0EA-26B1-A8FC-475B-C6169346C5B4}"/>
                </a:ext>
              </a:extLst>
            </p:cNvPr>
            <p:cNvSpPr txBox="1"/>
            <p:nvPr/>
          </p:nvSpPr>
          <p:spPr>
            <a:xfrm>
              <a:off x="6400800" y="3467100"/>
              <a:ext cx="11125200" cy="1200329"/>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High throughput (firmware updates, audio streaming).</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Latency matters (medical devices with real-time feedback).</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The devices are plugged in or battery life isn’t the primary constraint.</a:t>
              </a:r>
            </a:p>
          </p:txBody>
        </p:sp>
      </p:grpSp>
      <p:grpSp>
        <p:nvGrpSpPr>
          <p:cNvPr id="10" name="Group 9">
            <a:extLst>
              <a:ext uri="{FF2B5EF4-FFF2-40B4-BE49-F238E27FC236}">
                <a16:creationId xmlns:a16="http://schemas.microsoft.com/office/drawing/2014/main" id="{3FA8F64D-AE1A-4450-4289-FC009A992779}"/>
              </a:ext>
            </a:extLst>
          </p:cNvPr>
          <p:cNvGrpSpPr/>
          <p:nvPr/>
        </p:nvGrpSpPr>
        <p:grpSpPr>
          <a:xfrm>
            <a:off x="1127443" y="5163646"/>
            <a:ext cx="16071255" cy="1200329"/>
            <a:chOff x="1127402" y="3467100"/>
            <a:chExt cx="16071255" cy="1200329"/>
          </a:xfrm>
        </p:grpSpPr>
        <p:sp>
          <p:nvSpPr>
            <p:cNvPr id="11" name="TextBox 10">
              <a:extLst>
                <a:ext uri="{FF2B5EF4-FFF2-40B4-BE49-F238E27FC236}">
                  <a16:creationId xmlns:a16="http://schemas.microsoft.com/office/drawing/2014/main" id="{A03473B6-B401-9DE5-A8DA-60A21832C67A}"/>
                </a:ext>
              </a:extLst>
            </p:cNvPr>
            <p:cNvSpPr txBox="1"/>
            <p:nvPr/>
          </p:nvSpPr>
          <p:spPr>
            <a:xfrm>
              <a:off x="1127402" y="3467100"/>
              <a:ext cx="5273357" cy="461665"/>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Medium intervals (20-100ms)</a:t>
              </a:r>
              <a:r>
                <a:rPr lang="en-US" sz="2400" dirty="0">
                  <a:solidFill>
                    <a:srgbClr val="303642"/>
                  </a:solidFill>
                  <a:latin typeface="Poppins" panose="00000500000000000000" pitchFamily="2" charset="0"/>
                  <a:cs typeface="Poppins" panose="00000500000000000000" pitchFamily="2" charset="0"/>
                </a:rPr>
                <a:t>:</a:t>
              </a:r>
            </a:p>
          </p:txBody>
        </p:sp>
        <p:sp>
          <p:nvSpPr>
            <p:cNvPr id="12" name="TextBox 11">
              <a:extLst>
                <a:ext uri="{FF2B5EF4-FFF2-40B4-BE49-F238E27FC236}">
                  <a16:creationId xmlns:a16="http://schemas.microsoft.com/office/drawing/2014/main" id="{98C3EB46-58AA-821A-A381-E5F560F1C572}"/>
                </a:ext>
              </a:extLst>
            </p:cNvPr>
            <p:cNvSpPr txBox="1"/>
            <p:nvPr/>
          </p:nvSpPr>
          <p:spPr>
            <a:xfrm>
              <a:off x="6313673" y="3467100"/>
              <a:ext cx="10884984" cy="1200329"/>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Moderate throughput (fitness data during a workout).</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Occasional responsiveness is important but not real-time.</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Balancing battery life with user experience.</a:t>
              </a:r>
            </a:p>
          </p:txBody>
        </p:sp>
      </p:grpSp>
      <p:grpSp>
        <p:nvGrpSpPr>
          <p:cNvPr id="13" name="Group 12">
            <a:extLst>
              <a:ext uri="{FF2B5EF4-FFF2-40B4-BE49-F238E27FC236}">
                <a16:creationId xmlns:a16="http://schemas.microsoft.com/office/drawing/2014/main" id="{BB562658-8D8B-40FC-3981-E4E5C2D51B88}"/>
              </a:ext>
            </a:extLst>
          </p:cNvPr>
          <p:cNvGrpSpPr/>
          <p:nvPr/>
        </p:nvGrpSpPr>
        <p:grpSpPr>
          <a:xfrm>
            <a:off x="1113692" y="6992446"/>
            <a:ext cx="16325179" cy="830997"/>
            <a:chOff x="1127402" y="3467100"/>
            <a:chExt cx="16325179" cy="830997"/>
          </a:xfrm>
        </p:grpSpPr>
        <p:sp>
          <p:nvSpPr>
            <p:cNvPr id="16" name="TextBox 15">
              <a:extLst>
                <a:ext uri="{FF2B5EF4-FFF2-40B4-BE49-F238E27FC236}">
                  <a16:creationId xmlns:a16="http://schemas.microsoft.com/office/drawing/2014/main" id="{2757EE34-DD65-BC76-D9C6-E1D0754CD609}"/>
                </a:ext>
              </a:extLst>
            </p:cNvPr>
            <p:cNvSpPr txBox="1"/>
            <p:nvPr/>
          </p:nvSpPr>
          <p:spPr>
            <a:xfrm>
              <a:off x="1127402" y="3467100"/>
              <a:ext cx="4739957" cy="461665"/>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Long intervals (100ms+)</a:t>
              </a:r>
              <a:r>
                <a:rPr lang="en-US" sz="2400" dirty="0">
                  <a:solidFill>
                    <a:srgbClr val="303642"/>
                  </a:solidFill>
                  <a:latin typeface="Poppins" panose="00000500000000000000" pitchFamily="2" charset="0"/>
                  <a:cs typeface="Poppins" panose="00000500000000000000" pitchFamily="2" charset="0"/>
                </a:rPr>
                <a:t>:</a:t>
              </a:r>
            </a:p>
          </p:txBody>
        </p:sp>
        <p:sp>
          <p:nvSpPr>
            <p:cNvPr id="17" name="TextBox 16">
              <a:extLst>
                <a:ext uri="{FF2B5EF4-FFF2-40B4-BE49-F238E27FC236}">
                  <a16:creationId xmlns:a16="http://schemas.microsoft.com/office/drawing/2014/main" id="{B4D0547A-31B3-C09A-0B2E-3A877C77C251}"/>
                </a:ext>
              </a:extLst>
            </p:cNvPr>
            <p:cNvSpPr txBox="1"/>
            <p:nvPr/>
          </p:nvSpPr>
          <p:spPr>
            <a:xfrm>
              <a:off x="6327382" y="3467100"/>
              <a:ext cx="11125199" cy="830997"/>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Sending infrequent data (temperature readings every few seconds).</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Battery life is the primary constraint.</a:t>
              </a:r>
            </a:p>
          </p:txBody>
        </p:sp>
      </p:grpSp>
    </p:spTree>
    <p:extLst>
      <p:ext uri="{BB962C8B-B14F-4D97-AF65-F5344CB8AC3E}">
        <p14:creationId xmlns:p14="http://schemas.microsoft.com/office/powerpoint/2010/main" val="2513402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DB445-EDC9-CB1C-820D-5F46A79496F6}"/>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1FE463C6-489F-0545-288E-0AB4E67F42E3}"/>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8977BC7B-1F45-637E-035C-3121D426D1BF}"/>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192D13E5-0BBF-2A95-8D57-688E6AF6D9B2}"/>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9F0CEC44-22F5-A88C-A5BC-F6198F438A5C}"/>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02BAAE18-61FD-2CA6-20DA-AACEC59F57A3}"/>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AB5ECCB1-83D8-A08A-3CCB-199C631EFD01}"/>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Slide Number Placeholder 8">
            <a:extLst>
              <a:ext uri="{FF2B5EF4-FFF2-40B4-BE49-F238E27FC236}">
                <a16:creationId xmlns:a16="http://schemas.microsoft.com/office/drawing/2014/main" id="{83671A66-FFE4-2463-7923-C1CFBE2C41F4}"/>
              </a:ext>
            </a:extLst>
          </p:cNvPr>
          <p:cNvSpPr>
            <a:spLocks noGrp="1"/>
          </p:cNvSpPr>
          <p:nvPr>
            <p:ph type="sldNum" sz="quarter" idx="12"/>
          </p:nvPr>
        </p:nvSpPr>
        <p:spPr/>
        <p:txBody>
          <a:bodyPr/>
          <a:lstStyle/>
          <a:p>
            <a:fld id="{B6F15528-21DE-4FAA-801E-634DDDAF4B2B}" type="slidenum">
              <a:rPr lang="en-US" smtClean="0"/>
              <a:pPr/>
              <a:t>70</a:t>
            </a:fld>
            <a:endParaRPr lang="en-US" sz="1800"/>
          </a:p>
        </p:txBody>
      </p:sp>
      <p:sp>
        <p:nvSpPr>
          <p:cNvPr id="2" name="TextBox 1">
            <a:extLst>
              <a:ext uri="{FF2B5EF4-FFF2-40B4-BE49-F238E27FC236}">
                <a16:creationId xmlns:a16="http://schemas.microsoft.com/office/drawing/2014/main" id="{36F93EF3-C716-D5AA-F00C-D3579E99B726}"/>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Connection behavior</a:t>
            </a:r>
          </a:p>
        </p:txBody>
      </p:sp>
      <p:sp>
        <p:nvSpPr>
          <p:cNvPr id="8" name="TextBox 7">
            <a:extLst>
              <a:ext uri="{FF2B5EF4-FFF2-40B4-BE49-F238E27FC236}">
                <a16:creationId xmlns:a16="http://schemas.microsoft.com/office/drawing/2014/main" id="{5E6130FF-8FF3-AC67-8CFF-A20C3D34FFB2}"/>
              </a:ext>
            </a:extLst>
          </p:cNvPr>
          <p:cNvSpPr txBox="1"/>
          <p:nvPr/>
        </p:nvSpPr>
        <p:spPr>
          <a:xfrm>
            <a:off x="2422801" y="3113998"/>
            <a:ext cx="14112598" cy="1551707"/>
          </a:xfrm>
          <a:prstGeom prst="rect">
            <a:avLst/>
          </a:prstGeom>
          <a:noFill/>
        </p:spPr>
        <p:txBody>
          <a:bodyPr wrap="square">
            <a:spAutoFit/>
          </a:bodyPr>
          <a:lstStyle/>
          <a:p>
            <a:pPr>
              <a:lnSpc>
                <a:spcPct val="115000"/>
              </a:lnSpc>
              <a:spcAft>
                <a:spcPts val="800"/>
              </a:spcAft>
            </a:pPr>
            <a:r>
              <a:rPr lang="en-US" sz="2400" b="1" dirty="0">
                <a:solidFill>
                  <a:srgbClr val="303642"/>
                </a:solidFill>
                <a:latin typeface="Poppins" panose="00000500000000000000" pitchFamily="2" charset="0"/>
                <a:cs typeface="Poppins" panose="00000500000000000000" pitchFamily="2" charset="0"/>
              </a:rPr>
              <a:t>If the interval is too short:</a:t>
            </a:r>
          </a:p>
          <a:p>
            <a:pPr marL="342900" indent="-342900">
              <a:lnSpc>
                <a:spcPct val="115000"/>
              </a:lnSpc>
              <a:spcAft>
                <a:spcPts val="800"/>
              </a:spcAft>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Battery drains faster than expected.</a:t>
            </a:r>
          </a:p>
          <a:p>
            <a:pPr marL="342900" indent="-342900">
              <a:lnSpc>
                <a:spcPct val="115000"/>
              </a:lnSpc>
              <a:spcAft>
                <a:spcPts val="800"/>
              </a:spcAft>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The OS might override some parameters to protect battery life.</a:t>
            </a:r>
          </a:p>
        </p:txBody>
      </p:sp>
      <p:sp>
        <p:nvSpPr>
          <p:cNvPr id="6" name="TextBox 7">
            <a:extLst>
              <a:ext uri="{FF2B5EF4-FFF2-40B4-BE49-F238E27FC236}">
                <a16:creationId xmlns:a16="http://schemas.microsoft.com/office/drawing/2014/main" id="{EB15534B-2881-0BF0-52B4-FBFE0E490571}"/>
              </a:ext>
            </a:extLst>
          </p:cNvPr>
          <p:cNvSpPr txBox="1"/>
          <p:nvPr/>
        </p:nvSpPr>
        <p:spPr>
          <a:xfrm>
            <a:off x="975002" y="2095500"/>
            <a:ext cx="14264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How to Pick the Right Connection Interval for Your Use Case</a:t>
            </a:r>
          </a:p>
        </p:txBody>
      </p:sp>
      <p:pic>
        <p:nvPicPr>
          <p:cNvPr id="10" name="Graphic 9" descr="Warning with solid fill">
            <a:extLst>
              <a:ext uri="{FF2B5EF4-FFF2-40B4-BE49-F238E27FC236}">
                <a16:creationId xmlns:a16="http://schemas.microsoft.com/office/drawing/2014/main" id="{A7645553-9B11-003E-777B-CAA70D6D9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8391" y="3432651"/>
            <a:ext cx="842318" cy="914400"/>
          </a:xfrm>
          <a:prstGeom prst="rect">
            <a:avLst/>
          </a:prstGeom>
        </p:spPr>
      </p:pic>
      <p:sp>
        <p:nvSpPr>
          <p:cNvPr id="11" name="TextBox 10">
            <a:extLst>
              <a:ext uri="{FF2B5EF4-FFF2-40B4-BE49-F238E27FC236}">
                <a16:creationId xmlns:a16="http://schemas.microsoft.com/office/drawing/2014/main" id="{A3E178E4-9F59-FC82-CCD5-6F781F8B78A0}"/>
              </a:ext>
            </a:extLst>
          </p:cNvPr>
          <p:cNvSpPr txBox="1"/>
          <p:nvPr/>
        </p:nvSpPr>
        <p:spPr>
          <a:xfrm>
            <a:off x="2422801" y="5583196"/>
            <a:ext cx="14112598" cy="2079031"/>
          </a:xfrm>
          <a:prstGeom prst="rect">
            <a:avLst/>
          </a:prstGeom>
          <a:noFill/>
        </p:spPr>
        <p:txBody>
          <a:bodyPr wrap="square">
            <a:spAutoFit/>
          </a:bodyPr>
          <a:lstStyle/>
          <a:p>
            <a:pPr>
              <a:lnSpc>
                <a:spcPct val="115000"/>
              </a:lnSpc>
              <a:spcAft>
                <a:spcPts val="800"/>
              </a:spcAft>
            </a:pPr>
            <a:r>
              <a:rPr lang="en-US" sz="2400" b="1" dirty="0">
                <a:solidFill>
                  <a:srgbClr val="303642"/>
                </a:solidFill>
                <a:latin typeface="Poppins" panose="00000500000000000000" pitchFamily="2" charset="0"/>
                <a:cs typeface="Poppins" panose="00000500000000000000" pitchFamily="2" charset="0"/>
              </a:rPr>
              <a:t>If the interval is too long:</a:t>
            </a:r>
          </a:p>
          <a:p>
            <a:pPr marL="342900" indent="-342900">
              <a:lnSpc>
                <a:spcPct val="115000"/>
              </a:lnSpc>
              <a:spcAft>
                <a:spcPts val="800"/>
              </a:spcAft>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Users perceive lag when interacting with the device.</a:t>
            </a:r>
          </a:p>
          <a:p>
            <a:pPr marL="342900" indent="-342900">
              <a:lnSpc>
                <a:spcPct val="115000"/>
              </a:lnSpc>
              <a:spcAft>
                <a:spcPts val="800"/>
              </a:spcAft>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Throughput is lower than needed (firmware updates take forever).</a:t>
            </a:r>
          </a:p>
          <a:p>
            <a:pPr marL="342900" indent="-342900">
              <a:lnSpc>
                <a:spcPct val="115000"/>
              </a:lnSpc>
              <a:spcAft>
                <a:spcPts val="800"/>
              </a:spcAft>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Notifications and indications feel sluggish.</a:t>
            </a:r>
          </a:p>
        </p:txBody>
      </p:sp>
      <p:pic>
        <p:nvPicPr>
          <p:cNvPr id="13" name="Graphic 12" descr="Warning with solid fill">
            <a:extLst>
              <a:ext uri="{FF2B5EF4-FFF2-40B4-BE49-F238E27FC236}">
                <a16:creationId xmlns:a16="http://schemas.microsoft.com/office/drawing/2014/main" id="{E8F1CEBF-CEA9-D146-0876-6BC0503E8E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8391" y="6165511"/>
            <a:ext cx="842318" cy="914400"/>
          </a:xfrm>
          <a:prstGeom prst="rect">
            <a:avLst/>
          </a:prstGeom>
        </p:spPr>
      </p:pic>
    </p:spTree>
    <p:extLst>
      <p:ext uri="{BB962C8B-B14F-4D97-AF65-F5344CB8AC3E}">
        <p14:creationId xmlns:p14="http://schemas.microsoft.com/office/powerpoint/2010/main" val="3238704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6" grpId="0"/>
      <p:bldP spid="1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B5D11-04A6-9211-0D3B-FD6153EDC9BD}"/>
            </a:ext>
          </a:extLst>
        </p:cNvPr>
        <p:cNvGrpSpPr/>
        <p:nvPr/>
      </p:nvGrpSpPr>
      <p:grpSpPr>
        <a:xfrm>
          <a:off x="0" y="0"/>
          <a:ext cx="0" cy="0"/>
          <a:chOff x="0" y="0"/>
          <a:chExt cx="0" cy="0"/>
        </a:xfrm>
      </p:grpSpPr>
      <p:grpSp>
        <p:nvGrpSpPr>
          <p:cNvPr id="15" name="Group 3">
            <a:extLst>
              <a:ext uri="{FF2B5EF4-FFF2-40B4-BE49-F238E27FC236}">
                <a16:creationId xmlns:a16="http://schemas.microsoft.com/office/drawing/2014/main" id="{AA8E2D90-9639-BEF0-E5F0-BC39E5D763C3}"/>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F6F81424-9800-798C-7FE9-704A18F52E27}"/>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44D0013A-4193-DEA3-1C87-EE13E695D342}"/>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4" name="Slide Number Placeholder 3">
            <a:extLst>
              <a:ext uri="{FF2B5EF4-FFF2-40B4-BE49-F238E27FC236}">
                <a16:creationId xmlns:a16="http://schemas.microsoft.com/office/drawing/2014/main" id="{AFDB7AC3-638F-0F47-F294-E7741C2D224B}"/>
              </a:ext>
            </a:extLst>
          </p:cNvPr>
          <p:cNvSpPr>
            <a:spLocks noGrp="1"/>
          </p:cNvSpPr>
          <p:nvPr>
            <p:ph type="sldNum" sz="quarter" idx="12"/>
          </p:nvPr>
        </p:nvSpPr>
        <p:spPr/>
        <p:txBody>
          <a:bodyPr/>
          <a:lstStyle/>
          <a:p>
            <a:fld id="{B6F15528-21DE-4FAA-801E-634DDDAF4B2B}" type="slidenum">
              <a:rPr lang="en-US" smtClean="0"/>
              <a:pPr/>
              <a:t>71</a:t>
            </a:fld>
            <a:endParaRPr lang="en-US" sz="1800"/>
          </a:p>
        </p:txBody>
      </p:sp>
      <p:sp>
        <p:nvSpPr>
          <p:cNvPr id="2" name="TextBox 1">
            <a:extLst>
              <a:ext uri="{FF2B5EF4-FFF2-40B4-BE49-F238E27FC236}">
                <a16:creationId xmlns:a16="http://schemas.microsoft.com/office/drawing/2014/main" id="{F0F83713-5E67-1E37-33A9-18E25A358017}"/>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Connection behavior</a:t>
            </a:r>
          </a:p>
        </p:txBody>
      </p:sp>
      <p:sp>
        <p:nvSpPr>
          <p:cNvPr id="6" name="TextBox 7">
            <a:extLst>
              <a:ext uri="{FF2B5EF4-FFF2-40B4-BE49-F238E27FC236}">
                <a16:creationId xmlns:a16="http://schemas.microsoft.com/office/drawing/2014/main" id="{5E36C045-33EE-1DA8-8FB3-36EC38644EF0}"/>
              </a:ext>
            </a:extLst>
          </p:cNvPr>
          <p:cNvSpPr txBox="1"/>
          <p:nvPr/>
        </p:nvSpPr>
        <p:spPr>
          <a:xfrm>
            <a:off x="975002" y="2095500"/>
            <a:ext cx="14264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Peripheral latency</a:t>
            </a:r>
          </a:p>
        </p:txBody>
      </p:sp>
      <p:grpSp>
        <p:nvGrpSpPr>
          <p:cNvPr id="25" name="Group 3">
            <a:extLst>
              <a:ext uri="{FF2B5EF4-FFF2-40B4-BE49-F238E27FC236}">
                <a16:creationId xmlns:a16="http://schemas.microsoft.com/office/drawing/2014/main" id="{285FC683-867C-579D-03EB-E97A2B386826}"/>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ABCEAAC5-4E1B-5AC6-BB33-981F62FC00FC}"/>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7DFFBD33-EB0D-0150-60DF-B322E8D3E0E0}"/>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7" name="TextBox 6">
            <a:extLst>
              <a:ext uri="{FF2B5EF4-FFF2-40B4-BE49-F238E27FC236}">
                <a16:creationId xmlns:a16="http://schemas.microsoft.com/office/drawing/2014/main" id="{ED8A5631-6E11-A430-517C-510D7541E1A1}"/>
              </a:ext>
            </a:extLst>
          </p:cNvPr>
          <p:cNvSpPr txBox="1"/>
          <p:nvPr/>
        </p:nvSpPr>
        <p:spPr>
          <a:xfrm>
            <a:off x="1448158" y="6675499"/>
            <a:ext cx="14112598" cy="1449115"/>
          </a:xfrm>
          <a:prstGeom prst="rect">
            <a:avLst/>
          </a:prstGeom>
          <a:noFill/>
        </p:spPr>
        <p:txBody>
          <a:bodyPr wrap="square">
            <a:spAutoFit/>
          </a:bodyPr>
          <a:lstStyle/>
          <a:p>
            <a:pPr>
              <a:lnSpc>
                <a:spcPct val="115000"/>
              </a:lnSpc>
              <a:spcAft>
                <a:spcPts val="800"/>
              </a:spcAft>
            </a:pPr>
            <a:r>
              <a:rPr lang="en-US" sz="2400" b="1" dirty="0">
                <a:solidFill>
                  <a:srgbClr val="303642"/>
                </a:solidFill>
                <a:latin typeface="Poppins" panose="00000500000000000000" pitchFamily="2" charset="0"/>
                <a:cs typeface="Poppins" panose="00000500000000000000" pitchFamily="2" charset="0"/>
              </a:rPr>
              <a:t>If the peripheral latency is too aggressive:</a:t>
            </a:r>
          </a:p>
          <a:p>
            <a:pPr marL="342900" indent="-342900">
              <a:lnSpc>
                <a:spcPct val="115000"/>
              </a:lnSpc>
              <a:spcAft>
                <a:spcPts val="800"/>
              </a:spcAft>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Central can’t get responsive communication when it needed, making actions initiated by the central seem slow.</a:t>
            </a:r>
          </a:p>
        </p:txBody>
      </p:sp>
      <p:grpSp>
        <p:nvGrpSpPr>
          <p:cNvPr id="22" name="Group 21">
            <a:extLst>
              <a:ext uri="{FF2B5EF4-FFF2-40B4-BE49-F238E27FC236}">
                <a16:creationId xmlns:a16="http://schemas.microsoft.com/office/drawing/2014/main" id="{D2129DD0-1080-4EDE-5FC3-B99844E6BF51}"/>
              </a:ext>
            </a:extLst>
          </p:cNvPr>
          <p:cNvGrpSpPr/>
          <p:nvPr/>
        </p:nvGrpSpPr>
        <p:grpSpPr>
          <a:xfrm>
            <a:off x="914400" y="2941845"/>
            <a:ext cx="14173200" cy="2401170"/>
            <a:chOff x="914400" y="2941845"/>
            <a:chExt cx="14173200" cy="2401170"/>
          </a:xfrm>
        </p:grpSpPr>
        <p:sp>
          <p:nvSpPr>
            <p:cNvPr id="5" name="TextBox 4">
              <a:extLst>
                <a:ext uri="{FF2B5EF4-FFF2-40B4-BE49-F238E27FC236}">
                  <a16:creationId xmlns:a16="http://schemas.microsoft.com/office/drawing/2014/main" id="{13CA8345-DFE3-A56D-0BB3-51A8774811CC}"/>
                </a:ext>
              </a:extLst>
            </p:cNvPr>
            <p:cNvSpPr txBox="1"/>
            <p:nvPr/>
          </p:nvSpPr>
          <p:spPr>
            <a:xfrm>
              <a:off x="975002" y="2941845"/>
              <a:ext cx="14112598" cy="2401170"/>
            </a:xfrm>
            <a:prstGeom prst="rect">
              <a:avLst/>
            </a:prstGeom>
            <a:noFill/>
          </p:spPr>
          <p:txBody>
            <a:bodyPr wrap="square">
              <a:spAutoFit/>
            </a:bodyPr>
            <a:lstStyle/>
            <a:p>
              <a:pPr>
                <a:lnSpc>
                  <a:spcPct val="115000"/>
                </a:lnSpc>
                <a:spcAft>
                  <a:spcPts val="800"/>
                </a:spcAft>
              </a:pPr>
              <a:r>
                <a:rPr lang="en-US" sz="2400" dirty="0">
                  <a:solidFill>
                    <a:srgbClr val="303642"/>
                  </a:solidFill>
                  <a:latin typeface="Poppins" panose="00000500000000000000" pitchFamily="2" charset="0"/>
                  <a:cs typeface="Poppins" panose="00000500000000000000" pitchFamily="2" charset="0"/>
                </a:rPr>
                <a:t>It lets the peripheral skip connection events when it has nothing to send, without the central assuming the connection is dead.</a:t>
              </a:r>
            </a:p>
            <a:p>
              <a:pPr>
                <a:lnSpc>
                  <a:spcPct val="115000"/>
                </a:lnSpc>
                <a:spcAft>
                  <a:spcPts val="800"/>
                </a:spcAft>
              </a:pPr>
              <a:endParaRPr lang="en-US" sz="2400" dirty="0">
                <a:solidFill>
                  <a:srgbClr val="303642"/>
                </a:solidFill>
                <a:latin typeface="Poppins" panose="00000500000000000000" pitchFamily="2" charset="0"/>
                <a:cs typeface="Poppins" panose="00000500000000000000" pitchFamily="2" charset="0"/>
              </a:endParaRPr>
            </a:p>
            <a:p>
              <a:pPr>
                <a:lnSpc>
                  <a:spcPct val="115000"/>
                </a:lnSpc>
                <a:spcAft>
                  <a:spcPts val="800"/>
                </a:spcAft>
              </a:pPr>
              <a:r>
                <a:rPr lang="en-US" sz="2400" dirty="0">
                  <a:solidFill>
                    <a:srgbClr val="303642"/>
                  </a:solidFill>
                  <a:latin typeface="Poppins" panose="00000500000000000000" pitchFamily="2" charset="0"/>
                  <a:cs typeface="Poppins" panose="00000500000000000000" pitchFamily="2" charset="0"/>
                </a:rPr>
                <a:t>=&gt; The central keeps the connection alive, but the peripheral is burning almost no power during these gaps.</a:t>
              </a:r>
            </a:p>
          </p:txBody>
        </p:sp>
        <p:sp>
          <p:nvSpPr>
            <p:cNvPr id="14" name="Arrow: Right 13">
              <a:extLst>
                <a:ext uri="{FF2B5EF4-FFF2-40B4-BE49-F238E27FC236}">
                  <a16:creationId xmlns:a16="http://schemas.microsoft.com/office/drawing/2014/main" id="{64E4DA37-5A69-BB9D-4734-F8F983252F98}"/>
                </a:ext>
              </a:extLst>
            </p:cNvPr>
            <p:cNvSpPr/>
            <p:nvPr/>
          </p:nvSpPr>
          <p:spPr>
            <a:xfrm>
              <a:off x="914400" y="4497586"/>
              <a:ext cx="548998" cy="3036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pSp>
      <p:pic>
        <p:nvPicPr>
          <p:cNvPr id="20" name="Graphic 19" descr="Warning with solid fill">
            <a:extLst>
              <a:ext uri="{FF2B5EF4-FFF2-40B4-BE49-F238E27FC236}">
                <a16:creationId xmlns:a16="http://schemas.microsoft.com/office/drawing/2014/main" id="{F113660F-76C6-A39D-7093-9433D3AC23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3241" y="6972300"/>
            <a:ext cx="842318" cy="914400"/>
          </a:xfrm>
          <a:prstGeom prst="rect">
            <a:avLst/>
          </a:prstGeom>
        </p:spPr>
      </p:pic>
    </p:spTree>
    <p:extLst>
      <p:ext uri="{BB962C8B-B14F-4D97-AF65-F5344CB8AC3E}">
        <p14:creationId xmlns:p14="http://schemas.microsoft.com/office/powerpoint/2010/main" val="1847220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810F3-6C3B-A6E8-58A2-B2D6BE21FEAB}"/>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393745A6-0FCD-369B-3587-EA1EA3F9191C}"/>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82672CF8-5643-F0A5-2D80-3DB55F5F4B84}"/>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3977EAB8-570D-94D2-F1AA-61D5BBCBEA46}"/>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61C3DBE5-FA85-A8F8-2E11-7C050B9C6781}"/>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17AFAECD-19C2-2F97-491B-DF1ABDC048FF}"/>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8B1280E1-0028-4E95-3691-1408819B06C2}"/>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9" name="Slide Number Placeholder 8">
            <a:extLst>
              <a:ext uri="{FF2B5EF4-FFF2-40B4-BE49-F238E27FC236}">
                <a16:creationId xmlns:a16="http://schemas.microsoft.com/office/drawing/2014/main" id="{E909B097-4900-065D-763A-B0B4D9709549}"/>
              </a:ext>
            </a:extLst>
          </p:cNvPr>
          <p:cNvSpPr>
            <a:spLocks noGrp="1"/>
          </p:cNvSpPr>
          <p:nvPr>
            <p:ph type="sldNum" sz="quarter" idx="12"/>
          </p:nvPr>
        </p:nvSpPr>
        <p:spPr/>
        <p:txBody>
          <a:bodyPr/>
          <a:lstStyle/>
          <a:p>
            <a:fld id="{B6F15528-21DE-4FAA-801E-634DDDAF4B2B}" type="slidenum">
              <a:rPr lang="en-US" smtClean="0"/>
              <a:pPr/>
              <a:t>72</a:t>
            </a:fld>
            <a:endParaRPr lang="en-US" sz="1800"/>
          </a:p>
        </p:txBody>
      </p:sp>
      <p:sp>
        <p:nvSpPr>
          <p:cNvPr id="2" name="TextBox 1">
            <a:extLst>
              <a:ext uri="{FF2B5EF4-FFF2-40B4-BE49-F238E27FC236}">
                <a16:creationId xmlns:a16="http://schemas.microsoft.com/office/drawing/2014/main" id="{363A86EB-0E33-8B61-8FEF-C4AF87C1E053}"/>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Connection behavior</a:t>
            </a:r>
          </a:p>
        </p:txBody>
      </p:sp>
      <p:sp>
        <p:nvSpPr>
          <p:cNvPr id="8" name="TextBox 7">
            <a:extLst>
              <a:ext uri="{FF2B5EF4-FFF2-40B4-BE49-F238E27FC236}">
                <a16:creationId xmlns:a16="http://schemas.microsoft.com/office/drawing/2014/main" id="{C4CAD894-A08B-B6BB-50C3-BC4DA2318915}"/>
              </a:ext>
            </a:extLst>
          </p:cNvPr>
          <p:cNvSpPr txBox="1"/>
          <p:nvPr/>
        </p:nvSpPr>
        <p:spPr>
          <a:xfrm>
            <a:off x="5030193" y="2130354"/>
            <a:ext cx="4206598" cy="497059"/>
          </a:xfrm>
          <a:prstGeom prst="rect">
            <a:avLst/>
          </a:prstGeom>
          <a:noFill/>
        </p:spPr>
        <p:txBody>
          <a:bodyPr wrap="square">
            <a:spAutoFit/>
          </a:bodyPr>
          <a:lstStyle/>
          <a:p>
            <a:pPr>
              <a:lnSpc>
                <a:spcPct val="115000"/>
              </a:lnSpc>
              <a:spcAft>
                <a:spcPts val="800"/>
              </a:spcAft>
            </a:pPr>
            <a:r>
              <a:rPr lang="en-US" sz="2400" dirty="0">
                <a:solidFill>
                  <a:srgbClr val="303642"/>
                </a:solidFill>
                <a:latin typeface="Poppins" panose="00000500000000000000" pitchFamily="2" charset="0"/>
                <a:cs typeface="Poppins" panose="00000500000000000000" pitchFamily="2" charset="0"/>
              </a:rPr>
              <a:t>Detect dead connections</a:t>
            </a:r>
          </a:p>
        </p:txBody>
      </p:sp>
      <p:sp>
        <p:nvSpPr>
          <p:cNvPr id="6" name="TextBox 7">
            <a:extLst>
              <a:ext uri="{FF2B5EF4-FFF2-40B4-BE49-F238E27FC236}">
                <a16:creationId xmlns:a16="http://schemas.microsoft.com/office/drawing/2014/main" id="{8B4961FE-0281-6629-D831-1F1B62D2918F}"/>
              </a:ext>
            </a:extLst>
          </p:cNvPr>
          <p:cNvSpPr txBox="1"/>
          <p:nvPr/>
        </p:nvSpPr>
        <p:spPr>
          <a:xfrm>
            <a:off x="975002" y="2095500"/>
            <a:ext cx="14264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Supervision timeout</a:t>
            </a:r>
          </a:p>
        </p:txBody>
      </p:sp>
      <p:grpSp>
        <p:nvGrpSpPr>
          <p:cNvPr id="29" name="Group 28">
            <a:extLst>
              <a:ext uri="{FF2B5EF4-FFF2-40B4-BE49-F238E27FC236}">
                <a16:creationId xmlns:a16="http://schemas.microsoft.com/office/drawing/2014/main" id="{B12A19A1-EA06-5DCC-2D26-40749FE92BE1}"/>
              </a:ext>
            </a:extLst>
          </p:cNvPr>
          <p:cNvGrpSpPr/>
          <p:nvPr/>
        </p:nvGrpSpPr>
        <p:grpSpPr>
          <a:xfrm>
            <a:off x="868322" y="7581900"/>
            <a:ext cx="11704678" cy="983582"/>
            <a:chOff x="868322" y="7399622"/>
            <a:chExt cx="11704678" cy="983582"/>
          </a:xfrm>
        </p:grpSpPr>
        <p:sp>
          <p:nvSpPr>
            <p:cNvPr id="19" name="TextBox 18">
              <a:extLst>
                <a:ext uri="{FF2B5EF4-FFF2-40B4-BE49-F238E27FC236}">
                  <a16:creationId xmlns:a16="http://schemas.microsoft.com/office/drawing/2014/main" id="{DFE003F8-D5CD-9BF9-195B-69979AB4A586}"/>
                </a:ext>
              </a:extLst>
            </p:cNvPr>
            <p:cNvSpPr txBox="1"/>
            <p:nvPr/>
          </p:nvSpPr>
          <p:spPr>
            <a:xfrm>
              <a:off x="2057400" y="7552207"/>
              <a:ext cx="10515600" cy="830997"/>
            </a:xfrm>
            <a:prstGeom prst="rect">
              <a:avLst/>
            </a:prstGeom>
            <a:noFill/>
          </p:spPr>
          <p:txBody>
            <a:bodyPr wrap="square">
              <a:spAutoFit/>
            </a:bodyPr>
            <a:lstStyle/>
            <a:p>
              <a:r>
                <a:rPr lang="en-US" sz="2400" b="1" dirty="0">
                  <a:solidFill>
                    <a:srgbClr val="303642"/>
                  </a:solidFill>
                  <a:latin typeface="Poppins" panose="00000500000000000000" pitchFamily="2" charset="0"/>
                  <a:cs typeface="Poppins" panose="00000500000000000000" pitchFamily="2" charset="0"/>
                </a:rPr>
                <a:t>If the supervision timeout is too long:</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When devices disconnect, it takes forever to detect and clean up.</a:t>
              </a:r>
            </a:p>
          </p:txBody>
        </p:sp>
        <p:pic>
          <p:nvPicPr>
            <p:cNvPr id="21" name="Graphic 20" descr="Warning with solid fill">
              <a:extLst>
                <a:ext uri="{FF2B5EF4-FFF2-40B4-BE49-F238E27FC236}">
                  <a16:creationId xmlns:a16="http://schemas.microsoft.com/office/drawing/2014/main" id="{9556627E-BA34-F6C6-D09F-80B96A745F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8322" y="7399622"/>
              <a:ext cx="842318" cy="914400"/>
            </a:xfrm>
            <a:prstGeom prst="rect">
              <a:avLst/>
            </a:prstGeom>
          </p:spPr>
        </p:pic>
      </p:grpSp>
      <p:grpSp>
        <p:nvGrpSpPr>
          <p:cNvPr id="30" name="Group 29">
            <a:extLst>
              <a:ext uri="{FF2B5EF4-FFF2-40B4-BE49-F238E27FC236}">
                <a16:creationId xmlns:a16="http://schemas.microsoft.com/office/drawing/2014/main" id="{1A5A9BBB-AF5D-F34C-0837-C509B4A3C821}"/>
              </a:ext>
            </a:extLst>
          </p:cNvPr>
          <p:cNvGrpSpPr/>
          <p:nvPr/>
        </p:nvGrpSpPr>
        <p:grpSpPr>
          <a:xfrm>
            <a:off x="868322" y="5524500"/>
            <a:ext cx="11341262" cy="1200329"/>
            <a:chOff x="868322" y="5043721"/>
            <a:chExt cx="11341262" cy="1200329"/>
          </a:xfrm>
        </p:grpSpPr>
        <p:sp>
          <p:nvSpPr>
            <p:cNvPr id="16" name="TextBox 15">
              <a:extLst>
                <a:ext uri="{FF2B5EF4-FFF2-40B4-BE49-F238E27FC236}">
                  <a16:creationId xmlns:a16="http://schemas.microsoft.com/office/drawing/2014/main" id="{C52985C6-2226-05B1-8ADD-61A238FDD9D1}"/>
                </a:ext>
              </a:extLst>
            </p:cNvPr>
            <p:cNvSpPr txBox="1"/>
            <p:nvPr/>
          </p:nvSpPr>
          <p:spPr>
            <a:xfrm>
              <a:off x="2057400" y="5043721"/>
              <a:ext cx="10152184" cy="1200329"/>
            </a:xfrm>
            <a:prstGeom prst="rect">
              <a:avLst/>
            </a:prstGeom>
            <a:noFill/>
          </p:spPr>
          <p:txBody>
            <a:bodyPr wrap="square">
              <a:spAutoFit/>
            </a:bodyPr>
            <a:lstStyle/>
            <a:p>
              <a:r>
                <a:rPr lang="en-US" sz="2400" b="1" dirty="0">
                  <a:solidFill>
                    <a:srgbClr val="303642"/>
                  </a:solidFill>
                  <a:latin typeface="Poppins" panose="00000500000000000000" pitchFamily="2" charset="0"/>
                  <a:cs typeface="Poppins" panose="00000500000000000000" pitchFamily="2" charset="0"/>
                </a:rPr>
                <a:t>If the supervision timeout is too short:</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False disconnections.</a:t>
              </a:r>
            </a:p>
            <a:p>
              <a:pPr marL="342900" indent="-342900">
                <a:buFont typeface="Arial" panose="020B0604020202020204" pitchFamily="34" charset="0"/>
                <a:buChar char="•"/>
              </a:pPr>
              <a:r>
                <a:rPr lang="en-US" sz="2400" dirty="0">
                  <a:solidFill>
                    <a:srgbClr val="303642"/>
                  </a:solidFill>
                  <a:latin typeface="Poppins" panose="00000500000000000000" pitchFamily="2" charset="0"/>
                  <a:cs typeface="Poppins" panose="00000500000000000000" pitchFamily="2" charset="0"/>
                </a:rPr>
                <a:t>More reconnection attempts, more power consumption.</a:t>
              </a:r>
            </a:p>
          </p:txBody>
        </p:sp>
        <p:pic>
          <p:nvPicPr>
            <p:cNvPr id="23" name="Graphic 22" descr="Warning with solid fill">
              <a:extLst>
                <a:ext uri="{FF2B5EF4-FFF2-40B4-BE49-F238E27FC236}">
                  <a16:creationId xmlns:a16="http://schemas.microsoft.com/office/drawing/2014/main" id="{AEFB24B1-4267-1AD2-97AF-A7D47045B2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8322" y="5164639"/>
              <a:ext cx="842318" cy="914400"/>
            </a:xfrm>
            <a:prstGeom prst="rect">
              <a:avLst/>
            </a:prstGeom>
          </p:spPr>
        </p:pic>
      </p:grpSp>
      <p:sp>
        <p:nvSpPr>
          <p:cNvPr id="26" name="TextBox 25">
            <a:extLst>
              <a:ext uri="{FF2B5EF4-FFF2-40B4-BE49-F238E27FC236}">
                <a16:creationId xmlns:a16="http://schemas.microsoft.com/office/drawing/2014/main" id="{B8821364-E211-228F-D920-86FDACBFD77C}"/>
              </a:ext>
            </a:extLst>
          </p:cNvPr>
          <p:cNvSpPr txBox="1"/>
          <p:nvPr/>
        </p:nvSpPr>
        <p:spPr>
          <a:xfrm>
            <a:off x="1127401" y="3622764"/>
            <a:ext cx="15407998" cy="646331"/>
          </a:xfrm>
          <a:prstGeom prst="rect">
            <a:avLst/>
          </a:prstGeom>
          <a:noFill/>
        </p:spPr>
        <p:txBody>
          <a:bodyPr wrap="square">
            <a:spAutoFit/>
          </a:bodyPr>
          <a:lstStyle/>
          <a:p>
            <a:pPr algn="ctr"/>
            <a:r>
              <a:rPr lang="en-US" sz="3000" b="1" dirty="0">
                <a:solidFill>
                  <a:schemeClr val="tx2"/>
                </a:solidFill>
                <a:latin typeface="Poppins Bold"/>
                <a:cs typeface="Poppins Bold"/>
              </a:rPr>
              <a:t>Supervision timeout</a:t>
            </a:r>
            <a:r>
              <a:rPr lang="en-US" sz="3600" b="1" dirty="0">
                <a:solidFill>
                  <a:schemeClr val="tx2"/>
                </a:solidFill>
                <a:latin typeface="Poppins Bold"/>
                <a:cs typeface="Poppins Bold"/>
              </a:rPr>
              <a:t> &gt; </a:t>
            </a:r>
            <a:r>
              <a:rPr lang="en-US" sz="3000" b="1" dirty="0">
                <a:solidFill>
                  <a:schemeClr val="tx2"/>
                </a:solidFill>
                <a:latin typeface="Poppins Bold"/>
                <a:cs typeface="Poppins Bold"/>
              </a:rPr>
              <a:t>(1 + Peripheral latency) × Connection interval × 2</a:t>
            </a:r>
          </a:p>
        </p:txBody>
      </p:sp>
    </p:spTree>
    <p:extLst>
      <p:ext uri="{BB962C8B-B14F-4D97-AF65-F5344CB8AC3E}">
        <p14:creationId xmlns:p14="http://schemas.microsoft.com/office/powerpoint/2010/main" val="3129354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6" grpId="0"/>
      <p:bldP spid="2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0779E-B582-B2E0-9219-9844405DEFE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85D8613-E360-C916-F987-06686019393C}"/>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1E1523B5-8CD0-967D-9506-E6A5320DFC31}"/>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CA3FD03D-83F6-B523-51C8-840E8893F3A4}"/>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F2C1C502-0E0E-444E-CB17-8A72A87DCC64}"/>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CCEFA7C1-2179-3B82-85C3-0876B670F360}"/>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32DBC519-F1FC-9E41-045D-D9423F3178BD}"/>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16067254-E2F8-30FC-AFDF-A989DAF872CF}"/>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pic>
        <p:nvPicPr>
          <p:cNvPr id="8" name="Picture 2">
            <a:extLst>
              <a:ext uri="{FF2B5EF4-FFF2-40B4-BE49-F238E27FC236}">
                <a16:creationId xmlns:a16="http://schemas.microsoft.com/office/drawing/2014/main" id="{FA9863B1-09DA-1725-5769-4A76DCFBE82C}"/>
              </a:ext>
            </a:extLst>
          </p:cNvPr>
          <p:cNvPicPr>
            <a:picLocks noChangeAspect="1"/>
          </p:cNvPicPr>
          <p:nvPr>
            <p:custDataLst>
              <p:tags r:id="rId1"/>
            </p:custDataLst>
          </p:nvPr>
        </p:nvPicPr>
        <p:blipFill>
          <a:blip>
            <a:extLst>
              <a:ext uri="{96DAC541-7B7A-43D3-8B79-37D633B846F1}">
                <asvg:svgBlip xmlns:asvg="http://schemas.microsoft.com/office/drawing/2016/SVG/main" r:embed="rId4"/>
              </a:ext>
            </a:extLst>
          </a:blip>
          <a:srcRect l="29063" t="28821" r="28437" b="46951"/>
          <a:stretch>
            <a:fillRect/>
          </a:stretch>
        </p:blipFill>
        <p:spPr>
          <a:xfrm>
            <a:off x="266700" y="2187279"/>
            <a:ext cx="17754600" cy="6940298"/>
          </a:xfrm>
          <a:prstGeom prst="rect">
            <a:avLst/>
          </a:prstGeom>
        </p:spPr>
      </p:pic>
      <p:sp>
        <p:nvSpPr>
          <p:cNvPr id="4" name="Slide Number Placeholder 3">
            <a:extLst>
              <a:ext uri="{FF2B5EF4-FFF2-40B4-BE49-F238E27FC236}">
                <a16:creationId xmlns:a16="http://schemas.microsoft.com/office/drawing/2014/main" id="{B3574CFD-3F5E-6E2C-CC58-F0B16366CE9C}"/>
              </a:ext>
            </a:extLst>
          </p:cNvPr>
          <p:cNvSpPr>
            <a:spLocks noGrp="1"/>
          </p:cNvSpPr>
          <p:nvPr>
            <p:ph type="sldNum" sz="quarter" idx="12"/>
          </p:nvPr>
        </p:nvSpPr>
        <p:spPr/>
        <p:txBody>
          <a:bodyPr/>
          <a:lstStyle/>
          <a:p>
            <a:fld id="{B6F15528-21DE-4FAA-801E-634DDDAF4B2B}" type="slidenum">
              <a:rPr lang="en-US" smtClean="0"/>
              <a:pPr/>
              <a:t>73</a:t>
            </a:fld>
            <a:endParaRPr lang="en-US" sz="1800"/>
          </a:p>
        </p:txBody>
      </p:sp>
      <p:sp>
        <p:nvSpPr>
          <p:cNvPr id="2" name="TextBox 1">
            <a:extLst>
              <a:ext uri="{FF2B5EF4-FFF2-40B4-BE49-F238E27FC236}">
                <a16:creationId xmlns:a16="http://schemas.microsoft.com/office/drawing/2014/main" id="{95799102-D9BA-F66E-46D0-D292FCBCC31E}"/>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BLE Communication Flow Using ESP32</a:t>
            </a:r>
          </a:p>
        </p:txBody>
      </p:sp>
    </p:spTree>
    <p:extLst>
      <p:ext uri="{BB962C8B-B14F-4D97-AF65-F5344CB8AC3E}">
        <p14:creationId xmlns:p14="http://schemas.microsoft.com/office/powerpoint/2010/main" val="41094635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79A77-7678-110D-02EE-9AEE69A85141}"/>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B08E6E20-EF91-8848-4D83-2A06020FEE33}"/>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39D6A1DB-7A03-80D9-9ABB-1FA29E822A8F}"/>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C774DC4C-1559-A169-096C-7B4BA9EFE8E1}"/>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89586134-7EE8-3B28-6D93-1190A6477B3E}"/>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4C2D8248-7410-3AD4-5E1A-D718535324B9}"/>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88768E30-BE52-085F-1E7E-0257A1BA3713}"/>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8" name="Slide Number Placeholder 7">
            <a:extLst>
              <a:ext uri="{FF2B5EF4-FFF2-40B4-BE49-F238E27FC236}">
                <a16:creationId xmlns:a16="http://schemas.microsoft.com/office/drawing/2014/main" id="{6CCE6464-05A9-DDF2-19A5-EDC59E36B2F5}"/>
              </a:ext>
            </a:extLst>
          </p:cNvPr>
          <p:cNvSpPr>
            <a:spLocks noGrp="1"/>
          </p:cNvSpPr>
          <p:nvPr>
            <p:ph type="sldNum" sz="quarter" idx="12"/>
          </p:nvPr>
        </p:nvSpPr>
        <p:spPr/>
        <p:txBody>
          <a:bodyPr/>
          <a:lstStyle/>
          <a:p>
            <a:fld id="{B6F15528-21DE-4FAA-801E-634DDDAF4B2B}" type="slidenum">
              <a:rPr lang="en-US" smtClean="0"/>
              <a:pPr/>
              <a:t>74</a:t>
            </a:fld>
            <a:endParaRPr lang="en-US" sz="1800"/>
          </a:p>
        </p:txBody>
      </p:sp>
      <p:sp>
        <p:nvSpPr>
          <p:cNvPr id="6" name="TextBox 5">
            <a:extLst>
              <a:ext uri="{FF2B5EF4-FFF2-40B4-BE49-F238E27FC236}">
                <a16:creationId xmlns:a16="http://schemas.microsoft.com/office/drawing/2014/main" id="{78F4EB48-1DD7-D8DD-C0D6-AA94D10AD25C}"/>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BLE Communication Flow Using ESP32</a:t>
            </a:r>
          </a:p>
        </p:txBody>
      </p:sp>
      <p:pic>
        <p:nvPicPr>
          <p:cNvPr id="9" name="Picture 8">
            <a:extLst>
              <a:ext uri="{FF2B5EF4-FFF2-40B4-BE49-F238E27FC236}">
                <a16:creationId xmlns:a16="http://schemas.microsoft.com/office/drawing/2014/main" id="{758D1B23-8F39-36A7-BFFF-370962AC9887}"/>
              </a:ext>
            </a:extLst>
          </p:cNvPr>
          <p:cNvPicPr>
            <a:picLocks noChangeAspect="1"/>
          </p:cNvPicPr>
          <p:nvPr/>
        </p:nvPicPr>
        <p:blipFill>
          <a:blip r:embed="rId3"/>
          <a:stretch>
            <a:fillRect/>
          </a:stretch>
        </p:blipFill>
        <p:spPr>
          <a:xfrm>
            <a:off x="2783277" y="3767475"/>
            <a:ext cx="12721445" cy="3681629"/>
          </a:xfrm>
          <a:prstGeom prst="rect">
            <a:avLst/>
          </a:prstGeom>
        </p:spPr>
      </p:pic>
      <p:sp>
        <p:nvSpPr>
          <p:cNvPr id="10" name="TextBox 7">
            <a:extLst>
              <a:ext uri="{FF2B5EF4-FFF2-40B4-BE49-F238E27FC236}">
                <a16:creationId xmlns:a16="http://schemas.microsoft.com/office/drawing/2014/main" id="{0F5A1B0E-8D6C-0222-7A88-D34F17D3FF55}"/>
              </a:ext>
            </a:extLst>
          </p:cNvPr>
          <p:cNvSpPr txBox="1"/>
          <p:nvPr/>
        </p:nvSpPr>
        <p:spPr>
          <a:xfrm>
            <a:off x="975002" y="2095500"/>
            <a:ext cx="14264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Connection establishment</a:t>
            </a:r>
          </a:p>
        </p:txBody>
      </p:sp>
    </p:spTree>
    <p:extLst>
      <p:ext uri="{BB962C8B-B14F-4D97-AF65-F5344CB8AC3E}">
        <p14:creationId xmlns:p14="http://schemas.microsoft.com/office/powerpoint/2010/main" val="350211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89C49-55F8-4DCC-B15E-E38AC230212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5320664-578D-1093-1B2D-F798F7CC533E}"/>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3DAC35C7-1C32-350C-86B5-B3B27805D857}"/>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EFCA9591-B754-0B72-72E3-1EFCDD195397}"/>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92B6B627-0E29-52D8-1D2F-464CBC4F619B}"/>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E75B0088-9AF2-4022-9018-751C15120F12}"/>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7806237F-348F-E6A1-AF01-60D29B1AB3A9}"/>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0EE617EB-6FE3-934A-1028-8BE3DAF137BB}"/>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pic>
        <p:nvPicPr>
          <p:cNvPr id="8" name="Picture 2">
            <a:extLst>
              <a:ext uri="{FF2B5EF4-FFF2-40B4-BE49-F238E27FC236}">
                <a16:creationId xmlns:a16="http://schemas.microsoft.com/office/drawing/2014/main" id="{434900CC-5F43-0EA6-85BC-50402010203F}"/>
              </a:ext>
            </a:extLst>
          </p:cNvPr>
          <p:cNvPicPr>
            <a:picLocks noChangeAspect="1"/>
          </p:cNvPicPr>
          <p:nvPr>
            <p:custDataLst>
              <p:tags r:id="rId1"/>
            </p:custDataLst>
          </p:nvPr>
        </p:nvPicPr>
        <p:blipFill>
          <a:blip>
            <a:extLst>
              <a:ext uri="{96DAC541-7B7A-43D3-8B79-37D633B846F1}">
                <asvg:svgBlip xmlns:asvg="http://schemas.microsoft.com/office/drawing/2016/SVG/main" r:embed="rId4"/>
              </a:ext>
            </a:extLst>
          </a:blip>
          <a:srcRect l="29063" t="28821" r="28437" b="46951"/>
          <a:stretch>
            <a:fillRect/>
          </a:stretch>
        </p:blipFill>
        <p:spPr>
          <a:xfrm>
            <a:off x="266700" y="2187279"/>
            <a:ext cx="17754600" cy="6940298"/>
          </a:xfrm>
          <a:prstGeom prst="rect">
            <a:avLst/>
          </a:prstGeom>
        </p:spPr>
      </p:pic>
      <p:sp>
        <p:nvSpPr>
          <p:cNvPr id="4" name="Slide Number Placeholder 3">
            <a:extLst>
              <a:ext uri="{FF2B5EF4-FFF2-40B4-BE49-F238E27FC236}">
                <a16:creationId xmlns:a16="http://schemas.microsoft.com/office/drawing/2014/main" id="{2CD26B21-FF0B-228B-0992-B83266926A55}"/>
              </a:ext>
            </a:extLst>
          </p:cNvPr>
          <p:cNvSpPr>
            <a:spLocks noGrp="1"/>
          </p:cNvSpPr>
          <p:nvPr>
            <p:ph type="sldNum" sz="quarter" idx="12"/>
          </p:nvPr>
        </p:nvSpPr>
        <p:spPr/>
        <p:txBody>
          <a:bodyPr/>
          <a:lstStyle/>
          <a:p>
            <a:fld id="{B6F15528-21DE-4FAA-801E-634DDDAF4B2B}" type="slidenum">
              <a:rPr lang="en-US" smtClean="0"/>
              <a:pPr/>
              <a:t>75</a:t>
            </a:fld>
            <a:endParaRPr lang="en-US" sz="1800"/>
          </a:p>
        </p:txBody>
      </p:sp>
      <p:sp>
        <p:nvSpPr>
          <p:cNvPr id="2" name="TextBox 1">
            <a:extLst>
              <a:ext uri="{FF2B5EF4-FFF2-40B4-BE49-F238E27FC236}">
                <a16:creationId xmlns:a16="http://schemas.microsoft.com/office/drawing/2014/main" id="{C58E111B-A78E-AF0E-30B4-637C80536E8A}"/>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BLE Communication Flow Using ESP32</a:t>
            </a:r>
          </a:p>
        </p:txBody>
      </p:sp>
    </p:spTree>
    <p:extLst>
      <p:ext uri="{BB962C8B-B14F-4D97-AF65-F5344CB8AC3E}">
        <p14:creationId xmlns:p14="http://schemas.microsoft.com/office/powerpoint/2010/main" val="29982936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D09C8-9D2F-C293-0407-E7E35F9BF809}"/>
            </a:ext>
          </a:extLst>
        </p:cNvPr>
        <p:cNvGrpSpPr/>
        <p:nvPr/>
      </p:nvGrpSpPr>
      <p:grpSpPr>
        <a:xfrm>
          <a:off x="0" y="0"/>
          <a:ext cx="0" cy="0"/>
          <a:chOff x="0" y="0"/>
          <a:chExt cx="0" cy="0"/>
        </a:xfrm>
      </p:grpSpPr>
      <p:grpSp>
        <p:nvGrpSpPr>
          <p:cNvPr id="15" name="Group 3">
            <a:extLst>
              <a:ext uri="{FF2B5EF4-FFF2-40B4-BE49-F238E27FC236}">
                <a16:creationId xmlns:a16="http://schemas.microsoft.com/office/drawing/2014/main" id="{DC880F2C-2332-879A-5BC3-F504603F2136}"/>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AEC70722-3617-7F82-F549-BEE94429B207}"/>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436C7265-B818-AF19-21B4-A704F5C63486}"/>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CF258604-0E4D-556B-7815-2551C46E031C}"/>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0C5B763B-83FB-B6C5-83CB-82BF4256E5D2}"/>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85C73F11-73A7-C2D6-72DA-4A932057FFC9}"/>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6" name="Slide Number Placeholder 5">
            <a:extLst>
              <a:ext uri="{FF2B5EF4-FFF2-40B4-BE49-F238E27FC236}">
                <a16:creationId xmlns:a16="http://schemas.microsoft.com/office/drawing/2014/main" id="{264C8824-2BF1-639F-7696-3F1E4A918DA6}"/>
              </a:ext>
            </a:extLst>
          </p:cNvPr>
          <p:cNvSpPr>
            <a:spLocks noGrp="1"/>
          </p:cNvSpPr>
          <p:nvPr>
            <p:ph type="sldNum" sz="quarter" idx="12"/>
          </p:nvPr>
        </p:nvSpPr>
        <p:spPr/>
        <p:txBody>
          <a:bodyPr/>
          <a:lstStyle/>
          <a:p>
            <a:fld id="{B6F15528-21DE-4FAA-801E-634DDDAF4B2B}" type="slidenum">
              <a:rPr lang="en-US" smtClean="0"/>
              <a:pPr/>
              <a:t>76</a:t>
            </a:fld>
            <a:endParaRPr lang="en-US" sz="1800"/>
          </a:p>
        </p:txBody>
      </p:sp>
      <p:sp>
        <p:nvSpPr>
          <p:cNvPr id="2" name="TextBox 1">
            <a:extLst>
              <a:ext uri="{FF2B5EF4-FFF2-40B4-BE49-F238E27FC236}">
                <a16:creationId xmlns:a16="http://schemas.microsoft.com/office/drawing/2014/main" id="{39882413-D5BD-CC4C-502D-F83290112783}"/>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BLE Communication Flow Using ESP32</a:t>
            </a:r>
          </a:p>
        </p:txBody>
      </p:sp>
      <p:sp>
        <p:nvSpPr>
          <p:cNvPr id="3" name="TextBox 7">
            <a:extLst>
              <a:ext uri="{FF2B5EF4-FFF2-40B4-BE49-F238E27FC236}">
                <a16:creationId xmlns:a16="http://schemas.microsoft.com/office/drawing/2014/main" id="{DCB00371-61F4-F336-1CE8-3300AE502FE6}"/>
              </a:ext>
            </a:extLst>
          </p:cNvPr>
          <p:cNvSpPr txBox="1"/>
          <p:nvPr/>
        </p:nvSpPr>
        <p:spPr>
          <a:xfrm>
            <a:off x="975002" y="2095500"/>
            <a:ext cx="14264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GATT discovery</a:t>
            </a:r>
          </a:p>
        </p:txBody>
      </p:sp>
      <p:pic>
        <p:nvPicPr>
          <p:cNvPr id="8" name="Picture 7">
            <a:extLst>
              <a:ext uri="{FF2B5EF4-FFF2-40B4-BE49-F238E27FC236}">
                <a16:creationId xmlns:a16="http://schemas.microsoft.com/office/drawing/2014/main" id="{2F750876-15F1-3E25-CC87-1DF6C7375225}"/>
              </a:ext>
            </a:extLst>
          </p:cNvPr>
          <p:cNvPicPr>
            <a:picLocks noChangeAspect="1"/>
          </p:cNvPicPr>
          <p:nvPr/>
        </p:nvPicPr>
        <p:blipFill>
          <a:blip r:embed="rId3"/>
          <a:stretch>
            <a:fillRect/>
          </a:stretch>
        </p:blipFill>
        <p:spPr>
          <a:xfrm>
            <a:off x="1627726" y="3694275"/>
            <a:ext cx="15032548" cy="1276528"/>
          </a:xfrm>
          <a:prstGeom prst="rect">
            <a:avLst/>
          </a:prstGeom>
        </p:spPr>
      </p:pic>
      <p:grpSp>
        <p:nvGrpSpPr>
          <p:cNvPr id="9" name="Group 8">
            <a:extLst>
              <a:ext uri="{FF2B5EF4-FFF2-40B4-BE49-F238E27FC236}">
                <a16:creationId xmlns:a16="http://schemas.microsoft.com/office/drawing/2014/main" id="{3AFE17C1-E26E-034C-4744-7B6E7A39C41B}"/>
              </a:ext>
            </a:extLst>
          </p:cNvPr>
          <p:cNvGrpSpPr/>
          <p:nvPr/>
        </p:nvGrpSpPr>
        <p:grpSpPr>
          <a:xfrm>
            <a:off x="3200400" y="6057900"/>
            <a:ext cx="11341262" cy="1569660"/>
            <a:chOff x="868322" y="5043721"/>
            <a:chExt cx="11341262" cy="1569660"/>
          </a:xfrm>
        </p:grpSpPr>
        <p:sp>
          <p:nvSpPr>
            <p:cNvPr id="10" name="TextBox 9">
              <a:extLst>
                <a:ext uri="{FF2B5EF4-FFF2-40B4-BE49-F238E27FC236}">
                  <a16:creationId xmlns:a16="http://schemas.microsoft.com/office/drawing/2014/main" id="{F9C7A4B2-B60A-0B2D-AF59-8DDA38CBA189}"/>
                </a:ext>
              </a:extLst>
            </p:cNvPr>
            <p:cNvSpPr txBox="1"/>
            <p:nvPr/>
          </p:nvSpPr>
          <p:spPr>
            <a:xfrm>
              <a:off x="2057400" y="5043721"/>
              <a:ext cx="10152184" cy="1569660"/>
            </a:xfrm>
            <a:prstGeom prst="rect">
              <a:avLst/>
            </a:prstGeom>
            <a:noFill/>
          </p:spPr>
          <p:txBody>
            <a:bodyPr wrap="square">
              <a:spAutoFit/>
            </a:bodyPr>
            <a:lstStyle/>
            <a:p>
              <a:r>
                <a:rPr lang="en-US" sz="2400" dirty="0">
                  <a:solidFill>
                    <a:srgbClr val="303642"/>
                  </a:solidFill>
                  <a:latin typeface="Poppins" panose="00000500000000000000" pitchFamily="2" charset="0"/>
                  <a:cs typeface="Poppins" panose="00000500000000000000" pitchFamily="2" charset="0"/>
                </a:rPr>
                <a:t>Each attribute consumes handles (with a limit of </a:t>
              </a:r>
              <a:r>
                <a:rPr lang="en-US" sz="2400" b="1" dirty="0">
                  <a:solidFill>
                    <a:srgbClr val="303642"/>
                  </a:solidFill>
                  <a:latin typeface="Poppins" panose="00000500000000000000" pitchFamily="2" charset="0"/>
                  <a:cs typeface="Poppins" panose="00000500000000000000" pitchFamily="2" charset="0"/>
                </a:rPr>
                <a:t>40 handles</a:t>
              </a:r>
              <a:r>
                <a:rPr lang="en-US" sz="2400" dirty="0">
                  <a:solidFill>
                    <a:srgbClr val="303642"/>
                  </a:solidFill>
                  <a:latin typeface="Poppins" panose="00000500000000000000" pitchFamily="2" charset="0"/>
                  <a:cs typeface="Poppins" panose="00000500000000000000" pitchFamily="2" charset="0"/>
                </a:rPr>
                <a:t>):</a:t>
              </a:r>
            </a:p>
            <a:p>
              <a:pPr marL="342900" indent="-342900">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Service: </a:t>
              </a:r>
              <a:r>
                <a:rPr lang="en-US" sz="2400" dirty="0">
                  <a:solidFill>
                    <a:srgbClr val="303642"/>
                  </a:solidFill>
                  <a:latin typeface="Poppins" panose="00000500000000000000" pitchFamily="2" charset="0"/>
                  <a:cs typeface="Poppins" panose="00000500000000000000" pitchFamily="2" charset="0"/>
                </a:rPr>
                <a:t>1 handle.</a:t>
              </a:r>
            </a:p>
            <a:p>
              <a:pPr marL="342900" indent="-342900">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Characteristic: </a:t>
              </a:r>
              <a:r>
                <a:rPr lang="en-US" sz="2400" dirty="0">
                  <a:solidFill>
                    <a:srgbClr val="303642"/>
                  </a:solidFill>
                  <a:latin typeface="Poppins" panose="00000500000000000000" pitchFamily="2" charset="0"/>
                  <a:cs typeface="Poppins" panose="00000500000000000000" pitchFamily="2" charset="0"/>
                </a:rPr>
                <a:t>2 handles (declaration, value).</a:t>
              </a:r>
            </a:p>
            <a:p>
              <a:pPr marL="342900" indent="-342900">
                <a:buFont typeface="Arial" panose="020B0604020202020204" pitchFamily="34" charset="0"/>
                <a:buChar char="•"/>
              </a:pPr>
              <a:r>
                <a:rPr lang="en-US" sz="2400" b="1" dirty="0">
                  <a:solidFill>
                    <a:srgbClr val="303642"/>
                  </a:solidFill>
                  <a:latin typeface="Poppins" panose="00000500000000000000" pitchFamily="2" charset="0"/>
                  <a:cs typeface="Poppins" panose="00000500000000000000" pitchFamily="2" charset="0"/>
                </a:rPr>
                <a:t>Descriptor: </a:t>
              </a:r>
              <a:r>
                <a:rPr lang="en-US" sz="2400" dirty="0">
                  <a:solidFill>
                    <a:srgbClr val="303642"/>
                  </a:solidFill>
                  <a:latin typeface="Poppins" panose="00000500000000000000" pitchFamily="2" charset="0"/>
                  <a:cs typeface="Poppins" panose="00000500000000000000" pitchFamily="2" charset="0"/>
                </a:rPr>
                <a:t>1 handle.</a:t>
              </a:r>
            </a:p>
          </p:txBody>
        </p:sp>
        <p:pic>
          <p:nvPicPr>
            <p:cNvPr id="11" name="Graphic 10" descr="Warning with solid fill">
              <a:extLst>
                <a:ext uri="{FF2B5EF4-FFF2-40B4-BE49-F238E27FC236}">
                  <a16:creationId xmlns:a16="http://schemas.microsoft.com/office/drawing/2014/main" id="{87DE9A0C-1DA2-1FA5-267D-955188E58C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8322" y="5164639"/>
              <a:ext cx="842318" cy="914400"/>
            </a:xfrm>
            <a:prstGeom prst="rect">
              <a:avLst/>
            </a:prstGeom>
          </p:spPr>
        </p:pic>
      </p:grpSp>
    </p:spTree>
    <p:extLst>
      <p:ext uri="{BB962C8B-B14F-4D97-AF65-F5344CB8AC3E}">
        <p14:creationId xmlns:p14="http://schemas.microsoft.com/office/powerpoint/2010/main" val="2080531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45308-8C9E-A41F-1B5A-E42B2887FC2C}"/>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D54D1BBC-B51E-D3E4-6EDE-94B69B88F7DC}"/>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4F340C5B-83F3-5289-3088-7AA782DE38EA}"/>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F201A752-197B-0C09-F608-98CCD01F20C2}"/>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05722A85-22F2-8B17-451C-435491CD5E5F}"/>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73C6E4E0-F6BD-D3EA-1E8B-EF1F52DC0213}"/>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9524EE69-A7AA-71C9-6FD0-0420B40B014D}"/>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pic>
        <p:nvPicPr>
          <p:cNvPr id="2" name="Picture 2">
            <a:extLst>
              <a:ext uri="{FF2B5EF4-FFF2-40B4-BE49-F238E27FC236}">
                <a16:creationId xmlns:a16="http://schemas.microsoft.com/office/drawing/2014/main" id="{700F37D6-B516-7AEC-7893-908A884F18FF}"/>
              </a:ext>
            </a:extLst>
          </p:cNvPr>
          <p:cNvPicPr>
            <a:picLocks noChangeAspect="1"/>
          </p:cNvPicPr>
          <p:nvPr>
            <p:custDataLst>
              <p:tags r:id="rId1"/>
            </p:custDataLst>
          </p:nvPr>
        </p:nvPicPr>
        <p:blipFill>
          <a:blip>
            <a:extLst>
              <a:ext uri="{96DAC541-7B7A-43D3-8B79-37D633B846F1}">
                <asvg:svgBlip xmlns:asvg="http://schemas.microsoft.com/office/drawing/2016/SVG/main" r:embed="rId4"/>
              </a:ext>
            </a:extLst>
          </a:blip>
          <a:srcRect l="29063" t="53913" r="28437" b="24533"/>
          <a:stretch>
            <a:fillRect/>
          </a:stretch>
        </p:blipFill>
        <p:spPr>
          <a:xfrm>
            <a:off x="450167" y="2173120"/>
            <a:ext cx="17387665" cy="7447491"/>
          </a:xfrm>
          <a:prstGeom prst="rect">
            <a:avLst/>
          </a:prstGeom>
        </p:spPr>
      </p:pic>
      <p:sp>
        <p:nvSpPr>
          <p:cNvPr id="8" name="Slide Number Placeholder 7">
            <a:extLst>
              <a:ext uri="{FF2B5EF4-FFF2-40B4-BE49-F238E27FC236}">
                <a16:creationId xmlns:a16="http://schemas.microsoft.com/office/drawing/2014/main" id="{5B8E8AE4-3BF5-766B-4F92-DB4140D1D27D}"/>
              </a:ext>
            </a:extLst>
          </p:cNvPr>
          <p:cNvSpPr>
            <a:spLocks noGrp="1"/>
          </p:cNvSpPr>
          <p:nvPr>
            <p:ph type="sldNum" sz="quarter" idx="12"/>
          </p:nvPr>
        </p:nvSpPr>
        <p:spPr/>
        <p:txBody>
          <a:bodyPr/>
          <a:lstStyle/>
          <a:p>
            <a:fld id="{B6F15528-21DE-4FAA-801E-634DDDAF4B2B}" type="slidenum">
              <a:rPr lang="en-US" smtClean="0"/>
              <a:pPr/>
              <a:t>77</a:t>
            </a:fld>
            <a:endParaRPr lang="en-US" sz="1800"/>
          </a:p>
        </p:txBody>
      </p:sp>
      <p:sp>
        <p:nvSpPr>
          <p:cNvPr id="6" name="TextBox 5">
            <a:extLst>
              <a:ext uri="{FF2B5EF4-FFF2-40B4-BE49-F238E27FC236}">
                <a16:creationId xmlns:a16="http://schemas.microsoft.com/office/drawing/2014/main" id="{77B0E379-B1D3-CA78-ED4A-978886517977}"/>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BLE Communication Flow Using ESP32</a:t>
            </a:r>
          </a:p>
        </p:txBody>
      </p:sp>
    </p:spTree>
    <p:extLst>
      <p:ext uri="{BB962C8B-B14F-4D97-AF65-F5344CB8AC3E}">
        <p14:creationId xmlns:p14="http://schemas.microsoft.com/office/powerpoint/2010/main" val="42187131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144C6-BD27-1515-7237-A7FE5F3A1C7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DC68189-585D-A600-3813-9A1185DD6ADF}"/>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6D0D5DEA-EE68-9DEF-6E04-2DA7CF3B24AD}"/>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C5C3AC30-9F39-4A63-4247-4EA642E84F8C}"/>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F65C8D08-071C-48E4-F3F9-5C312E8F42DA}"/>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5" name="Group 3">
            <a:extLst>
              <a:ext uri="{FF2B5EF4-FFF2-40B4-BE49-F238E27FC236}">
                <a16:creationId xmlns:a16="http://schemas.microsoft.com/office/drawing/2014/main" id="{0144DC51-6C53-4377-B180-F4A89277AAAB}"/>
              </a:ext>
            </a:extLst>
          </p:cNvPr>
          <p:cNvGrpSpPr/>
          <p:nvPr/>
        </p:nvGrpSpPr>
        <p:grpSpPr>
          <a:xfrm>
            <a:off x="13394117" y="9449522"/>
            <a:ext cx="5245100" cy="1332778"/>
            <a:chOff x="0" y="0"/>
            <a:chExt cx="1381426" cy="351020"/>
          </a:xfrm>
        </p:grpSpPr>
        <p:sp>
          <p:nvSpPr>
            <p:cNvPr id="26" name="Freeform 4">
              <a:extLst>
                <a:ext uri="{FF2B5EF4-FFF2-40B4-BE49-F238E27FC236}">
                  <a16:creationId xmlns:a16="http://schemas.microsoft.com/office/drawing/2014/main" id="{7CDCD7C3-D00F-9DF0-DE7B-D6927EEBEB14}"/>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7" name="TextBox 5">
              <a:extLst>
                <a:ext uri="{FF2B5EF4-FFF2-40B4-BE49-F238E27FC236}">
                  <a16:creationId xmlns:a16="http://schemas.microsoft.com/office/drawing/2014/main" id="{7846B4E3-8ACF-6B12-EEC2-A63F65B86447}"/>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pic>
        <p:nvPicPr>
          <p:cNvPr id="4" name="Picture 2">
            <a:extLst>
              <a:ext uri="{FF2B5EF4-FFF2-40B4-BE49-F238E27FC236}">
                <a16:creationId xmlns:a16="http://schemas.microsoft.com/office/drawing/2014/main" id="{62CA022D-AAC4-9E61-C899-1AB3BF271263}"/>
              </a:ext>
            </a:extLst>
          </p:cNvPr>
          <p:cNvPicPr>
            <a:picLocks noChangeAspect="1"/>
          </p:cNvPicPr>
          <p:nvPr>
            <p:custDataLst>
              <p:tags r:id="rId1"/>
            </p:custDataLst>
          </p:nvPr>
        </p:nvPicPr>
        <p:blipFill>
          <a:blip>
            <a:extLst>
              <a:ext uri="{96DAC541-7B7A-43D3-8B79-37D633B846F1}">
                <asvg:svgBlip xmlns:asvg="http://schemas.microsoft.com/office/drawing/2016/SVG/main" r:embed="rId4"/>
              </a:ext>
            </a:extLst>
          </a:blip>
          <a:srcRect l="29063" t="76679" r="28437" b="555"/>
          <a:stretch>
            <a:fillRect/>
          </a:stretch>
        </p:blipFill>
        <p:spPr>
          <a:xfrm>
            <a:off x="450167" y="1990420"/>
            <a:ext cx="17387665" cy="7365594"/>
          </a:xfrm>
          <a:prstGeom prst="rect">
            <a:avLst/>
          </a:prstGeom>
        </p:spPr>
      </p:pic>
      <p:sp>
        <p:nvSpPr>
          <p:cNvPr id="6" name="Slide Number Placeholder 5">
            <a:extLst>
              <a:ext uri="{FF2B5EF4-FFF2-40B4-BE49-F238E27FC236}">
                <a16:creationId xmlns:a16="http://schemas.microsoft.com/office/drawing/2014/main" id="{8DE52E9A-DA17-8198-F530-4340D88F77BD}"/>
              </a:ext>
            </a:extLst>
          </p:cNvPr>
          <p:cNvSpPr>
            <a:spLocks noGrp="1"/>
          </p:cNvSpPr>
          <p:nvPr>
            <p:ph type="sldNum" sz="quarter" idx="12"/>
          </p:nvPr>
        </p:nvSpPr>
        <p:spPr/>
        <p:txBody>
          <a:bodyPr/>
          <a:lstStyle/>
          <a:p>
            <a:fld id="{B6F15528-21DE-4FAA-801E-634DDDAF4B2B}" type="slidenum">
              <a:rPr lang="en-US" smtClean="0"/>
              <a:pPr/>
              <a:t>78</a:t>
            </a:fld>
            <a:endParaRPr lang="en-US" sz="1800"/>
          </a:p>
        </p:txBody>
      </p:sp>
      <p:sp>
        <p:nvSpPr>
          <p:cNvPr id="2" name="TextBox 1">
            <a:extLst>
              <a:ext uri="{FF2B5EF4-FFF2-40B4-BE49-F238E27FC236}">
                <a16:creationId xmlns:a16="http://schemas.microsoft.com/office/drawing/2014/main" id="{6A2549B9-EB79-53C3-C803-8C474DE25F8E}"/>
              </a:ext>
            </a:extLst>
          </p:cNvPr>
          <p:cNvSpPr txBox="1"/>
          <p:nvPr/>
        </p:nvSpPr>
        <p:spPr>
          <a:xfrm>
            <a:off x="975002" y="1159423"/>
            <a:ext cx="125885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BLE Communication Flow Using ESP32</a:t>
            </a:r>
          </a:p>
        </p:txBody>
      </p:sp>
    </p:spTree>
    <p:extLst>
      <p:ext uri="{BB962C8B-B14F-4D97-AF65-F5344CB8AC3E}">
        <p14:creationId xmlns:p14="http://schemas.microsoft.com/office/powerpoint/2010/main" val="117003964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D93F5-F9EA-2542-16E1-24967DA6ADC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0044367-3418-8552-1C9D-20949AD6C148}"/>
              </a:ext>
            </a:extLst>
          </p:cNvPr>
          <p:cNvSpPr txBox="1"/>
          <p:nvPr/>
        </p:nvSpPr>
        <p:spPr>
          <a:xfrm>
            <a:off x="4572000" y="4958834"/>
            <a:ext cx="9144000" cy="369332"/>
          </a:xfrm>
          <a:prstGeom prst="rect">
            <a:avLst/>
          </a:prstGeom>
          <a:noFill/>
        </p:spPr>
        <p:txBody>
          <a:bodyPr wrap="square">
            <a:spAutoFit/>
          </a:bodyPr>
          <a:lstStyle/>
          <a:p>
            <a:endParaRPr lang="en-DE" dirty="0"/>
          </a:p>
        </p:txBody>
      </p:sp>
      <p:grpSp>
        <p:nvGrpSpPr>
          <p:cNvPr id="15" name="Group 3">
            <a:extLst>
              <a:ext uri="{FF2B5EF4-FFF2-40B4-BE49-F238E27FC236}">
                <a16:creationId xmlns:a16="http://schemas.microsoft.com/office/drawing/2014/main" id="{458E0419-3122-EAC5-8F17-FDD09D8DF1AD}"/>
              </a:ext>
            </a:extLst>
          </p:cNvPr>
          <p:cNvGrpSpPr/>
          <p:nvPr/>
        </p:nvGrpSpPr>
        <p:grpSpPr>
          <a:xfrm>
            <a:off x="-838200" y="-801833"/>
            <a:ext cx="5245100" cy="1332778"/>
            <a:chOff x="0" y="0"/>
            <a:chExt cx="1381426" cy="351020"/>
          </a:xfrm>
        </p:grpSpPr>
        <p:sp>
          <p:nvSpPr>
            <p:cNvPr id="18" name="Freeform 4">
              <a:extLst>
                <a:ext uri="{FF2B5EF4-FFF2-40B4-BE49-F238E27FC236}">
                  <a16:creationId xmlns:a16="http://schemas.microsoft.com/office/drawing/2014/main" id="{47D2CA12-C827-4518-72C7-0BD814168474}"/>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21" name="TextBox 5">
              <a:extLst>
                <a:ext uri="{FF2B5EF4-FFF2-40B4-BE49-F238E27FC236}">
                  <a16:creationId xmlns:a16="http://schemas.microsoft.com/office/drawing/2014/main" id="{D514844C-4BF7-57D0-FC8E-F700DF8DBC7A}"/>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2" name="Group 1">
            <a:extLst>
              <a:ext uri="{FF2B5EF4-FFF2-40B4-BE49-F238E27FC236}">
                <a16:creationId xmlns:a16="http://schemas.microsoft.com/office/drawing/2014/main" id="{E893334F-F30A-C389-C8FA-5F2E1BEDC9AB}"/>
              </a:ext>
            </a:extLst>
          </p:cNvPr>
          <p:cNvGrpSpPr/>
          <p:nvPr/>
        </p:nvGrpSpPr>
        <p:grpSpPr>
          <a:xfrm>
            <a:off x="7467600" y="132736"/>
            <a:ext cx="10662380" cy="10021527"/>
            <a:chOff x="3927110" y="269443"/>
            <a:chExt cx="10433780" cy="9756055"/>
          </a:xfrm>
        </p:grpSpPr>
        <p:pic>
          <p:nvPicPr>
            <p:cNvPr id="3" name="Picture 2">
              <a:extLst>
                <a:ext uri="{FF2B5EF4-FFF2-40B4-BE49-F238E27FC236}">
                  <a16:creationId xmlns:a16="http://schemas.microsoft.com/office/drawing/2014/main" id="{5EBFD6AB-757D-5C77-2DBD-56CD1BB175D8}"/>
                </a:ext>
              </a:extLst>
            </p:cNvPr>
            <p:cNvPicPr>
              <a:picLocks noChangeAspect="1"/>
            </p:cNvPicPr>
            <p:nvPr>
              <p:custDataLst>
                <p:tags r:id="rId1"/>
              </p:custDataLst>
            </p:nvPr>
          </p:nvPicPr>
          <p:blipFill>
            <a:blip>
              <a:extLst>
                <a:ext uri="{96DAC541-7B7A-43D3-8B79-37D633B846F1}">
                  <asvg:svgBlip xmlns:asvg="http://schemas.microsoft.com/office/drawing/2016/SVG/main" r:embed="rId3"/>
                </a:ext>
              </a:extLst>
            </a:blip>
            <a:srcRect l="29063" t="555" r="28437" b="555"/>
            <a:stretch>
              <a:fillRect/>
            </a:stretch>
          </p:blipFill>
          <p:spPr>
            <a:xfrm>
              <a:off x="3927110" y="269443"/>
              <a:ext cx="10433780" cy="9756055"/>
            </a:xfrm>
            <a:prstGeom prst="rect">
              <a:avLst/>
            </a:prstGeom>
          </p:spPr>
        </p:pic>
        <p:pic>
          <p:nvPicPr>
            <p:cNvPr id="6" name="Picture 5">
              <a:extLst>
                <a:ext uri="{FF2B5EF4-FFF2-40B4-BE49-F238E27FC236}">
                  <a16:creationId xmlns:a16="http://schemas.microsoft.com/office/drawing/2014/main" id="{8F13BCE5-7B9A-E513-E835-0B10F69ED0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729991" y="686241"/>
              <a:ext cx="664126" cy="664126"/>
            </a:xfrm>
            <a:prstGeom prst="rect">
              <a:avLst/>
            </a:prstGeom>
          </p:spPr>
        </p:pic>
        <p:pic>
          <p:nvPicPr>
            <p:cNvPr id="8" name="Picture 7">
              <a:extLst>
                <a:ext uri="{FF2B5EF4-FFF2-40B4-BE49-F238E27FC236}">
                  <a16:creationId xmlns:a16="http://schemas.microsoft.com/office/drawing/2014/main" id="{B365DC18-3702-97F8-F534-9B844EAB1C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5400000">
              <a:off x="6324600" y="1155950"/>
              <a:ext cx="1464018" cy="1464018"/>
            </a:xfrm>
            <a:prstGeom prst="rect">
              <a:avLst/>
            </a:prstGeom>
          </p:spPr>
        </p:pic>
        <p:pic>
          <p:nvPicPr>
            <p:cNvPr id="10" name="Picture 9">
              <a:extLst>
                <a:ext uri="{FF2B5EF4-FFF2-40B4-BE49-F238E27FC236}">
                  <a16:creationId xmlns:a16="http://schemas.microsoft.com/office/drawing/2014/main" id="{225F729A-60E4-DBB2-016B-F35A1A9FBBF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05800" y="608878"/>
              <a:ext cx="457200" cy="457200"/>
            </a:xfrm>
            <a:prstGeom prst="rect">
              <a:avLst/>
            </a:prstGeom>
          </p:spPr>
        </p:pic>
      </p:grpSp>
      <p:sp>
        <p:nvSpPr>
          <p:cNvPr id="4" name="TextBox 3">
            <a:extLst>
              <a:ext uri="{FF2B5EF4-FFF2-40B4-BE49-F238E27FC236}">
                <a16:creationId xmlns:a16="http://schemas.microsoft.com/office/drawing/2014/main" id="{EC466830-DA01-19CB-6DBF-2832DC45D558}"/>
              </a:ext>
            </a:extLst>
          </p:cNvPr>
          <p:cNvSpPr txBox="1"/>
          <p:nvPr/>
        </p:nvSpPr>
        <p:spPr>
          <a:xfrm>
            <a:off x="975003" y="1159423"/>
            <a:ext cx="5504644" cy="3046988"/>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BLE Communication Flow Using ESP32</a:t>
            </a:r>
          </a:p>
        </p:txBody>
      </p:sp>
      <p:sp>
        <p:nvSpPr>
          <p:cNvPr id="11" name="Slide Number Placeholder 10">
            <a:extLst>
              <a:ext uri="{FF2B5EF4-FFF2-40B4-BE49-F238E27FC236}">
                <a16:creationId xmlns:a16="http://schemas.microsoft.com/office/drawing/2014/main" id="{8D05EF01-B208-CB32-3102-A3452F6AB4E3}"/>
              </a:ext>
            </a:extLst>
          </p:cNvPr>
          <p:cNvSpPr>
            <a:spLocks noGrp="1"/>
          </p:cNvSpPr>
          <p:nvPr>
            <p:ph type="sldNum" sz="quarter" idx="12"/>
          </p:nvPr>
        </p:nvSpPr>
        <p:spPr/>
        <p:txBody>
          <a:bodyPr/>
          <a:lstStyle/>
          <a:p>
            <a:fld id="{B6F15528-21DE-4FAA-801E-634DDDAF4B2B}" type="slidenum">
              <a:rPr lang="en-US" smtClean="0"/>
              <a:pPr/>
              <a:t>79</a:t>
            </a:fld>
            <a:endParaRPr lang="en-US" sz="1800"/>
          </a:p>
        </p:txBody>
      </p:sp>
    </p:spTree>
    <p:extLst>
      <p:ext uri="{BB962C8B-B14F-4D97-AF65-F5344CB8AC3E}">
        <p14:creationId xmlns:p14="http://schemas.microsoft.com/office/powerpoint/2010/main" val="1579858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48BE6-A2C1-DC14-6D97-AAC09570DFE9}"/>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DE5438BF-E6E2-D623-202A-EA706B7DEC7B}"/>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F7826EE3-1AF5-AD93-8913-5CBE89DAFFCB}"/>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8F2B85AD-5B74-8261-9049-C9419D8E3E00}"/>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CAA71483-45CE-E3FD-E5FB-5BF92198ACD6}"/>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77F08B7E-45AF-0E65-A2C7-37E514645C3C}"/>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74A13F62-378E-490B-59FB-1D238E45E491}"/>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32DD57C4-2645-A977-CC7C-854A6D1D70D6}"/>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Testing Tools</a:t>
            </a:r>
          </a:p>
        </p:txBody>
      </p:sp>
      <p:grpSp>
        <p:nvGrpSpPr>
          <p:cNvPr id="6" name="Group 5">
            <a:extLst>
              <a:ext uri="{FF2B5EF4-FFF2-40B4-BE49-F238E27FC236}">
                <a16:creationId xmlns:a16="http://schemas.microsoft.com/office/drawing/2014/main" id="{362F473F-4D1F-A5B1-EEDD-057BABAAD63F}"/>
              </a:ext>
            </a:extLst>
          </p:cNvPr>
          <p:cNvGrpSpPr/>
          <p:nvPr/>
        </p:nvGrpSpPr>
        <p:grpSpPr>
          <a:xfrm>
            <a:off x="2209800" y="3319540"/>
            <a:ext cx="6148141" cy="4007124"/>
            <a:chOff x="2209800" y="3319540"/>
            <a:chExt cx="6148141" cy="4007124"/>
          </a:xfrm>
        </p:grpSpPr>
        <p:pic>
          <p:nvPicPr>
            <p:cNvPr id="7" name="Picture 6">
              <a:extLst>
                <a:ext uri="{FF2B5EF4-FFF2-40B4-BE49-F238E27FC236}">
                  <a16:creationId xmlns:a16="http://schemas.microsoft.com/office/drawing/2014/main" id="{B5C00D76-0258-15D6-35CC-ECA9EF63BFD6}"/>
                </a:ext>
              </a:extLst>
            </p:cNvPr>
            <p:cNvPicPr>
              <a:picLocks noChangeAspect="1"/>
            </p:cNvPicPr>
            <p:nvPr/>
          </p:nvPicPr>
          <p:blipFill>
            <a:blip r:embed="rId2"/>
            <a:srcRect l="30176" t="45918" r="34426" b="26871"/>
            <a:stretch>
              <a:fillRect/>
            </a:stretch>
          </p:blipFill>
          <p:spPr>
            <a:xfrm rot="5400000">
              <a:off x="5352597" y="4321320"/>
              <a:ext cx="4007124" cy="2003564"/>
            </a:xfrm>
            <a:prstGeom prst="rect">
              <a:avLst/>
            </a:prstGeom>
          </p:spPr>
        </p:pic>
        <p:sp>
          <p:nvSpPr>
            <p:cNvPr id="29" name="TextBox 13">
              <a:extLst>
                <a:ext uri="{FF2B5EF4-FFF2-40B4-BE49-F238E27FC236}">
                  <a16:creationId xmlns:a16="http://schemas.microsoft.com/office/drawing/2014/main" id="{18B2713B-FE13-7284-8D96-56A1AED2847B}"/>
                </a:ext>
              </a:extLst>
            </p:cNvPr>
            <p:cNvSpPr txBox="1"/>
            <p:nvPr/>
          </p:nvSpPr>
          <p:spPr>
            <a:xfrm>
              <a:off x="2209800" y="4887660"/>
              <a:ext cx="4328010" cy="1050288"/>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Build / Test</a:t>
              </a:r>
              <a:br>
                <a:rPr lang="en-US" sz="3000" b="1" dirty="0">
                  <a:solidFill>
                    <a:schemeClr val="tx2"/>
                  </a:solidFill>
                  <a:latin typeface="Poppins Bold"/>
                  <a:ea typeface="Poppins Bold"/>
                  <a:cs typeface="Poppins Bold"/>
                  <a:sym typeface="Poppins Bold"/>
                </a:rPr>
              </a:br>
              <a:r>
                <a:rPr lang="en-US" sz="3000" b="1" dirty="0">
                  <a:solidFill>
                    <a:schemeClr val="tx2"/>
                  </a:solidFill>
                  <a:latin typeface="Poppins Bold"/>
                  <a:ea typeface="Poppins Bold"/>
                  <a:cs typeface="Poppins Bold"/>
                  <a:sym typeface="Poppins Bold"/>
                </a:rPr>
                <a:t>(PC)</a:t>
              </a:r>
            </a:p>
          </p:txBody>
        </p:sp>
      </p:grpSp>
      <p:grpSp>
        <p:nvGrpSpPr>
          <p:cNvPr id="9" name="Group 8">
            <a:extLst>
              <a:ext uri="{FF2B5EF4-FFF2-40B4-BE49-F238E27FC236}">
                <a16:creationId xmlns:a16="http://schemas.microsoft.com/office/drawing/2014/main" id="{1D908E3A-B7D0-C40E-207D-D18583644EC8}"/>
              </a:ext>
            </a:extLst>
          </p:cNvPr>
          <p:cNvGrpSpPr/>
          <p:nvPr/>
        </p:nvGrpSpPr>
        <p:grpSpPr>
          <a:xfrm>
            <a:off x="9584839" y="6456892"/>
            <a:ext cx="4328010" cy="2664415"/>
            <a:chOff x="8854590" y="6726834"/>
            <a:chExt cx="4328010" cy="2664415"/>
          </a:xfrm>
        </p:grpSpPr>
        <p:sp>
          <p:nvSpPr>
            <p:cNvPr id="21" name="TextBox 13">
              <a:extLst>
                <a:ext uri="{FF2B5EF4-FFF2-40B4-BE49-F238E27FC236}">
                  <a16:creationId xmlns:a16="http://schemas.microsoft.com/office/drawing/2014/main" id="{46B3DAF0-F1B6-6E38-C2BF-8BFCAB416EAA}"/>
                </a:ext>
              </a:extLst>
            </p:cNvPr>
            <p:cNvSpPr txBox="1"/>
            <p:nvPr/>
          </p:nvSpPr>
          <p:spPr>
            <a:xfrm>
              <a:off x="8854590" y="6726834"/>
              <a:ext cx="432801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BLE Server</a:t>
              </a:r>
            </a:p>
          </p:txBody>
        </p:sp>
        <p:sp>
          <p:nvSpPr>
            <p:cNvPr id="25" name="TextBox 14">
              <a:extLst>
                <a:ext uri="{FF2B5EF4-FFF2-40B4-BE49-F238E27FC236}">
                  <a16:creationId xmlns:a16="http://schemas.microsoft.com/office/drawing/2014/main" id="{FBEB4B0E-A83F-6304-08D1-D1E4C901AAB7}"/>
                </a:ext>
              </a:extLst>
            </p:cNvPr>
            <p:cNvSpPr txBox="1"/>
            <p:nvPr/>
          </p:nvSpPr>
          <p:spPr>
            <a:xfrm>
              <a:off x="10505514" y="7394257"/>
              <a:ext cx="1248975" cy="492443"/>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sz="3200" dirty="0"/>
                <a:t>ESP32</a:t>
              </a:r>
            </a:p>
          </p:txBody>
        </p:sp>
        <p:pic>
          <p:nvPicPr>
            <p:cNvPr id="40" name="Picture 39">
              <a:extLst>
                <a:ext uri="{FF2B5EF4-FFF2-40B4-BE49-F238E27FC236}">
                  <a16:creationId xmlns:a16="http://schemas.microsoft.com/office/drawing/2014/main" id="{261CB2EF-ABB8-BF80-ED57-312C7F5F16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54615" y="7640478"/>
              <a:ext cx="1750771" cy="1750771"/>
            </a:xfrm>
            <a:prstGeom prst="rect">
              <a:avLst/>
            </a:prstGeom>
          </p:spPr>
        </p:pic>
      </p:grpSp>
      <p:sp>
        <p:nvSpPr>
          <p:cNvPr id="12" name="Slide Number Placeholder 11">
            <a:extLst>
              <a:ext uri="{FF2B5EF4-FFF2-40B4-BE49-F238E27FC236}">
                <a16:creationId xmlns:a16="http://schemas.microsoft.com/office/drawing/2014/main" id="{BB711F8C-CE4D-68CB-B56E-C84A36FF6F33}"/>
              </a:ext>
            </a:extLst>
          </p:cNvPr>
          <p:cNvSpPr>
            <a:spLocks noGrp="1"/>
          </p:cNvSpPr>
          <p:nvPr>
            <p:ph type="sldNum" sz="quarter" idx="12"/>
          </p:nvPr>
        </p:nvSpPr>
        <p:spPr/>
        <p:txBody>
          <a:bodyPr/>
          <a:lstStyle/>
          <a:p>
            <a:fld id="{B6F15528-21DE-4FAA-801E-634DDDAF4B2B}" type="slidenum">
              <a:rPr lang="en-US" smtClean="0"/>
              <a:pPr/>
              <a:t>80</a:t>
            </a:fld>
            <a:endParaRPr lang="en-US" sz="1800"/>
          </a:p>
        </p:txBody>
      </p:sp>
      <p:grpSp>
        <p:nvGrpSpPr>
          <p:cNvPr id="23" name="Group 22">
            <a:extLst>
              <a:ext uri="{FF2B5EF4-FFF2-40B4-BE49-F238E27FC236}">
                <a16:creationId xmlns:a16="http://schemas.microsoft.com/office/drawing/2014/main" id="{473F90D5-5947-5C6E-6B8F-D03883F246B3}"/>
              </a:ext>
            </a:extLst>
          </p:cNvPr>
          <p:cNvGrpSpPr/>
          <p:nvPr/>
        </p:nvGrpSpPr>
        <p:grpSpPr>
          <a:xfrm>
            <a:off x="8518382" y="2332087"/>
            <a:ext cx="8017018" cy="3134721"/>
            <a:chOff x="8518382" y="2332087"/>
            <a:chExt cx="8017018" cy="3134721"/>
          </a:xfrm>
        </p:grpSpPr>
        <p:sp>
          <p:nvSpPr>
            <p:cNvPr id="24" name="TextBox 13">
              <a:extLst>
                <a:ext uri="{FF2B5EF4-FFF2-40B4-BE49-F238E27FC236}">
                  <a16:creationId xmlns:a16="http://schemas.microsoft.com/office/drawing/2014/main" id="{0B445092-2A79-F161-1FD7-DCDB82D3D359}"/>
                </a:ext>
              </a:extLst>
            </p:cNvPr>
            <p:cNvSpPr txBox="1"/>
            <p:nvPr/>
          </p:nvSpPr>
          <p:spPr>
            <a:xfrm>
              <a:off x="8518382" y="2332087"/>
              <a:ext cx="7864618"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BLE Client</a:t>
              </a:r>
            </a:p>
          </p:txBody>
        </p:sp>
        <p:sp>
          <p:nvSpPr>
            <p:cNvPr id="26" name="TextBox 14">
              <a:extLst>
                <a:ext uri="{FF2B5EF4-FFF2-40B4-BE49-F238E27FC236}">
                  <a16:creationId xmlns:a16="http://schemas.microsoft.com/office/drawing/2014/main" id="{23838B44-0147-B9EE-8665-60C92233746C}"/>
                </a:ext>
              </a:extLst>
            </p:cNvPr>
            <p:cNvSpPr txBox="1"/>
            <p:nvPr/>
          </p:nvSpPr>
          <p:spPr>
            <a:xfrm>
              <a:off x="8784855" y="3026724"/>
              <a:ext cx="3984764" cy="738664"/>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r>
                <a:rPr lang="en-US" dirty="0"/>
                <a:t>brave://bluetooth-internals/#devices</a:t>
              </a:r>
            </a:p>
          </p:txBody>
        </p:sp>
        <p:pic>
          <p:nvPicPr>
            <p:cNvPr id="28" name="Picture 27">
              <a:extLst>
                <a:ext uri="{FF2B5EF4-FFF2-40B4-BE49-F238E27FC236}">
                  <a16:creationId xmlns:a16="http://schemas.microsoft.com/office/drawing/2014/main" id="{7A25CF19-4763-DDCD-6388-4F03AD2CFCAD}"/>
                </a:ext>
              </a:extLst>
            </p:cNvPr>
            <p:cNvPicPr>
              <a:picLocks noChangeAspect="1"/>
            </p:cNvPicPr>
            <p:nvPr/>
          </p:nvPicPr>
          <p:blipFill>
            <a:blip r:embed="rId4" cstate="print">
              <a:extLst>
                <a:ext uri="{28A0092B-C50C-407E-A947-70E740481C1C}">
                  <a14:useLocalDpi xmlns:a14="http://schemas.microsoft.com/office/drawing/2010/main" val="0"/>
                </a:ext>
              </a:extLst>
            </a:blip>
            <a:srcRect l="13390" t="5611" r="11887" b="10027"/>
            <a:stretch>
              <a:fillRect/>
            </a:stretch>
          </p:blipFill>
          <p:spPr>
            <a:xfrm>
              <a:off x="9963904" y="3846555"/>
              <a:ext cx="1214156" cy="1507865"/>
            </a:xfrm>
            <a:prstGeom prst="rect">
              <a:avLst/>
            </a:prstGeom>
          </p:spPr>
        </p:pic>
        <p:pic>
          <p:nvPicPr>
            <p:cNvPr id="30" name="Picture 29">
              <a:extLst>
                <a:ext uri="{FF2B5EF4-FFF2-40B4-BE49-F238E27FC236}">
                  <a16:creationId xmlns:a16="http://schemas.microsoft.com/office/drawing/2014/main" id="{D808B208-EABB-B05B-B2DA-4A11E8DADA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782675" y="3933283"/>
              <a:ext cx="1533525" cy="1533525"/>
            </a:xfrm>
            <a:prstGeom prst="rect">
              <a:avLst/>
            </a:prstGeom>
          </p:spPr>
        </p:pic>
        <p:sp>
          <p:nvSpPr>
            <p:cNvPr id="31" name="TextBox 14">
              <a:extLst>
                <a:ext uri="{FF2B5EF4-FFF2-40B4-BE49-F238E27FC236}">
                  <a16:creationId xmlns:a16="http://schemas.microsoft.com/office/drawing/2014/main" id="{30AE4760-4D0E-A0A8-C553-9B4763795242}"/>
                </a:ext>
              </a:extLst>
            </p:cNvPr>
            <p:cNvSpPr txBox="1"/>
            <p:nvPr/>
          </p:nvSpPr>
          <p:spPr>
            <a:xfrm>
              <a:off x="12550636" y="3162300"/>
              <a:ext cx="3984764" cy="369332"/>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r>
                <a:rPr lang="en-US" dirty="0"/>
                <a:t>Bluetooth LE explorer</a:t>
              </a:r>
            </a:p>
          </p:txBody>
        </p:sp>
      </p:grpSp>
      <p:sp>
        <p:nvSpPr>
          <p:cNvPr id="32" name="TextBox 7">
            <a:extLst>
              <a:ext uri="{FF2B5EF4-FFF2-40B4-BE49-F238E27FC236}">
                <a16:creationId xmlns:a16="http://schemas.microsoft.com/office/drawing/2014/main" id="{ABC62676-7D42-1E86-C3D6-5278B6FD0FA2}"/>
              </a:ext>
            </a:extLst>
          </p:cNvPr>
          <p:cNvSpPr txBox="1"/>
          <p:nvPr/>
        </p:nvSpPr>
        <p:spPr>
          <a:xfrm>
            <a:off x="975002" y="2021295"/>
            <a:ext cx="14264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Server (esp32), Client (PC)</a:t>
            </a:r>
          </a:p>
        </p:txBody>
      </p:sp>
    </p:spTree>
    <p:extLst>
      <p:ext uri="{BB962C8B-B14F-4D97-AF65-F5344CB8AC3E}">
        <p14:creationId xmlns:p14="http://schemas.microsoft.com/office/powerpoint/2010/main" val="308131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59CFA-DE27-E3F4-864A-4D011DEDFE98}"/>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B59AC1AA-7205-83EE-7089-8260DDE9A9A0}"/>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BF63180B-C27E-8798-3CEE-74CAE680E110}"/>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F167F1E1-F9A3-BBCA-0941-B84F63845578}"/>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EE333773-C9C8-100F-F781-40D67DF7BC02}"/>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BA9C7A98-CD2E-2D26-C971-2D60D7BD8B80}"/>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AB21AB44-317C-C0D9-361F-5183AC2613F2}"/>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1F777C4A-EEE4-9D9F-2883-295D54F2C65A}"/>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Testing Tools</a:t>
            </a:r>
          </a:p>
        </p:txBody>
      </p:sp>
      <p:grpSp>
        <p:nvGrpSpPr>
          <p:cNvPr id="6" name="Group 5">
            <a:extLst>
              <a:ext uri="{FF2B5EF4-FFF2-40B4-BE49-F238E27FC236}">
                <a16:creationId xmlns:a16="http://schemas.microsoft.com/office/drawing/2014/main" id="{EC2F2B9C-0DEB-E851-AA8A-6627EBAF0E7C}"/>
              </a:ext>
            </a:extLst>
          </p:cNvPr>
          <p:cNvGrpSpPr/>
          <p:nvPr/>
        </p:nvGrpSpPr>
        <p:grpSpPr>
          <a:xfrm>
            <a:off x="2209800" y="3319540"/>
            <a:ext cx="6148141" cy="4007124"/>
            <a:chOff x="2209800" y="3319540"/>
            <a:chExt cx="6148141" cy="4007124"/>
          </a:xfrm>
        </p:grpSpPr>
        <p:pic>
          <p:nvPicPr>
            <p:cNvPr id="7" name="Picture 6">
              <a:extLst>
                <a:ext uri="{FF2B5EF4-FFF2-40B4-BE49-F238E27FC236}">
                  <a16:creationId xmlns:a16="http://schemas.microsoft.com/office/drawing/2014/main" id="{E31990E3-6653-5F80-8FB9-0872193CC4C1}"/>
                </a:ext>
              </a:extLst>
            </p:cNvPr>
            <p:cNvPicPr>
              <a:picLocks noChangeAspect="1"/>
            </p:cNvPicPr>
            <p:nvPr/>
          </p:nvPicPr>
          <p:blipFill>
            <a:blip r:embed="rId2"/>
            <a:srcRect l="30176" t="45918" r="34426" b="26871"/>
            <a:stretch>
              <a:fillRect/>
            </a:stretch>
          </p:blipFill>
          <p:spPr>
            <a:xfrm rot="5400000">
              <a:off x="5352597" y="4321320"/>
              <a:ext cx="4007124" cy="2003564"/>
            </a:xfrm>
            <a:prstGeom prst="rect">
              <a:avLst/>
            </a:prstGeom>
          </p:spPr>
        </p:pic>
        <p:sp>
          <p:nvSpPr>
            <p:cNvPr id="29" name="TextBox 13">
              <a:extLst>
                <a:ext uri="{FF2B5EF4-FFF2-40B4-BE49-F238E27FC236}">
                  <a16:creationId xmlns:a16="http://schemas.microsoft.com/office/drawing/2014/main" id="{54A2FE43-0B64-ECDD-49AE-8B31940F00C5}"/>
                </a:ext>
              </a:extLst>
            </p:cNvPr>
            <p:cNvSpPr txBox="1"/>
            <p:nvPr/>
          </p:nvSpPr>
          <p:spPr>
            <a:xfrm>
              <a:off x="2209800" y="4887660"/>
              <a:ext cx="4328010" cy="1050288"/>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Build / Test</a:t>
              </a:r>
              <a:br>
                <a:rPr lang="en-US" sz="3000" b="1" dirty="0">
                  <a:solidFill>
                    <a:schemeClr val="tx2"/>
                  </a:solidFill>
                  <a:latin typeface="Poppins Bold"/>
                  <a:ea typeface="Poppins Bold"/>
                  <a:cs typeface="Poppins Bold"/>
                  <a:sym typeface="Poppins Bold"/>
                </a:rPr>
              </a:br>
              <a:r>
                <a:rPr lang="en-US" sz="3000" b="1" dirty="0">
                  <a:solidFill>
                    <a:schemeClr val="tx2"/>
                  </a:solidFill>
                  <a:latin typeface="Poppins Bold"/>
                  <a:ea typeface="Poppins Bold"/>
                  <a:cs typeface="Poppins Bold"/>
                  <a:sym typeface="Poppins Bold"/>
                </a:rPr>
                <a:t>(Phone)</a:t>
              </a:r>
            </a:p>
          </p:txBody>
        </p:sp>
      </p:grpSp>
      <p:grpSp>
        <p:nvGrpSpPr>
          <p:cNvPr id="8" name="Group 7">
            <a:extLst>
              <a:ext uri="{FF2B5EF4-FFF2-40B4-BE49-F238E27FC236}">
                <a16:creationId xmlns:a16="http://schemas.microsoft.com/office/drawing/2014/main" id="{16715534-4252-29F0-2721-AA219F997E5C}"/>
              </a:ext>
            </a:extLst>
          </p:cNvPr>
          <p:cNvGrpSpPr/>
          <p:nvPr/>
        </p:nvGrpSpPr>
        <p:grpSpPr>
          <a:xfrm>
            <a:off x="8867560" y="2628900"/>
            <a:ext cx="5606232" cy="2594441"/>
            <a:chOff x="8867560" y="2926715"/>
            <a:chExt cx="5606232" cy="2594441"/>
          </a:xfrm>
        </p:grpSpPr>
        <p:sp>
          <p:nvSpPr>
            <p:cNvPr id="19" name="TextBox 13">
              <a:extLst>
                <a:ext uri="{FF2B5EF4-FFF2-40B4-BE49-F238E27FC236}">
                  <a16:creationId xmlns:a16="http://schemas.microsoft.com/office/drawing/2014/main" id="{66582A6D-7603-DEE4-D042-633381B4CB08}"/>
                </a:ext>
              </a:extLst>
            </p:cNvPr>
            <p:cNvSpPr txBox="1"/>
            <p:nvPr/>
          </p:nvSpPr>
          <p:spPr>
            <a:xfrm>
              <a:off x="9681282" y="2926715"/>
              <a:ext cx="432801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BLE Client</a:t>
              </a:r>
            </a:p>
          </p:txBody>
        </p:sp>
        <p:sp>
          <p:nvSpPr>
            <p:cNvPr id="23" name="TextBox 14">
              <a:extLst>
                <a:ext uri="{FF2B5EF4-FFF2-40B4-BE49-F238E27FC236}">
                  <a16:creationId xmlns:a16="http://schemas.microsoft.com/office/drawing/2014/main" id="{E149343C-34D4-ED25-A371-9768A5B02C0C}"/>
                </a:ext>
              </a:extLst>
            </p:cNvPr>
            <p:cNvSpPr txBox="1"/>
            <p:nvPr/>
          </p:nvSpPr>
          <p:spPr>
            <a:xfrm>
              <a:off x="8867560" y="3736483"/>
              <a:ext cx="2566739" cy="492443"/>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sz="3200" dirty="0" err="1"/>
                <a:t>nRF</a:t>
              </a:r>
              <a:r>
                <a:rPr lang="en-US" dirty="0"/>
                <a:t> </a:t>
              </a:r>
              <a:r>
                <a:rPr lang="en-US" sz="3200" dirty="0"/>
                <a:t>Connect</a:t>
              </a:r>
              <a:endParaRPr lang="en-US" dirty="0"/>
            </a:p>
          </p:txBody>
        </p:sp>
        <p:sp>
          <p:nvSpPr>
            <p:cNvPr id="27" name="TextBox 14">
              <a:extLst>
                <a:ext uri="{FF2B5EF4-FFF2-40B4-BE49-F238E27FC236}">
                  <a16:creationId xmlns:a16="http://schemas.microsoft.com/office/drawing/2014/main" id="{8E5AABAD-4026-B002-1089-F747DC9F02BD}"/>
                </a:ext>
              </a:extLst>
            </p:cNvPr>
            <p:cNvSpPr txBox="1"/>
            <p:nvPr/>
          </p:nvSpPr>
          <p:spPr>
            <a:xfrm>
              <a:off x="12470228" y="3721581"/>
              <a:ext cx="2003564" cy="492443"/>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sz="3200" dirty="0" err="1"/>
                <a:t>LightBlue</a:t>
              </a:r>
              <a:endParaRPr lang="en-US" sz="3200" dirty="0"/>
            </a:p>
          </p:txBody>
        </p:sp>
        <p:pic>
          <p:nvPicPr>
            <p:cNvPr id="36" name="Picture 35">
              <a:extLst>
                <a:ext uri="{FF2B5EF4-FFF2-40B4-BE49-F238E27FC236}">
                  <a16:creationId xmlns:a16="http://schemas.microsoft.com/office/drawing/2014/main" id="{EA403025-786D-5AF2-3373-9428B3667E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9619" y="4378537"/>
              <a:ext cx="1142619" cy="1142619"/>
            </a:xfrm>
            <a:prstGeom prst="rect">
              <a:avLst/>
            </a:prstGeom>
          </p:spPr>
        </p:pic>
        <p:pic>
          <p:nvPicPr>
            <p:cNvPr id="38" name="Picture 37">
              <a:extLst>
                <a:ext uri="{FF2B5EF4-FFF2-40B4-BE49-F238E27FC236}">
                  <a16:creationId xmlns:a16="http://schemas.microsoft.com/office/drawing/2014/main" id="{1D5C2181-7C4C-0691-5E4F-C7EDBA0C326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831504" y="4378537"/>
              <a:ext cx="1142619" cy="1142619"/>
            </a:xfrm>
            <a:prstGeom prst="rect">
              <a:avLst/>
            </a:prstGeom>
          </p:spPr>
        </p:pic>
      </p:grpSp>
      <p:grpSp>
        <p:nvGrpSpPr>
          <p:cNvPr id="9" name="Group 8">
            <a:extLst>
              <a:ext uri="{FF2B5EF4-FFF2-40B4-BE49-F238E27FC236}">
                <a16:creationId xmlns:a16="http://schemas.microsoft.com/office/drawing/2014/main" id="{AD8414A5-DAEF-60BB-051B-7A7DA75EE565}"/>
              </a:ext>
            </a:extLst>
          </p:cNvPr>
          <p:cNvGrpSpPr/>
          <p:nvPr/>
        </p:nvGrpSpPr>
        <p:grpSpPr>
          <a:xfrm>
            <a:off x="9584839" y="6456892"/>
            <a:ext cx="4328010" cy="2664415"/>
            <a:chOff x="8854590" y="6726834"/>
            <a:chExt cx="4328010" cy="2664415"/>
          </a:xfrm>
        </p:grpSpPr>
        <p:sp>
          <p:nvSpPr>
            <p:cNvPr id="21" name="TextBox 13">
              <a:extLst>
                <a:ext uri="{FF2B5EF4-FFF2-40B4-BE49-F238E27FC236}">
                  <a16:creationId xmlns:a16="http://schemas.microsoft.com/office/drawing/2014/main" id="{59FDBBB0-02AB-E9B4-FCB5-35D945BDF5A8}"/>
                </a:ext>
              </a:extLst>
            </p:cNvPr>
            <p:cNvSpPr txBox="1"/>
            <p:nvPr/>
          </p:nvSpPr>
          <p:spPr>
            <a:xfrm>
              <a:off x="8854590" y="6726834"/>
              <a:ext cx="432801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BLE Server</a:t>
              </a:r>
            </a:p>
          </p:txBody>
        </p:sp>
        <p:sp>
          <p:nvSpPr>
            <p:cNvPr id="25" name="TextBox 14">
              <a:extLst>
                <a:ext uri="{FF2B5EF4-FFF2-40B4-BE49-F238E27FC236}">
                  <a16:creationId xmlns:a16="http://schemas.microsoft.com/office/drawing/2014/main" id="{7E5B1E9B-C40B-B5E7-5F79-90C10D95CFAE}"/>
                </a:ext>
              </a:extLst>
            </p:cNvPr>
            <p:cNvSpPr txBox="1"/>
            <p:nvPr/>
          </p:nvSpPr>
          <p:spPr>
            <a:xfrm>
              <a:off x="10505514" y="7394257"/>
              <a:ext cx="1248975" cy="492443"/>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sz="3200" dirty="0"/>
                <a:t>ESP32</a:t>
              </a:r>
            </a:p>
          </p:txBody>
        </p:sp>
        <p:pic>
          <p:nvPicPr>
            <p:cNvPr id="40" name="Picture 39">
              <a:extLst>
                <a:ext uri="{FF2B5EF4-FFF2-40B4-BE49-F238E27FC236}">
                  <a16:creationId xmlns:a16="http://schemas.microsoft.com/office/drawing/2014/main" id="{2FCE0FA8-38AA-4E0E-3F93-1D84BF9D812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54615" y="7640478"/>
              <a:ext cx="1750771" cy="1750771"/>
            </a:xfrm>
            <a:prstGeom prst="rect">
              <a:avLst/>
            </a:prstGeom>
          </p:spPr>
        </p:pic>
      </p:grpSp>
      <p:sp>
        <p:nvSpPr>
          <p:cNvPr id="12" name="Slide Number Placeholder 11">
            <a:extLst>
              <a:ext uri="{FF2B5EF4-FFF2-40B4-BE49-F238E27FC236}">
                <a16:creationId xmlns:a16="http://schemas.microsoft.com/office/drawing/2014/main" id="{2A2EAF73-1157-EC23-06E5-89664531B17D}"/>
              </a:ext>
            </a:extLst>
          </p:cNvPr>
          <p:cNvSpPr>
            <a:spLocks noGrp="1"/>
          </p:cNvSpPr>
          <p:nvPr>
            <p:ph type="sldNum" sz="quarter" idx="12"/>
          </p:nvPr>
        </p:nvSpPr>
        <p:spPr/>
        <p:txBody>
          <a:bodyPr/>
          <a:lstStyle/>
          <a:p>
            <a:fld id="{B6F15528-21DE-4FAA-801E-634DDDAF4B2B}" type="slidenum">
              <a:rPr lang="en-US" smtClean="0"/>
              <a:pPr/>
              <a:t>81</a:t>
            </a:fld>
            <a:endParaRPr lang="en-US" sz="1800"/>
          </a:p>
        </p:txBody>
      </p:sp>
      <p:sp>
        <p:nvSpPr>
          <p:cNvPr id="10" name="TextBox 7">
            <a:extLst>
              <a:ext uri="{FF2B5EF4-FFF2-40B4-BE49-F238E27FC236}">
                <a16:creationId xmlns:a16="http://schemas.microsoft.com/office/drawing/2014/main" id="{4AD9B977-9EB8-89A7-BBDE-7B62130E4D92}"/>
              </a:ext>
            </a:extLst>
          </p:cNvPr>
          <p:cNvSpPr txBox="1"/>
          <p:nvPr/>
        </p:nvSpPr>
        <p:spPr>
          <a:xfrm>
            <a:off x="975002" y="2021295"/>
            <a:ext cx="14264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Server (PC), Client (esp32)</a:t>
            </a:r>
          </a:p>
        </p:txBody>
      </p:sp>
    </p:spTree>
    <p:extLst>
      <p:ext uri="{BB962C8B-B14F-4D97-AF65-F5344CB8AC3E}">
        <p14:creationId xmlns:p14="http://schemas.microsoft.com/office/powerpoint/2010/main" val="3520131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35D10-3FFF-5A8B-F7EE-D83F390F2B91}"/>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47067A94-1C14-F6B1-4691-EE99F17081D0}"/>
              </a:ext>
            </a:extLst>
          </p:cNvPr>
          <p:cNvGrpSpPr/>
          <p:nvPr/>
        </p:nvGrpSpPr>
        <p:grpSpPr>
          <a:xfrm>
            <a:off x="-1143000" y="9620611"/>
            <a:ext cx="5245100" cy="1332778"/>
            <a:chOff x="0" y="0"/>
            <a:chExt cx="1381426" cy="351020"/>
          </a:xfrm>
        </p:grpSpPr>
        <p:sp>
          <p:nvSpPr>
            <p:cNvPr id="4" name="Freeform 4">
              <a:extLst>
                <a:ext uri="{FF2B5EF4-FFF2-40B4-BE49-F238E27FC236}">
                  <a16:creationId xmlns:a16="http://schemas.microsoft.com/office/drawing/2014/main" id="{20E93452-2491-81DC-DA83-26FA4C1233D3}"/>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5" name="TextBox 5">
              <a:extLst>
                <a:ext uri="{FF2B5EF4-FFF2-40B4-BE49-F238E27FC236}">
                  <a16:creationId xmlns:a16="http://schemas.microsoft.com/office/drawing/2014/main" id="{20524EF6-9CE5-ACD4-A12E-05BD686B52BA}"/>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14" name="Group 3">
            <a:extLst>
              <a:ext uri="{FF2B5EF4-FFF2-40B4-BE49-F238E27FC236}">
                <a16:creationId xmlns:a16="http://schemas.microsoft.com/office/drawing/2014/main" id="{B6608AEC-E8DC-23EA-1DE4-3B7C0F82AEF5}"/>
              </a:ext>
            </a:extLst>
          </p:cNvPr>
          <p:cNvGrpSpPr/>
          <p:nvPr/>
        </p:nvGrpSpPr>
        <p:grpSpPr>
          <a:xfrm>
            <a:off x="13912849" y="-723900"/>
            <a:ext cx="5245100" cy="1332778"/>
            <a:chOff x="0" y="0"/>
            <a:chExt cx="1381426" cy="351020"/>
          </a:xfrm>
        </p:grpSpPr>
        <p:sp>
          <p:nvSpPr>
            <p:cNvPr id="15" name="Freeform 4">
              <a:extLst>
                <a:ext uri="{FF2B5EF4-FFF2-40B4-BE49-F238E27FC236}">
                  <a16:creationId xmlns:a16="http://schemas.microsoft.com/office/drawing/2014/main" id="{69564E02-71B1-F137-2850-6D8C77240068}"/>
                </a:ext>
              </a:extLst>
            </p:cNvPr>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en-DE"/>
            </a:p>
          </p:txBody>
        </p:sp>
        <p:sp>
          <p:nvSpPr>
            <p:cNvPr id="17" name="TextBox 5">
              <a:extLst>
                <a:ext uri="{FF2B5EF4-FFF2-40B4-BE49-F238E27FC236}">
                  <a16:creationId xmlns:a16="http://schemas.microsoft.com/office/drawing/2014/main" id="{AAD70225-6CF0-DC0C-CC0F-EDE05E8C9F56}"/>
                </a:ext>
              </a:extLst>
            </p:cNvPr>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9B53F316-6E30-926B-BB8C-F440067AFE6F}"/>
              </a:ext>
            </a:extLst>
          </p:cNvPr>
          <p:cNvSpPr txBox="1"/>
          <p:nvPr/>
        </p:nvSpPr>
        <p:spPr>
          <a:xfrm>
            <a:off x="975002" y="1159423"/>
            <a:ext cx="15560397" cy="830997"/>
          </a:xfrm>
          <a:prstGeom prst="rect">
            <a:avLst/>
          </a:prstGeom>
          <a:noFill/>
        </p:spPr>
        <p:txBody>
          <a:bodyPr wrap="square">
            <a:spAutoFit/>
          </a:bodyPr>
          <a:lstStyle/>
          <a:p>
            <a:r>
              <a:rPr lang="en-US" sz="4800" b="1" dirty="0">
                <a:solidFill>
                  <a:srgbClr val="004AAD"/>
                </a:solidFill>
                <a:latin typeface="League Spartan"/>
                <a:ea typeface="League Spartan"/>
                <a:cs typeface="League Spartan"/>
                <a:sym typeface="League Spartan"/>
              </a:rPr>
              <a:t>Testing Tools</a:t>
            </a:r>
          </a:p>
        </p:txBody>
      </p:sp>
      <p:grpSp>
        <p:nvGrpSpPr>
          <p:cNvPr id="6" name="Group 5">
            <a:extLst>
              <a:ext uri="{FF2B5EF4-FFF2-40B4-BE49-F238E27FC236}">
                <a16:creationId xmlns:a16="http://schemas.microsoft.com/office/drawing/2014/main" id="{F6E75F73-D68F-1E19-DD25-49D84FEF971A}"/>
              </a:ext>
            </a:extLst>
          </p:cNvPr>
          <p:cNvGrpSpPr/>
          <p:nvPr/>
        </p:nvGrpSpPr>
        <p:grpSpPr>
          <a:xfrm>
            <a:off x="2209800" y="3319540"/>
            <a:ext cx="6148141" cy="4007124"/>
            <a:chOff x="2209800" y="3319540"/>
            <a:chExt cx="6148141" cy="4007124"/>
          </a:xfrm>
        </p:grpSpPr>
        <p:pic>
          <p:nvPicPr>
            <p:cNvPr id="7" name="Picture 6">
              <a:extLst>
                <a:ext uri="{FF2B5EF4-FFF2-40B4-BE49-F238E27FC236}">
                  <a16:creationId xmlns:a16="http://schemas.microsoft.com/office/drawing/2014/main" id="{8088E7EA-750E-264F-A1B8-091155B1767B}"/>
                </a:ext>
              </a:extLst>
            </p:cNvPr>
            <p:cNvPicPr>
              <a:picLocks noChangeAspect="1"/>
            </p:cNvPicPr>
            <p:nvPr/>
          </p:nvPicPr>
          <p:blipFill>
            <a:blip r:embed="rId2"/>
            <a:srcRect l="30176" t="45918" r="34426" b="26871"/>
            <a:stretch>
              <a:fillRect/>
            </a:stretch>
          </p:blipFill>
          <p:spPr>
            <a:xfrm rot="5400000">
              <a:off x="5352597" y="4321320"/>
              <a:ext cx="4007124" cy="2003564"/>
            </a:xfrm>
            <a:prstGeom prst="rect">
              <a:avLst/>
            </a:prstGeom>
          </p:spPr>
        </p:pic>
        <p:sp>
          <p:nvSpPr>
            <p:cNvPr id="29" name="TextBox 13">
              <a:extLst>
                <a:ext uri="{FF2B5EF4-FFF2-40B4-BE49-F238E27FC236}">
                  <a16:creationId xmlns:a16="http://schemas.microsoft.com/office/drawing/2014/main" id="{C6B84502-869D-0A6E-C9A1-46E80FFFE471}"/>
                </a:ext>
              </a:extLst>
            </p:cNvPr>
            <p:cNvSpPr txBox="1"/>
            <p:nvPr/>
          </p:nvSpPr>
          <p:spPr>
            <a:xfrm>
              <a:off x="2209800" y="4887660"/>
              <a:ext cx="4328010" cy="1050288"/>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Build / Test</a:t>
              </a:r>
              <a:br>
                <a:rPr lang="en-US" sz="3000" b="1" dirty="0">
                  <a:solidFill>
                    <a:schemeClr val="tx2"/>
                  </a:solidFill>
                  <a:latin typeface="Poppins Bold"/>
                  <a:ea typeface="Poppins Bold"/>
                  <a:cs typeface="Poppins Bold"/>
                  <a:sym typeface="Poppins Bold"/>
                </a:rPr>
              </a:br>
              <a:r>
                <a:rPr lang="en-US" sz="3000" b="1" dirty="0">
                  <a:solidFill>
                    <a:schemeClr val="tx2"/>
                  </a:solidFill>
                  <a:latin typeface="Poppins Bold"/>
                  <a:ea typeface="Poppins Bold"/>
                  <a:cs typeface="Poppins Bold"/>
                  <a:sym typeface="Poppins Bold"/>
                </a:rPr>
                <a:t>(PC)</a:t>
              </a:r>
            </a:p>
          </p:txBody>
        </p:sp>
      </p:grpSp>
      <p:grpSp>
        <p:nvGrpSpPr>
          <p:cNvPr id="9" name="Group 8">
            <a:extLst>
              <a:ext uri="{FF2B5EF4-FFF2-40B4-BE49-F238E27FC236}">
                <a16:creationId xmlns:a16="http://schemas.microsoft.com/office/drawing/2014/main" id="{2466D27B-ED04-EA2C-07D4-10CFB65632CF}"/>
              </a:ext>
            </a:extLst>
          </p:cNvPr>
          <p:cNvGrpSpPr/>
          <p:nvPr/>
        </p:nvGrpSpPr>
        <p:grpSpPr>
          <a:xfrm>
            <a:off x="9584839" y="6456892"/>
            <a:ext cx="4328010" cy="2664415"/>
            <a:chOff x="8854590" y="6726834"/>
            <a:chExt cx="4328010" cy="2664415"/>
          </a:xfrm>
        </p:grpSpPr>
        <p:sp>
          <p:nvSpPr>
            <p:cNvPr id="21" name="TextBox 13">
              <a:extLst>
                <a:ext uri="{FF2B5EF4-FFF2-40B4-BE49-F238E27FC236}">
                  <a16:creationId xmlns:a16="http://schemas.microsoft.com/office/drawing/2014/main" id="{891DB899-0BD4-BEAE-4C20-D40E1DCD6154}"/>
                </a:ext>
              </a:extLst>
            </p:cNvPr>
            <p:cNvSpPr txBox="1"/>
            <p:nvPr/>
          </p:nvSpPr>
          <p:spPr>
            <a:xfrm>
              <a:off x="8854590" y="6726834"/>
              <a:ext cx="432801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BLE Client</a:t>
              </a:r>
            </a:p>
          </p:txBody>
        </p:sp>
        <p:sp>
          <p:nvSpPr>
            <p:cNvPr id="25" name="TextBox 14">
              <a:extLst>
                <a:ext uri="{FF2B5EF4-FFF2-40B4-BE49-F238E27FC236}">
                  <a16:creationId xmlns:a16="http://schemas.microsoft.com/office/drawing/2014/main" id="{0756486D-D32E-9513-088D-A2585F2E6800}"/>
                </a:ext>
              </a:extLst>
            </p:cNvPr>
            <p:cNvSpPr txBox="1"/>
            <p:nvPr/>
          </p:nvSpPr>
          <p:spPr>
            <a:xfrm>
              <a:off x="10505514" y="7394257"/>
              <a:ext cx="1248975" cy="492443"/>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pPr algn="l"/>
              <a:r>
                <a:rPr lang="en-US" sz="3200" dirty="0"/>
                <a:t>ESP32</a:t>
              </a:r>
            </a:p>
          </p:txBody>
        </p:sp>
        <p:pic>
          <p:nvPicPr>
            <p:cNvPr id="40" name="Picture 39">
              <a:extLst>
                <a:ext uri="{FF2B5EF4-FFF2-40B4-BE49-F238E27FC236}">
                  <a16:creationId xmlns:a16="http://schemas.microsoft.com/office/drawing/2014/main" id="{C77A7EC1-9481-C64D-C1E4-25A4835F69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54615" y="7640478"/>
              <a:ext cx="1750771" cy="1750771"/>
            </a:xfrm>
            <a:prstGeom prst="rect">
              <a:avLst/>
            </a:prstGeom>
          </p:spPr>
        </p:pic>
      </p:grpSp>
      <p:sp>
        <p:nvSpPr>
          <p:cNvPr id="12" name="Slide Number Placeholder 11">
            <a:extLst>
              <a:ext uri="{FF2B5EF4-FFF2-40B4-BE49-F238E27FC236}">
                <a16:creationId xmlns:a16="http://schemas.microsoft.com/office/drawing/2014/main" id="{9CB094BB-D45F-C4F5-5F71-275EC1CC0972}"/>
              </a:ext>
            </a:extLst>
          </p:cNvPr>
          <p:cNvSpPr>
            <a:spLocks noGrp="1"/>
          </p:cNvSpPr>
          <p:nvPr>
            <p:ph type="sldNum" sz="quarter" idx="12"/>
          </p:nvPr>
        </p:nvSpPr>
        <p:spPr/>
        <p:txBody>
          <a:bodyPr/>
          <a:lstStyle/>
          <a:p>
            <a:fld id="{B6F15528-21DE-4FAA-801E-634DDDAF4B2B}" type="slidenum">
              <a:rPr lang="en-US" smtClean="0"/>
              <a:pPr/>
              <a:t>82</a:t>
            </a:fld>
            <a:endParaRPr lang="en-US" sz="1800"/>
          </a:p>
        </p:txBody>
      </p:sp>
      <p:sp>
        <p:nvSpPr>
          <p:cNvPr id="10" name="TextBox 7">
            <a:extLst>
              <a:ext uri="{FF2B5EF4-FFF2-40B4-BE49-F238E27FC236}">
                <a16:creationId xmlns:a16="http://schemas.microsoft.com/office/drawing/2014/main" id="{16B0DBF3-86E1-6423-30D0-6FF531731067}"/>
              </a:ext>
            </a:extLst>
          </p:cNvPr>
          <p:cNvSpPr txBox="1"/>
          <p:nvPr/>
        </p:nvSpPr>
        <p:spPr>
          <a:xfrm>
            <a:off x="975002" y="2021295"/>
            <a:ext cx="14264998" cy="511679"/>
          </a:xfrm>
          <a:prstGeom prst="rect">
            <a:avLst/>
          </a:prstGeom>
        </p:spPr>
        <p:txBody>
          <a:bodyPr wrap="square" lIns="0" tIns="0" rIns="0" bIns="0" rtlCol="0" anchor="t">
            <a:spAutoFit/>
          </a:bodyPr>
          <a:lstStyle/>
          <a:p>
            <a:pPr>
              <a:lnSpc>
                <a:spcPts val="4200"/>
              </a:lnSpc>
              <a:spcBef>
                <a:spcPct val="0"/>
              </a:spcBef>
            </a:pPr>
            <a:r>
              <a:rPr lang="en-US" sz="3000" b="1" dirty="0">
                <a:solidFill>
                  <a:schemeClr val="tx2"/>
                </a:solidFill>
                <a:latin typeface="Poppins Bold"/>
                <a:ea typeface="Poppins Bold"/>
                <a:cs typeface="Poppins Bold"/>
                <a:sym typeface="Poppins Bold"/>
              </a:rPr>
              <a:t>Server (esp32), Client (PC)</a:t>
            </a:r>
          </a:p>
        </p:txBody>
      </p:sp>
      <p:grpSp>
        <p:nvGrpSpPr>
          <p:cNvPr id="8" name="Group 7">
            <a:extLst>
              <a:ext uri="{FF2B5EF4-FFF2-40B4-BE49-F238E27FC236}">
                <a16:creationId xmlns:a16="http://schemas.microsoft.com/office/drawing/2014/main" id="{7CF506B5-9ECB-4CB2-6115-38480F22F39A}"/>
              </a:ext>
            </a:extLst>
          </p:cNvPr>
          <p:cNvGrpSpPr/>
          <p:nvPr/>
        </p:nvGrpSpPr>
        <p:grpSpPr>
          <a:xfrm>
            <a:off x="9681282" y="2628900"/>
            <a:ext cx="4328010" cy="2506295"/>
            <a:chOff x="9681282" y="2628900"/>
            <a:chExt cx="4328010" cy="2506295"/>
          </a:xfrm>
        </p:grpSpPr>
        <p:sp>
          <p:nvSpPr>
            <p:cNvPr id="19" name="TextBox 13">
              <a:extLst>
                <a:ext uri="{FF2B5EF4-FFF2-40B4-BE49-F238E27FC236}">
                  <a16:creationId xmlns:a16="http://schemas.microsoft.com/office/drawing/2014/main" id="{CE09B94D-0F83-2DB7-B088-EA08E266C0F9}"/>
                </a:ext>
              </a:extLst>
            </p:cNvPr>
            <p:cNvSpPr txBox="1"/>
            <p:nvPr/>
          </p:nvSpPr>
          <p:spPr>
            <a:xfrm>
              <a:off x="9681282" y="2628900"/>
              <a:ext cx="4328010" cy="511679"/>
            </a:xfrm>
            <a:prstGeom prst="rect">
              <a:avLst/>
            </a:prstGeom>
          </p:spPr>
          <p:txBody>
            <a:bodyPr wrap="square" lIns="0" tIns="0" rIns="0" bIns="0" rtlCol="0" anchor="t">
              <a:spAutoFit/>
            </a:bodyPr>
            <a:lstStyle/>
            <a:p>
              <a:pPr algn="ctr">
                <a:lnSpc>
                  <a:spcPts val="4200"/>
                </a:lnSpc>
                <a:spcBef>
                  <a:spcPct val="0"/>
                </a:spcBef>
              </a:pPr>
              <a:r>
                <a:rPr lang="en-US" sz="3000" b="1" dirty="0">
                  <a:solidFill>
                    <a:schemeClr val="tx2"/>
                  </a:solidFill>
                  <a:latin typeface="Poppins Bold"/>
                  <a:ea typeface="Poppins Bold"/>
                  <a:cs typeface="Poppins Bold"/>
                  <a:sym typeface="Poppins Bold"/>
                </a:rPr>
                <a:t>BLE Server</a:t>
              </a:r>
            </a:p>
          </p:txBody>
        </p:sp>
        <p:sp>
          <p:nvSpPr>
            <p:cNvPr id="23" name="TextBox 14">
              <a:extLst>
                <a:ext uri="{FF2B5EF4-FFF2-40B4-BE49-F238E27FC236}">
                  <a16:creationId xmlns:a16="http://schemas.microsoft.com/office/drawing/2014/main" id="{5424D15C-5365-1C0A-ED00-D8EC4AD75DD2}"/>
                </a:ext>
              </a:extLst>
            </p:cNvPr>
            <p:cNvSpPr txBox="1"/>
            <p:nvPr/>
          </p:nvSpPr>
          <p:spPr>
            <a:xfrm>
              <a:off x="10465474" y="3386800"/>
              <a:ext cx="2566739" cy="492443"/>
            </a:xfrm>
            <a:prstGeom prst="rect">
              <a:avLst/>
            </a:prstGeom>
          </p:spPr>
          <p:txBody>
            <a:bodyPr wrap="square" lIns="0" tIns="0" rIns="0" bIns="0" rtlCol="0" anchor="t">
              <a:spAutoFit/>
            </a:bodyPr>
            <a:lstStyle>
              <a:defPPr>
                <a:defRPr lang="en-US"/>
              </a:defPPr>
              <a:lvl1pPr algn="ctr">
                <a:spcBef>
                  <a:spcPct val="0"/>
                </a:spcBef>
                <a:defRPr sz="2400">
                  <a:solidFill>
                    <a:srgbClr val="303642"/>
                  </a:solidFill>
                  <a:latin typeface="Poppins" panose="00000500000000000000" pitchFamily="2" charset="0"/>
                  <a:ea typeface="Poppins Bold"/>
                  <a:cs typeface="Poppins" panose="00000500000000000000" pitchFamily="2" charset="0"/>
                </a:defRPr>
              </a:lvl1pPr>
            </a:lstStyle>
            <a:p>
              <a:r>
                <a:rPr lang="en-US" sz="3200" dirty="0" err="1"/>
                <a:t>Vscode</a:t>
              </a:r>
              <a:endParaRPr lang="en-US" dirty="0"/>
            </a:p>
          </p:txBody>
        </p:sp>
        <p:pic>
          <p:nvPicPr>
            <p:cNvPr id="13" name="Picture 12">
              <a:extLst>
                <a:ext uri="{FF2B5EF4-FFF2-40B4-BE49-F238E27FC236}">
                  <a16:creationId xmlns:a16="http://schemas.microsoft.com/office/drawing/2014/main" id="{148D7202-C709-A66A-B2D7-538E0E41BD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35763" y="4034987"/>
              <a:ext cx="1100208" cy="1100208"/>
            </a:xfrm>
            <a:prstGeom prst="rect">
              <a:avLst/>
            </a:prstGeom>
          </p:spPr>
        </p:pic>
      </p:grpSp>
    </p:spTree>
    <p:extLst>
      <p:ext uri="{BB962C8B-B14F-4D97-AF65-F5344CB8AC3E}">
        <p14:creationId xmlns:p14="http://schemas.microsoft.com/office/powerpoint/2010/main" val="1028867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9B97F-128C-5388-1974-63B66CDEFF47}"/>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4843182D-E608-A15D-71DC-1AE71459483B}"/>
              </a:ext>
            </a:extLst>
          </p:cNvPr>
          <p:cNvGrpSpPr/>
          <p:nvPr/>
        </p:nvGrpSpPr>
        <p:grpSpPr>
          <a:xfrm>
            <a:off x="-1130300" y="4057750"/>
            <a:ext cx="3086100" cy="2171499"/>
            <a:chOff x="0" y="0"/>
            <a:chExt cx="812800" cy="571917"/>
          </a:xfrm>
        </p:grpSpPr>
        <p:sp>
          <p:nvSpPr>
            <p:cNvPr id="4" name="Freeform 4">
              <a:extLst>
                <a:ext uri="{FF2B5EF4-FFF2-40B4-BE49-F238E27FC236}">
                  <a16:creationId xmlns:a16="http://schemas.microsoft.com/office/drawing/2014/main" id="{1EAA423C-1BD2-FF38-CA98-C0875D678424}"/>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en-DE" dirty="0"/>
            </a:p>
          </p:txBody>
        </p:sp>
        <p:sp>
          <p:nvSpPr>
            <p:cNvPr id="5" name="TextBox 5">
              <a:extLst>
                <a:ext uri="{FF2B5EF4-FFF2-40B4-BE49-F238E27FC236}">
                  <a16:creationId xmlns:a16="http://schemas.microsoft.com/office/drawing/2014/main" id="{E79DFA18-F9F6-A04B-8B0C-98D3719B43FB}"/>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grpSp>
        <p:nvGrpSpPr>
          <p:cNvPr id="6" name="Group 6">
            <a:extLst>
              <a:ext uri="{FF2B5EF4-FFF2-40B4-BE49-F238E27FC236}">
                <a16:creationId xmlns:a16="http://schemas.microsoft.com/office/drawing/2014/main" id="{3EC9DB1A-637B-758B-1E0C-6E74474DECB4}"/>
              </a:ext>
            </a:extLst>
          </p:cNvPr>
          <p:cNvGrpSpPr/>
          <p:nvPr/>
        </p:nvGrpSpPr>
        <p:grpSpPr>
          <a:xfrm>
            <a:off x="16467343" y="4057750"/>
            <a:ext cx="3086100" cy="2171499"/>
            <a:chOff x="0" y="0"/>
            <a:chExt cx="812800" cy="571917"/>
          </a:xfrm>
        </p:grpSpPr>
        <p:sp>
          <p:nvSpPr>
            <p:cNvPr id="7" name="Freeform 7">
              <a:extLst>
                <a:ext uri="{FF2B5EF4-FFF2-40B4-BE49-F238E27FC236}">
                  <a16:creationId xmlns:a16="http://schemas.microsoft.com/office/drawing/2014/main" id="{5A94998E-13A6-D6C1-0797-D39CB1615072}"/>
                </a:ext>
              </a:extLst>
            </p:cNvPr>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en-DE"/>
            </a:p>
          </p:txBody>
        </p:sp>
        <p:sp>
          <p:nvSpPr>
            <p:cNvPr id="8" name="TextBox 8">
              <a:extLst>
                <a:ext uri="{FF2B5EF4-FFF2-40B4-BE49-F238E27FC236}">
                  <a16:creationId xmlns:a16="http://schemas.microsoft.com/office/drawing/2014/main" id="{E9165C2B-9CBB-E528-9384-A6593FE80937}"/>
                </a:ext>
              </a:extLst>
            </p:cNvPr>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9" name="Freeform 9">
            <a:extLst>
              <a:ext uri="{FF2B5EF4-FFF2-40B4-BE49-F238E27FC236}">
                <a16:creationId xmlns:a16="http://schemas.microsoft.com/office/drawing/2014/main" id="{EDA00CB7-97E5-11F7-3663-129EF055A104}"/>
              </a:ext>
            </a:extLst>
          </p:cNvPr>
          <p:cNvSpPr/>
          <p:nvPr/>
        </p:nvSpPr>
        <p:spPr>
          <a:xfrm>
            <a:off x="15129698" y="533489"/>
            <a:ext cx="2675289" cy="1342103"/>
          </a:xfrm>
          <a:custGeom>
            <a:avLst/>
            <a:gdLst/>
            <a:ahLst/>
            <a:cxnLst/>
            <a:rect l="l" t="t" r="r" b="b"/>
            <a:pathLst>
              <a:path w="4007554" h="2010456">
                <a:moveTo>
                  <a:pt x="0" y="0"/>
                </a:moveTo>
                <a:lnTo>
                  <a:pt x="4007554" y="0"/>
                </a:lnTo>
                <a:lnTo>
                  <a:pt x="4007554" y="2010456"/>
                </a:lnTo>
                <a:lnTo>
                  <a:pt x="0" y="2010456"/>
                </a:lnTo>
                <a:lnTo>
                  <a:pt x="0" y="0"/>
                </a:lnTo>
                <a:close/>
              </a:path>
            </a:pathLst>
          </a:custGeom>
          <a:blipFill>
            <a:blip r:embed="rId2"/>
            <a:stretch>
              <a:fillRect/>
            </a:stretch>
          </a:blipFill>
        </p:spPr>
        <p:txBody>
          <a:bodyPr/>
          <a:lstStyle/>
          <a:p>
            <a:endParaRPr lang="en-DE"/>
          </a:p>
        </p:txBody>
      </p:sp>
      <p:sp>
        <p:nvSpPr>
          <p:cNvPr id="10" name="TextBox 10">
            <a:extLst>
              <a:ext uri="{FF2B5EF4-FFF2-40B4-BE49-F238E27FC236}">
                <a16:creationId xmlns:a16="http://schemas.microsoft.com/office/drawing/2014/main" id="{94278596-E5DD-50AD-71B3-2F87AB49A2FE}"/>
              </a:ext>
            </a:extLst>
          </p:cNvPr>
          <p:cNvSpPr txBox="1"/>
          <p:nvPr/>
        </p:nvSpPr>
        <p:spPr>
          <a:xfrm>
            <a:off x="2712637" y="4533713"/>
            <a:ext cx="12997868" cy="1038746"/>
          </a:xfrm>
          <a:prstGeom prst="rect">
            <a:avLst/>
          </a:prstGeom>
        </p:spPr>
        <p:txBody>
          <a:bodyPr lIns="0" tIns="0" rIns="0" bIns="0" rtlCol="0" anchor="t">
            <a:spAutoFit/>
          </a:bodyPr>
          <a:lstStyle/>
          <a:p>
            <a:pPr algn="ctr">
              <a:lnSpc>
                <a:spcPts val="8400"/>
              </a:lnSpc>
            </a:pPr>
            <a:r>
              <a:rPr lang="en-US" sz="6000" b="1" dirty="0">
                <a:solidFill>
                  <a:srgbClr val="004AAD"/>
                </a:solidFill>
                <a:latin typeface="League Spartan"/>
                <a:ea typeface="League Spartan"/>
                <a:cs typeface="League Spartan"/>
                <a:sym typeface="League Spartan"/>
              </a:rPr>
              <a:t>Thank You !</a:t>
            </a:r>
          </a:p>
        </p:txBody>
      </p:sp>
      <p:grpSp>
        <p:nvGrpSpPr>
          <p:cNvPr id="18" name="Group 17">
            <a:extLst>
              <a:ext uri="{FF2B5EF4-FFF2-40B4-BE49-F238E27FC236}">
                <a16:creationId xmlns:a16="http://schemas.microsoft.com/office/drawing/2014/main" id="{96863F23-2350-AB98-1E8E-44034CA950DD}"/>
              </a:ext>
            </a:extLst>
          </p:cNvPr>
          <p:cNvGrpSpPr/>
          <p:nvPr/>
        </p:nvGrpSpPr>
        <p:grpSpPr>
          <a:xfrm>
            <a:off x="5798782" y="6847189"/>
            <a:ext cx="6690436" cy="542925"/>
            <a:chOff x="5055686" y="6576304"/>
            <a:chExt cx="6690436" cy="542925"/>
          </a:xfrm>
        </p:grpSpPr>
        <p:sp>
          <p:nvSpPr>
            <p:cNvPr id="12" name="TextBox 12">
              <a:extLst>
                <a:ext uri="{FF2B5EF4-FFF2-40B4-BE49-F238E27FC236}">
                  <a16:creationId xmlns:a16="http://schemas.microsoft.com/office/drawing/2014/main" id="{51696349-8232-6EDD-D768-5090D742F896}"/>
                </a:ext>
              </a:extLst>
            </p:cNvPr>
            <p:cNvSpPr txBox="1"/>
            <p:nvPr/>
          </p:nvSpPr>
          <p:spPr>
            <a:xfrm>
              <a:off x="5055686" y="6576304"/>
              <a:ext cx="3186306" cy="542925"/>
            </a:xfrm>
            <a:prstGeom prst="rect">
              <a:avLst/>
            </a:prstGeom>
          </p:spPr>
          <p:txBody>
            <a:bodyPr lIns="0" tIns="0" rIns="0" bIns="0" rtlCol="0" anchor="t">
              <a:spAutoFit/>
            </a:bodyPr>
            <a:lstStyle/>
            <a:p>
              <a:pPr algn="l">
                <a:lnSpc>
                  <a:spcPts val="4200"/>
                </a:lnSpc>
                <a:spcBef>
                  <a:spcPct val="0"/>
                </a:spcBef>
              </a:pPr>
              <a:r>
                <a:rPr lang="en-US" sz="3000" b="1" dirty="0">
                  <a:solidFill>
                    <a:srgbClr val="303642"/>
                  </a:solidFill>
                  <a:latin typeface="Poppins Bold"/>
                  <a:ea typeface="Poppins Bold"/>
                  <a:cs typeface="Poppins Bold"/>
                  <a:sym typeface="Poppins Bold"/>
                </a:rPr>
                <a:t>Prepared by: </a:t>
              </a:r>
            </a:p>
          </p:txBody>
        </p:sp>
        <p:sp>
          <p:nvSpPr>
            <p:cNvPr id="13" name="TextBox 13">
              <a:extLst>
                <a:ext uri="{FF2B5EF4-FFF2-40B4-BE49-F238E27FC236}">
                  <a16:creationId xmlns:a16="http://schemas.microsoft.com/office/drawing/2014/main" id="{2C3D3517-EAEB-EF10-24D2-7EFA90720E96}"/>
                </a:ext>
              </a:extLst>
            </p:cNvPr>
            <p:cNvSpPr txBox="1"/>
            <p:nvPr/>
          </p:nvSpPr>
          <p:spPr>
            <a:xfrm>
              <a:off x="8559816" y="6595354"/>
              <a:ext cx="3186306" cy="523875"/>
            </a:xfrm>
            <a:prstGeom prst="rect">
              <a:avLst/>
            </a:prstGeom>
          </p:spPr>
          <p:txBody>
            <a:bodyPr lIns="0" tIns="0" rIns="0" bIns="0" rtlCol="0" anchor="t">
              <a:spAutoFit/>
            </a:bodyPr>
            <a:lstStyle/>
            <a:p>
              <a:pPr marL="0" lvl="0" indent="0" algn="ctr">
                <a:lnSpc>
                  <a:spcPts val="4200"/>
                </a:lnSpc>
                <a:spcBef>
                  <a:spcPct val="0"/>
                </a:spcBef>
              </a:pPr>
              <a:r>
                <a:rPr lang="en-US" sz="3000" b="1" u="none" strike="noStrike" dirty="0">
                  <a:solidFill>
                    <a:srgbClr val="004AAD"/>
                  </a:solidFill>
                  <a:latin typeface="League Spartan"/>
                  <a:ea typeface="League Spartan"/>
                  <a:cs typeface="League Spartan"/>
                  <a:sym typeface="League Spartan"/>
                </a:rPr>
                <a:t>DONYES HSAIRI</a:t>
              </a:r>
            </a:p>
          </p:txBody>
        </p:sp>
      </p:grpSp>
      <p:sp>
        <p:nvSpPr>
          <p:cNvPr id="14" name="Slide Number Placeholder 13">
            <a:extLst>
              <a:ext uri="{FF2B5EF4-FFF2-40B4-BE49-F238E27FC236}">
                <a16:creationId xmlns:a16="http://schemas.microsoft.com/office/drawing/2014/main" id="{D7E0D745-2D13-95D6-223C-9DE51E3FDE83}"/>
              </a:ext>
            </a:extLst>
          </p:cNvPr>
          <p:cNvSpPr>
            <a:spLocks noGrp="1"/>
          </p:cNvSpPr>
          <p:nvPr>
            <p:ph type="sldNum" sz="quarter" idx="12"/>
          </p:nvPr>
        </p:nvSpPr>
        <p:spPr/>
        <p:txBody>
          <a:bodyPr/>
          <a:lstStyle/>
          <a:p>
            <a:fld id="{B6F15528-21DE-4FAA-801E-634DDDAF4B2B}" type="slidenum">
              <a:rPr lang="en-US" smtClean="0"/>
              <a:pPr/>
              <a:t>83</a:t>
            </a:fld>
            <a:endParaRPr lang="en-US" sz="1800"/>
          </a:p>
        </p:txBody>
      </p:sp>
    </p:spTree>
    <p:extLst>
      <p:ext uri="{BB962C8B-B14F-4D97-AF65-F5344CB8AC3E}">
        <p14:creationId xmlns:p14="http://schemas.microsoft.com/office/powerpoint/2010/main" val="13138639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UCID-SOURCE" val="rSQcxkGFTgv6"/>
  <p:tag name="LUCID-DOCUMENT" val="1d8b6432-bbd6-4afb-9f13-5eadcda8713d"/>
  <p:tag name="LUCID-UPDATE-TIME" val="1784386127597"/>
</p:tagLst>
</file>

<file path=ppt/tags/tag2.xml><?xml version="1.0" encoding="utf-8"?>
<p:tagLst xmlns:a="http://schemas.openxmlformats.org/drawingml/2006/main" xmlns:r="http://schemas.openxmlformats.org/officeDocument/2006/relationships" xmlns:p="http://schemas.openxmlformats.org/presentationml/2006/main">
  <p:tag name="LUCID-SOURCE" val="rSQcxkGFTgv6"/>
  <p:tag name="LUCID-DOCUMENT" val="1d8b6432-bbd6-4afb-9f13-5eadcda8713d"/>
  <p:tag name="LUCID-UPDATE-TIME" val="1784386127597"/>
</p:tagLst>
</file>

<file path=ppt/tags/tag3.xml><?xml version="1.0" encoding="utf-8"?>
<p:tagLst xmlns:a="http://schemas.openxmlformats.org/drawingml/2006/main" xmlns:r="http://schemas.openxmlformats.org/officeDocument/2006/relationships" xmlns:p="http://schemas.openxmlformats.org/presentationml/2006/main">
  <p:tag name="LUCID-SOURCE" val="rSQcxkGFTgv6"/>
  <p:tag name="LUCID-DOCUMENT" val="1d8b6432-bbd6-4afb-9f13-5eadcda8713d"/>
  <p:tag name="LUCID-UPDATE-TIME" val="1784386127597"/>
</p:tagLst>
</file>

<file path=ppt/tags/tag4.xml><?xml version="1.0" encoding="utf-8"?>
<p:tagLst xmlns:a="http://schemas.openxmlformats.org/drawingml/2006/main" xmlns:r="http://schemas.openxmlformats.org/officeDocument/2006/relationships" xmlns:p="http://schemas.openxmlformats.org/presentationml/2006/main">
  <p:tag name="LUCID-SOURCE" val="rSQcxkGFTgv6"/>
  <p:tag name="LUCID-DOCUMENT" val="1d8b6432-bbd6-4afb-9f13-5eadcda8713d"/>
  <p:tag name="LUCID-UPDATE-TIME" val="1784386127597"/>
</p:tagLst>
</file>

<file path=ppt/tags/tag5.xml><?xml version="1.0" encoding="utf-8"?>
<p:tagLst xmlns:a="http://schemas.openxmlformats.org/drawingml/2006/main" xmlns:r="http://schemas.openxmlformats.org/officeDocument/2006/relationships" xmlns:p="http://schemas.openxmlformats.org/presentationml/2006/main">
  <p:tag name="LUCID-SOURCE" val="rSQcxkGFTgv6"/>
  <p:tag name="LUCID-DOCUMENT" val="1d8b6432-bbd6-4afb-9f13-5eadcda8713d"/>
  <p:tag name="LUCID-UPDATE-TIME" val="1784386127597"/>
</p:tagLst>
</file>

<file path=ppt/tags/tag6.xml><?xml version="1.0" encoding="utf-8"?>
<p:tagLst xmlns:a="http://schemas.openxmlformats.org/drawingml/2006/main" xmlns:r="http://schemas.openxmlformats.org/officeDocument/2006/relationships" xmlns:p="http://schemas.openxmlformats.org/presentationml/2006/main">
  <p:tag name="LUCID-SOURCE" val="rSQcxkGFTgv6"/>
  <p:tag name="LUCID-DOCUMENT" val="1d8b6432-bbd6-4afb-9f13-5eadcda8713d"/>
  <p:tag name="LUCID-UPDATE-TIME" val="1784386127597"/>
</p:tagLst>
</file>

<file path=ppt/tags/tag7.xml><?xml version="1.0" encoding="utf-8"?>
<p:tagLst xmlns:a="http://schemas.openxmlformats.org/drawingml/2006/main" xmlns:r="http://schemas.openxmlformats.org/officeDocument/2006/relationships" xmlns:p="http://schemas.openxmlformats.org/presentationml/2006/main">
  <p:tag name="LUCID-SOURCE" val="rSQcxkGFTgv6"/>
  <p:tag name="LUCID-DOCUMENT" val="1d8b6432-bbd6-4afb-9f13-5eadcda8713d"/>
  <p:tag name="LUCID-UPDATE-TIME" val="1784386127597"/>
</p:tagLst>
</file>

<file path=ppt/tags/tag8.xml><?xml version="1.0" encoding="utf-8"?>
<p:tagLst xmlns:a="http://schemas.openxmlformats.org/drawingml/2006/main" xmlns:r="http://schemas.openxmlformats.org/officeDocument/2006/relationships" xmlns:p="http://schemas.openxmlformats.org/presentationml/2006/main">
  <p:tag name="LUCID-SOURCE" val="rSQcxkGFTgv6"/>
  <p:tag name="LUCID-DOCUMENT" val="1d8b6432-bbd6-4afb-9f13-5eadcda8713d"/>
  <p:tag name="LUCID-UPDATE-TIME" val="1784386127597"/>
</p:tagLst>
</file>

<file path=ppt/tags/tag9.xml><?xml version="1.0" encoding="utf-8"?>
<p:tagLst xmlns:a="http://schemas.openxmlformats.org/drawingml/2006/main" xmlns:r="http://schemas.openxmlformats.org/officeDocument/2006/relationships" xmlns:p="http://schemas.openxmlformats.org/presentationml/2006/main">
  <p:tag name="LUCID-SOURCE" val="rSQcxkGFTgv6"/>
  <p:tag name="LUCID-DOCUMENT" val="1d8b6432-bbd6-4afb-9f13-5eadcda8713d"/>
  <p:tag name="LUCID-UPDATE-TIME" val="178438612759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3078</TotalTime>
  <Words>3710</Words>
  <Application>Microsoft Office PowerPoint</Application>
  <PresentationFormat>Custom</PresentationFormat>
  <Paragraphs>617</Paragraphs>
  <Slides>83</Slides>
  <Notes>57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83</vt:i4>
      </vt:variant>
    </vt:vector>
  </HeadingPairs>
  <TitlesOfParts>
    <vt:vector size="92" baseType="lpstr">
      <vt:lpstr>Roboto Bold</vt:lpstr>
      <vt:lpstr>Poppins</vt:lpstr>
      <vt:lpstr>League Spartan</vt:lpstr>
      <vt:lpstr>Arial</vt:lpstr>
      <vt:lpstr>Poppins Bold</vt:lpstr>
      <vt:lpstr>Bricolage Grotesque Bold</vt:lpstr>
      <vt:lpstr>Aptos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BLE</dc:title>
  <dc:creator>Racem .</dc:creator>
  <cp:lastModifiedBy>donyes hsairi</cp:lastModifiedBy>
  <cp:revision>19</cp:revision>
  <dcterms:created xsi:type="dcterms:W3CDTF">2006-08-16T00:00:00Z</dcterms:created>
  <dcterms:modified xsi:type="dcterms:W3CDTF">2026-08-28T13:13:15Z</dcterms:modified>
  <dc:identifier>DAHPiu3tAwY</dc:identifier>
</cp:coreProperties>
</file>